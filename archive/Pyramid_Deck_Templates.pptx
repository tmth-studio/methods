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B0B8C4"/>
            </a:solidFill>
          </c:spPr>
          <c:dPt>
            <c:idx val="0"/>
            <c:spPr>
              <a:solidFill>
                <a:srgbClr val="1F4FA8"/>
              </a:solidFill>
            </c:spPr>
          </c:dPt>
          <c:cat>
            <c:strRef>
              <c:f>Sheet1!$A$2:$A$4</c:f>
              <c:strCache>
                <c:ptCount val="3"/>
                <c:pt idx="0">
                  <c:v>[Category A — message]</c:v>
                </c:pt>
                <c:pt idx="1">
                  <c:v>[Category B]</c:v>
                </c:pt>
                <c:pt idx="2">
                  <c:v>[Category C]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12.1</c:v>
                </c:pt>
                <c:pt idx="1">
                  <c:v>8.7</c:v>
                </c:pt>
                <c:pt idx="2">
                  <c:v>6.2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B0B8C4"/>
            </a:solidFill>
          </c:spPr>
          <c:dPt>
            <c:idx val="3"/>
            <c:spPr>
              <a:solidFill>
                <a:srgbClr val="1F4FA8"/>
              </a:solidFill>
            </c:spPr>
          </c:dPt>
          <c:cat>
            <c:strRef>
              <c:f>Sheet1!$A$2:$A$5</c:f>
              <c:strCache>
                <c:ptCount val="4"/>
                <c:pt idx="0">
                  <c:v>[2022]</c:v>
                </c:pt>
                <c:pt idx="1">
                  <c:v>[2023]</c:v>
                </c:pt>
                <c:pt idx="2">
                  <c:v>[2024]</c:v>
                </c:pt>
                <c:pt idx="3">
                  <c:v>[2025]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22.0</c:v>
                </c:pt>
                <c:pt idx="1">
                  <c:v>26.0</c:v>
                </c:pt>
                <c:pt idx="2">
                  <c:v>31.0</c:v>
                </c:pt>
                <c:pt idx="3">
                  <c:v>35.0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1F4FA8"/>
              </a:solidFill>
            </c:spPr>
          </c:dPt>
          <c:dPt>
            <c:idx val="1"/>
            <c:spPr>
              <a:solidFill>
                <a:srgbClr val="B0B8C4"/>
              </a:solidFill>
            </c:spPr>
          </c:dPt>
          <c:dPt>
            <c:idx val="2"/>
            <c:spPr>
              <a:solidFill>
                <a:srgbClr val="CDD3DB"/>
              </a:solidFill>
            </c:spPr>
          </c:dPt>
          <c:dPt>
            <c:idx val="3"/>
            <c:spPr>
              <a:solidFill>
                <a:srgbClr val="DBE7F8"/>
              </a:solidFill>
            </c:spPr>
          </c:dPt>
          <c:cat>
            <c:strRef>
              <c:f>Sheet1!$A$2:$A$5</c:f>
              <c:strCache>
                <c:ptCount val="4"/>
                <c:pt idx="0">
                  <c:v>[Segment A — message]</c:v>
                </c:pt>
                <c:pt idx="1">
                  <c:v>[Segment B]</c:v>
                </c:pt>
                <c:pt idx="2">
                  <c:v>[Segment C]</c:v>
                </c:pt>
                <c:pt idx="3">
                  <c:v>[Other]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latin typeface="Segoe UI"/>
                </a:defRPr>
              </a:pPr>
            </a:p>
          </c:txPr>
          <c:showLegendKey val="0"/>
          <c:showVal val="1"/>
          <c:showCatName val="1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Sheet1!$A$2:$A$6</c:f>
              <c:numCache>
                <c:formatCode>General</c:formatCode>
                <c:ptCount val="5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2.1</c:v>
                </c:pt>
                <c:pt idx="1">
                  <c:v>2.9</c:v>
                </c:pt>
                <c:pt idx="2">
                  <c:v>4.2</c:v>
                </c:pt>
                <c:pt idx="3">
                  <c:v>4.8</c:v>
                </c:pt>
                <c:pt idx="4">
                  <c:v>6.1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[Segment A — message]</c:v>
                </c:pt>
              </c:strCache>
            </c:strRef>
          </c:tx>
          <c:spPr>
            <a:solidFill>
              <a:srgbClr val="1F4FA8"/>
            </a:solidFill>
          </c:spPr>
          <c:cat>
            <c:strRef>
              <c:f>Sheet1!$A$2:$A$4</c:f>
              <c:strCache>
                <c:ptCount val="3"/>
                <c:pt idx="0">
                  <c:v>[2023]</c:v>
                </c:pt>
                <c:pt idx="1">
                  <c:v>[2024]</c:v>
                </c:pt>
                <c:pt idx="2">
                  <c:v>[2025]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</c:v>
                </c:pt>
                <c:pt idx="1">
                  <c:v>42</c:v>
                </c:pt>
                <c:pt idx="2">
                  <c:v>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[Rest]</c:v>
                </c:pt>
              </c:strCache>
            </c:strRef>
          </c:tx>
          <c:spPr>
            <a:solidFill>
              <a:srgbClr val="DEE2E8"/>
            </a:solidFill>
          </c:spPr>
          <c:cat>
            <c:strRef>
              <c:f>Sheet1!$A$2:$A$4</c:f>
              <c:strCache>
                <c:ptCount val="3"/>
                <c:pt idx="0">
                  <c:v>[2023]</c:v>
                </c:pt>
                <c:pt idx="1">
                  <c:v>[2024]</c:v>
                </c:pt>
                <c:pt idx="2">
                  <c:v>[2025]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65</c:v>
                </c:pt>
                <c:pt idx="1">
                  <c:v>58</c:v>
                </c:pt>
                <c:pt idx="2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[Us]</c:v>
                </c:pt>
              </c:strCache>
            </c:strRef>
          </c:tx>
          <c:spPr>
            <a:ln w="38100">
              <a:solidFill>
                <a:srgbClr val="1F4FA8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[Q1]</c:v>
                </c:pt>
                <c:pt idx="1">
                  <c:v>[Q2]</c:v>
                </c:pt>
                <c:pt idx="2">
                  <c:v>[Q3]</c:v>
                </c:pt>
                <c:pt idx="3">
                  <c:v>[Q4]</c:v>
                </c:pt>
                <c:pt idx="4">
                  <c:v>[Q5]</c:v>
                </c:pt>
                <c:pt idx="5">
                  <c:v>[Q6]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104</c:v>
                </c:pt>
                <c:pt idx="2">
                  <c:v>109</c:v>
                </c:pt>
                <c:pt idx="3">
                  <c:v>112</c:v>
                </c:pt>
                <c:pt idx="4">
                  <c:v>118</c:v>
                </c:pt>
                <c:pt idx="5">
                  <c:v>124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[Market]</c:v>
                </c:pt>
              </c:strCache>
            </c:strRef>
          </c:tx>
          <c:spPr>
            <a:ln w="25400">
              <a:solidFill>
                <a:srgbClr val="B0B8C4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[Q1]</c:v>
                </c:pt>
                <c:pt idx="1">
                  <c:v>[Q2]</c:v>
                </c:pt>
                <c:pt idx="2">
                  <c:v>[Q3]</c:v>
                </c:pt>
                <c:pt idx="3">
                  <c:v>[Q4]</c:v>
                </c:pt>
                <c:pt idx="4">
                  <c:v>[Q5]</c:v>
                </c:pt>
                <c:pt idx="5">
                  <c:v>[Q6]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102</c:v>
                </c:pt>
                <c:pt idx="2">
                  <c:v>103</c:v>
                </c:pt>
                <c:pt idx="3">
                  <c:v>105</c:v>
                </c:pt>
                <c:pt idx="4">
                  <c:v>106</c:v>
                </c:pt>
                <c:pt idx="5">
                  <c:v>107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Segoe U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[TEAM / FUNCTION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05840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F4FA8"/>
                </a:solidFill>
                <a:latin typeface="Segoe UI"/>
              </a:rPr>
              <a:t>[DECK TITLE: the Governing Thought or the deck name]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18096"/>
                </a:solidFill>
                <a:latin typeface="Segoe UI"/>
              </a:rPr>
              <a:t>[DATE — format: 8 May 2026]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Cover. No images required.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usually blank on this slide]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480560"/>
          </a:xfrm>
          <a:prstGeom prst="rect">
            <a:avLst/>
          </a:prstGeom>
          <a:noFill/>
          <a:ln w="9525">
            <a:solidFill>
              <a:srgbClr val="1F4FA8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923"/>
                </a:solidFill>
                <a:latin typeface="Segoe UI"/>
              </a:rPr>
              <a:t>[SITUATION: 2-3 sentences of non-controversial context.]</a:t>
            </a:r>
          </a:p>
          <a:p>
            <a:pPr algn="l"/>
            <a:r>
              <a:rPr sz="600" b="0" i="0">
                <a:solidFill>
                  <a:srgbClr val="0F1923"/>
                </a:solidFill>
                <a:latin typeface="Segoe UI"/>
              </a:rPr>
              <a:t/>
            </a:r>
          </a:p>
          <a:p>
            <a:pPr algn="l"/>
            <a:r>
              <a:rPr sz="1400" b="0" i="0">
                <a:solidFill>
                  <a:srgbClr val="0F1923"/>
                </a:solidFill>
                <a:latin typeface="Segoe UI"/>
              </a:rPr>
              <a:t>[COMPLICATION: what changed and what broke, with numbers.]</a:t>
            </a:r>
          </a:p>
          <a:p>
            <a:pPr algn="l"/>
            <a:r>
              <a:rPr sz="600" b="0" i="0">
                <a:solidFill>
                  <a:srgbClr val="0F1923"/>
                </a:solidFill>
                <a:latin typeface="Segoe UI"/>
              </a:rPr>
              <a:t/>
            </a:r>
          </a:p>
          <a:p>
            <a:pPr algn="l"/>
            <a:r>
              <a:rPr sz="1400" b="0" i="0">
                <a:solidFill>
                  <a:srgbClr val="0F1923"/>
                </a:solidFill>
                <a:latin typeface="Segoe UI"/>
              </a:rPr>
              <a:t>[QUESTION: the one question this raises.]</a:t>
            </a:r>
          </a:p>
          <a:p>
            <a:pPr algn="l"/>
            <a:r>
              <a:rPr sz="600" b="0" i="0">
                <a:solidFill>
                  <a:srgbClr val="0F1923"/>
                </a:solidFill>
                <a:latin typeface="Segoe UI"/>
              </a:rPr>
              <a:t/>
            </a:r>
          </a:p>
          <a:p>
            <a:pPr algn="l"/>
            <a:r>
              <a:rPr sz="1400" b="1" i="0">
                <a:solidFill>
                  <a:srgbClr val="0F1923"/>
                </a:solidFill>
                <a:latin typeface="Segoe UI"/>
              </a:rPr>
              <a:t>[ANSWER / GOVERNING THOUGHT: the recommendation in one sentence, 25 words or fewer.]</a:t>
            </a:r>
          </a:p>
          <a:p>
            <a:pPr algn="l"/>
            <a:r>
              <a:rPr sz="600" b="0" i="0">
                <a:solidFill>
                  <a:srgbClr val="0F1923"/>
                </a:solidFill>
                <a:latin typeface="Segoe UI"/>
              </a:rPr>
              <a:t/>
            </a:r>
          </a:p>
          <a:p>
            <a:pPr algn="l"/>
            <a:r>
              <a:rPr sz="1400" b="0" i="0">
                <a:solidFill>
                  <a:srgbClr val="0F1923"/>
                </a:solidFill>
                <a:latin typeface="Segoe UI"/>
              </a:rPr>
              <a:t>[KEY-LINE PREVIEW: one sentence naming the three arguments.]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SCQA in full prose. The deck must stand alone.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0" y="2011680"/>
            <a:ext cx="5669280" cy="50292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923"/>
                </a:solidFill>
                <a:latin typeface="Segoe UI"/>
              </a:rPr>
              <a:t>[Section 1 — current: keep tint fill]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697480"/>
            <a:ext cx="56692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923"/>
                </a:solidFill>
                <a:latin typeface="Segoe UI"/>
              </a:rPr>
              <a:t>[Section 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3383280"/>
            <a:ext cx="56692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923"/>
                </a:solidFill>
                <a:latin typeface="Segoe UI"/>
              </a:rPr>
              <a:t>[Section 3]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4069080"/>
            <a:ext cx="56692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923"/>
                </a:solidFill>
                <a:latin typeface="Segoe UI"/>
              </a:rPr>
              <a:t>[Conclusion and ask]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4754880"/>
            <a:ext cx="56692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923"/>
                </a:solidFill>
                <a:latin typeface="Segoe UI"/>
              </a:rPr>
              <a:t>[Appendix]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Repeat at each section break. Move the tint to the current section.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377440"/>
            <a:ext cx="9966960" cy="2011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F2744"/>
                </a:solidFill>
                <a:latin typeface="Segoe UI"/>
              </a:rPr>
              <a:t>[GOVERNING THOUGHT: large, alone on the slide, nothing else]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Text-only slide. No exhibit, no bullets.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full-sentence claim, 2 lines maximum, no full stop]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923"/>
                </a:solidFill>
                <a:latin typeface="Segoe UI"/>
              </a:rPr>
              <a:t>[CHART HEADER: metric name + period]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  <a:latin typeface="Segoe UI"/>
              </a:rPr>
              <a:t>[Unit — example: Percent]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194560"/>
          <a:ext cx="69494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2194560"/>
            <a:ext cx="3840480" cy="292608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44"/>
                </a:solidFill>
                <a:latin typeface="Segoe UI"/>
              </a:rPr>
              <a:t>What this means for [reader]</a:t>
            </a:r>
          </a:p>
          <a:p>
            <a:pPr algn="l"/>
            <a:r>
              <a:rPr sz="1200" b="0" i="0">
                <a:solidFill>
                  <a:srgbClr val="0F1923"/>
                </a:solidFill>
                <a:latin typeface="Segoe UI"/>
              </a:rPr>
              <a:t>[IMPLICATION: 2-3 short bullets. Bold only the load-bearing words.]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Message bar = accent; comparison bars = grey. No axis, no legend.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full-sentence claim, 2 lines maximum, no full stop]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2194560" cy="100584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44"/>
                </a:solidFill>
                <a:latin typeface="Segoe UI"/>
              </a:rPr>
              <a:t>[LABEL 1: 2-4 words]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645920"/>
            <a:ext cx="8686800" cy="1325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923"/>
                </a:solidFill>
                <a:latin typeface="Segoe UI"/>
              </a:rPr>
              <a:t>[Bullet 1: full message, bold only the load-bearing words]</a:t>
            </a:r>
          </a:p>
          <a:p>
            <a:pPr algn="l"/>
            <a:r>
              <a:rPr sz="1300" b="0" i="0">
                <a:solidFill>
                  <a:srgbClr val="0F1923"/>
                </a:solidFill>
                <a:latin typeface="Segoe UI"/>
              </a:rPr>
              <a:t>[Bullet 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54680"/>
            <a:ext cx="2194560" cy="100584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44"/>
                </a:solidFill>
                <a:latin typeface="Segoe UI"/>
              </a:rPr>
              <a:t>[LABEL 2: 2-4 words]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3154680"/>
            <a:ext cx="8686800" cy="1325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923"/>
                </a:solidFill>
                <a:latin typeface="Segoe UI"/>
              </a:rPr>
              <a:t>[Bullet 1: full message, bold only the load-bearing words]</a:t>
            </a:r>
          </a:p>
          <a:p>
            <a:pPr algn="l"/>
            <a:r>
              <a:rPr sz="1300" b="0" i="0">
                <a:solidFill>
                  <a:srgbClr val="0F1923"/>
                </a:solidFill>
                <a:latin typeface="Segoe UI"/>
              </a:rPr>
              <a:t>[Bullet 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2194560" cy="100584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44"/>
                </a:solidFill>
                <a:latin typeface="Segoe UI"/>
              </a:rPr>
              <a:t>[LABEL 3: 2-4 words]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4663440"/>
            <a:ext cx="8686800" cy="1325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923"/>
                </a:solidFill>
                <a:latin typeface="Segoe UI"/>
              </a:rPr>
              <a:t>[Bullet 1: full message, bold only the load-bearing words]</a:t>
            </a:r>
          </a:p>
          <a:p>
            <a:pPr algn="l"/>
            <a:r>
              <a:rPr sz="1300" b="0" i="0">
                <a:solidFill>
                  <a:srgbClr val="0F1923"/>
                </a:solidFill>
                <a:latin typeface="Segoe UI"/>
              </a:rPr>
              <a:t>[Bullet 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Dotted separators optional. 3-4 rows maximum.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full-sentence claim, 2 lines maximum, no full stop]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394960" cy="1920240"/>
          </a:xfrm>
          <a:prstGeom prst="rect">
            <a:avLst/>
          </a:prstGeom>
          <a:solidFill>
            <a:srgbClr val="E6F4EC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923"/>
                </a:solidFill>
                <a:latin typeface="Segoe UI"/>
              </a:rPr>
              <a:t>"[Quote text with the key phrase in bold]"</a:t>
            </a:r>
          </a:p>
          <a:p>
            <a:pPr algn="l"/>
            <a:r>
              <a:rPr sz="1100" b="0" i="0">
                <a:solidFill>
                  <a:srgbClr val="718096"/>
                </a:solidFill>
                <a:latin typeface="Segoe UI"/>
              </a:rPr>
              <a:t>– [Name, Title, Company]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737360"/>
            <a:ext cx="5394960" cy="1920240"/>
          </a:xfrm>
          <a:prstGeom prst="rect">
            <a:avLst/>
          </a:prstGeom>
          <a:solidFill>
            <a:srgbClr val="E6F4EC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923"/>
                </a:solidFill>
                <a:latin typeface="Segoe UI"/>
              </a:rPr>
              <a:t>"[Quote text with the key phrase in bold]"</a:t>
            </a:r>
          </a:p>
          <a:p>
            <a:pPr algn="l"/>
            <a:r>
              <a:rPr sz="1100" b="0" i="0">
                <a:solidFill>
                  <a:srgbClr val="718096"/>
                </a:solidFill>
                <a:latin typeface="Segoe UI"/>
              </a:rPr>
              <a:t>– [Name, Title, Company]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5394960" cy="1920240"/>
          </a:xfrm>
          <a:prstGeom prst="rect">
            <a:avLst/>
          </a:prstGeom>
          <a:solidFill>
            <a:srgbClr val="E6F4EC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923"/>
                </a:solidFill>
                <a:latin typeface="Segoe UI"/>
              </a:rPr>
              <a:t>"[Quote text with the key phrase in bold]"</a:t>
            </a:r>
          </a:p>
          <a:p>
            <a:pPr algn="l"/>
            <a:r>
              <a:rPr sz="1100" b="0" i="0">
                <a:solidFill>
                  <a:srgbClr val="718096"/>
                </a:solidFill>
                <a:latin typeface="Segoe UI"/>
              </a:rPr>
              <a:t>– [Name, Title, Company]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4023360"/>
            <a:ext cx="5394960" cy="1920240"/>
          </a:xfrm>
          <a:prstGeom prst="rect">
            <a:avLst/>
          </a:prstGeom>
          <a:solidFill>
            <a:srgbClr val="E6F4EC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923"/>
                </a:solidFill>
                <a:latin typeface="Segoe UI"/>
              </a:rPr>
              <a:t>"[Quote text with the key phrase in bold]"</a:t>
            </a:r>
          </a:p>
          <a:p>
            <a:pPr algn="l"/>
            <a:r>
              <a:rPr sz="1100" b="0" i="0">
                <a:solidFill>
                  <a:srgbClr val="718096"/>
                </a:solidFill>
                <a:latin typeface="Segoe UI"/>
              </a:rPr>
              <a:t>– [Name, Title, Company]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Use 2-4 quote cards. Delete spares.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what the company did and the result it got]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828800" cy="45720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Segoe UI"/>
              </a:rPr>
              <a:t>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645920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923"/>
                </a:solidFill>
                <a:latin typeface="Segoe UI"/>
              </a:rPr>
              <a:t>[Opportunity content: bold only the key words]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828800" cy="45720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Segoe UI"/>
              </a:rPr>
              <a:t>Best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606040"/>
            <a:ext cx="5120640" cy="2194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923"/>
                </a:solidFill>
                <a:latin typeface="Segoe UI"/>
              </a:rPr>
              <a:t>[Best practices content: bold only the key words]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1828800" cy="45720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Segoe UI"/>
              </a:rPr>
              <a:t>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4937760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923"/>
                </a:solidFill>
                <a:latin typeface="Segoe UI"/>
              </a:rPr>
              <a:t>[Result content: bold only the key words]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3566160" cy="4114800"/>
          </a:xfrm>
          <a:prstGeom prst="rect">
            <a:avLst/>
          </a:prstGeom>
          <a:noFill/>
          <a:ln w="9525">
            <a:solidFill>
              <a:srgbClr val="B0B8C4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18096"/>
                </a:solidFill>
                <a:latin typeface="Segoe UI"/>
              </a:rPr>
              <a:t>[LOGO + SCREENSHOT AREA — paste the image here]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Fixed template: Opportunity / Best practices / Result.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full-sentence claim, 2 lines maximum, no full stop]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9601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[Dimension]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[Us]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[Them / target]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Bold the winning cell in each row, nothing else.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the financial claim with the central case number]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7315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[Metric]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Pessimistic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Central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Optimistic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DBE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DBE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DBE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DBE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Always three scenarios. Central column tinted + bold.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9966960" cy="2560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2744"/>
                </a:solidFill>
                <a:latin typeface="Segoe UI"/>
              </a:rPr>
              <a:t>[THE DECISION: approve X]</a:t>
            </a:r>
          </a:p>
          <a:p>
            <a:pPr algn="ctr"/>
            <a:r>
              <a:rPr sz="1800" b="0" i="0">
                <a:solidFill>
                  <a:srgbClr val="0F1923"/>
                </a:solidFill>
                <a:latin typeface="Segoe UI"/>
              </a:rPr>
              <a:t>[THE GATE: if metric Y has not moved by date Z, review before more spend]</a:t>
            </a:r>
          </a:p>
          <a:p>
            <a:pPr algn="ctr"/>
            <a:r>
              <a:rPr sz="1600" b="0" i="0">
                <a:solidFill>
                  <a:srgbClr val="718096"/>
                </a:solidFill>
                <a:latin typeface="Segoe UI"/>
              </a:rPr>
              <a:t>[OWNER + START DATE]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Decision + gate + date. Nothing else.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the change-over-time claim — "X grew/declined from A to B since Y"]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923"/>
                </a:solidFill>
                <a:latin typeface="Segoe UI"/>
              </a:rPr>
              <a:t>[CHART HEADER: metric name + period range]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  <a:latin typeface="Segoe UI"/>
              </a:rPr>
              <a:t>[Unit — example: Percent]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194560"/>
          <a:ext cx="69494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2194560"/>
            <a:ext cx="3840480" cy="292608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44"/>
                </a:solidFill>
                <a:latin typeface="Segoe UI"/>
              </a:rPr>
              <a:t>What this means for [reader]</a:t>
            </a:r>
          </a:p>
          <a:p>
            <a:pPr algn="l"/>
            <a:r>
              <a:rPr sz="1200" b="0" i="0">
                <a:solidFill>
                  <a:srgbClr val="0F1923"/>
                </a:solidFill>
                <a:latin typeface="Segoe UI"/>
              </a:rPr>
              <a:t>[IMPLICATION: 2-3 short bullets]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Time series. Latest column = accent (the message).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the share-of-total claim — "X is N% of the total"]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923"/>
                </a:solidFill>
                <a:latin typeface="Segoe UI"/>
              </a:rPr>
              <a:t>[CHART HEADER: total + period]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920240"/>
          <a:ext cx="58521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2194560"/>
            <a:ext cx="4023360" cy="292608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44"/>
                </a:solidFill>
                <a:latin typeface="Segoe UI"/>
              </a:rPr>
              <a:t>What this means for [reader]</a:t>
            </a:r>
          </a:p>
          <a:p>
            <a:pPr algn="l"/>
            <a:r>
              <a:rPr sz="1200" b="0" i="0">
                <a:solidFill>
                  <a:srgbClr val="0F1923"/>
                </a:solidFill>
                <a:latin typeface="Segoe UI"/>
              </a:rPr>
              <a:t>[IMPLICATION: 2-3 short bullets]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Component. 5 slices maximum. Message slice = accent.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the positioning claim — "options cluster in quadrant X"]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737360"/>
            <a:ext cx="3703320" cy="2057400"/>
          </a:xfrm>
          <a:prstGeom prst="rect">
            <a:avLst/>
          </a:prstGeom>
          <a:solidFill>
            <a:srgbClr val="DBE7F8"/>
          </a:solidFill>
          <a:ln w="9525">
            <a:solidFill>
              <a:srgbClr val="B0B8C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Segoe UI"/>
              </a:rPr>
              <a:t>[Quadrant: high-high]</a:t>
            </a:r>
          </a:p>
          <a:p>
            <a:pPr algn="l"/>
            <a:r>
              <a:rPr sz="1100" b="0" i="0">
                <a:solidFill>
                  <a:srgbClr val="0F1923"/>
                </a:solidFill>
                <a:latin typeface="Segoe UI"/>
              </a:rPr>
              <a:t>[items in this quadrant]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57799" y="1737360"/>
            <a:ext cx="3703320" cy="2057400"/>
          </a:xfrm>
          <a:prstGeom prst="rect">
            <a:avLst/>
          </a:prstGeom>
          <a:noFill/>
          <a:ln w="9525">
            <a:solidFill>
              <a:srgbClr val="B0B8C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Segoe UI"/>
              </a:rPr>
              <a:t>[Quadrant: high-low]</a:t>
            </a:r>
          </a:p>
          <a:p>
            <a:pPr algn="l"/>
            <a:r>
              <a:rPr sz="1100" b="0" i="0">
                <a:solidFill>
                  <a:srgbClr val="0F1923"/>
                </a:solidFill>
                <a:latin typeface="Segoe UI"/>
              </a:rPr>
              <a:t>[items in this quadrant]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886199"/>
            <a:ext cx="3703320" cy="2057400"/>
          </a:xfrm>
          <a:prstGeom prst="rect">
            <a:avLst/>
          </a:prstGeom>
          <a:noFill/>
          <a:ln w="9525">
            <a:solidFill>
              <a:srgbClr val="B0B8C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Segoe UI"/>
              </a:rPr>
              <a:t>[Quadrant: low-high]</a:t>
            </a:r>
          </a:p>
          <a:p>
            <a:pPr algn="l"/>
            <a:r>
              <a:rPr sz="1100" b="0" i="0">
                <a:solidFill>
                  <a:srgbClr val="0F1923"/>
                </a:solidFill>
                <a:latin typeface="Segoe UI"/>
              </a:rPr>
              <a:t>[items in this quadrant]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799" y="3886199"/>
            <a:ext cx="3703320" cy="2057400"/>
          </a:xfrm>
          <a:prstGeom prst="rect">
            <a:avLst/>
          </a:prstGeom>
          <a:noFill/>
          <a:ln w="9525">
            <a:solidFill>
              <a:srgbClr val="B0B8C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Segoe UI"/>
              </a:rPr>
              <a:t>[Quadrant: low-low]</a:t>
            </a:r>
          </a:p>
          <a:p>
            <a:pPr algn="l"/>
            <a:r>
              <a:rPr sz="1100" b="0" i="0">
                <a:solidFill>
                  <a:srgbClr val="0F1923"/>
                </a:solidFill>
                <a:latin typeface="Segoe UI"/>
              </a:rPr>
              <a:t>[items in this quadrant]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25880"/>
            <a:ext cx="7498079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18096"/>
                </a:solidFill>
                <a:latin typeface="Segoe UI"/>
              </a:rPr>
              <a:t>[X-AXIS: dimension, low → high]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82296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  <a:latin typeface="Segoe UI"/>
              </a:rPr>
              <a:t>[Y-AXIS: dimension]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1737360"/>
            <a:ext cx="2286000" cy="274320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44"/>
                </a:solidFill>
                <a:latin typeface="Segoe UI"/>
              </a:rPr>
              <a:t>So what</a:t>
            </a:r>
          </a:p>
          <a:p>
            <a:pPr algn="l"/>
            <a:r>
              <a:rPr sz="1100" b="0" i="0">
                <a:solidFill>
                  <a:srgbClr val="0F1923"/>
                </a:solidFill>
                <a:latin typeface="Segoe UI"/>
              </a:rPr>
              <a:t>[the choice this drives]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Tint the winning quadrant only.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the sequence claim — "N steps take us from A to B"]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1F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91639"/>
            <a:ext cx="10241280" cy="1051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923"/>
                </a:solidFill>
                <a:latin typeface="Segoe UI"/>
              </a:rPr>
              <a:t>[STEP NAME in bold]: [what happens, one sentence]</a:t>
            </a:r>
          </a:p>
          <a:p>
            <a:pPr algn="l"/>
            <a:r>
              <a:rPr sz="1200" b="0" i="0">
                <a:solidFill>
                  <a:srgbClr val="718096"/>
                </a:solidFill>
                <a:latin typeface="Segoe UI"/>
              </a:rPr>
              <a:t>[supporting detail, one line]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1F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34640"/>
            <a:ext cx="10241280" cy="1051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923"/>
                </a:solidFill>
                <a:latin typeface="Segoe UI"/>
              </a:rPr>
              <a:t>[STEP NAME in bold]: [what happens, one sentence]</a:t>
            </a:r>
          </a:p>
          <a:p>
            <a:pPr algn="l"/>
            <a:r>
              <a:rPr sz="1200" b="0" i="0">
                <a:solidFill>
                  <a:srgbClr val="718096"/>
                </a:solidFill>
                <a:latin typeface="Segoe UI"/>
              </a:rPr>
              <a:t>[supporting detail, one line]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1F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977640"/>
            <a:ext cx="10241280" cy="1051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923"/>
                </a:solidFill>
                <a:latin typeface="Segoe UI"/>
              </a:rPr>
              <a:t>[STEP NAME in bold]: [what happens, one sentence]</a:t>
            </a:r>
          </a:p>
          <a:p>
            <a:pPr algn="l"/>
            <a:r>
              <a:rPr sz="1200" b="0" i="0">
                <a:solidFill>
                  <a:srgbClr val="718096"/>
                </a:solidFill>
                <a:latin typeface="Segoe UI"/>
              </a:rPr>
              <a:t>[supporting detail, one line]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5166360"/>
            <a:ext cx="457200" cy="457200"/>
          </a:xfrm>
          <a:prstGeom prst="ellipse">
            <a:avLst/>
          </a:prstGeom>
          <a:solidFill>
            <a:srgbClr val="1F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120640"/>
            <a:ext cx="10241280" cy="1051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923"/>
                </a:solidFill>
                <a:latin typeface="Segoe UI"/>
              </a:rPr>
              <a:t>[STEP NAME in bold]: [what happens, one sentence]</a:t>
            </a:r>
          </a:p>
          <a:p>
            <a:pPr algn="l"/>
            <a:r>
              <a:rPr sz="1200" b="0" i="0">
                <a:solidFill>
                  <a:srgbClr val="718096"/>
                </a:solidFill>
                <a:latin typeface="Segoe UI"/>
              </a:rPr>
              <a:t>[supporting detail, one line]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Sequences and priorities only. Not plain lists.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full-sentence claim, 2 lines maximum, no full stop]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291840" cy="292608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744"/>
                </a:solidFill>
                <a:latin typeface="Segoe UI"/>
              </a:rPr>
              <a:t>[SUMMARY CLAIM: the one message of this slide, bold]</a:t>
            </a:r>
          </a:p>
          <a:p>
            <a:pPr algn="l"/>
            <a:r>
              <a:rPr sz="1200" b="0" i="0">
                <a:solidFill>
                  <a:srgbClr val="0F1923"/>
                </a:solidFill>
                <a:latin typeface="Segoe UI"/>
              </a:rPr>
              <a:t>[one supporting line]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737360"/>
            <a:ext cx="2011680" cy="45720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Segoe UI"/>
              </a:rPr>
              <a:t>[Point 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212080" cy="12344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923"/>
                </a:solidFill>
                <a:latin typeface="Segoe UI"/>
              </a:rPr>
              <a:t>[detail bullets, bold only the key words]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3154680"/>
            <a:ext cx="2011680" cy="45720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Segoe UI"/>
              </a:rPr>
              <a:t>[Point 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154680"/>
            <a:ext cx="5212080" cy="12344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923"/>
                </a:solidFill>
                <a:latin typeface="Segoe UI"/>
              </a:rPr>
              <a:t>[detail bullets, bold only the key words]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572000"/>
            <a:ext cx="2011680" cy="45720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Segoe UI"/>
              </a:rPr>
              <a:t>[Point 3]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5212080" cy="12344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923"/>
                </a:solidFill>
                <a:latin typeface="Segoe UI"/>
              </a:rPr>
              <a:t>[detail bullets, bold only the key words]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The left box is the claim; the right side proves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the parallel claim — "X holds across A, B and C"]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66160" cy="45720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744"/>
                </a:solidFill>
                <a:latin typeface="Segoe UI"/>
              </a:rPr>
              <a:t>[Column 1 header]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3566160" cy="3566160"/>
          </a:xfrm>
          <a:prstGeom prst="rect">
            <a:avLst/>
          </a:prstGeom>
          <a:noFill/>
          <a:ln w="9525">
            <a:solidFill>
              <a:srgbClr val="B0B8C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923"/>
                </a:solidFill>
                <a:latin typeface="Segoe UI"/>
              </a:rPr>
              <a:t>[content: bullets or a quote card]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737360"/>
            <a:ext cx="3566160" cy="45720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744"/>
                </a:solidFill>
                <a:latin typeface="Segoe UI"/>
              </a:rPr>
              <a:t>[Column 2 header]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331720"/>
            <a:ext cx="3566160" cy="3566160"/>
          </a:xfrm>
          <a:prstGeom prst="rect">
            <a:avLst/>
          </a:prstGeom>
          <a:noFill/>
          <a:ln w="9525">
            <a:solidFill>
              <a:srgbClr val="B0B8C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923"/>
                </a:solidFill>
                <a:latin typeface="Segoe UI"/>
              </a:rPr>
              <a:t>[content: bullets or a quote card]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737360"/>
            <a:ext cx="3566160" cy="45720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744"/>
                </a:solidFill>
                <a:latin typeface="Segoe UI"/>
              </a:rPr>
              <a:t>[Column 3 header]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331720"/>
            <a:ext cx="3566160" cy="3566160"/>
          </a:xfrm>
          <a:prstGeom prst="rect">
            <a:avLst/>
          </a:prstGeom>
          <a:noFill/>
          <a:ln w="9525">
            <a:solidFill>
              <a:srgbClr val="B0B8C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923"/>
                </a:solidFill>
                <a:latin typeface="Segoe UI"/>
              </a:rPr>
              <a:t>[content: bullets or a quote card]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Parallel categories. Keep the three structures identical.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the plan claim — "delivery runs A to B with gate at C"]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566160" cy="5029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[Phase 1: name + dates]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3566160" cy="2377440"/>
          </a:xfrm>
          <a:prstGeom prst="rect">
            <a:avLst/>
          </a:prstGeom>
          <a:noFill/>
          <a:ln w="9525">
            <a:solidFill>
              <a:srgbClr val="B0B8C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923"/>
                </a:solidFill>
                <a:latin typeface="Segoe UI"/>
              </a:rPr>
              <a:t>[activities]</a:t>
            </a:r>
          </a:p>
          <a:p>
            <a:pPr algn="l"/>
            <a:r>
              <a:rPr sz="1100" b="1" i="0">
                <a:solidFill>
                  <a:srgbClr val="0F1923"/>
                </a:solidFill>
                <a:latin typeface="Segoe UI"/>
              </a:rPr>
              <a:t>[milestone with date]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828800"/>
            <a:ext cx="3566160" cy="50292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2744"/>
                </a:solidFill>
                <a:latin typeface="Segoe UI"/>
              </a:rPr>
              <a:t>[Phase 2: name + dates]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468880"/>
            <a:ext cx="3566160" cy="2377440"/>
          </a:xfrm>
          <a:prstGeom prst="rect">
            <a:avLst/>
          </a:prstGeom>
          <a:noFill/>
          <a:ln w="9525">
            <a:solidFill>
              <a:srgbClr val="B0B8C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923"/>
                </a:solidFill>
                <a:latin typeface="Segoe UI"/>
              </a:rPr>
              <a:t>[activities]</a:t>
            </a:r>
          </a:p>
          <a:p>
            <a:pPr algn="l"/>
            <a:r>
              <a:rPr sz="1100" b="1" i="0">
                <a:solidFill>
                  <a:srgbClr val="0F1923"/>
                </a:solidFill>
                <a:latin typeface="Segoe UI"/>
              </a:rPr>
              <a:t>[milestone with date]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828800"/>
            <a:ext cx="3566160" cy="50292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2744"/>
                </a:solidFill>
                <a:latin typeface="Segoe UI"/>
              </a:rPr>
              <a:t>[Phase 3: name + dates]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468880"/>
            <a:ext cx="3566160" cy="2377440"/>
          </a:xfrm>
          <a:prstGeom prst="rect">
            <a:avLst/>
          </a:prstGeom>
          <a:noFill/>
          <a:ln w="9525">
            <a:solidFill>
              <a:srgbClr val="B0B8C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923"/>
                </a:solidFill>
                <a:latin typeface="Segoe UI"/>
              </a:rPr>
              <a:t>[activities]</a:t>
            </a:r>
          </a:p>
          <a:p>
            <a:pPr algn="l"/>
            <a:r>
              <a:rPr sz="1100" b="1" i="0">
                <a:solidFill>
                  <a:srgbClr val="0F1923"/>
                </a:solidFill>
                <a:latin typeface="Segoe UI"/>
              </a:rPr>
              <a:t>[milestone with date]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solidFill>
            <a:srgbClr val="FFF8E6"/>
          </a:solidFill>
          <a:ln w="9525">
            <a:solidFill>
              <a:srgbClr val="D4820A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54D0E"/>
                </a:solidFill>
                <a:latin typeface="Segoe UI"/>
              </a:rPr>
              <a:t>[DECISION GATE: if metric X has not moved by date Y, review before more spend]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Current phase = navy. The gate bar is required.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DBE7F8"/>
                </a:solidFill>
                <a:latin typeface="Segoe UI"/>
              </a:rPr>
              <a:t>[N]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2697480"/>
            <a:ext cx="86868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[SECTION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36576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BE7F8"/>
                </a:solidFill>
                <a:latin typeface="Segoe UI"/>
              </a:rPr>
              <a:t>[the section claim in one line]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Alternative to the agenda repeat. Use one style, not both.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the correlation claim — "X rises with Y"]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923"/>
                </a:solidFill>
                <a:latin typeface="Segoe UI"/>
              </a:rPr>
              <a:t>[CHART HEADER: X dimension vs Y dimension]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920240"/>
          <a:ext cx="69494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2194560"/>
            <a:ext cx="3840480" cy="292608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44"/>
                </a:solidFill>
                <a:latin typeface="Segoe UI"/>
              </a:rPr>
              <a:t>What this means for [reader]</a:t>
            </a:r>
          </a:p>
          <a:p>
            <a:pPr algn="l"/>
            <a:r>
              <a:rPr sz="1200" b="0" i="0">
                <a:solidFill>
                  <a:srgbClr val="0F1923"/>
                </a:solidFill>
                <a:latin typeface="Segoe UI"/>
              </a:rPr>
              <a:t>[IMPLICATION + the outlier to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Correlation. Label the outlier point by hand.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the bridge claim — "A moves to B; driver X does the work"]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923"/>
                </a:solidFill>
                <a:latin typeface="Segoe UI"/>
              </a:rPr>
              <a:t>[CHART HEADER: metric bridged, period]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18096"/>
                </a:solidFill>
                <a:latin typeface="Segoe UI"/>
              </a:rPr>
              <a:t>Template note: keep the float logic — increments hang from the running total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17520"/>
            <a:ext cx="1280160" cy="237744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923"/>
                </a:solidFill>
                <a:latin typeface="Segoe UI"/>
              </a:rPr>
              <a:t>[val]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68112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923"/>
                </a:solidFill>
                <a:latin typeface="Segoe UI"/>
              </a:rPr>
              <a:t>[Start]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3017520"/>
            <a:ext cx="1280160" cy="822960"/>
          </a:xfrm>
          <a:prstGeom prst="rect">
            <a:avLst/>
          </a:prstGeom>
          <a:solidFill>
            <a:srgbClr val="1F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2697479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923"/>
                </a:solidFill>
                <a:latin typeface="Segoe UI"/>
              </a:rPr>
              <a:t>[val]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5468112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923"/>
                </a:solidFill>
                <a:latin typeface="Segoe UI"/>
              </a:rPr>
              <a:t>[+Driver 1]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3017520"/>
            <a:ext cx="1280160" cy="640080"/>
          </a:xfrm>
          <a:prstGeom prst="rect">
            <a:avLst/>
          </a:prstGeom>
          <a:solidFill>
            <a:srgbClr val="1F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697479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923"/>
                </a:solidFill>
                <a:latin typeface="Segoe UI"/>
              </a:rPr>
              <a:t>[val]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5468112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923"/>
                </a:solidFill>
                <a:latin typeface="Segoe UI"/>
              </a:rPr>
              <a:t>[+Driver 2]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3383280"/>
            <a:ext cx="128016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30632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923"/>
                </a:solidFill>
                <a:latin typeface="Segoe UI"/>
              </a:rPr>
              <a:t>[val]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468112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923"/>
                </a:solidFill>
                <a:latin typeface="Segoe UI"/>
              </a:rPr>
              <a:t>[-Driver 3]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377440"/>
            <a:ext cx="1280160" cy="30175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0574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923"/>
                </a:solidFill>
                <a:latin typeface="Segoe UI"/>
              </a:rPr>
              <a:t>[val]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468112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923"/>
                </a:solidFill>
                <a:latin typeface="Segoe UI"/>
              </a:rPr>
              <a:t>[End]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194560"/>
            <a:ext cx="3017520" cy="274320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44"/>
                </a:solidFill>
                <a:latin typeface="Segoe UI"/>
              </a:rPr>
              <a:t>What this means</a:t>
            </a:r>
          </a:p>
          <a:p>
            <a:pPr algn="l"/>
            <a:r>
              <a:rPr sz="1100" b="0" i="0">
                <a:solidFill>
                  <a:srgbClr val="0F1923"/>
                </a:solidFill>
                <a:latin typeface="Segoe UI"/>
              </a:rPr>
              <a:t>[the driver that matters]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Bridge: start/end navy, gains accent, losses red.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the mix-shift claim — "the share of X moved from A% to B%"]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923"/>
                </a:solidFill>
                <a:latin typeface="Segoe UI"/>
              </a:rPr>
              <a:t>[CHART HEADER: share of total, periods]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  <a:latin typeface="Segoe UI"/>
              </a:rPr>
              <a:t>Percent of total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194560"/>
          <a:ext cx="69494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2194560"/>
            <a:ext cx="3840480" cy="292608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44"/>
                </a:solidFill>
                <a:latin typeface="Segoe UI"/>
              </a:rPr>
              <a:t>What this means for [reader]</a:t>
            </a:r>
          </a:p>
          <a:p>
            <a:pPr algn="l"/>
            <a:r>
              <a:rPr sz="1200" b="0" i="0">
                <a:solidFill>
                  <a:srgbClr val="0F1923"/>
                </a:solidFill>
                <a:latin typeface="Segoe UI"/>
              </a:rPr>
              <a:t>[the mix shift and its result]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Component across periods. Message segment = accent.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the divergence claim — "we and the market part ways at X"]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923"/>
                </a:solidFill>
                <a:latin typeface="Segoe UI"/>
              </a:rPr>
              <a:t>[CHART HEADER: metric, period range]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  <a:latin typeface="Segoe UI"/>
              </a:rPr>
              <a:t>[Unit]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194560"/>
          <a:ext cx="69494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23774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18096"/>
                </a:solidFill>
                <a:latin typeface="Segoe UI"/>
              </a:rPr>
              <a:t>[Label the series at line end by hand]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834640"/>
            <a:ext cx="3840480" cy="237744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44"/>
                </a:solidFill>
                <a:latin typeface="Segoe UI"/>
              </a:rPr>
              <a:t>What this means for [reader]</a:t>
            </a:r>
          </a:p>
          <a:p>
            <a:pPr algn="l"/>
            <a:r>
              <a:rPr sz="1200" b="0" i="0">
                <a:solidFill>
                  <a:srgbClr val="0F1923"/>
                </a:solidFill>
                <a:latin typeface="Segoe UI"/>
              </a:rPr>
              <a:t>[where and why the lines diverge]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Us = accent thick; comparison = grey thin. Label lines, not a legend.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the status claim — "N of M workstreams on track; X needs a decision"]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7680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[Workstream]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[This period]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[Decision / help needed]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6534"/>
                          </a:solidFill>
                          <a:latin typeface="Segoe UI"/>
                        </a:rPr>
                        <a:t>ON TRACK</a:t>
                      </a:r>
                    </a:p>
                  </a:txBody>
                  <a:tcPr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6534"/>
                          </a:solidFill>
                          <a:latin typeface="Segoe UI"/>
                        </a:rPr>
                        <a:t>ON TRACK</a:t>
                      </a:r>
                    </a:p>
                  </a:txBody>
                  <a:tcPr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854D0E"/>
                          </a:solidFill>
                          <a:latin typeface="Segoe UI"/>
                        </a:rPr>
                        <a:t>AT RISK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91B1B"/>
                          </a:solidFill>
                          <a:latin typeface="Segoe UI"/>
                        </a:rPr>
                        <a:t>BLOCKED</a:t>
                      </a:r>
                    </a:p>
                  </a:txBody>
                  <a:tcPr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Project update slide. Status colours fixed: green/amber/red.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the plan claim — "delivery completes by X with gate at Y"]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69164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  <a:latin typeface="Segoe UI"/>
              </a:rPr>
              <a:t>[W1]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87952" y="169164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  <a:latin typeface="Segoe UI"/>
              </a:rPr>
              <a:t>[W2]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66944" y="169164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  <a:latin typeface="Segoe UI"/>
              </a:rPr>
              <a:t>[W3]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5936" y="169164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  <a:latin typeface="Segoe UI"/>
              </a:rPr>
              <a:t>[W4]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4927" y="169164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  <a:latin typeface="Segoe UI"/>
              </a:rPr>
              <a:t>[W5]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19" y="169164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  <a:latin typeface="Segoe UI"/>
              </a:rPr>
              <a:t>[W6]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82912" y="169164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  <a:latin typeface="Segoe UI"/>
              </a:rPr>
              <a:t>[W7]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1904" y="169164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  <a:latin typeface="Segoe UI"/>
              </a:rPr>
              <a:t>[W8]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923"/>
                </a:solidFill>
                <a:latin typeface="Segoe UI"/>
              </a:rPr>
              <a:t>[Task 1]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121408"/>
            <a:ext cx="3163824" cy="310896"/>
          </a:xfrm>
          <a:prstGeom prst="rect">
            <a:avLst/>
          </a:prstGeom>
          <a:solidFill>
            <a:srgbClr val="1F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70048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923"/>
                </a:solidFill>
                <a:latin typeface="Segoe UI"/>
              </a:rPr>
              <a:t>[Task 2]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66944" y="2688336"/>
            <a:ext cx="3163824" cy="310896"/>
          </a:xfrm>
          <a:prstGeom prst="rect">
            <a:avLst/>
          </a:prstGeom>
          <a:solidFill>
            <a:srgbClr val="1F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3697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923"/>
                </a:solidFill>
                <a:latin typeface="Segoe UI"/>
              </a:rPr>
              <a:t>[Task 3]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4927" y="3255264"/>
            <a:ext cx="2084831" cy="310896"/>
          </a:xfrm>
          <a:prstGeom prst="rect">
            <a:avLst/>
          </a:prstGeom>
          <a:solidFill>
            <a:srgbClr val="B0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03904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923"/>
                </a:solidFill>
                <a:latin typeface="Segoe UI"/>
              </a:rPr>
              <a:t>[Task 4]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19" y="3822191"/>
            <a:ext cx="3163824" cy="310896"/>
          </a:xfrm>
          <a:prstGeom prst="rect">
            <a:avLst/>
          </a:prstGeom>
          <a:solidFill>
            <a:srgbClr val="B0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10981944" y="4416552"/>
            <a:ext cx="320040" cy="320040"/>
          </a:xfrm>
          <a:prstGeom prst="diamond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35516" y="478231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1B1B"/>
                </a:solidFill>
                <a:latin typeface="Segoe UI"/>
              </a:rPr>
              <a:t>[MILESTONE: decision gate, date]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Current-phase bars accent, later grey. Gate diamond red.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the performance claim — "three of four measures beat target"]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2651760" cy="2377440"/>
          </a:xfrm>
          <a:prstGeom prst="rect">
            <a:avLst/>
          </a:prstGeom>
          <a:solidFill>
            <a:srgbClr val="DBE7F8"/>
          </a:solidFill>
          <a:ln w="9525">
            <a:solidFill>
              <a:srgbClr val="B0B8C4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F4FA8"/>
                </a:solidFill>
                <a:latin typeface="Segoe UI"/>
              </a:rPr>
              <a:t>[42%]</a:t>
            </a:r>
          </a:p>
          <a:p>
            <a:pPr algn="ctr"/>
            <a:r>
              <a:rPr sz="1300" b="1" i="0">
                <a:solidFill>
                  <a:srgbClr val="0F1923"/>
                </a:solidFill>
                <a:latin typeface="Segoe UI"/>
              </a:rPr>
              <a:t>[Metric 1 name]</a:t>
            </a:r>
          </a:p>
          <a:p>
            <a:pPr algn="ctr"/>
            <a:r>
              <a:rPr sz="1100" b="0" i="0">
                <a:solidFill>
                  <a:srgbClr val="718096"/>
                </a:solidFill>
                <a:latin typeface="Segoe UI"/>
              </a:rPr>
              <a:t>[vs target: +X]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011680"/>
            <a:ext cx="2651760" cy="2377440"/>
          </a:xfrm>
          <a:prstGeom prst="rect">
            <a:avLst/>
          </a:prstGeom>
          <a:noFill/>
          <a:ln w="9525">
            <a:solidFill>
              <a:srgbClr val="B0B8C4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F4FA8"/>
                </a:solidFill>
                <a:latin typeface="Segoe UI"/>
              </a:rPr>
              <a:t>[£3.9M]</a:t>
            </a:r>
          </a:p>
          <a:p>
            <a:pPr algn="ctr"/>
            <a:r>
              <a:rPr sz="1300" b="1" i="0">
                <a:solidFill>
                  <a:srgbClr val="0F1923"/>
                </a:solidFill>
                <a:latin typeface="Segoe UI"/>
              </a:rPr>
              <a:t>[Metric 2 name]</a:t>
            </a:r>
          </a:p>
          <a:p>
            <a:pPr algn="ctr"/>
            <a:r>
              <a:rPr sz="1100" b="0" i="0">
                <a:solidFill>
                  <a:srgbClr val="718096"/>
                </a:solidFill>
                <a:latin typeface="Segoe UI"/>
              </a:rPr>
              <a:t>[vs target: +X]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2651760" cy="2377440"/>
          </a:xfrm>
          <a:prstGeom prst="rect">
            <a:avLst/>
          </a:prstGeom>
          <a:noFill/>
          <a:ln w="9525">
            <a:solidFill>
              <a:srgbClr val="B0B8C4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F4FA8"/>
                </a:solidFill>
                <a:latin typeface="Segoe UI"/>
              </a:rPr>
              <a:t>[2.4x]</a:t>
            </a:r>
          </a:p>
          <a:p>
            <a:pPr algn="ctr"/>
            <a:r>
              <a:rPr sz="1300" b="1" i="0">
                <a:solidFill>
                  <a:srgbClr val="0F1923"/>
                </a:solidFill>
                <a:latin typeface="Segoe UI"/>
              </a:rPr>
              <a:t>[Metric 3 name]</a:t>
            </a:r>
          </a:p>
          <a:p>
            <a:pPr algn="ctr"/>
            <a:r>
              <a:rPr sz="1100" b="0" i="0">
                <a:solidFill>
                  <a:srgbClr val="718096"/>
                </a:solidFill>
                <a:latin typeface="Segoe UI"/>
              </a:rPr>
              <a:t>[vs target: 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2011680"/>
            <a:ext cx="2651760" cy="2377440"/>
          </a:xfrm>
          <a:prstGeom prst="rect">
            <a:avLst/>
          </a:prstGeom>
          <a:noFill/>
          <a:ln w="9525">
            <a:solidFill>
              <a:srgbClr val="B0B8C4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F4FA8"/>
                </a:solidFill>
                <a:latin typeface="Segoe UI"/>
              </a:rPr>
              <a:t>[35%]</a:t>
            </a:r>
          </a:p>
          <a:p>
            <a:pPr algn="ctr"/>
            <a:r>
              <a:rPr sz="1300" b="1" i="0">
                <a:solidFill>
                  <a:srgbClr val="0F1923"/>
                </a:solidFill>
                <a:latin typeface="Segoe UI"/>
              </a:rPr>
              <a:t>[Metric 4 name]</a:t>
            </a:r>
          </a:p>
          <a:p>
            <a:pPr algn="ctr"/>
            <a:r>
              <a:rPr sz="1100" b="0" i="0">
                <a:solidFill>
                  <a:srgbClr val="718096"/>
                </a:solidFill>
                <a:latin typeface="Segoe UI"/>
              </a:rPr>
              <a:t>[vs target: -X]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11064240" cy="1097280"/>
          </a:xfrm>
          <a:prstGeom prst="rect">
            <a:avLst/>
          </a:prstGeom>
          <a:noFill/>
          <a:ln w="9525">
            <a:solidFill>
              <a:srgbClr val="B0B8C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923"/>
                </a:solidFill>
                <a:latin typeface="Segoe UI"/>
              </a:rPr>
              <a:t>[NARRATIVE LINE: what the numbers say together, one sentence, bold the key words]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4 tiles maximum. Tint the tile the title talks about.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the structure claim — "the model needs N roles reporting to X"]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1737360"/>
            <a:ext cx="2286000" cy="64008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[Head role]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3108960"/>
            <a:ext cx="2651760" cy="594360"/>
          </a:xfrm>
          <a:prstGeom prst="rect">
            <a:avLst/>
          </a:prstGeom>
          <a:solidFill>
            <a:srgbClr val="DBE7F8"/>
          </a:solidFill>
          <a:ln>
            <a:solidFill>
              <a:srgbClr val="B0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2744"/>
                </a:solidFill>
                <a:latin typeface="Segoe UI"/>
              </a:rPr>
              <a:t>[Function 1]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2788920" y="2377440"/>
            <a:ext cx="3291840" cy="731520"/>
          </a:xfrm>
          <a:prstGeom prst="line">
            <a:avLst/>
          </a:prstGeom>
          <a:ln>
            <a:solidFill>
              <a:srgbClr val="B0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63040" y="3840480"/>
            <a:ext cx="2651760" cy="1645920"/>
          </a:xfrm>
          <a:prstGeom prst="rect">
            <a:avLst/>
          </a:prstGeom>
          <a:noFill/>
          <a:ln w="9525">
            <a:solidFill>
              <a:srgbClr val="B0B8C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923"/>
                </a:solidFill>
                <a:latin typeface="Segoe UI"/>
              </a:rPr>
              <a:t>[roles / FTE / notes]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3108960"/>
            <a:ext cx="2651760" cy="594360"/>
          </a:xfrm>
          <a:prstGeom prst="rect">
            <a:avLst/>
          </a:prstGeom>
          <a:solidFill>
            <a:srgbClr val="DBE7F8"/>
          </a:solidFill>
          <a:ln>
            <a:solidFill>
              <a:srgbClr val="B0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2744"/>
                </a:solidFill>
                <a:latin typeface="Segoe UI"/>
              </a:rPr>
              <a:t>[Function 2]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377440"/>
            <a:ext cx="91440" cy="731520"/>
          </a:xfrm>
          <a:prstGeom prst="line">
            <a:avLst/>
          </a:prstGeom>
          <a:ln>
            <a:solidFill>
              <a:srgbClr val="B0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46320" y="3840480"/>
            <a:ext cx="2651760" cy="1645920"/>
          </a:xfrm>
          <a:prstGeom prst="rect">
            <a:avLst/>
          </a:prstGeom>
          <a:noFill/>
          <a:ln w="9525">
            <a:solidFill>
              <a:srgbClr val="B0B8C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923"/>
                </a:solidFill>
                <a:latin typeface="Segoe UI"/>
              </a:rPr>
              <a:t>[roles / FTE / notes]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3108960"/>
            <a:ext cx="2651760" cy="594360"/>
          </a:xfrm>
          <a:prstGeom prst="rect">
            <a:avLst/>
          </a:prstGeom>
          <a:solidFill>
            <a:srgbClr val="DBE7F8"/>
          </a:solidFill>
          <a:ln>
            <a:solidFill>
              <a:srgbClr val="B0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2744"/>
                </a:solidFill>
                <a:latin typeface="Segoe UI"/>
              </a:rPr>
              <a:t>[Function 3]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2377440"/>
            <a:ext cx="3474720" cy="731520"/>
          </a:xfrm>
          <a:prstGeom prst="line">
            <a:avLst/>
          </a:prstGeom>
          <a:ln>
            <a:solidFill>
              <a:srgbClr val="B0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0" y="3840480"/>
            <a:ext cx="2651760" cy="1645920"/>
          </a:xfrm>
          <a:prstGeom prst="rect">
            <a:avLst/>
          </a:prstGeom>
          <a:noFill/>
          <a:ln w="9525">
            <a:solidFill>
              <a:srgbClr val="B0B8C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923"/>
                </a:solidFill>
                <a:latin typeface="Segoe UI"/>
              </a:rPr>
              <a:t>[roles / FTE / notes]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Max 2 levels on a slide. Push detail to the appendix.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the leak claim — "we lose X% at stage Y"]</a:t>
            </a:r>
          </a:p>
        </p:txBody>
      </p:sp>
      <p:sp>
        <p:nvSpPr>
          <p:cNvPr id="4" name="Rectangle 3"/>
          <p:cNvSpPr/>
          <p:nvPr/>
        </p:nvSpPr>
        <p:spPr>
          <a:xfrm>
            <a:off x="883767" y="1920240"/>
            <a:ext cx="8229600" cy="777240"/>
          </a:xfrm>
          <a:prstGeom prst="rect">
            <a:avLst/>
          </a:prstGeom>
          <a:solidFill>
            <a:srgbClr val="B0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[Stage 1]  [1,000]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50527" y="24231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91B1B"/>
                </a:solidFill>
                <a:latin typeface="Segoe UI"/>
              </a:rPr>
              <a:t>[-X% here]</a:t>
            </a:r>
          </a:p>
        </p:txBody>
      </p:sp>
      <p:sp>
        <p:nvSpPr>
          <p:cNvPr id="6" name="Rectangle 5"/>
          <p:cNvSpPr/>
          <p:nvPr/>
        </p:nvSpPr>
        <p:spPr>
          <a:xfrm>
            <a:off x="1798167" y="2907792"/>
            <a:ext cx="6400800" cy="777240"/>
          </a:xfrm>
          <a:prstGeom prst="rect">
            <a:avLst/>
          </a:prstGeom>
          <a:solidFill>
            <a:srgbClr val="B0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[Stage 2]  [620]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36127" y="341071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91B1B"/>
                </a:solidFill>
                <a:latin typeface="Segoe UI"/>
              </a:rPr>
              <a:t>[-X% here]</a:t>
            </a:r>
          </a:p>
        </p:txBody>
      </p:sp>
      <p:sp>
        <p:nvSpPr>
          <p:cNvPr id="8" name="Rectangle 7"/>
          <p:cNvSpPr/>
          <p:nvPr/>
        </p:nvSpPr>
        <p:spPr>
          <a:xfrm>
            <a:off x="2804007" y="3895344"/>
            <a:ext cx="4389120" cy="777240"/>
          </a:xfrm>
          <a:prstGeom prst="rect">
            <a:avLst/>
          </a:prstGeom>
          <a:solidFill>
            <a:srgbClr val="1F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[Stage 3]  [210]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0287" y="4398264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91B1B"/>
                </a:solidFill>
                <a:latin typeface="Segoe UI"/>
              </a:rPr>
              <a:t>[-X% here]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18407" y="4882896"/>
            <a:ext cx="2560320" cy="777240"/>
          </a:xfrm>
          <a:prstGeom prst="rect">
            <a:avLst/>
          </a:prstGeom>
          <a:solidFill>
            <a:srgbClr val="B0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[Stage 4]  [85]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920240"/>
            <a:ext cx="2286000" cy="292608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44"/>
                </a:solidFill>
                <a:latin typeface="Segoe UI"/>
              </a:rPr>
              <a:t>So what</a:t>
            </a:r>
          </a:p>
          <a:p>
            <a:pPr algn="l"/>
            <a:r>
              <a:rPr sz="1100" b="0" i="0">
                <a:solidFill>
                  <a:srgbClr val="0F1923"/>
                </a:solidFill>
                <a:latin typeface="Segoe UI"/>
              </a:rPr>
              <a:t>[the stage to fix first]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The leak stage = accent. Loss labels in red.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the change claim — "from A to B"]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 w="9525">
            <a:solidFill>
              <a:srgbClr val="B0B8C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18096"/>
                </a:solidFill>
                <a:latin typeface="Segoe UI"/>
              </a:rPr>
              <a:t>TODAY</a:t>
            </a:r>
          </a:p>
          <a:p>
            <a:pPr algn="l"/>
            <a:r>
              <a:rPr sz="1300" b="0" i="0">
                <a:solidFill>
                  <a:srgbClr val="0F1923"/>
                </a:solidFill>
                <a:latin typeface="Segoe UI"/>
              </a:rPr>
              <a:t>[current state: 3-4 bullets, the pain in bold]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737360"/>
            <a:ext cx="5394960" cy="4023360"/>
          </a:xfrm>
          <a:prstGeom prst="rect">
            <a:avLst/>
          </a:prstGeom>
          <a:solidFill>
            <a:srgbClr val="DBE7F8"/>
          </a:solidFill>
          <a:ln w="9525">
            <a:solidFill>
              <a:srgbClr val="1F4FA8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44"/>
                </a:solidFill>
                <a:latin typeface="Segoe UI"/>
              </a:rPr>
              <a:t>TARGET</a:t>
            </a:r>
          </a:p>
          <a:p>
            <a:pPr algn="l"/>
            <a:r>
              <a:rPr sz="1300" b="0" i="0">
                <a:solidFill>
                  <a:srgbClr val="0F1923"/>
                </a:solidFill>
                <a:latin typeface="Segoe UI"/>
              </a:rPr>
              <a:t>[future state: the same 3-4 dimensions, the gain in bold]</a:t>
            </a:r>
          </a:p>
        </p:txBody>
      </p:sp>
      <p:sp>
        <p:nvSpPr>
          <p:cNvPr id="6" name="Can 5"/>
          <p:cNvSpPr/>
          <p:nvPr/>
        </p:nvSpPr>
        <p:spPr>
          <a:xfrm>
            <a:off x="5623560" y="3520440"/>
            <a:ext cx="640080" cy="457200"/>
          </a:xfrm>
          <a:prstGeom prst="can">
            <a:avLst/>
          </a:prstGeom>
          <a:solidFill>
            <a:srgbClr val="1F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Same dimensions both sides, same order. Target side tinted.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the risk claim — "two risks need owners before approval"]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7680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[Risk]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Likelihood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Impact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[Mitigation]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[Owner]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[High/Med/Low]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[High/Med/Low]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[High/Med/Low]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[High/Med/Low]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[High/Med/Low]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[High/Med/Low]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[High/Med/Low]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[High/Med/Low]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Bold High cells by hand. Every risk has an owner.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the choice claim — "option B wins on the criteria that matter"]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744"/>
                </a:solidFill>
                <a:latin typeface="Segoe UI"/>
              </a:rPr>
              <a:t>[Option A: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3657600" cy="2743200"/>
          </a:xfrm>
          <a:prstGeom prst="rect">
            <a:avLst/>
          </a:prstGeom>
          <a:noFill/>
          <a:ln w="9525">
            <a:solidFill>
              <a:srgbClr val="B0B8C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923"/>
                </a:solidFill>
                <a:latin typeface="Segoe UI"/>
              </a:rPr>
              <a:t>[what it is, cost, time to impact, risk — same 4 lines each card]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212080"/>
            <a:ext cx="3657600" cy="457200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91B1B"/>
                </a:solidFill>
                <a:latin typeface="Segoe UI"/>
              </a:rPr>
              <a:t>[NOT RECOMMENDED]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59" y="1737360"/>
            <a:ext cx="3657600" cy="4572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[Option B: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2331720"/>
            <a:ext cx="3657600" cy="2743200"/>
          </a:xfrm>
          <a:prstGeom prst="rect">
            <a:avLst/>
          </a:prstGeom>
          <a:noFill/>
          <a:ln w="9525">
            <a:solidFill>
              <a:srgbClr val="B0B8C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923"/>
                </a:solidFill>
                <a:latin typeface="Segoe UI"/>
              </a:rPr>
              <a:t>[what it is, cost, time to impact, risk — same 4 lines each card]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5212080"/>
            <a:ext cx="3657600" cy="457200"/>
          </a:xfrm>
          <a:prstGeom prst="rect">
            <a:avLst/>
          </a:prstGeom>
          <a:solidFill>
            <a:srgbClr val="E6F4EC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6534"/>
                </a:solidFill>
                <a:latin typeface="Segoe UI"/>
              </a:rPr>
              <a:t>[RECOMMENDED]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737360"/>
            <a:ext cx="3657600" cy="45720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744"/>
                </a:solidFill>
                <a:latin typeface="Segoe UI"/>
              </a:rPr>
              <a:t>[Option C: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331720"/>
            <a:ext cx="3657600" cy="2743200"/>
          </a:xfrm>
          <a:prstGeom prst="rect">
            <a:avLst/>
          </a:prstGeom>
          <a:noFill/>
          <a:ln w="9525">
            <a:solidFill>
              <a:srgbClr val="B0B8C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923"/>
                </a:solidFill>
                <a:latin typeface="Segoe UI"/>
              </a:rPr>
              <a:t>[what it is, cost, time to impact, risk — same 4 lines each card]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212080"/>
            <a:ext cx="3657600" cy="457200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54D0E"/>
                </a:solidFill>
                <a:latin typeface="Segoe UI"/>
              </a:rPr>
              <a:t>[FALLBACK]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Same 4 lines per card so the reader can compare.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Next steps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Action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Owner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Date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[action, verb first]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[name]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[8 May 2026]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[action, verb first]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[name]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[8 May 2026]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[action, verb first]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[name]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[8 May 2026]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[action, verb first]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[name]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[8 May 2026]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Every action has one owner and one date. No shared owners.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7F8"/>
                </a:solidFill>
                <a:latin typeface="Segoe UI"/>
              </a:rPr>
              <a:t>[contents: backup exhibits, method notes, detail tables]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Everything a hard question needs, nothing the flow needs.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Appendix]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still a claim — "the detail supports the summary numbers"]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5257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[Col 1]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[Col 2]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[Col 3]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[Col 4]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[Col 5]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[Col 6]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923"/>
                          </a:solidFill>
                          <a:latin typeface="Segoe UI"/>
                        </a:rPr>
                        <a:t>[..]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Appendix only. 10pt minimum. Never in the main 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