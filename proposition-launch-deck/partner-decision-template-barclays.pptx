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 #2: the single-feature route decision. Zooms in on one backlog verdict and prices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 before sending.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routes; regeneration is canonical.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includes the terms - yes-if-bounded, not bare yes/no.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 is one sentence; the four verbs below are the bounds that make the yes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analytical machinery as the backlog deck (demand evidence, route pricing, bounds) - re-cut as reasons for THIS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photograph slide. Recommended row highlighted; every route priced including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 + timing. Without the window, build-vs-partner is a preference, not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 carried from the backlog deck; the window evidence is this deck's addition.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tiles carry the whole timing argument; the read box states the reframe - speed is the asset being bought.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economics section: arithmetic, then the crossover that sets the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margin-vs-time decomposition stops the 'we give away margin' objection before it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computed trigger: crossover = capex / (margin delta x payback years). Recomputed on every regeneration.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Stating the references' honest negatives is what makes the positives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defensibility section: partnering is safe because it is bounded, not because the partner is nice.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trigger row is computed by the script from the crossover inputs - it cannot drift from slide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risk has an observable early signal. The demand row shows the recommendation is robust to the scariest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Sign, fund, instruct, diarise - the four bounds become four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detail lives with the backlog deck and the analysis workbook - this appendix points at it rather than duplicating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7863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C5"/>
                </a:solidFill>
                <a:latin typeface="Expert Sans"/>
              </a:rPr>
              <a:t>PARTNER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8412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00"/>
              </a:lnSpc>
            </a:pPr>
            <a:r>
              <a:rPr sz="4400" b="0" i="0">
                <a:solidFill>
                  <a:srgbClr val="00AEEF"/>
                </a:solidFill>
                <a:latin typeface="Expert Sans"/>
              </a:rPr>
              <a:t>Should we partner to launch
invoice finance?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7947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395D"/>
                </a:solidFill>
                <a:latin typeface="Expert Sans"/>
              </a:rPr>
              <a:t>One feature · four routes priced · the deal bounded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1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F8D"/>
                </a:solidFill>
                <a:latin typeface="Expert Sans"/>
              </a:rPr>
              <a:t>Worked example: invoice finance for exporting SMEs · all names and numbers are dummy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F8D"/>
                </a:solidFill>
                <a:latin typeface="Expert Sans"/>
              </a:rPr>
              <a:t>[Team / function]   ·   [Month Year]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1180" y="1965960"/>
            <a:ext cx="960120" cy="566928"/>
          </a:xfrm>
          <a:prstGeom prst="roundRect">
            <a:avLst>
              <a:gd name="adj" fmla="val 8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8260" y="2679191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003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35340" y="3392424"/>
            <a:ext cx="2971800" cy="566928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421538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7F8D"/>
                </a:solidFill>
                <a:latin typeface="Expert Sans"/>
              </a:rPr>
              <a:t>Answer  →  key line  → 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TEMPLATE GUIDE — DELETE BEFORE SENDING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How to use this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11057839" cy="1060704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801368"/>
            <a:ext cx="420624" cy="42062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1609344"/>
            <a:ext cx="9686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395D"/>
                </a:solidFill>
                <a:latin typeface="Expert Sans"/>
              </a:rPr>
              <a:t>Every name and number is a dummy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956816"/>
            <a:ext cx="96862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The feature, '[Lender Co]', the NPVs and the terms are a worked example — continuous with the proposition backlog deck. Replace all of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88336"/>
            <a:ext cx="11057839" cy="1060704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3008376"/>
            <a:ext cx="420624" cy="42062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816352"/>
            <a:ext cx="9686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395D"/>
                </a:solidFill>
                <a:latin typeface="Expert Sans"/>
              </a:rPr>
              <a:t>The question includes the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3163824"/>
            <a:ext cx="96862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'Should we partner' alone is impoverished. The honest answer is yes-IF-bounded: the deal and its bounds are decided together, or not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895344"/>
            <a:ext cx="11057839" cy="1060704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4215384"/>
            <a:ext cx="420624" cy="42062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4023360"/>
            <a:ext cx="9686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395D"/>
                </a:solidFill>
                <a:latin typeface="Expert Sans"/>
              </a:rPr>
              <a:t>The counterfactual is the argument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370832"/>
            <a:ext cx="96862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The build row is not background — it is what prices the decision. Every route including do-nothing gets a risk-adjusted NPV, so 'partner' wins on arithmetic, not enthusiasm.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02352"/>
            <a:ext cx="11057839" cy="1060704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5422392"/>
            <a:ext cx="420624" cy="42062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5230368"/>
            <a:ext cx="9686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395D"/>
                </a:solidFill>
                <a:latin typeface="Expert Sans"/>
              </a:rPr>
              <a:t>This deck regenerates from this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5577840"/>
            <a:ext cx="96862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Edit the DATA section and re-run (Copilot can execute it). The re-internalise trigger is computed from capex and margin delta — change the inputs and the trigger moves with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FOR COPILOT — DELETE BEFORE SENDING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</a:pPr>
            <a:r>
              <a:rPr sz="2200" b="0" i="0">
                <a:solidFill>
                  <a:srgbClr val="00AEEF"/>
                </a:solidFill>
                <a:latin typeface="Expert Sans"/>
              </a:rPr>
              <a:t>Copilot: how to work with this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5440680" cy="42062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5727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395D"/>
                </a:solidFill>
                <a:latin typeface="Expert Sans"/>
              </a:rPr>
              <a:t>A — Preferred route: regenerate from the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2024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1" i="0">
                <a:solidFill>
                  <a:srgbClr val="0083C5"/>
                </a:solidFill>
                <a:latin typeface="Expert Sans"/>
              </a:rPr>
              <a:t>1. </a:t>
            </a:r>
          </a:p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3F5563"/>
                </a:solidFill>
                <a:latin typeface="Expert Sans"/>
              </a:rPr>
              <a:t>Edit ONLY the DATA section of generate_partner_decision_deck.py: the feature, partner, route NPVs, crossover inputs, terms.</a:t>
            </a:r>
          </a:p>
          <a:p>
            <a:pPr algn="l">
              <a:lnSpc>
                <a:spcPts val="1400"/>
              </a:lnSpc>
            </a:pPr>
            <a:r>
              <a:rPr sz="1050" b="1" i="0">
                <a:solidFill>
                  <a:srgbClr val="0083C5"/>
                </a:solidFill>
                <a:latin typeface="Expert Sans"/>
              </a:rPr>
              <a:t>2. </a:t>
            </a:r>
          </a:p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3F5563"/>
                </a:solidFill>
                <a:latin typeface="Expert Sans"/>
              </a:rPr>
              <a:t>Run it. The script checks the recommended route against the NPVs, recomputes the crossover trigger, and writes the .pptx. Give the file to the user.</a:t>
            </a:r>
          </a:p>
          <a:p>
            <a:pPr algn="l">
              <a:lnSpc>
                <a:spcPts val="1400"/>
              </a:lnSpc>
            </a:pPr>
            <a:r>
              <a:rPr sz="1050" b="1" i="0">
                <a:solidFill>
                  <a:srgbClr val="0083C5"/>
                </a:solidFill>
                <a:latin typeface="Expert Sans"/>
              </a:rPr>
              <a:t>3. </a:t>
            </a:r>
          </a:p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3F5563"/>
                </a:solidFill>
                <a:latin typeface="Expert Sans"/>
              </a:rPr>
              <a:t>Never edit the LAYOUT section. A FAIL means fix the data, not the check.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417320"/>
            <a:ext cx="5342839" cy="42062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4536" y="15727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395D"/>
                </a:solidFill>
                <a:latin typeface="Expert Sans"/>
              </a:rPr>
              <a:t>B — Fallback: edit this file directly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4536" y="1920240"/>
            <a:ext cx="479419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1" i="0">
                <a:solidFill>
                  <a:srgbClr val="0083C5"/>
                </a:solidFill>
                <a:latin typeface="Expert Sans"/>
              </a:rPr>
              <a:t>4. </a:t>
            </a:r>
          </a:p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3F5563"/>
                </a:solidFill>
                <a:latin typeface="Expert Sans"/>
              </a:rPr>
              <a:t>Replace every example value. Reconcile: the headline NPV (5) = the chosen route's NPV (7, 12) · the trigger on 16 = the crossover arithmetic on 13.</a:t>
            </a:r>
          </a:p>
          <a:p>
            <a:pPr algn="l">
              <a:lnSpc>
                <a:spcPts val="1400"/>
              </a:lnSpc>
            </a:pPr>
            <a:r>
              <a:rPr sz="1050" b="1" i="0">
                <a:solidFill>
                  <a:srgbClr val="0083C5"/>
                </a:solidFill>
                <a:latin typeface="Expert Sans"/>
              </a:rPr>
              <a:t>5. </a:t>
            </a:r>
          </a:p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3F5563"/>
                </a:solidFill>
                <a:latin typeface="Expert Sans"/>
              </a:rPr>
              <a:t>The Barclays palette is applied (cyan titles, navy data, pale-blue cards, grey comparisons). Do not remap. Font: Expert Sans.</a:t>
            </a:r>
          </a:p>
          <a:p>
            <a:pPr algn="l">
              <a:lnSpc>
                <a:spcPts val="1400"/>
              </a:lnSpc>
            </a:pPr>
            <a:r>
              <a:rPr sz="1050" b="1" i="0">
                <a:solidFill>
                  <a:srgbClr val="0083C5"/>
                </a:solidFill>
                <a:latin typeface="Expert Sans"/>
              </a:rPr>
              <a:t>6. </a:t>
            </a:r>
          </a:p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3F5563"/>
                </a:solidFill>
                <a:latin typeface="Expert Sans"/>
              </a:rPr>
              <a:t>Never restyle verdict colours or the one-highlight rule. Check titles fit two lines after 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779008"/>
            <a:ext cx="11057839" cy="685800"/>
          </a:xfrm>
          <a:prstGeom prst="roundRect">
            <a:avLst>
              <a:gd name="adj" fmla="val 8000"/>
            </a:avLst>
          </a:prstGeom>
          <a:solidFill>
            <a:srgbClr val="CD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0143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395D"/>
                </a:solidFill>
                <a:latin typeface="Expert Sans"/>
              </a:rPr>
              <a:t>Route A is safer: the script cannot recommend a route the numbers do not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WHY WE ARE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The question we set out to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17904"/>
            <a:ext cx="11057839" cy="107899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682495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1993391"/>
            <a:ext cx="10143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3F5563"/>
                </a:solidFill>
                <a:latin typeface="Expert Sans"/>
              </a:rPr>
              <a:t>Invoice finance cleared the demand gate (OCV 72 vs 60) and holds slot 2 of this cycle's backlog. We can build it, buy it, or launch it with a partner.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79776"/>
            <a:ext cx="11057839" cy="13533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9443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COMPLICATION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55264"/>
            <a:ext cx="101434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3F5563"/>
                </a:solidFill>
                <a:latin typeface="Expert Sans"/>
              </a:rPr>
              <a:t>Built in-house it takes 18 months — past the window in which exporters are switching provider. Partnering trades margin share and a defensibility risk for speed. Decided on instinct, that trade goes unpriced and unbounded.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15968"/>
            <a:ext cx="11057839" cy="960120"/>
          </a:xfrm>
          <a:prstGeom prst="roundRect">
            <a:avLst>
              <a:gd name="adj" fmla="val 8000"/>
            </a:avLst>
          </a:prstGeom>
          <a:solidFill>
            <a:srgbClr val="CD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4805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95D"/>
                </a:solidFill>
                <a:latin typeface="Expert Sans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791456"/>
            <a:ext cx="10143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</a:pPr>
            <a:r>
              <a:rPr sz="1700" b="1" i="0">
                <a:solidFill>
                  <a:srgbClr val="00395D"/>
                </a:solidFill>
                <a:latin typeface="Expert Sans"/>
              </a:rPr>
              <a:t>Should we partner to launch invoice finance — and on what terms?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256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F8D"/>
                </a:solidFill>
                <a:latin typeface="Expert Sans"/>
              </a:rPr>
              <a:t>Partner decision  |  [Month Year]  |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Partner with [Lender Co] to launch invoice finance: live in 5 months, £1.6m NPV — build misses the window; the terms keep the advantage 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23160"/>
            <a:ext cx="11057839" cy="658368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49631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3C5"/>
                </a:solidFill>
                <a:latin typeface="Expert Sans"/>
              </a:rPr>
              <a:t>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496312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[Lender Co] heads of terms — exclusivity, data, exit, re-opener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33688" y="253288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the deal, bounded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246120"/>
            <a:ext cx="11057839" cy="658368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927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3C5"/>
                </a:solidFill>
                <a:latin typeface="Expert Sans"/>
              </a:rPr>
              <a:t>Bound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3319272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We keep the customer, the data, the pricing and the brand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688" y="33558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the moat clause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69080"/>
            <a:ext cx="11057839" cy="658368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14223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3C5"/>
                </a:solidFill>
                <a:latin typeface="Expert Sans"/>
              </a:rPr>
              <a:t>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4142232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Contract milestones at month 2; live by month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41788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or the deal re-opens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92040"/>
            <a:ext cx="11057839" cy="658368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96519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3C5"/>
                </a:solidFill>
                <a:latin typeface="Expert Sans"/>
              </a:rPr>
              <a:t>Revisit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4965192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Build in-house at ~5,000 active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50017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computed crossover, checked quarterly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5870448"/>
            <a:ext cx="11057839" cy="0"/>
          </a:xfrm>
          <a:prstGeom prst="line">
            <a:avLst/>
          </a:prstGeom>
          <a:ln>
            <a:solidFill>
              <a:srgbClr val="C9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5998464"/>
            <a:ext cx="103263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F5563"/>
                </a:solidFill>
                <a:latin typeface="Expert Sans"/>
              </a:rPr>
              <a:t>A yes with four bounds. Remove any one of them and the recommendation changes — that is what makes it a decision, not a preference.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THE ARGUMENT IN ONE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Three things make partnering the right 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3503066" cy="384048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47088"/>
            <a:ext cx="475488" cy="475488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1883664"/>
            <a:ext cx="222290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83C5"/>
                </a:solidFill>
                <a:latin typeface="Expert Sans"/>
              </a:rPr>
              <a:t>WORTH LAUNCHING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280812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1" i="0">
                <a:solidFill>
                  <a:srgbClr val="00395D"/>
                </a:solidFill>
                <a:latin typeface="Expert Sans"/>
              </a:rPr>
              <a:t>The demand is proven — and the window is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80812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3F5563"/>
                </a:solidFill>
                <a:latin typeface="Expert Sans"/>
              </a:rPr>
              <a:t>OCV 72 against a gate of 60, from 320 exporter interviews. Exporters switch provider at renewal moments that cluster in the next two quarters — a feature that arrives in month 18 meets a market that has already switched.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1572768"/>
            <a:ext cx="3503066" cy="384048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91786" y="1847088"/>
            <a:ext cx="475488" cy="475488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4434" y="1883664"/>
            <a:ext cx="222290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83C5"/>
                </a:solidFill>
                <a:latin typeface="Expert Sans"/>
              </a:rPr>
              <a:t>THE ROUTE WINS THE 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1786" y="2487168"/>
            <a:ext cx="280812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1" i="0">
                <a:solidFill>
                  <a:srgbClr val="00395D"/>
                </a:solidFill>
                <a:latin typeface="Expert Sans"/>
              </a:rPr>
              <a:t>Partnering is worth £1.0m more than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1786" y="3611880"/>
            <a:ext cx="280812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3F5563"/>
                </a:solidFill>
                <a:latin typeface="Expert Sans"/>
              </a:rPr>
              <a:t>Risk-adjusted: partner £1.6m, build £0.6m, white-label £1.1m, do-nothing £0.9m (the slot's next best use). The build route does not lose on margin — it loses on time. Speed is the asset being bought.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1700" y="1572768"/>
            <a:ext cx="3503066" cy="384048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69172" y="1847088"/>
            <a:ext cx="475488" cy="475488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1820" y="1883664"/>
            <a:ext cx="222290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83C5"/>
                </a:solidFill>
                <a:latin typeface="Expert Sans"/>
              </a:rPr>
              <a:t>THE DEAL IS BOUNDED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9172" y="2487168"/>
            <a:ext cx="280812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1" i="0">
                <a:solidFill>
                  <a:srgbClr val="00395D"/>
                </a:solidFill>
                <a:latin typeface="Expert Sans"/>
              </a:rPr>
              <a:t>The terms keep the advantage 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9172" y="3611880"/>
            <a:ext cx="280812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3F5563"/>
                </a:solidFill>
                <a:latin typeface="Expert Sans"/>
              </a:rPr>
              <a:t>We keep the customer, the data, the pricing and the brand; the partner runs the credit engine and holds the balance-sheet risk. Exclusivity, exit portability, a price re-opener — and a computed re-internalise trigger.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E7F8D"/>
                </a:solidFill>
                <a:latin typeface="Expert Sans"/>
              </a:rPr>
              <a:t>Each reason stands alone: attack the window, the arithmetic, or the terms separately — the other two 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THE DECISION, PRICED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Four routes, one page: partnering wins on arithmetic, not enthusiasm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95D"/>
                </a:solidFill>
                <a:latin typeface="Expert Sans"/>
              </a:rPr>
              <a:t>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4448" y="1627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95D"/>
                </a:solidFill>
                <a:latin typeface="Expert Sans"/>
              </a:rPr>
              <a:t>Time to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1627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95D"/>
                </a:solidFill>
                <a:latin typeface="Expert Sans"/>
              </a:rPr>
              <a:t>Capex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627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95D"/>
                </a:solidFill>
                <a:latin typeface="Expert Sans"/>
              </a:rPr>
              <a:t>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0848" y="1627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95D"/>
                </a:solidFill>
                <a:latin typeface="Expert Sans"/>
              </a:rPr>
              <a:t>Risk-adj NPV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3888" y="1627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95D"/>
                </a:solidFill>
                <a:latin typeface="Expert Sans"/>
              </a:rPr>
              <a:t>Verdict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048256"/>
            <a:ext cx="11057839" cy="0"/>
          </a:xfrm>
          <a:prstGeom prst="line">
            <a:avLst/>
          </a:prstGeom>
          <a:ln>
            <a:solidFill>
              <a:srgbClr val="0039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66928" y="2130552"/>
            <a:ext cx="11057839" cy="731520"/>
          </a:xfrm>
          <a:prstGeom prst="rect">
            <a:avLst/>
          </a:prstGeom>
          <a:solidFill>
            <a:srgbClr val="CD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49424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395D"/>
                </a:solidFill>
                <a:latin typeface="Expert Sans"/>
              </a:rPr>
              <a:t>Partner — [Lender Co]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2677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5563"/>
                </a:solidFill>
                <a:latin typeface="Expert Sans"/>
              </a:rPr>
              <a:t>5 mths ±1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2677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5563"/>
                </a:solidFill>
                <a:latin typeface="Expert Sans"/>
              </a:rPr>
              <a:t>£0.3m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20370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 i="0">
                <a:solidFill>
                  <a:srgbClr val="3F5563"/>
                </a:solidFill>
                <a:latin typeface="Expert Sans"/>
              </a:rPr>
              <a:t>25% revenue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2494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95D"/>
                </a:solidFill>
                <a:latin typeface="Expert Sans"/>
              </a:rPr>
              <a:t>£1.6m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3888" y="22677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3C5"/>
                </a:solidFill>
                <a:latin typeface="Expert Sans"/>
              </a:rPr>
              <a:t>RECOMMENDED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98648"/>
            <a:ext cx="11057839" cy="7315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395D"/>
                </a:solidFill>
                <a:latin typeface="Expert Sans"/>
              </a:rPr>
              <a:t>Build in-house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0358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5563"/>
                </a:solidFill>
                <a:latin typeface="Expert Sans"/>
              </a:rPr>
              <a:t>18 mths ±4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0358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5563"/>
                </a:solidFill>
                <a:latin typeface="Expert Sans"/>
              </a:rPr>
              <a:t>£2.0m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9718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 i="0">
                <a:solidFill>
                  <a:srgbClr val="3F5563"/>
                </a:solidFill>
                <a:latin typeface="Expert Sans"/>
              </a:rPr>
              <a:t>full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95D"/>
                </a:solidFill>
                <a:latin typeface="Expert Sans"/>
              </a:rPr>
              <a:t>£0.6m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33888" y="30358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7F8D"/>
                </a:solidFill>
                <a:latin typeface="Expert Sans"/>
              </a:rPr>
              <a:t>MISSES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78561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395D"/>
                </a:solidFill>
                <a:latin typeface="Expert Sans"/>
              </a:rPr>
              <a:t>Buy / white-label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380390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5563"/>
                </a:solidFill>
                <a:latin typeface="Expert Sans"/>
              </a:rPr>
              <a:t>7 mths ±2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80390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5563"/>
                </a:solidFill>
                <a:latin typeface="Expert Sans"/>
              </a:rPr>
              <a:t>£0.5m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739896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 i="0">
                <a:solidFill>
                  <a:srgbClr val="3F5563"/>
                </a:solidFill>
                <a:latin typeface="Expert Sans"/>
              </a:rPr>
              <a:t>unit fee, thin differentiation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37856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95D"/>
                </a:solidFill>
                <a:latin typeface="Expert Sans"/>
              </a:rPr>
              <a:t>£1.1m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33888" y="380390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7F8D"/>
                </a:solidFill>
                <a:latin typeface="Expert Sans"/>
              </a:rPr>
              <a:t>DOMINATED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434840"/>
            <a:ext cx="11057839" cy="7315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55371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395D"/>
                </a:solidFill>
                <a:latin typeface="Expert Sans"/>
              </a:rPr>
              <a:t>Do not launch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4572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5563"/>
                </a:solidFill>
                <a:latin typeface="Expert Sans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5563"/>
                </a:solidFill>
                <a:latin typeface="Expert Sans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5079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 i="0">
                <a:solidFill>
                  <a:srgbClr val="3F5563"/>
                </a:solidFill>
                <a:latin typeface="Expert Sans"/>
              </a:rPr>
              <a:t>slot 2 goes to insurance at £0.9m/slot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45537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95D"/>
                </a:solidFill>
                <a:latin typeface="Expert Sans"/>
              </a:rPr>
              <a:t>£0.9m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3888" y="4572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7F8D"/>
                </a:solidFill>
                <a:latin typeface="Expert Sans"/>
              </a:rPr>
              <a:t>THE FLOOR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340096"/>
            <a:ext cx="11057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E7F8D"/>
                </a:solidFill>
                <a:latin typeface="Expert Sans"/>
              </a:rPr>
              <a:t>Do-nothing is priced too: slot 2's next best use. A route that cannot beat the floor never reaches the terms discussion.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BFE4F7"/>
                </a:solidFill>
                <a:latin typeface="Expert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8648" y="20299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C5"/>
                </a:solidFill>
                <a:latin typeface="Expert Sans"/>
              </a:rPr>
              <a:t>WORTH LAUNCHING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8648" y="2395728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395D"/>
                </a:solidFill>
                <a:latin typeface="Expert Sans"/>
              </a:rPr>
              <a:t>Is this feature worth a slot — today?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648" y="33467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F5563"/>
                </a:solidFill>
                <a:latin typeface="Expert Sans"/>
              </a:rPr>
              <a:t>Demand proven at the gate, and a switching window that prices the cost of being late.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WORTH LAUNCHING NOW  ·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Proven demand — and a window that closes in two quarters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11057839" cy="117043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92938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95D"/>
                </a:solidFill>
                <a:latin typeface="Expert Sans"/>
              </a:rPr>
              <a:t>The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8848" y="1764792"/>
            <a:ext cx="66687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OCV 72 against a gate of 60 — second of five candidates. Evidence: 320 exporter interviews, calibrated against observed uptake, limits stated in the backlog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35224"/>
            <a:ext cx="11057839" cy="117043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26440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95D"/>
                </a:solidFill>
                <a:latin typeface="Expert Sans"/>
              </a:rPr>
              <a:t>The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3099816"/>
            <a:ext cx="66687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Exporters review invoice finance at renewal. Two-thirds of the segment's renewal dates fall inside the next two quarters — the switching moment the incentive targets.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270248"/>
            <a:ext cx="11057839" cy="117043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9943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95D"/>
                </a:solidFill>
                <a:latin typeface="Expert Sans"/>
              </a:rPr>
              <a:t>The cost of month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4434840"/>
            <a:ext cx="66687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Arriving after the renewal wave means selling against fresh two-year contracts. Modelled uptake falls by more than half — which is why the build route's NPV collapses to £0.6m.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678424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E7F8D"/>
                </a:solidFill>
                <a:latin typeface="Expert Sans"/>
              </a:rPr>
              <a:t>The window is what turns route choice into a priced decision: month 5 and month 18 are different markets.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WORTH LAUNCHING NOW  ·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What being late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2593009" cy="19202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56816"/>
            <a:ext cx="208094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395D"/>
                </a:solidFill>
                <a:latin typeface="Expert Sans"/>
              </a:rPr>
              <a:t>2 qtrs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61488"/>
            <a:ext cx="208094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3F5563"/>
                </a:solidFill>
                <a:latin typeface="Expert Sans"/>
              </a:rPr>
              <a:t>of renewal dates ahead — the switching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8537" y="1737360"/>
            <a:ext cx="2593009" cy="19202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4569" y="1956816"/>
            <a:ext cx="208094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395D"/>
                </a:solidFill>
                <a:latin typeface="Expert Sans"/>
              </a:rPr>
              <a:t>−56%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4569" y="2761488"/>
            <a:ext cx="208094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3F5563"/>
                </a:solidFill>
                <a:latin typeface="Expert Sans"/>
              </a:rPr>
              <a:t>modelled uptake if we arrive after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737360"/>
            <a:ext cx="2593009" cy="19202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956816"/>
            <a:ext cx="208094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395D"/>
                </a:solidFill>
                <a:latin typeface="Expert Sans"/>
              </a:rPr>
              <a:t>£1.0m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6179" y="2761488"/>
            <a:ext cx="208094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3F5563"/>
                </a:solidFill>
                <a:latin typeface="Expert Sans"/>
              </a:rPr>
              <a:t>NPV gap between partnering now and building 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1757" y="1737360"/>
            <a:ext cx="2593009" cy="19202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7789" y="1956816"/>
            <a:ext cx="208094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395D"/>
                </a:solidFill>
                <a:latin typeface="Expert Sans"/>
              </a:rPr>
              <a:t>£0.9m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7789" y="2761488"/>
            <a:ext cx="208094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3F5563"/>
                </a:solidFill>
                <a:latin typeface="Expert Sans"/>
              </a:rPr>
              <a:t>the floor: slot 2's next best use if we do not launch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14800"/>
            <a:ext cx="11057839" cy="1188720"/>
          </a:xfrm>
          <a:prstGeom prst="roundRect">
            <a:avLst>
              <a:gd name="adj" fmla="val 8000"/>
            </a:avLst>
          </a:prstGeom>
          <a:solidFill>
            <a:srgbClr val="CD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2611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53712"/>
            <a:ext cx="10143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 i="0">
                <a:solidFill>
                  <a:srgbClr val="00395D"/>
                </a:solidFill>
                <a:latin typeface="Expert Sans"/>
              </a:rPr>
              <a:t>The build route's £0.6m is not a build problem — the same feature at month 5 would be worth £2.0m+ in-house. It is a timing problem, and partnering is the instrument that solves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F8D"/>
                </a:solidFill>
                <a:latin typeface="Expert Sans"/>
              </a:rPr>
              <a:t>Source: renewal-date analysis from [CRM]; uptake model v[3].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BFE4F7"/>
                </a:solidFill>
                <a:latin typeface="Expert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8648" y="20299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C5"/>
                </a:solidFill>
                <a:latin typeface="Expert Sans"/>
              </a:rPr>
              <a:t>THE ROUTE WINS THE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8648" y="2395728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395D"/>
                </a:solidFill>
                <a:latin typeface="Expert Sans"/>
              </a:rPr>
              <a:t>Which route returns most, risk-adjusted?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648" y="33467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F5563"/>
                </a:solidFill>
                <a:latin typeface="Expert Sans"/>
              </a:rPr>
              <a:t>All four routes priced on one basis — including doing nothing with the slot.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THE ROUTE WINS THE MONEY  ·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Partnering is worth £1.0m more than building — because of time, not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196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Margin per active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8848" y="1709928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Build £520/yr · partner £390/yr — build wins on margin, as expected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24328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84378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Time to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734056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Partner month 5, inside the renewal window · build month 18, after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648456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8679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Uptake consequence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758184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Post-window uptake falls by more than half — the £2.0m+ in-house case collapses to £0.6m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672584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92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Risk-adjusted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4782312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Partner £1.6m · white-label £1.1m · do-nothing floor £0.9m · build £0.6m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769864"/>
            <a:ext cx="11057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1">
                <a:solidFill>
                  <a:srgbClr val="6E7F8D"/>
                </a:solidFill>
                <a:latin typeface="Expert Sans"/>
              </a:rPr>
              <a:t>State it plainly: build loses £130 per user per year less margin? No — partnering gives up £130/user and still wins £1.0m, because the users exist at month 5 and largely do not at month 18.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THE ROUTE WINS THE MONEY  ·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The partner deal carries its own exit: the crossover is computed, not felt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196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The margin delta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8848" y="1709928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In-house earns £130 more per active user per year (£520 vs £390).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24328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84378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The build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734056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Bringing it in-house later costs ~£2.0m of capex.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648456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8679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The arithmetic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758184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£2.0m ÷ (£130/user × 3-year payback) = ~5,000 active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672584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92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The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4782312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3F5563"/>
                </a:solidFill>
                <a:latin typeface="Expert Sans"/>
              </a:rPr>
              <a:t>Below ~5,000 users, partnering is simply cheaper. Above it, building pays back inside 3 years — the quarterly re-score checks the user count against this 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769864"/>
            <a:ext cx="11057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E7F8D"/>
                </a:solidFill>
                <a:latin typeface="Expert Sans"/>
              </a:rPr>
              <a:t>This number regenerates from the inputs (this deck is script-built): change the capex or the margin delta and the trigger moves with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THE ROUTE WINS THE MONEY  ·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[Lender Co], verified — including the negatives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7922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Who they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8848" y="1682495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[Specialist SME lender, £Xbn advanced, N bank partnerships live. Regulated, rated, audited — references checked with two current bank clients.]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96896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8163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What we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706624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[Credit performance through the last downturn · platform uptime and integration references · conduct and complaints record · capital position]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621024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Red flags checked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730752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[Concentration risk in their book · dependence on one funding line · the two references' honest negatives — stated here, not hidden]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645152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64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Why them over the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4754880"/>
            <a:ext cx="66687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[Shortlist of three; chosen on integration speed, segment fit and terms flexibility — the runner-up and the gap are named in the appendix]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742432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E7F8D"/>
                </a:solidFill>
                <a:latin typeface="Expert Sans"/>
              </a:rPr>
              <a:t>An unnamed partner is a build with optimism attached. A named partner without stated negatives is diligence with optimism attached.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BFE4F7"/>
                </a:solidFill>
                <a:latin typeface="Expert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8648" y="20299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C5"/>
                </a:solidFill>
                <a:latin typeface="Expert Sans"/>
              </a:rPr>
              <a:t>THE DEAL IS BOUNDED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8648" y="2395728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395D"/>
                </a:solidFill>
                <a:latin typeface="Expert Sans"/>
              </a:rPr>
              <a:t>What keeps the advantage ours?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648" y="33467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F5563"/>
                </a:solidFill>
                <a:latin typeface="Expert Sans"/>
              </a:rPr>
              <a:t>What they hold, what we keep, the contract bounds, and the computed re-internalise trigger.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THE DEAL IS BOUNDED  ·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The four bounds — remove one and the recommendation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7922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What the partner 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8848" y="1664208"/>
            <a:ext cx="66687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The credit decisioning engine and the capital. Their capability, their balance-sheet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96896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8163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What we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688336"/>
            <a:ext cx="66687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The customer relationship, the transaction data, the pricing decision, and the 'Trade Ready' brand over the 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621024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Contract bounds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712463"/>
            <a:ext cx="66687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Exclusivity in the exporting-SME segment · our data stays ours on exit · 90-day portability · price re-opener at 12 months.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645152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64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Re-internalise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4736592"/>
            <a:ext cx="66687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At ~5,000 active users, building in-house pays back in under 3 years (capex £2.0m ÷ £130/user margin delta) — reviewed at each quarterly re-score.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742432"/>
            <a:ext cx="11057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E7F8D"/>
                </a:solidFill>
                <a:latin typeface="Expert Sans"/>
              </a:rPr>
              <a:t>Shipping fast is the partner's job. Staying hard to beat is the contract's job. The two are different questions, and both must pass.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ACROSS 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What would have to be true for this to be the wrong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If this turns out to be true…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168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…then this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9327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…and how we would know early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39112"/>
            <a:ext cx="11057839" cy="86868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4884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00395D"/>
                </a:solidFill>
                <a:latin typeface="Expert Sans"/>
              </a:rPr>
              <a:t>The partner slips past month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214884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The window narrows; the NPV gap to build shrinks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7" y="214884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Contract milestones + integration test, month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26664"/>
            <a:ext cx="11057839" cy="86868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36392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00395D"/>
                </a:solidFill>
                <a:latin typeface="Expert Sans"/>
              </a:rPr>
              <a:t>The partner captures the 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136392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Earnings survive; the moat does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3136392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Data-flow audit at month 2; brand and pricing checks quarterly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014216"/>
            <a:ext cx="11057839" cy="86868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123944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00395D"/>
                </a:solidFill>
                <a:latin typeface="Expert Sans"/>
              </a:rPr>
              <a:t>Margin share creeps at the re-opener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412394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Crossover falls; build comes 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412394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Re-run this deck's crossover arithmetic at the re-opener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01768"/>
            <a:ext cx="11057839" cy="86868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111496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00395D"/>
                </a:solidFill>
                <a:latin typeface="Expert Sans"/>
              </a:rPr>
              <a:t>Demand is softer than scored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5111496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NPV falls on every route equally; partner still wins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5111496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3F5563"/>
                </a:solidFill>
                <a:latin typeface="Expert Sans"/>
              </a:rPr>
              <a:t>Activation rate at month 3 vs the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044184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E7F8D"/>
                </a:solidFill>
                <a:latin typeface="Expert Sans"/>
              </a:rPr>
              <a:t>Note the last row: soft demand hurts every route equally — it changes the size of the win, not the winner.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SO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256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F8D"/>
                </a:solidFill>
                <a:latin typeface="Expert Sans"/>
              </a:rPr>
              <a:t>Partner decision  |  [Month Year]  |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500" b="0" i="0">
                <a:solidFill>
                  <a:srgbClr val="00AEEF"/>
                </a:solidFill>
                <a:latin typeface="Expert Sans"/>
              </a:rPr>
              <a:t>What we need from you this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57839" cy="841248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856232"/>
            <a:ext cx="420624" cy="42062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8470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AEEF"/>
                </a:solidFill>
                <a:latin typeface="Expert Sans"/>
              </a:rPr>
              <a:t>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175564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00395D"/>
                </a:solidFill>
                <a:latin typeface="Expert Sans"/>
              </a:rPr>
              <a:t>Heads of terms with [Lender Co] — the four bounds on slide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9407" y="186537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[Owner]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33888" y="18653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3F5563"/>
                </a:solidFill>
                <a:latin typeface="Expert Sans"/>
              </a:rPr>
              <a:t>[Date]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33472"/>
            <a:ext cx="11057839" cy="841248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2843784"/>
            <a:ext cx="420624" cy="42062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AEEF"/>
                </a:solidFill>
                <a:latin typeface="Expert Sans"/>
              </a:rPr>
              <a:t>Fund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74320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00395D"/>
                </a:solidFill>
                <a:latin typeface="Expert Sans"/>
              </a:rPr>
              <a:t>Integration budget £0.3m and the month-2 milestone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7" y="28529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[Owner]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33888" y="28529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3F5563"/>
                </a:solidFill>
                <a:latin typeface="Expert Sans"/>
              </a:rPr>
              <a:t>[Date]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21024"/>
            <a:ext cx="11057839" cy="841248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831336"/>
            <a:ext cx="420624" cy="42062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822191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AEEF"/>
                </a:solidFill>
                <a:latin typeface="Expert Sans"/>
              </a:rPr>
              <a:t>Instruct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73075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00395D"/>
                </a:solidFill>
                <a:latin typeface="Expert Sans"/>
              </a:rPr>
              <a:t>Delivery to hold slot 2 open for the month-5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7" y="3840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[Owner]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33888" y="3840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3F5563"/>
                </a:solidFill>
                <a:latin typeface="Expert Sans"/>
              </a:rPr>
              <a:t>[Date]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08576"/>
            <a:ext cx="11057839" cy="841248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7824" y="4818888"/>
            <a:ext cx="420624" cy="42062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Expert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48097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AEEF"/>
                </a:solidFill>
                <a:latin typeface="Expert Sans"/>
              </a:rPr>
              <a:t>Diarise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471830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00395D"/>
                </a:solidFill>
                <a:latin typeface="Expert Sans"/>
              </a:rPr>
              <a:t>Quarterly crossover check against the ~5,000-user trigger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7" y="48280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[Owner]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33888" y="482803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3F5563"/>
                </a:solidFill>
                <a:latin typeface="Expert Sans"/>
              </a:rPr>
              <a:t>[Date]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E7F8D"/>
                </a:solidFill>
                <a:latin typeface="Expert Sans"/>
              </a:rPr>
              <a:t>The month-2 milestone gate is the safety catch: if integration slips there, the deal re-opens before the window is spent.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C5"/>
                </a:solidFill>
                <a:latin typeface="Expert Sa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5947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sz="2400" b="0" i="0">
                <a:solidFill>
                  <a:srgbClr val="00AEEF"/>
                </a:solidFill>
                <a:latin typeface="Expert Sans"/>
              </a:rPr>
              <a:t>Supporting detail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5368899" cy="10058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28216"/>
            <a:ext cx="46373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Route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93976"/>
            <a:ext cx="46373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Build / partner / buy economics, assumptions, version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1600200"/>
            <a:ext cx="5368899" cy="10058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1627" y="1728216"/>
            <a:ext cx="46373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Partner due diligence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1627" y="2093976"/>
            <a:ext cx="46373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References, credit performance, the shortlist and the runner-up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70632"/>
            <a:ext cx="5368899" cy="10058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898648"/>
            <a:ext cx="46373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Demand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64408"/>
            <a:ext cx="46373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OCV scoring for invoice finance — see the backlog deck, section 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2770632"/>
            <a:ext cx="5368899" cy="10058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1627" y="2898648"/>
            <a:ext cx="46373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Crossover 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3264408"/>
            <a:ext cx="46373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Capex, margin delta, payback — the computed trigger's working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41064"/>
            <a:ext cx="5368899" cy="10058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69080"/>
            <a:ext cx="46373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Term sheet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434840"/>
            <a:ext cx="46373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Exclusivity, data, exit, re-opener — full drafting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3941064"/>
            <a:ext cx="5368899" cy="1005840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1627" y="4069080"/>
            <a:ext cx="46373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95D"/>
                </a:solidFill>
                <a:latin typeface="Expert Sans"/>
              </a:rPr>
              <a:t>The backlog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1627" y="4434840"/>
            <a:ext cx="46373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F5563"/>
                </a:solidFill>
                <a:latin typeface="Expert Sans"/>
              </a:rPr>
              <a:t>Why invoice finance holds slot 2 — the proposition backlog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