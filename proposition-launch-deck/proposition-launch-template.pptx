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OCV score</c:v>
                </c:pt>
              </c:strCache>
            </c:strRef>
          </c:tx>
          <c:spPr>
            <a:solidFill>
              <a:srgbClr val="4E7C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A3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7C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7C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7C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CC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CCD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[Feature A]</c:v>
                  </c:pt>
                  <c:pt idx="1">
                    <c:v>[Feature C]</c:v>
                  </c:pt>
                  <c:pt idx="2">
                    <c:v>[Feature B]</c:v>
                  </c:pt>
                  <c:pt idx="3">
                    <c:v>[Feature D]</c:v>
                  </c:pt>
                  <c:pt idx="4">
                    <c:v>[Feature E]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72</c:v>
                </c:pt>
                <c:pt idx="2">
                  <c:v>69</c:v>
                </c:pt>
                <c:pt idx="3">
                  <c:v>41</c:v>
                </c:pt>
                <c:pt idx="4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2A3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8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818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[Feature A]</c:v>
                </c:pt>
              </c:strCache>
            </c:strRef>
          </c:tx>
          <c:spPr>
            <a:solidFill>
              <a:srgbClr val="4E7C90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556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3.4</c:v>
                </c:pt>
                <c:pt idx="2">
                  <c:v>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[Feature C]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F556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</c:v>
                </c:pt>
                <c:pt idx="1">
                  <c:v>2.6</c:v>
                </c:pt>
                <c:pt idx="2">
                  <c:v>4.4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F556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818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F556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client name, date and author. The pyramid mark is the deck's motif - it signals that the deck is structured answer-first.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this slide before the deck goes to a client. It exists for whoever picks the template up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Minto's introduction. The Complication is the slide that earns the client's attention - it should describe a real cost of getting the choice wrong, in their words. If you cannot write a Complication the client would recognise, you do not yet understand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governing thought. State it in one breath, with no hedging and no supporting logic on the slide - the whole rest of the deck is the support. If a reader stops here they should still know exactly what you are asking them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line. Test each point by asking 'is this a reason the recommendation is true?' If a point would survive unchanged when the answer changes, it is a label, not a reason - rewrite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proof, compressed. Most clients will photograph this slide. Keep the gate order honest - if you actually ran all three tests on every feature, say so and remove the 'not tested'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The sub-line states what the section will prove, so a reader skimming dividers still follows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dummy scores with real OCV output. Rank descending - the eye should find the cut-off without being told where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 sceptical client attacks first. Have the calibration data ready even if it stays in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limits yourself is what makes the scores credible. A client who finds the gap before you do stops trusting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even when the answer feels obvious. It is where internal politics gets settled.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Order matters: base case, then the timing discount, then the durability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the client's own model output. Show the base case here; the discount for delivery timing comes next, so the reader sees the unadjusted number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structural move of the whole deck. Be explicit about the discount method - a stated haircut the client can argue with beats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three questions in plain language on the slide and the framework language underneath it. Clients argue with 'can we keep it' far more usefully than with 'leadership economics'.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check must terminate in a decision about the numbers, not a paragraph of colour. If the check does not change the forecast, say so explicitly - that is still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check must terminate in a decision about the numbers, not a paragraph of colour. If the check does not change the forecast, say so explicitly - that is still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check must terminate in a decision about the numbers, not a paragraph of colour. If the check does not change the forecast, say so explicitly - that is still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needs an early indicator the client can actually observe. A risk with no observable signal is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Feasibility is last because its output has already been used - it set the discount in the viability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same capability names here as on the have/buy/build slide, or the two will not reconcile under questioning.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capability is 'buy', name the vendor or partner. An unnamed buy is a build with optimism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Confidence should come from the delivery team, not the strategy team. If they will not give you a range, that itself is the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Deferral needs a re-entry condition, or B quietly becomes a permanent 'later'. Name a date and an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decisions, not on a summary. Every line needs a verb, an owner and a date - otherwise the meeting ends in agreement and nothing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contents. Anything a client might challenge should have a page here, even if you never turn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173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LAUNCH 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we launch?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name]   ·   [Month Year]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43708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[Your name / firm]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441180" y="1965960"/>
            <a:ext cx="960120" cy="566928"/>
          </a:xfrm>
          <a:prstGeom prst="roundRect">
            <a:avLst>
              <a:gd name="adj" fmla="val 11290"/>
            </a:avLst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38260" y="2679192"/>
            <a:ext cx="1965960" cy="566928"/>
          </a:xfrm>
          <a:prstGeom prst="roundRect">
            <a:avLst>
              <a:gd name="adj" fmla="val 11290"/>
            </a:avLst>
          </a:prstGeom>
          <a:solidFill>
            <a:srgbClr val="4E7C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35340" y="3392424"/>
            <a:ext cx="2971800" cy="566928"/>
          </a:xfrm>
          <a:prstGeom prst="roundRect">
            <a:avLst>
              <a:gd name="adj" fmla="val 11290"/>
            </a:avLst>
          </a:prstGeom>
          <a:solidFill>
            <a:srgbClr val="3B62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42153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→  key line  →  support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GUIDE — DELETE BEFORE SENDING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deck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27664" cy="1024128"/>
          </a:xfrm>
          <a:prstGeom prst="roundRect">
            <a:avLst>
              <a:gd name="adj" fmla="val 892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83080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7048" y="1636776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[square brackets] is yours to replace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1984248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names, scores, forecasts and dates are dummy values. Nothing in this file is client 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651760"/>
            <a:ext cx="11027664" cy="1024128"/>
          </a:xfrm>
          <a:prstGeom prst="roundRect">
            <a:avLst>
              <a:gd name="adj" fmla="val 892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" y="2953512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7048" y="2807208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private numbers out of the repository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7048" y="3154680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them in on your own copy. The committed version stays a structure, not a disclosure.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822192"/>
            <a:ext cx="11027664" cy="1024128"/>
          </a:xfrm>
          <a:prstGeom prst="roundRect">
            <a:avLst>
              <a:gd name="adj" fmla="val 892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7048" y="3977640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of every slide is a claim, not a label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4325112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'Only A and C show proven pull' works. 'Desirability analysis' does not. If a headline still fits after the answer changes, rewrite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992624"/>
            <a:ext cx="11027664" cy="1024128"/>
          </a:xfrm>
          <a:prstGeom prst="roundRect">
            <a:avLst>
              <a:gd name="adj" fmla="val 892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" y="5294376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5294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7048" y="5148072"/>
            <a:ext cx="9656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tests are hard gates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27048" y="5495544"/>
            <a:ext cx="9656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must clear desirability, viability and feasibility. One failure is out. Change this rule deliberately, not by accident.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we set out to answer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27664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50976" y="2066544"/>
            <a:ext cx="10113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proposition features sit on the roadmap. Build and launch capacity for the coming cycle is fixed at [capacity].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11027664" cy="1298448"/>
          </a:xfrm>
          <a:prstGeom prst="roundRect">
            <a:avLst>
              <a:gd name="adj" fmla="val 7042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3035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" y="3346704"/>
            <a:ext cx="10113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all ship. Choosing by conviction, or by whoever argues hardest, risks spending the whole cycle on features that never pay back.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4352544"/>
            <a:ext cx="11027664" cy="960120"/>
          </a:xfrm>
          <a:prstGeom prst="roundRect">
            <a:avLst>
              <a:gd name="adj" fmla="val 9524"/>
            </a:avLst>
          </a:prstGeom>
          <a:solidFill>
            <a:srgbClr val="E4EDF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50976" y="4846320"/>
            <a:ext cx="10113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do we launch, and in what order?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86868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304288" y="157276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A] and [Feature C]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156448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coming cycle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41401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304288" y="241401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B]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156448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a capability build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32552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04288" y="325526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D] and [Feature E]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56448" y="3310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roadmap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11027664" cy="0"/>
          </a:xfrm>
          <a:prstGeom prst="line">
            <a:avLst/>
          </a:prstGeom>
          <a:noFill/>
          <a:ln w="12700">
            <a:solidFill>
              <a:srgbClr val="3E60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526280"/>
            <a:ext cx="9930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clear all three gates. One fails on delivery timing alone, so it is deferred rather than discarded. Two fail on customer demand and do not come back.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IN ONE PAGE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are true of [A] and [C], and of nothing else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493008" cy="34290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7048" y="193852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[A] and [C] show proven customer pull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730752"/>
            <a:ext cx="2798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clear the OCV threshold of [score]. [D] and [E] sit well below it, and no amount of build effort moves a demand problem.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256" y="1627632"/>
            <a:ext cx="3493008" cy="34290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938528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94376" y="193852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2633472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economics hold up over the long run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81728" y="3730752"/>
            <a:ext cx="2798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risk-adjusted return once delivery timing is priced in, and the profit survives all three defensibility checks.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1627632"/>
            <a:ext cx="3493008" cy="34290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49056" y="1938528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61704" y="193852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49056" y="2633472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delivery breaks them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49056" y="3730752"/>
            <a:ext cx="2798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they need is either in place or buyable inside the launch window. [B] is the only shortlisted feature that is not.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5285232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a reason the recommendation is true — not a category of analysis. Everything that follows supports one of these three.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SHORTLIST, GATED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of five features clear every gate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01568" y="162763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OCV vs threshold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04688" y="162763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07808" y="16276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&amp; timing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85248" y="162763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59152"/>
            <a:ext cx="11027664" cy="0"/>
          </a:xfrm>
          <a:prstGeom prst="line">
            <a:avLst/>
          </a:prstGeom>
          <a:noFill/>
          <a:ln w="19050">
            <a:solidFill>
              <a:srgbClr val="2F48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432304"/>
            <a:ext cx="11027664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871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01568" y="26243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2624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04688" y="26243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2624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07808" y="26243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2624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85248" y="24871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1272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C]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01568" y="326440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2644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04688" y="326440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32644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07808" y="326440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32644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85248" y="31272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3712464"/>
            <a:ext cx="11027664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7673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B]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01568" y="39044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39044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04688" y="39044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39044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07808" y="39044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07808" y="39044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985248" y="37673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" y="44074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D]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401568" y="454456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45445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04688" y="44074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07808" y="44074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985248" y="4407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6928" y="4992624"/>
            <a:ext cx="11027664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50474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E]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401568" y="518464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1568" y="518464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04688" y="50474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tested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607808" y="50474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tested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985248" y="5047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66928" y="5833872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are sequential — a feature that fails desirability is never carried into the viability or feasibility work.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95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2532888" y="20299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2888" y="239572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customers actually want it?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32888" y="3383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 the OCV metric, against a stated threshold.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features clear the OCV threshold; two are not close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7452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85048" y="1737360"/>
            <a:ext cx="3209544" cy="3474720"/>
          </a:xfrm>
          <a:prstGeom prst="roundRect">
            <a:avLst>
              <a:gd name="adj" fmla="val 284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05088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705088" y="224942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8705088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line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705088" y="35478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[A], [C], [B] — carried into viability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05088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line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705088" y="4434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[D], [E] — no further work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12648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[research programme, fieldwork dates, n = 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threshold sits at [60] because [reason]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27664" cy="1170432"/>
          </a:xfrm>
          <a:prstGeom prst="roundRect">
            <a:avLst>
              <a:gd name="adj" fmla="val 7813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82880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threshold represents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38928" y="1828800"/>
            <a:ext cx="5998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OCV level at which observed demand has historically converted into sustained usage rather than trial.]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980944"/>
            <a:ext cx="11027664" cy="1170432"/>
          </a:xfrm>
          <a:prstGeom prst="roundRect">
            <a:avLst>
              <a:gd name="adj" fmla="val 7813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3163824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comes from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38928" y="3163824"/>
            <a:ext cx="5998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[Calibrated against the last N launches: features above this level reached X% adoption; those below stalled.]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315968"/>
            <a:ext cx="11027664" cy="1170432"/>
          </a:xfrm>
          <a:prstGeom prst="roundRect">
            <a:avLst>
              <a:gd name="adj" fmla="val 7813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4498848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near the 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38928" y="4498848"/>
            <a:ext cx="5998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B sits close. Treated as a pass here, but the sensitivity on slide 19 shows what changes if it is not.]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5797296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you cannot defend is a number you chose to justify the answer you wanted. Say where it came from.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scores rest 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585466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 = 000]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33472"/>
            <a:ext cx="207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 research 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0994" y="1627632"/>
            <a:ext cx="2585466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7026" y="1828800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[00 wks]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37026" y="2633472"/>
            <a:ext cx="207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Fieldwork window, ending [date]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5060" y="1627632"/>
            <a:ext cx="2585466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1092" y="1828800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[0]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51092" y="2633472"/>
            <a:ext cx="207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covered, weighted to [basis]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9126" y="1627632"/>
            <a:ext cx="2585466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65158" y="1828800"/>
            <a:ext cx="20734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48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 of 5]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265158" y="2633472"/>
            <a:ext cx="2073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tested with a live prototype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6118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of the evidence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4023360"/>
            <a:ext cx="11027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[Segment or geography under-represented, and what that could hide]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[Stated-preference risk: where customers may over-claim intent]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feature tested by description rather than prototype, and why that matters]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we would test next if the decision could wait]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[D] and [E] fall out, and why that is not close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353812" cy="2788920"/>
          </a:xfrm>
          <a:prstGeom prst="roundRect">
            <a:avLst>
              <a:gd name="adj" fmla="val 327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901952"/>
            <a:ext cx="3525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D]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46220" y="19019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8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OCV  41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50976" y="2450592"/>
            <a:ext cx="4585716" cy="0"/>
          </a:xfrm>
          <a:prstGeom prst="line">
            <a:avLst/>
          </a:prstGeom>
          <a:noFill/>
          <a:ln w="12700">
            <a:solidFill>
              <a:srgbClr val="D5DF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633472"/>
            <a:ext cx="45857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customers said when shown it]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demand assumption that did not hold]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[Whether a different framing would change this]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0780" y="1700784"/>
            <a:ext cx="5353812" cy="2788920"/>
          </a:xfrm>
          <a:prstGeom prst="roundRect">
            <a:avLst>
              <a:gd name="adj" fmla="val 327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4828" y="1901952"/>
            <a:ext cx="3525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E]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20072" y="19019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8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OCV  33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4828" y="2450592"/>
            <a:ext cx="4585716" cy="0"/>
          </a:xfrm>
          <a:prstGeom prst="line">
            <a:avLst/>
          </a:prstGeom>
          <a:noFill/>
          <a:ln w="12700">
            <a:solidFill>
              <a:srgbClr val="D5DF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4828" y="2633472"/>
            <a:ext cx="45857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customers said when shown it]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it did resonate with, and why that segment is too small]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[Conditions under which it could return to the list]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4709160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losers protects the recommendation. A client who thinks their favourite was never considered will relitigate the whole deck.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95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2532888" y="20299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2888" y="239572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money hold up?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32888" y="3383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first, discounted for delivery timing, then stress-tested for durability.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surviving features return above the hurdle by year [3]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7452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85048" y="1737360"/>
            <a:ext cx="3209544" cy="3474720"/>
          </a:xfrm>
          <a:prstGeom prst="roundRect">
            <a:avLst>
              <a:gd name="adj" fmla="val 284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05088" y="1956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assumes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705088" y="2359152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[Adoption curve and its source]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[Price point and margin]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[Cannibalisation assumed]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[Cost to serve at scale]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[Hurdle rate applied]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612648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[Currency] m, gross margin contribution. Source: [model name and version]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for delivery timing, [A] still clears — [B] does not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75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is not scored separately. It enters the money here: a longer, less certain build pushes revenue out and widens the range, which lowers risk-adjusted return.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93008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NPV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61888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launch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56448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NPV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16768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hurdle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404872"/>
            <a:ext cx="11027664" cy="0"/>
          </a:xfrm>
          <a:prstGeom prst="line">
            <a:avLst/>
          </a:prstGeom>
          <a:noFill/>
          <a:ln w="19050">
            <a:solidFill>
              <a:srgbClr val="2F48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505456"/>
            <a:ext cx="11027664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5117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3008" y="25511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61888" y="255117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 mths]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55117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716768" y="2688336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16768" y="268833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2095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C]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93008" y="320954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61888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 mths]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56448" y="32095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16768" y="334670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334670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3822192"/>
            <a:ext cx="11027664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B]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93008" y="38679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61888" y="386791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 mths]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56448" y="38679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[£0.0m]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716768" y="40050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16768" y="40050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4828032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F3EED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50976" y="4974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50976" y="5266944"/>
            <a:ext cx="10113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scores invite an average, and an average hides which dimension is driving the answer. Folding timing into the money leaves two comparable things: demand and return.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 ·  02  ·  DEFENSIBILITY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forecast is only as good as what protects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753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checks, applied to the numbers rather than to the feature. Each one ends in a verdict on the forecast: hold, haircut, or reject.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493008" cy="3154680"/>
          </a:xfrm>
          <a:prstGeom prst="roundRect">
            <a:avLst>
              <a:gd name="adj" fmla="val 289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21408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7048" y="212140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money here?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255264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profit pool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822192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 is large enough, and structurally stable enough, to be worth entering.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4256" y="1828800"/>
            <a:ext cx="3493008" cy="3154680"/>
          </a:xfrm>
          <a:prstGeom prst="roundRect">
            <a:avLst>
              <a:gd name="adj" fmla="val 289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2121408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94376" y="212140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TO WIN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1728" y="276148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win it?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81728" y="3255264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core competence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81728" y="3822192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compounds something we are already better at — it is not a bolt-on any competitor could match.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1828800"/>
            <a:ext cx="3493008" cy="3154680"/>
          </a:xfrm>
          <a:prstGeom prst="roundRect">
            <a:avLst>
              <a:gd name="adj" fmla="val 289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49056" y="2121408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61704" y="212140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TO KEEP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49056" y="276148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keep it?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49056" y="3255264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leadership economics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49056" y="3822192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hold a cost or scale advantage in delivering it, so the return does not erode as others enter.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51389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1 is about the market. Checks 2 and 3 are about us — one asks why we would win, the other why we would still be winning in [3] years.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 ·  02  ·  CHECK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pool is [size] and growing at [rate], and its shape is not eroding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0078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  ·   Robust profit pool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235000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profit actually sits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47488" y="2350008"/>
            <a:ext cx="608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part of the value chain holds the margin today, and who holds it]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273552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339242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compress it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47488" y="3392424"/>
            <a:ext cx="608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[Regulation, commoditisation, a substitute, a large entrant repricing the category]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" y="443484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47488" y="4434840"/>
            <a:ext cx="608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[Whether the pool is durable over the forecast horizon, and the evidence for that]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431536"/>
            <a:ext cx="11027664" cy="676656"/>
          </a:xfrm>
          <a:prstGeom prst="roundRect">
            <a:avLst>
              <a:gd name="adj" fmla="val 13514"/>
            </a:avLst>
          </a:prstGeom>
          <a:solidFill>
            <a:srgbClr val="E4EDF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" y="5431536"/>
            <a:ext cx="10259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verdict: [hold / haircut years 3+ by X% / reject]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 ·  02  ·  CHECK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A] compounds [named capability]; it is not a bolt-on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0078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TO WIN   ·   Linked to core competence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235000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it draws 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47488" y="2350008"/>
            <a:ext cx="608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specific thing we are already better at, and the evidence we are better at it]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273552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339242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competitor cannot simply copy it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47488" y="3392424"/>
            <a:ext cx="608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they would have to build, buy or unlearn first, and how long that takes]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" y="443484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differs from feasibility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47488" y="4434840"/>
            <a:ext cx="608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[Feasibility asks whether we can ship it. This asks whether shipping it makes us harder to beat.]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431536"/>
            <a:ext cx="11027664" cy="676656"/>
          </a:xfrm>
          <a:prstGeom prst="roundRect">
            <a:avLst>
              <a:gd name="adj" fmla="val 13514"/>
            </a:avLst>
          </a:prstGeom>
          <a:solidFill>
            <a:srgbClr val="E4EDF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" y="5431536"/>
            <a:ext cx="10259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verdict: [hold / haircut / reject]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 ·  02  ·  CHECK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 hold a [cost / scale / data] advantage of [amount] as the category matures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0078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TO KEEP   ·   Sustained leadership economics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235000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 we would hold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47488" y="2350008"/>
            <a:ext cx="608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[Unit cost, scale curve, distribution, data feedback loop — and its current size]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273552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339242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others enter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47488" y="3392424"/>
            <a:ext cx="608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[Expected price and share response, and the point at which our advantage stops paying]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11027664" cy="932688"/>
          </a:xfrm>
          <a:prstGeom prst="roundRect">
            <a:avLst>
              <a:gd name="adj" fmla="val 9804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" y="443484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keep doing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47488" y="4434840"/>
            <a:ext cx="608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investment or behaviour the advantage depends on — the thing that quietly lapses]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431536"/>
            <a:ext cx="11027664" cy="676656"/>
          </a:xfrm>
          <a:prstGeom prst="roundRect">
            <a:avLst>
              <a:gd name="adj" fmla="val 13514"/>
            </a:avLst>
          </a:prstGeom>
          <a:solidFill>
            <a:srgbClr val="E4EDF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" y="5431536"/>
            <a:ext cx="10259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verdict: [hold / haircut terminal value / reject]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have to be true for this to be the wrong call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7824" y="1664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turns out to be true…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73168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this changes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339328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this is how we would know early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121408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22585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[Adoption runs [00]% below the base case]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73168" y="2258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still clears; [C] falls below the hurdle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39328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[named early indicator] at [month]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273552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" y="34107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[Time to launch slips by [0] months]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34107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[C] moves to the same position as [B] today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39328" y="34107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at [milestone] before committing spend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425696"/>
            <a:ext cx="11027664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456285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competitor launches [equivalent] first]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73168" y="45628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economics no longer hold for [A]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9328" y="456285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if [signal] appears before [date]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572414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conditions that would overturn the recommendation is what separates a decision paper from a sales document.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95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2532888" y="20299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2888" y="239572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build and ship it in time?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32888" y="3383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Capabilities, timing and dependencies — the inputs that priced the forecast.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shortlisted feature needs from 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493008" cy="2606040"/>
          </a:xfrm>
          <a:prstGeom prst="roundRect">
            <a:avLst>
              <a:gd name="adj" fmla="val 350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0195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A]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2450592"/>
            <a:ext cx="2798064" cy="0"/>
          </a:xfrm>
          <a:prstGeom prst="line">
            <a:avLst/>
          </a:prstGeom>
          <a:noFill/>
          <a:ln w="12700">
            <a:solidFill>
              <a:srgbClr val="D5DF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33472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1]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2]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3]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34256" y="1700784"/>
            <a:ext cx="3493008" cy="2606040"/>
          </a:xfrm>
          <a:prstGeom prst="roundRect">
            <a:avLst>
              <a:gd name="adj" fmla="val 350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190195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C]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681728" y="2450592"/>
            <a:ext cx="2798064" cy="0"/>
          </a:xfrm>
          <a:prstGeom prst="line">
            <a:avLst/>
          </a:prstGeom>
          <a:noFill/>
          <a:ln w="12700">
            <a:solidFill>
              <a:srgbClr val="D5DF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633472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1]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2]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3]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1700784"/>
            <a:ext cx="3493008" cy="2606040"/>
          </a:xfrm>
          <a:prstGeom prst="roundRect">
            <a:avLst>
              <a:gd name="adj" fmla="val 3509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9056" y="190195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B]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449056" y="2450592"/>
            <a:ext cx="2798064" cy="0"/>
          </a:xfrm>
          <a:prstGeom prst="line">
            <a:avLst/>
          </a:prstGeom>
          <a:noFill/>
          <a:ln w="12700">
            <a:solidFill>
              <a:srgbClr val="D5DF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2633472"/>
            <a:ext cx="2798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1]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2]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3]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4553712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capabilities, not tasks. 'Real-time pricing engine' is a capability; 'build the API' is a task, and tasks hide how much is genuinely new.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[Feature B] depends on something we must build from scratch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493008" cy="3063240"/>
          </a:xfrm>
          <a:prstGeom prst="roundRect">
            <a:avLst>
              <a:gd name="adj" fmla="val 298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1051560" cy="329184"/>
          </a:xfrm>
          <a:prstGeom prst="roundRect">
            <a:avLst>
              <a:gd name="adj" fmla="val 47222"/>
            </a:avLst>
          </a:prstGeom>
          <a:solidFill>
            <a:srgbClr val="2F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place today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16352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— used by A and C]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— used by A]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— used by C]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1645920"/>
            <a:ext cx="3493008" cy="3063240"/>
          </a:xfrm>
          <a:prstGeom prst="roundRect">
            <a:avLst>
              <a:gd name="adj" fmla="val 298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874520"/>
            <a:ext cx="1051560" cy="329184"/>
          </a:xfrm>
          <a:prstGeom prst="roundRect">
            <a:avLst>
              <a:gd name="adj" fmla="val 47222"/>
            </a:avLst>
          </a:prstGeom>
          <a:solidFill>
            <a:srgbClr val="B07A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874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81728" y="233172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 in [0–0] months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81728" y="2816352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— vendor or partner named]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— vendor or partner named]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645920"/>
            <a:ext cx="3493008" cy="3063240"/>
          </a:xfrm>
          <a:prstGeom prst="roundRect">
            <a:avLst>
              <a:gd name="adj" fmla="val 2985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1874520"/>
            <a:ext cx="1051560" cy="329184"/>
          </a:xfrm>
          <a:prstGeom prst="roundRect">
            <a:avLst>
              <a:gd name="adj" fmla="val 47222"/>
            </a:avLst>
          </a:prstGeom>
          <a:solidFill>
            <a:srgbClr val="A844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1874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49056" y="233172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[00]+ months, no shortcut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49056" y="2816352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— needed only by B]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— needed only by B]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4919472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the source of the timing discount applied on the viability side — the two must agree.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launch, and how confident we are in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218688" y="1691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73168" y="1691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27648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47888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the range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130552"/>
            <a:ext cx="11027664" cy="0"/>
          </a:xfrm>
          <a:prstGeom prst="line">
            <a:avLst/>
          </a:prstGeom>
          <a:noFill/>
          <a:ln w="19050">
            <a:solidFill>
              <a:srgbClr val="2F48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231136"/>
            <a:ext cx="11027664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7685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A]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218688" y="227685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 mths]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227685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[±1 mth]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7648" y="245059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45059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47888" y="227685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[Why the range is tight]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00837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C]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18688" y="30083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 mths]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3168" y="30083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[±2 mths]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27648" y="318211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B07A1E"/>
          </a:solidFill>
          <a:ln w="12700">
            <a:solidFill>
              <a:srgbClr val="B07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18211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47888" y="300837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drives the uncertainty]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3694176"/>
            <a:ext cx="11027664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7398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B]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218688" y="373989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 mths]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73168" y="373989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[±6 mths]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27648" y="391363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A8443C"/>
          </a:solidFill>
          <a:ln w="12700">
            <a:solidFill>
              <a:srgbClr val="A844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9136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47888" y="373989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unknown that widens the band]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736592"/>
            <a:ext cx="11027664" cy="1170432"/>
          </a:xfrm>
          <a:prstGeom prst="roundRect">
            <a:avLst>
              <a:gd name="adj" fmla="val 7813"/>
            </a:avLst>
          </a:prstGeom>
          <a:solidFill>
            <a:srgbClr val="F3EED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50976" y="4882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50976" y="5175504"/>
            <a:ext cx="10113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numbers are the only feasibility output that leaves this section. They set the discount applied to base-case NPV — a wider band costs more than a longer timeline, because it is the uncertainty the business has to carry.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[Feature B] is deferred, not dropped — here is what would change that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562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72968" y="18562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single capability or dependency that sets B's 18-month path]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898648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would take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72968" y="306324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[Investment, partner, or decision that shortens it — with the owner named]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105656"/>
            <a:ext cx="6949440" cy="1051560"/>
          </a:xfrm>
          <a:prstGeom prst="roundRect">
            <a:avLst>
              <a:gd name="adj" fmla="val 8696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27024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revisit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72968" y="4270248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milestone or date at which B is re-scored, not re-argued]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36408" y="1691640"/>
            <a:ext cx="3758184" cy="3465576"/>
          </a:xfrm>
          <a:prstGeom prst="roundRect">
            <a:avLst>
              <a:gd name="adj" fmla="val 2639"/>
            </a:avLst>
          </a:prstGeom>
          <a:solidFill>
            <a:srgbClr val="E4EDF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388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risks across the launch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83880" y="2359152"/>
            <a:ext cx="30723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[Dependency on another programme, and its date]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[Regulatory or compliance gate]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[Single point of delivery risk — team, vendor or system]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[Anything that must be true before spend is committed]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54864"/>
            <a:ext cx="12271248" cy="6967728"/>
          </a:xfrm>
          <a:prstGeom prst="rect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4980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 this week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1027664" cy="868680"/>
          </a:xfrm>
          <a:prstGeom prst="roundRect">
            <a:avLst>
              <a:gd name="adj" fmla="val 10526"/>
            </a:avLst>
          </a:prstGeom>
          <a:solidFill>
            <a:srgbClr val="365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372868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728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7048" y="21488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44368" y="21488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A] and [Feature C] into the [cycle] build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93608" y="21488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owner]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22408" y="214884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172968"/>
            <a:ext cx="11027664" cy="868680"/>
          </a:xfrm>
          <a:prstGeom prst="roundRect">
            <a:avLst>
              <a:gd name="adj" fmla="val 10526"/>
            </a:avLst>
          </a:prstGeom>
          <a:solidFill>
            <a:srgbClr val="365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3396996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3969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7048" y="317296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44368" y="317296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capability build that unblocks Feature B]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317296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owner]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122408" y="3172968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197096"/>
            <a:ext cx="11027664" cy="868680"/>
          </a:xfrm>
          <a:prstGeom prst="roundRect">
            <a:avLst>
              <a:gd name="adj" fmla="val 10526"/>
            </a:avLst>
          </a:prstGeom>
          <a:solidFill>
            <a:srgbClr val="365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4421124"/>
            <a:ext cx="420624" cy="42062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4211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7048" y="4197096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944368" y="4197096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work on [Feature D] and [Feature E]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93608" y="419709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owner]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22408" y="4197096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539496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Sequencing: [Feature A] first — it is the shorter build and de-risks the shared capability [C] depends on.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276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detail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37944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OCV methodology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2203704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metric is constructed, weighted and calibrated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1691640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6540" y="1837944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research findings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06540" y="2203704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results and verbatim evidence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62072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3008376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3374136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Assumptions, sensitivities and version history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2862072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06540" y="3008376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assessment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06540" y="3374136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behind the have / buy / build classification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032504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" y="4178808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scan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4544568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behind the defensibility checks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0780" y="4032504"/>
            <a:ext cx="5353812" cy="1005840"/>
          </a:xfrm>
          <a:prstGeom prst="roundRect">
            <a:avLst>
              <a:gd name="adj" fmla="val 9091"/>
            </a:avLst>
          </a:prstGeom>
          <a:solidFill>
            <a:srgbClr val="EEF3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9FB2BC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06540" y="4178808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considered and excluded earlier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06540" y="4544568"/>
            <a:ext cx="4622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cut before the shortlist, and why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 Launch Recommendation — Minto template</dc:title>
  <dc:subject>PptxGenJS Presentation</dc:subject>
  <dc:creator>Proposition launch template</dc:creator>
  <cp:lastModifiedBy>Proposition launch template</cp:lastModifiedBy>
  <cp:revision>1</cp:revision>
  <dcterms:created xsi:type="dcterms:W3CDTF">2026-08-19T08:04:25Z</dcterms:created>
  <dcterms:modified xsi:type="dcterms:W3CDTF">2026-08-19T08:04:25Z</dcterms:modified>
</cp:coreProperties>
</file>