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OCV score</c:v>
                </c:pt>
              </c:strCache>
            </c:strRef>
          </c:tx>
          <c:spPr>
            <a:solidFill>
              <a:srgbClr val="4E7C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A3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7C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7C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7C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CC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CCD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[Feature A]</c:v>
                  </c:pt>
                  <c:pt idx="1">
                    <c:v>[Feature C]</c:v>
                  </c:pt>
                  <c:pt idx="2">
                    <c:v>[Feature B]</c:v>
                  </c:pt>
                  <c:pt idx="3">
                    <c:v>[Feature D]</c:v>
                  </c:pt>
                  <c:pt idx="4">
                    <c:v>[Feature E]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72</c:v>
                </c:pt>
                <c:pt idx="2">
                  <c:v>69</c:v>
                </c:pt>
                <c:pt idx="3">
                  <c:v>41</c:v>
                </c:pt>
                <c:pt idx="4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A3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8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818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This variant answers a wider question than feature selection alone: it carries three decisions - features, commercial configuration, delivery route - under one governing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this slide before the deck goes to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Complication names why this is ONE question, not three: the decisions interact. A feature that only pays when partnered, or an incentive that only pays on the right feature, cannot be decided in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governing thought, three verbs: launch, configure, deliver. The earnings split line matters - it tells the reader how much of the value is the feature list and how much is the commercial and delivery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line. Note the dependency direction: features are chosen first (demand), configuration is chosen per surviving feature, route is chosen per configured feature. Later sections must not reopen earlier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photograph slide. Five columns tell the whole story: what ships, how priced, how delivered, and what happened to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This section is unchanged from the base template: demand gates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dummy scores with real OCV output, ranked descending. OCV definition and calibration belong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base and the losers, combined. If the politics around dropped features are live, split the losers back onto their own slide as in the base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This section is new versus the base template: it closes the 4Ps decision per surviving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makes the configuration case in one look: base earnings from the features, what each lever adds, what the incentives cost back. If incentive cost nearly cancels incentive uptake, this slide says so before a sceptic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stops the deck being a discount programme with a strategy attached. It applies behavioural evidence (defaults beat persuasion; incentives select) BEFORE sizing any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is decided per feature, not as a blanket pricing policy. Rejected levers are named - that is what makes the accepted ones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Route is decided per configured feature. Its outputs (time, confidence, margin share) discount the section-02 earnings.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Verdicts can differ per feature - that is the point of deciding route at feature level. The verdict row states the reason in the cell, not in a separate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defensibility check applied to the chosen route. If the partner ends up holding the customer relationship or the data, the earnings survive but the moat does not - and the forecast's later years should be haircut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counterfactual row is the persuasive device: it prices the route decision. Confidence bands come from the delivery team and the partner's own committed dates, not from the strategy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sensitivity slide covers all three decisions, one row each. If a decision has no condition that could overturn it, either the evidence is overwhelming or the row was dodged - the client will know which.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asks because there are three decisions plus a stop. Every line: verb, owner, date. The partner heads-of-terms is its own ask - it is the one item on this slide the client cannot delegate downward.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Anything a client might challenge has a page here. The behavioural evidence base matters most in this variant - the incentive discipline on slide 12 rests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173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PROPOSITION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take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[segment]?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3913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commercial configuration · delivery route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name]   ·   [Month Year]   ·   Prepared by [Your name / firm]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41180" y="1965960"/>
            <a:ext cx="960120" cy="566928"/>
          </a:xfrm>
          <a:prstGeom prst="roundRect">
            <a:avLst>
              <a:gd name="adj" fmla="val 1129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38260" y="2679192"/>
            <a:ext cx="1965960" cy="566928"/>
          </a:xfrm>
          <a:prstGeom prst="roundRect">
            <a:avLst>
              <a:gd name="adj" fmla="val 11290"/>
            </a:avLst>
          </a:prstGeom>
          <a:solidFill>
            <a:srgbClr val="4E7C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5340" y="3392424"/>
            <a:ext cx="2971800" cy="566928"/>
          </a:xfrm>
          <a:prstGeom prst="roundRect">
            <a:avLst>
              <a:gd name="adj" fmla="val 11290"/>
            </a:avLst>
          </a:prstGeom>
          <a:solidFill>
            <a:srgbClr val="3B62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4215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→  key line  →  support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GUIDE — DELETE BEFORE SENDING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deck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83080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7048" y="1636776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[square brackets] is yours to replace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1984248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names, scores, prices, partners and dates are dummy values. Nothing in this file is client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295351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7048" y="2807208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governing thought carries three decisions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7048" y="3154680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configuration, route. Each key-line section closes one decision. Do not let a section reopen another section's decision.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822192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7048" y="3977640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are guilty until proven innocent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325112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SME banking, defaults beat persuasion and incentives often buy selection, not behaviour. Section 02 makes the case FOR each lever, not just its size.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992624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5294376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7048" y="5148072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verdicts can differ per feature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27048" y="5495544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one, partner another. The route section prices each option and states the defensibility cost of partnering — do not average across features.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 set out to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27664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700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0976" y="2011680"/>
            <a:ext cx="10113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serves [segment: size, revenue, current share of wallet]. [N] candidate products and features sit on the proposition roadmap, with fixed build capacity and an earnings mandate for the cycle.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79776"/>
            <a:ext cx="11027664" cy="1389888"/>
          </a:xfrm>
          <a:prstGeom prst="roundRect">
            <a:avLst>
              <a:gd name="adj" fmla="val 657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962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" y="3273552"/>
            <a:ext cx="10113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all ship — and the feature list alone does not set earnings. Price, incentives and channel change what each feature returns, and the build-or-partner choice changes when it lands and what margin survives. Chosen by conviction, these three decisions get made separately and inconsistently.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4352544"/>
            <a:ext cx="11027664" cy="960120"/>
          </a:xfrm>
          <a:prstGeom prst="roundRect">
            <a:avLst>
              <a:gd name="adj" fmla="val 9524"/>
            </a:avLst>
          </a:prstGeom>
          <a:solidFill>
            <a:srgbClr val="E4ED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0976" y="4846320"/>
            <a:ext cx="10113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do we take to [segment], configured how, and delivered how?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3152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32888" y="135331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A] and [Feature C]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567928" y="1399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[segment] this cycle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32888" y="21031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[price move] + [targeted incentive]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567928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where they beat persuasion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8529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32888" y="285292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[A] in-house · [C] via [partner]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567928" y="2898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priced, defensibility checked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027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32888" y="360273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D] and [Feature E]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567928" y="36484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below threshold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590288"/>
            <a:ext cx="11027664" cy="0"/>
          </a:xfrm>
          <a:prstGeom prst="line">
            <a:avLst/>
          </a:prstGeom>
          <a:noFill/>
          <a:ln w="12700">
            <a:solidFill>
              <a:srgbClr val="3E60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91456"/>
            <a:ext cx="10296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[£X]m incremental earnings by year [3] at [Y]% margin — [share] from the features themselves, [share] from configuration, with the partner route pulling [C]'s launch forward by [months].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IN ONE 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decisions, each closed on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93008" cy="3611880"/>
          </a:xfrm>
          <a:prstGeom prst="roundRect">
            <a:avLst>
              <a:gd name="adj" fmla="val 2618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7048" y="193852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7860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7980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[A] and [C] show proven customer pull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133088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clear the OCV threshold of [score]. [D] and [E] sit well below it — no configuration rescues a demand problem.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1627632"/>
            <a:ext cx="3493008" cy="3611880"/>
          </a:xfrm>
          <a:prstGeom prst="roundRect">
            <a:avLst>
              <a:gd name="adj" fmla="val 2618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93852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94376" y="193852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57860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configuration that pays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81728" y="3017520"/>
            <a:ext cx="27980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[Levers] add [£X]m without buying dead weight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81728" y="4133088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 are spent where evidence says they change behaviour — at [acquisition / switching moments] — and withheld where defaults do the work free.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1627632"/>
            <a:ext cx="3493008" cy="3611880"/>
          </a:xfrm>
          <a:prstGeom prst="roundRect">
            <a:avLst>
              <a:gd name="adj" fmla="val 2618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49056" y="193852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61704" y="193852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49056" y="257860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that survives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49056" y="3017520"/>
            <a:ext cx="27980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[Build A, partner C] ships inside the window and keeps the advantage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49056" y="4133088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is priced for time, margin share and defensibility. Partnering [C] trades [margin share] for [months] — and the trade is bounded by [terms].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4406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headline is a claim that closes its decision. If a headline would survive the answer changing, it is a label — rewrite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PROPOSITION, DECIDED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page: what ships, how it is configured, how it is delivered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81528" y="16276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OCV vs [60]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01768" y="162763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incentive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27848" y="16276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partner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13848" y="162763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59152"/>
            <a:ext cx="11027664" cy="0"/>
          </a:xfrm>
          <a:prstGeom prst="line">
            <a:avLst/>
          </a:prstGeom>
          <a:noFill/>
          <a:ln w="19050">
            <a:solidFill>
              <a:srgbClr val="2F48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432304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87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81528" y="26243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2624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01768" y="24871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price · no incentive]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27848" y="2487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13848" y="2487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81528" y="326440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32644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01768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[intro price · switch incentive]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27848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[name]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13848" y="31272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3712464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767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B]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81528" y="39044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1528" y="39044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3767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 configured]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27848" y="37673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[18 mths]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13848" y="37673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4407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D]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81528" y="454456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1528" y="4544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01768" y="4407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27848" y="44074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13848" y="4407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4992624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50474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E]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081528" y="518464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81528" y="518464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01768" y="50474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27848" y="5047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213848" y="50474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66928" y="583387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gates first — a feature that fails OCV is never configured or routed. Configuration and route are decided only for survivors.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95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532888" y="20299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2888" y="239572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customers actually want it?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32888" y="3383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the OCV metric against a stated threshold. Configuration cannot rescue a demand failure.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FEATURES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features clear the OCV threshold; two are not close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7452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85048" y="1737360"/>
            <a:ext cx="3209544" cy="3474720"/>
          </a:xfrm>
          <a:prstGeom prst="roundRect">
            <a:avLst>
              <a:gd name="adj" fmla="val 284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05088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05088" y="224942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[60]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705088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line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705088" y="35478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[A], [C], [B] — carried forward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05088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line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705088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[D], [E] — no further work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12648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[research programme, fieldwork dates, n = ]. OCV method: see appendix.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FEATURES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scores rest on — and their stated limits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 = 000]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[Segment] customers in the research base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0994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7026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[00 wks]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37026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 window, ending [date]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5060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1092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 of N]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51092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tested with a live prototype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9126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65158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[00]%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65158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segment revenue represented in the sample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of the evidence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4023360"/>
            <a:ext cx="11027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[Sub-segment under-represented, and what that could hide]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[Stated-preference risk: where customers may over-claim intent — SME owners over-claim switching intent in particular]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feature tested by description rather than prototype, and why that matters]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D and E fell out — the demand assumption that did not hold, stated plainly]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95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532888" y="20299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CONFIGURATION THAT PAYS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2888" y="239572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levers actually drive earnings?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32888" y="3383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incentives, channel and defaults — each lever spent only where evidence says it changes behaviour.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adds [£X]m to the base case — most of it from [lever]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[Currency]m annual earnings, year [3] run-rate, surviving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481328" cy="2011680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8895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[4.0]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53035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 price,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levers)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60904" y="2747772"/>
            <a:ext cx="1481328" cy="4526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60904" y="24368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+[0.9]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87752" y="53035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[Price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2093976"/>
            <a:ext cx="1481328" cy="6537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83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+[1.3]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53035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[Switch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incentive]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uptake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91656" y="2093976"/>
            <a:ext cx="1481328" cy="352044"/>
          </a:xfrm>
          <a:prstGeom prst="rect">
            <a:avLst/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783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[-0.7]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18504" y="53035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57032" y="2043684"/>
            <a:ext cx="1481328" cy="40233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7327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+[0.8]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53035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[Channel /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122408" y="2043684"/>
            <a:ext cx="1481328" cy="3168396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2408" y="17327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[6.3]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49256" y="53035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574243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lever does the work, and which barely moves the number — say it plainly.]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12648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[pricing model, version]. Incentive cost is gross, before clawback terms.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Incentives are spent only where they beat defaults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82880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beat persuasion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38928" y="1828800"/>
            <a:ext cx="5998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 default, pre-set option or removal of friction achieves the behaviour free — evidence: regulator trials, own A/B history. These get NO incentive spend.]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980944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316382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buy selection, not behaviour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38928" y="3163824"/>
            <a:ext cx="5998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incentive uptake concentrates among customers who would have acted anyway — the dead-weight share, estimated from past campaigns.]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315968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4498848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incentives DO pay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38928" y="4498848"/>
            <a:ext cx="5998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moments evidence supports: acquisition and switching moments, primacy formation, first-use activation — with the expected uplift and payback per feature.]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779008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for every pound of incentive: would this behaviour happen anyway, and could a default achieve it free? Spend survives only if the answer is no twice.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configuration per feature, and what each choice is worth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7004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44568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93408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/ default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33688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effect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16768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Dead-weight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30552"/>
            <a:ext cx="11027664" cy="0"/>
          </a:xfrm>
          <a:prstGeom prst="line">
            <a:avLst/>
          </a:prstGeom>
          <a:noFill/>
          <a:ln w="19050">
            <a:solidFill>
              <a:srgbClr val="2F48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231136"/>
            <a:ext cx="11027664" cy="86868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768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0048" y="22768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4568" y="2276856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93408" y="22768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[default-on at onboarding]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33688" y="227685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[+£0.0m]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16768" y="227685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1912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0048" y="31912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[intro, steps to list]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4568" y="3191256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[switch incentive, capped]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93408" y="3191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[RM-led for &gt;£Xk turnover]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33688" y="319125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[+£0.0m]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16768" y="319125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[00]% est.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242816"/>
            <a:ext cx="11027664" cy="1234440"/>
          </a:xfrm>
          <a:prstGeom prst="roundRect">
            <a:avLst>
              <a:gd name="adj" fmla="val 7407"/>
            </a:avLst>
          </a:prstGeom>
          <a:solidFill>
            <a:srgbClr val="F3EED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0976" y="4389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applied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50976" y="4681728"/>
            <a:ext cx="10113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lever above passed the two-part test on the previous page. Levers that failed it — [list the rejected levers] — are not in the configuration, and the earnings they would have claimed are not in the forecast.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95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532888" y="20299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THAT SURVIVES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2888" y="239572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buy or partner — per feature?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32888" y="3383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priced for time, margin share and defensibility. The route sets the discount on the earnings case.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ROUTE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routes priced: what each costs in time, margin and control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75888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65008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11027664" cy="0"/>
          </a:xfrm>
          <a:prstGeom prst="line">
            <a:avLst/>
          </a:prstGeom>
          <a:noFill/>
          <a:ln w="19050">
            <a:solidFill>
              <a:srgbClr val="2F48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240280"/>
            <a:ext cx="11027664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86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in-house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5888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 mths] · [£0.0m] capex · full margin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65008" y="2286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 mths] · [£0.0m] capex · full margin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108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3108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[n/a — core capability exists]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65008" y="3108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mths] · [rev share 00%] · partner holds [capability]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886200"/>
            <a:ext cx="11027664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white-label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75888" y="3931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 available]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5008" y="3931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 mths] · [unit fee] · thinner differentiation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11027664" cy="777240"/>
          </a:xfrm>
          <a:prstGeom prst="rect">
            <a:avLst/>
          </a:prstGeom>
          <a:solidFill>
            <a:srgbClr val="E4EDF2"/>
          </a:solidFill>
          <a:ln w="12700">
            <a:solidFill>
              <a:srgbClr val="E4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54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verdict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75888" y="4754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compounds [named core capability]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65008" y="4754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[name] — speed pays for the margin share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5705856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unnamed partner is a build with optimism attached. Every partner row names the counterparty and the margin share.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ROUTE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Partnering [C] costs defensibility — here is the bound on that cost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76479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partner holds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81728" y="1764792"/>
            <a:ext cx="6455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capability, data or customer touchpoint the partner controls under this structure]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706624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82549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81728" y="2825496"/>
            <a:ext cx="6455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customer relationship, the data rights, the pricing control — the assets that keep the economics ours]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767328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388620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bounds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3886200"/>
            <a:ext cx="6455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[Exclusivity in segment · data ownership · exit and portability terms · price re-opener]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828032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" y="4946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Re-internalise trigger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4946904"/>
            <a:ext cx="6455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volume or margin point at which building in-house pays, and the date it is reviewed]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998464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asked whether the partner can ship it. This slide asks whether partnering keeps us hard to beat — the two are different questions, and both must pass.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ROUTE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for delivery: both launches clear the hurdle on their chosen route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route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58768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NPV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61888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launch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07808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70848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NPV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73968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hurdle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11027664" cy="0"/>
          </a:xfrm>
          <a:prstGeom prst="line">
            <a:avLst/>
          </a:prstGeom>
          <a:noFill/>
          <a:ln w="19050">
            <a:solidFill>
              <a:srgbClr val="2F48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368296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140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 — build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24140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61888" y="24140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 mths ±1]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07808" y="2560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25603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70848" y="24140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173968" y="2560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73968" y="25603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108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 — partner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58768" y="3108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61888" y="3108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mths ±1]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07808" y="325526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325526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70848" y="3108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173968" y="325526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73968" y="325526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758184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8039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 — if built instead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58768" y="3803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61888" y="380390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 mths ±4]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07808" y="395020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39502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70848" y="3803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1173968" y="395020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73968" y="39502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4663440"/>
            <a:ext cx="11027664" cy="1051560"/>
          </a:xfrm>
          <a:prstGeom prst="roundRect">
            <a:avLst>
              <a:gd name="adj" fmla="val 8696"/>
            </a:avLst>
          </a:prstGeom>
          <a:solidFill>
            <a:srgbClr val="F3EED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50976" y="4809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third row is on the slide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50976" y="5102352"/>
            <a:ext cx="1011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what the partner route is worth: built in-house, [C] misses the hurdle on timing alone. The partner decision is not a preference — it is the difference between launching [C] and dropping it.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have to be true for this to be the wrong call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7824" y="1664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turns out to be true…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73168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this changes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39328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how we would know early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2258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[OCV overstates demand — adoption runs 00% below case]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73168" y="2258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still clears; [C] falls below hurdle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39328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[activation rate] at [month 3]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73552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" y="34107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[Incentive dead-weight exceeds 00%]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73168" y="34107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case halves; revert to defaults-only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9328" y="34107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[Incentive redemption vs. new-to-feature mix, monthly]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425696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456285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[Partner slips, or captures the customer relationship]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73168" y="45628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launch misses the window; moat erodes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45628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[Contract milestones + data-flow audit at month 2]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572414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decision. Each has an observable early signal — a risk with no signal is decoration.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 this week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1027664" cy="804672"/>
          </a:xfrm>
          <a:prstGeom prst="roundRect">
            <a:avLst>
              <a:gd name="adj" fmla="val 11364"/>
            </a:avLst>
          </a:prstGeom>
          <a:solidFill>
            <a:srgbClr val="365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112264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192024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44368" y="1920240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and [C] into the [cycle] build, configured as slide [13]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87968" y="19202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33888" y="19202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11027664" cy="804672"/>
          </a:xfrm>
          <a:prstGeom prst="roundRect">
            <a:avLst>
              <a:gd name="adj" fmla="val 11364"/>
            </a:avLst>
          </a:prstGeom>
          <a:solidFill>
            <a:srgbClr val="365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3063240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7048" y="287121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944368" y="2871216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[Partner] heads of terms for [C] — exclusivity, data, exit as slide [16]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87968" y="287121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33888" y="2871216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1027664" cy="804672"/>
          </a:xfrm>
          <a:prstGeom prst="roundRect">
            <a:avLst>
              <a:gd name="adj" fmla="val 11364"/>
            </a:avLst>
          </a:prstGeom>
          <a:solidFill>
            <a:srgbClr val="365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014216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7048" y="382219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944368" y="382219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capability build behind Feature B's re-entry]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87968" y="3822192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[Owner]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533888" y="3822192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773168"/>
            <a:ext cx="11027664" cy="804672"/>
          </a:xfrm>
          <a:prstGeom prst="roundRect">
            <a:avLst>
              <a:gd name="adj" fmla="val 11364"/>
            </a:avLst>
          </a:prstGeom>
          <a:solidFill>
            <a:srgbClr val="365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96519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27048" y="477316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2944368" y="4773168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[D] and [E]; retire the [rejected levers] from the plan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87968" y="477316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[Owner]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533888" y="4773168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587044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Sequencing: [A] first — in-house and shortest. [C]'s partner negotiation runs in parallel; its launch does not wait for [A].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detail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37944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OCV methodology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203704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metric is constructed, weighted and calibrated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691640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6540" y="1837944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findings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06540" y="2203704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results and verbatim evidence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62072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3008376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incentive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3374136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assumptions, dead-weight estimates, clawback terms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2862072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06540" y="3008376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evidence 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06540" y="3374136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vs. persuasion trials; incentive selection effects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032504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4178808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due diligence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4544568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assessment, term sheet detail, exit mechanics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4032504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06540" y="4178808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06540" y="4544568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Build/partner/buy economics per feature, version history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 Proposition Recommendation — Minto template</dc:title>
  <dc:subject>PptxGenJS Presentation</dc:subject>
  <dc:creator>Segment proposition template</dc:creator>
  <cp:lastModifiedBy>Segment proposition template</cp:lastModifiedBy>
  <cp:revision>1</cp:revision>
  <dcterms:created xsi:type="dcterms:W3CDTF">2026-08-19T08:24:52Z</dcterms:created>
  <dcterms:modified xsi:type="dcterms:W3CDTF">2026-08-19T08:24:52Z</dcterms:modified>
</cp:coreProperties>
</file>