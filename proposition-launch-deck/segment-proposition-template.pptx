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OCV score</c:v>
                </c:pt>
              </c:strCache>
            </c:strRef>
          </c:tx>
          <c:spPr>
            <a:solidFill>
              <a:srgbClr val="4E7C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F2A3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E7C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E7C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7C9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CC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CCD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[Feature A]</c:v>
                  </c:pt>
                  <c:pt idx="1">
                    <c:v>[Feature C]</c:v>
                  </c:pt>
                  <c:pt idx="2">
                    <c:v>[Feature B]</c:v>
                  </c:pt>
                  <c:pt idx="3">
                    <c:v>[Feature D]</c:v>
                  </c:pt>
                  <c:pt idx="4">
                    <c:v>[Feature E]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</c:v>
                </c:pt>
                <c:pt idx="1">
                  <c:v>72</c:v>
                </c:pt>
                <c:pt idx="2">
                  <c:v>69</c:v>
                </c:pt>
                <c:pt idx="3">
                  <c:v>41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F2A3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55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E8EE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818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This variant answers a wider question than feature selection alone: it carries three decisions - features, commercial configuration, delivery route - under one governing 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 this slide before the deck goes to a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Complication names why this is ONE question, not three: the decisions interact. A feature that only pays when partnered, or an incentive that only pays on the right feature, cannot be decided in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governing thought, three verbs: launch, configure, deliver. The earnings split line matters - it tells the reader how much of the value is the feature list and how much is the commercial and delivery choices.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line. Note the dependency direction: features are chosen first (demand), configuration is chosen per surviving feature, route is chosen per configured feature. Later sections must not reopen earlier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photograph slide. Five columns tell the whole story: what ships, how priced, how delivered, and what happened to everything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 This section is unchanged from the base template: demand gates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dummy scores with real OCV output, ranked descending. OCV definition and calibration belong in the appendix.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base and the losers, combined. If the politics around dropped features are live, split the losers back onto their own slide as in the base template.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 This section is new versus the base template: it closes the 4Ps decision per surviving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bridge makes the configuration case in one look: base earnings from the features, what each lever adds, what the incentives cost back. If incentive cost nearly cancels incentive uptake, this slide says so before a sceptic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stops the deck being a discount programme with a strategy attached. It applies behavioural evidence (defaults beat persuasion; incentives select) BEFORE sizing any 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Configuration is decided per feature, not as a blanket pricing policy. Rejected levers are named - that is what makes the accepted ones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wrapper is the proposition-level layer of the configuration decision. Its test is different from incentives: fixed cost against a lift in entry-point association, with a stated break-even. It also strengthens the route decision - under a partner-delivered feature, the wrapper is part of what we keep.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 Route is decided per configured feature. Its outputs (time, confidence, margin share) discount the section-02 earnings.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Verdicts can differ per feature - that is the point of deciding route at feature level. The verdict row states the reason in the cell, not in a separate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defensibility check applied to the chosen route. If the partner ends up holding the customer relationship or the data, the earnings survive but the moat does not - and the forecast's later years should be haircut accordingly.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counterfactual row is the persuasive device: it prices the route decision. Confidence bands come from the delivery team and the partner's own committed dates, not from the strategy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sensitivity slide covers all three decisions, one row each. If a decision has no condition that could overturn it, either the evidence is overwhelming or the row was dodged - the client will know which.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asks because there are three decisions plus a stop. Every line: verb, owner, date. The partner heads-of-terms is its own ask - it is the one item on this slide the client cannot delegate downward.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contents. The method pages that follow make the deck reproducible: a colleague with Copilot and the inputs can re-run every analysis behind the summary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 page. The OCV standard in the repository is the authority; this page is the operator card. A colleague with Copilot, the standard and these inputs reproduces slide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 page for the lever analysis. The discipline is in step 3 - most incentive business cases die there, which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 page for the wrapper. Mental availability spend gets the same discipline as incentive spend: a stated mechanism, a break-even, and a stop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 page for the route analysis. Confidence bands come from the people who deliver, not the people who recommend.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48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" y="-54864"/>
            <a:ext cx="12271248" cy="6967728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41732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PROPOSITION RECOMMENDATION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874520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we take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[segment]?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566928" y="391363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· commercial configuration · delivery route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name]   ·   [Month Year]   ·   Prepared by [Your name / firm]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441180" y="1965960"/>
            <a:ext cx="960120" cy="566928"/>
          </a:xfrm>
          <a:prstGeom prst="roundRect">
            <a:avLst>
              <a:gd name="adj" fmla="val 11290"/>
            </a:avLst>
          </a:prstGeom>
          <a:solidFill>
            <a:srgbClr val="C9A2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38260" y="2679192"/>
            <a:ext cx="1965960" cy="566928"/>
          </a:xfrm>
          <a:prstGeom prst="roundRect">
            <a:avLst>
              <a:gd name="adj" fmla="val 11290"/>
            </a:avLst>
          </a:prstGeom>
          <a:solidFill>
            <a:srgbClr val="4E7C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35340" y="3392424"/>
            <a:ext cx="2971800" cy="566928"/>
          </a:xfrm>
          <a:prstGeom prst="roundRect">
            <a:avLst>
              <a:gd name="adj" fmla="val 11290"/>
            </a:avLst>
          </a:prstGeom>
          <a:solidFill>
            <a:srgbClr val="3B62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43800" y="42153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→  key line  →  support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GUIDE — DELETE BEFORE SENDING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use this deck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27664" cy="1024128"/>
          </a:xfrm>
          <a:prstGeom prst="roundRect">
            <a:avLst>
              <a:gd name="adj" fmla="val 8929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783080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27048" y="1636776"/>
            <a:ext cx="9656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[square brackets] is yours to replace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1984248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names, scores, prices, partners and dates are dummy values. Nothing in this file is client data.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651760"/>
            <a:ext cx="11027664" cy="1024128"/>
          </a:xfrm>
          <a:prstGeom prst="roundRect">
            <a:avLst>
              <a:gd name="adj" fmla="val 8929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77824" y="2953512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2953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27048" y="2807208"/>
            <a:ext cx="9656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governing thought carries three decisions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27048" y="3154680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Features, configuration, route. Each key-line section closes one decision. Do not let a section reopen another section's decision.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822192"/>
            <a:ext cx="11027664" cy="1024128"/>
          </a:xfrm>
          <a:prstGeom prst="roundRect">
            <a:avLst>
              <a:gd name="adj" fmla="val 8929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123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27048" y="3977640"/>
            <a:ext cx="9656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 are guilty until proven innocent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25112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SME banking, defaults beat persuasion and incentives often buy selection, not behaviour. Section 02 makes the case FOR each lever, not just its size.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992624"/>
            <a:ext cx="11027664" cy="1024128"/>
          </a:xfrm>
          <a:prstGeom prst="roundRect">
            <a:avLst>
              <a:gd name="adj" fmla="val 8929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77824" y="5294376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7824" y="5294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27048" y="5148072"/>
            <a:ext cx="9656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verdicts can differ per feature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527048" y="5495544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one, partner another. The route section prices each option and states the defensibility cost of partnering — do not average across features.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ARE HERE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we set out to answer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27664" cy="1078992"/>
          </a:xfrm>
          <a:prstGeom prst="roundRect">
            <a:avLst>
              <a:gd name="adj" fmla="val 8475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5097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50976" y="2011680"/>
            <a:ext cx="1011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serves [segment: size, revenue, current share of wallet]. [N] candidate products and features sit on the proposition roadmap, with fixed build capacity and an earnings mandate for the cycle.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779776"/>
            <a:ext cx="11027664" cy="1389888"/>
          </a:xfrm>
          <a:prstGeom prst="roundRect">
            <a:avLst>
              <a:gd name="adj" fmla="val 6579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50976" y="29626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50976" y="3273552"/>
            <a:ext cx="10113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cannot all ship — and the feature list alone does not set earnings. Price, incentives and channel change what each feature returns, and the build-or-partner choice changes when it lands and what margin survives. Chosen by conviction, these three decisions get made separately and inconsistently.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" y="4352544"/>
            <a:ext cx="11027664" cy="960120"/>
          </a:xfrm>
          <a:prstGeom prst="roundRect">
            <a:avLst>
              <a:gd name="adj" fmla="val 9524"/>
            </a:avLst>
          </a:prstGeom>
          <a:solidFill>
            <a:srgbClr val="E4EDF2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0976" y="45354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50976" y="4846320"/>
            <a:ext cx="10113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features do we take to [segment], configured how, and delivered how?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F48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" y="-54864"/>
            <a:ext cx="12271248" cy="6967728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73152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35331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532888" y="1353312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[Feature A] and [Feature C]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567928" y="13990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[segment] this cycle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10312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532888" y="210312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[price move] + [targeted incentive]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8567928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where they beat persuasion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2852928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532888" y="2852928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[A] in-house · [C] via [partner]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8567928" y="2898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priced, defensibility checked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60273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532888" y="3602736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[Feature D] and [Feature E]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67928" y="36484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below threshold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590288"/>
            <a:ext cx="11027664" cy="0"/>
          </a:xfrm>
          <a:prstGeom prst="line">
            <a:avLst/>
          </a:prstGeom>
          <a:noFill/>
          <a:ln w="12700">
            <a:solidFill>
              <a:srgbClr val="3E60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91456"/>
            <a:ext cx="10296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Together: [£X]m incremental earnings by year [3] at [Y]% margin — [share] from the features themselves, [share] from configuration, with the partner route pulling [C]'s launch forward by [months].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ARGUMENT IN ONE PAGE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decisions, each closed on evidence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493008" cy="3611880"/>
          </a:xfrm>
          <a:prstGeom prst="roundRect">
            <a:avLst>
              <a:gd name="adj" fmla="val 2618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38528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38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27048" y="193852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578608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features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2798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[A] and [C] show proven customer pull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133088"/>
            <a:ext cx="2798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clear the OCV threshold of [score]. [D] and [E] sit well below it — no configuration rescues a demand problem.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34256" y="1627632"/>
            <a:ext cx="3493008" cy="3611880"/>
          </a:xfrm>
          <a:prstGeom prst="roundRect">
            <a:avLst>
              <a:gd name="adj" fmla="val 2618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81728" y="1938528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1938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94376" y="193852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81728" y="2578608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configuration that pays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81728" y="3017520"/>
            <a:ext cx="2798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[Levers] add [£X]m without buying dead weight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81728" y="4133088"/>
            <a:ext cx="2798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Levers are spent where evidence says they change behaviour — at [acquisition / switching moments] — and withheld where defaults do the work free.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01584" y="1627632"/>
            <a:ext cx="3493008" cy="3611880"/>
          </a:xfrm>
          <a:prstGeom prst="roundRect">
            <a:avLst>
              <a:gd name="adj" fmla="val 2618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49056" y="1938528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49056" y="1938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061704" y="193852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49056" y="2578608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route that survives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49056" y="3017520"/>
            <a:ext cx="2798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[Build A, partner C] ships inside the window and keeps the advantage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449056" y="4133088"/>
            <a:ext cx="2798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route is priced for time, margin share and defensibility. Partnering [C] trades [margin share] for [months] — and the trade is bounded by [terms].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544068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headline is a claim that closes its decision. If a headline would survive the answer changing, it is a label — rewrite it.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PROPOSITION, DECIDED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page: what ships, how it is configured, how it is delivered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62763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081528" y="162763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OCV vs [60]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01768" y="16276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· incentive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927848" y="162763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partner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13848" y="16276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359152"/>
            <a:ext cx="11027664" cy="0"/>
          </a:xfrm>
          <a:prstGeom prst="line">
            <a:avLst/>
          </a:prstGeom>
          <a:noFill/>
          <a:ln w="19050">
            <a:solidFill>
              <a:srgbClr val="2F48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2432304"/>
            <a:ext cx="11027664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487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A]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081528" y="262432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81528" y="262432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01768" y="24871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[list price · no incentive]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27848" y="248716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213848" y="248716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31272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C]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081528" y="326440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81528" y="326440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01768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[intro price · switch incentive]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927848" y="312724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[name]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213848" y="31272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3712464"/>
            <a:ext cx="11027664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7673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B]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081528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81528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01768" y="37673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 configured]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27848" y="37673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[18 mths]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213848" y="376732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4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66928" y="440740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D]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081528" y="454456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1528" y="454456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01768" y="44074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927848" y="440740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213848" y="44074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66928" y="4992624"/>
            <a:ext cx="11027664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50474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E]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081528" y="518464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81528" y="518464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01768" y="504748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927848" y="504748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0213848" y="50474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66928" y="5833872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gates first — a feature that fails OCV is never configured or routed. Configuration and route are decided only for survivors.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8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" y="-54864"/>
            <a:ext cx="12271248" cy="6967728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8745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395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2532888" y="20299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FEATURES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532888" y="2395728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customers actually want it?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532888" y="33832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the OCV metric against a stated threshold. Configuration cannot rescue a demand failure.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FEATURES  · 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features clear the OCV threshold; two are not close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737360"/>
          <a:ext cx="7452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85048" y="1737360"/>
            <a:ext cx="3209544" cy="3474720"/>
          </a:xfrm>
          <a:prstGeom prst="roundRect">
            <a:avLst>
              <a:gd name="adj" fmla="val 2849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05088" y="192024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705088" y="2249424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4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[60]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8705088" y="32735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the line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705088" y="354787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[A], [C], [B] — carried forward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05088" y="4160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line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705088" y="44348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[D], [E] — no further work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66928" y="6126480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[research programme, fieldwork dates, n = ]. OCV method: see appendix.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FEATURES  · 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scores rest on — and their stated limits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2585466" cy="1691640"/>
          </a:xfrm>
          <a:prstGeom prst="roundRect">
            <a:avLst>
              <a:gd name="adj" fmla="val 5405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28800"/>
            <a:ext cx="20734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4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 = 000]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633472"/>
            <a:ext cx="207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[Segment] customers in the research base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0994" y="1627632"/>
            <a:ext cx="2585466" cy="1691640"/>
          </a:xfrm>
          <a:prstGeom prst="roundRect">
            <a:avLst>
              <a:gd name="adj" fmla="val 5405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37026" y="1828800"/>
            <a:ext cx="20734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4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[00 wks]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637026" y="2633472"/>
            <a:ext cx="207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Fieldwork window, ending [date]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5060" y="1627632"/>
            <a:ext cx="2585466" cy="1691640"/>
          </a:xfrm>
          <a:prstGeom prst="roundRect">
            <a:avLst>
              <a:gd name="adj" fmla="val 5405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51092" y="1828800"/>
            <a:ext cx="20734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4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[0 of N]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51092" y="2633472"/>
            <a:ext cx="207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tested with a live prototype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9126" y="1627632"/>
            <a:ext cx="2585466" cy="1691640"/>
          </a:xfrm>
          <a:prstGeom prst="roundRect">
            <a:avLst>
              <a:gd name="adj" fmla="val 5405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65158" y="1828800"/>
            <a:ext cx="20734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4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[00]%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65158" y="2633472"/>
            <a:ext cx="207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segment revenue represented in the sample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of the evidence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4023360"/>
            <a:ext cx="110276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[Sub-segment under-represented, and what that could hide]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[Stated-preference risk: where customers may over-claim intent — SME owners over-claim switching intent in particular]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[Any feature tested by description rather than prototype, and why that matters]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[Why D and E fell out — the demand assumption that did not hold, stated plainly]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48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" y="-54864"/>
            <a:ext cx="12271248" cy="6967728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8745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395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2532888" y="20299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CONFIGURATION THAT PAYS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532888" y="2395728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levers actually drive earnings?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532888" y="33832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incentives, channel and defaults — each lever spent only where evidence says it changes behaviour.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 · 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adds [£X]m to the base case — most of it from [lever]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[Currency]m annual earnings, year [3] run-rate, surviving features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5528" y="3200400"/>
            <a:ext cx="1481328" cy="2011680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288950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[4.0]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2376" y="5303520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(list price,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levers)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60904" y="2747772"/>
            <a:ext cx="1481328" cy="452628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60904" y="243687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+[0.9]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87752" y="5303520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[Price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26280" y="2093976"/>
            <a:ext cx="1481328" cy="65379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178308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+[1.3]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5303520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[Switch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incentive]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uptake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91656" y="2093976"/>
            <a:ext cx="1481328" cy="352044"/>
          </a:xfrm>
          <a:prstGeom prst="rect">
            <a:avLst/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1656" y="178308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[-0.7]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18504" y="5303520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57032" y="2043684"/>
            <a:ext cx="1481328" cy="40233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7327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+[0.8]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83880" y="5303520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[Channel /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change]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122408" y="2043684"/>
            <a:ext cx="1481328" cy="3168396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22408" y="173278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[6.3]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49256" y="5303520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" y="5742432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[Which lever does the work, and which barely moves the number — say it plainly.]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126480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[pricing model, version]. Incentive cost is gross, before clawback terms.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 · 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Incentives are spent only where they beat defaults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27664" cy="1170432"/>
          </a:xfrm>
          <a:prstGeom prst="roundRect">
            <a:avLst>
              <a:gd name="adj" fmla="val 7813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50976" y="182880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beat persuasion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138928" y="1828800"/>
            <a:ext cx="5998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[Where a default, pre-set option or removal of friction achieves the behaviour free — evidence: regulator trials, own A/B history. These get NO incentive spend.]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980944"/>
            <a:ext cx="11027664" cy="1170432"/>
          </a:xfrm>
          <a:prstGeom prst="roundRect">
            <a:avLst>
              <a:gd name="adj" fmla="val 7813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50976" y="3163824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 buy selection, not behaviour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38928" y="3163824"/>
            <a:ext cx="5998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[Where incentive uptake concentrates among customers who would have acted anyway — the dead-weight share, estimated from past campaigns.]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315968"/>
            <a:ext cx="11027664" cy="1170432"/>
          </a:xfrm>
          <a:prstGeom prst="roundRect">
            <a:avLst>
              <a:gd name="adj" fmla="val 7813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0976" y="4498848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incentives DO pay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38928" y="4498848"/>
            <a:ext cx="5998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moments evidence supports: acquisition and switching moments, primacy formation, first-use activation — with the expected uplift and payback per feature.]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5779008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for every pound of incentive: would this behaviour happen anyway, and could a default achieve it free? Spend survives only if the answer is no twice.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 · 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configuration per feature, and what each choice is worth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670048" y="1691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44568" y="1691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93408" y="1691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/ default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933688" y="1691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effect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716768" y="16916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Dead-weight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130552"/>
            <a:ext cx="11027664" cy="0"/>
          </a:xfrm>
          <a:prstGeom prst="line">
            <a:avLst/>
          </a:prstGeom>
          <a:noFill/>
          <a:ln w="19050">
            <a:solidFill>
              <a:srgbClr val="2F48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2231136"/>
            <a:ext cx="11027664" cy="868680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276856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A]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70048" y="2276856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[list]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44568" y="2276856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93408" y="2276856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[default-on at onboarding]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933688" y="2276856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[+£0.0m]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716768" y="227685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3191256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C]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70048" y="3191256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[intro, steps to list]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44568" y="3191256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[switch incentive, capped]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93408" y="3191256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[RM-led for &gt;£Xk turnover]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933688" y="3191256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[+£0.0m]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16768" y="319125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[00]% est.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242816"/>
            <a:ext cx="11027664" cy="1234440"/>
          </a:xfrm>
          <a:prstGeom prst="roundRect">
            <a:avLst>
              <a:gd name="adj" fmla="val 7407"/>
            </a:avLst>
          </a:prstGeom>
          <a:solidFill>
            <a:srgbClr val="F3EEDD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0976" y="4389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applied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50976" y="4681728"/>
            <a:ext cx="10113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lever above passed the two-part test on the previous page. Levers that failed it — [list the rejected levers] — are not in the configuration, and the earnings they would have claimed are not in the forecast.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 ·  02  ·  PROPOSITION LEVEL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[Wrapper name] buys memory at the moments the job arises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11027664" cy="896112"/>
          </a:xfrm>
          <a:prstGeom prst="roundRect">
            <a:avLst>
              <a:gd name="adj" fmla="val 102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50976" y="172821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315968" y="1728216"/>
            <a:ext cx="68214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[At the segment's category entry points — [name the moments] — the bank is recalled by [00]% vs [competitor]'s [00]%. A feature no one thinks of at the moment of need earns nothing.]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651760"/>
            <a:ext cx="11027664" cy="896112"/>
          </a:xfrm>
          <a:prstGeom prst="roundRect">
            <a:avLst>
              <a:gd name="adj" fmla="val 102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50976" y="2752344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wrapper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15968" y="2752344"/>
            <a:ext cx="68214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name over the launched features, with distinctive assets ([list]) linked to [N] entry points. Product communications ladder up to it, not alongside it.]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675888"/>
            <a:ext cx="11027664" cy="896112"/>
          </a:xfrm>
          <a:prstGeom prst="roundRect">
            <a:avLst>
              <a:gd name="adj" fmla="val 102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0976" y="3776472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15968" y="3776472"/>
            <a:ext cx="68214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[£0.0m]/yr fixed — amortised across every launched feature, unlike per-redemption incentives. Pays if entry-point consideration lifts [00]bps: [break-even arithmetic].]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27664" cy="896112"/>
          </a:xfrm>
          <a:prstGeom prst="roundRect">
            <a:avLst>
              <a:gd name="adj" fmla="val 102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50976" y="4800600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multiplier rule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315968" y="4800600"/>
            <a:ext cx="68214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wrapper multiplies what is there. It cannot rescue a feature that failed the demand gate — weak features wrapped are weak features remembered.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66928" y="58155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availability: propositions are bought when they are thought of at the entry point. The wrapper is promotion spend aimed at memory, not price — which is why it faces a reach test, not the incentive dead-weight test.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F48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" y="-54864"/>
            <a:ext cx="12271248" cy="6967728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8745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395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2532888" y="20299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ROUTE THAT SURVIVES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532888" y="2395728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Build, buy or partner — per feature?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532888" y="33832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route priced for time, margin share and defensibility. The route sets the discount on the earnings case.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ROUTE  · 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routes priced: what each costs in time, margin and control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691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75888" y="1691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A]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65008" y="1691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C]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11027664" cy="0"/>
          </a:xfrm>
          <a:prstGeom prst="line">
            <a:avLst/>
          </a:prstGeom>
          <a:noFill/>
          <a:ln w="19050">
            <a:solidFill>
              <a:srgbClr val="2F48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240280"/>
            <a:ext cx="11027664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2860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in-house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75888" y="228600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 mths] · [£0.0m] capex · full margin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65008" y="22860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[18 mths] · [£0.0m] capex · full margin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31089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75888" y="31089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[n/a — core capability exists]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65008" y="3108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 mths] · [rev share 00%] · partner holds [capability]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886200"/>
            <a:ext cx="11027664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9319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/ white-label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75888" y="39319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 available]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65008" y="393192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 mths] · [unit fee] · thinner differentiation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709160"/>
            <a:ext cx="11027664" cy="777240"/>
          </a:xfrm>
          <a:prstGeom prst="rect">
            <a:avLst/>
          </a:prstGeom>
          <a:solidFill>
            <a:srgbClr val="E4EDF2"/>
          </a:solidFill>
          <a:ln w="12700">
            <a:solidFill>
              <a:srgbClr val="E4ED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7548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verdict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75888" y="47548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compounds [named core capability]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065008" y="47548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[name] — speed pays for the margin share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5705856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unnamed partner is a build with optimism attached. Every partner row names the counterparty and the margin share.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ROUTE  · 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Partnering [C] costs defensibility — here is the bound on that cost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27664" cy="932688"/>
          </a:xfrm>
          <a:prstGeom prst="roundRect">
            <a:avLst>
              <a:gd name="adj" fmla="val 98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50976" y="176479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partner holds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681728" y="1764792"/>
            <a:ext cx="64556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capability, data or customer touchpoint the partner controls under this structure]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706624"/>
            <a:ext cx="11027664" cy="932688"/>
          </a:xfrm>
          <a:prstGeom prst="roundRect">
            <a:avLst>
              <a:gd name="adj" fmla="val 98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50976" y="282549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keep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81728" y="2825496"/>
            <a:ext cx="64556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customer relationship, the data rights, the pricing control — the assets that keep the economics ours]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767328"/>
            <a:ext cx="11027664" cy="932688"/>
          </a:xfrm>
          <a:prstGeom prst="roundRect">
            <a:avLst>
              <a:gd name="adj" fmla="val 98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0976" y="3886200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bounds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81728" y="3886200"/>
            <a:ext cx="64556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[Exclusivity in segment · data ownership · exit and portability terms · price re-opener]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828032"/>
            <a:ext cx="11027664" cy="932688"/>
          </a:xfrm>
          <a:prstGeom prst="roundRect">
            <a:avLst>
              <a:gd name="adj" fmla="val 9804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50976" y="4946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Re-internalise trigger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81728" y="4946904"/>
            <a:ext cx="64556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volume or margin point at which building in-house pays, and the date it is reviewed]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998464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asked whether the partner can ship it. This slide asks whether partnering keeps us hard to beat — the two are different questions, and both must pass.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ROUTE  · 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for delivery: both launches clear the hurdle on their chosen route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· route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58768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NPV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61888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launch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07808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070848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Risk-adjusted NPV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73968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hurdle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267712"/>
            <a:ext cx="11027664" cy="0"/>
          </a:xfrm>
          <a:prstGeom prst="line">
            <a:avLst/>
          </a:prstGeom>
          <a:noFill/>
          <a:ln w="19050">
            <a:solidFill>
              <a:srgbClr val="2F48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2368296"/>
            <a:ext cx="11027664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1401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A] — build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58768" y="24140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61888" y="24140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 mths ±1]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607808" y="256032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07808" y="25603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070848" y="24140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1173968" y="256032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173968" y="25603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" y="3108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C] — partner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58768" y="31089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61888" y="310896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 mths ±1]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607808" y="3255264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07808" y="325526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070848" y="31089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1173968" y="3255264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173968" y="325526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3758184"/>
            <a:ext cx="11027664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F5F8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8039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C] — if built instead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858768" y="380390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61888" y="380390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[18 mths ±4]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607808" y="395020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07808" y="395020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070848" y="380390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[£0.0m]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1173968" y="395020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173968" y="395020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4663440"/>
            <a:ext cx="11027664" cy="1051560"/>
          </a:xfrm>
          <a:prstGeom prst="roundRect">
            <a:avLst>
              <a:gd name="adj" fmla="val 8696"/>
            </a:avLst>
          </a:prstGeom>
          <a:solidFill>
            <a:srgbClr val="F3EEDD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50976" y="480974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third row is on the slide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50976" y="5102352"/>
            <a:ext cx="10113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shows what the partner route is worth: built in-house, [C] misses the hurdle on timing alone. The partner decision is not a preference — it is the difference between launching [C] and dropping it.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THREE DECISIONS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have to be true for this to be the wrong call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77824" y="16642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this turns out to be true…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773168" y="16642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…then this changes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339328" y="1664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how we would know early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121408"/>
            <a:ext cx="11027664" cy="868680"/>
          </a:xfrm>
          <a:prstGeom prst="roundRect">
            <a:avLst>
              <a:gd name="adj" fmla="val 10526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77824" y="222199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[OCV overstates demand — adoption runs 00% below case]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73168" y="222199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[A] still clears; [C] falls below hurdle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39328" y="222199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[activation rate] at [month 3]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3108960"/>
            <a:ext cx="11027664" cy="868680"/>
          </a:xfrm>
          <a:prstGeom prst="roundRect">
            <a:avLst>
              <a:gd name="adj" fmla="val 10526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77824" y="3209544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[Incentive dead-weight exceeds 00%]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73168" y="3209544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case halves; revert to defaults-only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39328" y="320954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[Incentive redemption vs. new-to-feature mix, monthly]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96512"/>
            <a:ext cx="11027664" cy="868680"/>
          </a:xfrm>
          <a:prstGeom prst="roundRect">
            <a:avLst>
              <a:gd name="adj" fmla="val 10526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4197096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[Wrapper does not move entry-point association by month [6]]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773168" y="4197096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spend stops; comms revert to product level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39328" y="419709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[Entry-point association tracking, quarterly]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27664" cy="868680"/>
          </a:xfrm>
          <a:prstGeom prst="roundRect">
            <a:avLst>
              <a:gd name="adj" fmla="val 10526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77824" y="5184648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[Partner slips, or captures the customer relationship]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73168" y="5184648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[C] launch misses the window; moat erodes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39328" y="51846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[Contract milestones + data-flow audit at month 2]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621792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48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decision, plus the wrapper. Each has an observable early signal — a risk with no signal is decoration.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F48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" y="-54864"/>
            <a:ext cx="12271248" cy="6967728"/>
          </a:xfrm>
          <a:prstGeom prst="rect">
            <a:avLst/>
          </a:prstGeom>
          <a:solidFill>
            <a:srgbClr val="2F4858"/>
          </a:solidFill>
          <a:ln w="12700">
            <a:solidFill>
              <a:srgbClr val="2F48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27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need from you this week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1027664" cy="804672"/>
          </a:xfrm>
          <a:prstGeom prst="roundRect">
            <a:avLst>
              <a:gd name="adj" fmla="val 11364"/>
            </a:avLst>
          </a:prstGeom>
          <a:solidFill>
            <a:srgbClr val="365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112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27048" y="1920240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944368" y="1920240"/>
            <a:ext cx="5852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[A] and [C] into the [cycle] build, configured as slides [13–14]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87968" y="1920240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[Owner]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533888" y="19202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[Date]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11027664" cy="804672"/>
          </a:xfrm>
          <a:prstGeom prst="roundRect">
            <a:avLst>
              <a:gd name="adj" fmla="val 11364"/>
            </a:avLst>
          </a:prstGeom>
          <a:solidFill>
            <a:srgbClr val="365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3063240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3063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27048" y="2871216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944368" y="2871216"/>
            <a:ext cx="5852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[Partner] heads of terms for [C] — exclusivity, data, exit as slide [17]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887968" y="2871216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[Owner]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533888" y="2871216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[Date]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22192"/>
            <a:ext cx="11027664" cy="804672"/>
          </a:xfrm>
          <a:prstGeom prst="roundRect">
            <a:avLst>
              <a:gd name="adj" fmla="val 11364"/>
            </a:avLst>
          </a:prstGeom>
          <a:solidFill>
            <a:srgbClr val="365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7824" y="4014216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27048" y="382219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944368" y="3822192"/>
            <a:ext cx="5852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capability build behind Feature B's re-entry]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87968" y="3822192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[Owner]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0533888" y="3822192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[Date]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773168"/>
            <a:ext cx="11027664" cy="804672"/>
          </a:xfrm>
          <a:prstGeom prst="roundRect">
            <a:avLst>
              <a:gd name="adj" fmla="val 11364"/>
            </a:avLst>
          </a:prstGeom>
          <a:solidFill>
            <a:srgbClr val="365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77824" y="4965192"/>
            <a:ext cx="420624" cy="42062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" y="49651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527048" y="4773168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2944368" y="4773168"/>
            <a:ext cx="5852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[D] and [E]; retire the [rejected levers] from the plan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887968" y="4773168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[Owner]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0533888" y="4773168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C6D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[Date]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66928" y="587044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Sequencing: [A] first — in-house and shortest. [C]'s partner negotiation runs in parallel; its launch does not wait for [A].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detail — and how each analysis was run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53812" cy="1005840"/>
          </a:xfrm>
          <a:prstGeom prst="roundRect">
            <a:avLst>
              <a:gd name="adj" fmla="val 9091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1837944"/>
            <a:ext cx="46222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OCV methodology + full research findings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32688" y="2203704"/>
            <a:ext cx="4622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construction, calibration, segment-level results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40780" y="1691640"/>
            <a:ext cx="5353812" cy="1005840"/>
          </a:xfrm>
          <a:prstGeom prst="roundRect">
            <a:avLst>
              <a:gd name="adj" fmla="val 9091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06540" y="1837944"/>
            <a:ext cx="46222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and incentive model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06540" y="2203704"/>
            <a:ext cx="4622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 assumptions, dead-weight estimates, clawback terms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862072"/>
            <a:ext cx="5353812" cy="1005840"/>
          </a:xfrm>
          <a:prstGeom prst="roundRect">
            <a:avLst>
              <a:gd name="adj" fmla="val 9091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32688" y="3008376"/>
            <a:ext cx="46222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Wrapper / mental availability study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32688" y="3374136"/>
            <a:ext cx="4622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Entry-point research, association tracking, break-even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40780" y="2862072"/>
            <a:ext cx="5353812" cy="1005840"/>
          </a:xfrm>
          <a:prstGeom prst="roundRect">
            <a:avLst>
              <a:gd name="adj" fmla="val 9091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06540" y="3008376"/>
            <a:ext cx="46222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due diligence + route model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606540" y="3374136"/>
            <a:ext cx="4622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assessment, terms, route economics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032504"/>
            <a:ext cx="5353812" cy="1005840"/>
          </a:xfrm>
          <a:prstGeom prst="roundRect">
            <a:avLst>
              <a:gd name="adj" fmla="val 9091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32688" y="4178808"/>
            <a:ext cx="46222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four analyses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32688" y="4544568"/>
            <a:ext cx="4622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Step-by-step, next four pages — reproducible with Copilot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40780" y="4032504"/>
            <a:ext cx="5353812" cy="1005840"/>
          </a:xfrm>
          <a:prstGeom prst="roundRect">
            <a:avLst>
              <a:gd name="adj" fmla="val 9091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06540" y="4178808"/>
            <a:ext cx="46222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considered and excluded earlier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606540" y="4544568"/>
            <a:ext cx="4622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cut before the shortlist, and why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·  METHOD 1 OF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OCV analysis was run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200400" cy="35204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7556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required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59536" y="2121408"/>
            <a:ext cx="2697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[Segment interviews / research, n and dates]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[Incumbent solution facts and prices]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specs and price points]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[Past-launch calibration data]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087368" y="1627632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8736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08576" y="1572768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the segment's outcomes: build the outcome ladder for the job; keep the minimal covering set (OCV standard, step 1a).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87368" y="2340864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87368" y="2340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08576" y="2286000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each feature against the incumbent per component: financial, time and stress deltas, time priced at the standard's conventions.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87368" y="3054096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87368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08576" y="2999232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switching costs (the standard's taxonomy). Adjust each component for visibility and credibility — contractual anchors beat claimed ones.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87368" y="3767328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87368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08576" y="3712464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to the OCV score. Map to predicted uptake with the calibration table; set the threshold from past launches, not from the answer you want.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87368" y="448056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87368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08576" y="4425696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the features. Record every input in the evidence register with source and date — the register is what makes slide [8] defensible.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285232"/>
            <a:ext cx="11027664" cy="914400"/>
          </a:xfrm>
          <a:prstGeom prst="roundRect">
            <a:avLst>
              <a:gd name="adj" fmla="val 10000"/>
            </a:avLst>
          </a:prstGeom>
          <a:solidFill>
            <a:srgbClr val="F3EEDD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50976" y="5413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with Copilot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50976" y="5687568"/>
            <a:ext cx="10113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objective-customer-value-standard.md (same repository). One chat per feature. Paste the step, the feature spec and the register; require evidence for AND against.   ·   Output feeds: slides [8–9]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·  METHOD 2 OF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configuration levers were sized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200400" cy="35204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7556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required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59536" y="2121408"/>
            <a:ext cx="2697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[Past campaign results, by lever]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[Price elasticity evidence]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[Channel cost cards]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[Margin model per feature]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087368" y="1627632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8736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08576" y="1572768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base case per surviving feature: OCV-predicted uptake × price × margin, before any lever.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87368" y="2340864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87368" y="2340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08576" y="2286000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Long-list levers across the 4Ps. Classify each: default / friction removal / price move / paid incentive / channel shift.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87368" y="3054096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87368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08576" y="2999232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two-part test to every paid lever: would the behaviour happen anyway, and could a default achieve it free? Estimate dead-weight from past campaigns.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87368" y="3767328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87368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08576" y="3712464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survivors: uplift × margin − cost including dead-weight. Name the rejected levers and keep their earnings OUT of the forecast.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87368" y="448056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87368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08576" y="4425696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the bridge (slide [11]) and run sensitivity on dead-weight and uptake — the two assumptions a sceptic attacks first.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285232"/>
            <a:ext cx="11027664" cy="914400"/>
          </a:xfrm>
          <a:prstGeom prst="roundRect">
            <a:avLst>
              <a:gd name="adj" fmla="val 10000"/>
            </a:avLst>
          </a:prstGeom>
          <a:solidFill>
            <a:srgbClr val="F3EEDD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50976" y="5413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with Copilot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50976" y="5687568"/>
            <a:ext cx="10113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chat per lever class. Paste past campaign data and the two-part test; require the dead-weight estimate with its evidence before any sizing.   ·   Output feeds: slides [11–13]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·  METHOD 3 OF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wrapper case was built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200400" cy="35204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7556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required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59536" y="2121408"/>
            <a:ext cx="2697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[Brand tracking data]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[Entry-point research: when the job arises, in customer words]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[Media / channel cost cards]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[Competitor association benchmarks]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087368" y="1627632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8736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08576" y="1572768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segment's category entry points: the moments the job arises, phrased in the customer's words, from research — not from the marketing plan.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87368" y="2340864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87368" y="2340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08576" y="2286000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current unaided association at each entry point, for the bank and for competitors. The gap is the wrapper's job description.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87368" y="3054096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87368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08576" y="2999232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wrapper: one name, distinctive assets, explicit linkage to the entry points. Span only the LAUNCHED features — never wrap what failed the demand gate.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87368" y="3767328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87368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08576" y="3712464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it: fixed annual cost against a consideration-uplift band. State the break-even in association points — the honest version of a brand business case.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87368" y="448056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87368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08576" y="4425696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tracking: entry-point association, quarterly, with the stop rule — this is the wrapper's row on the what-would-have-to-be-true slide.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285232"/>
            <a:ext cx="11027664" cy="914400"/>
          </a:xfrm>
          <a:prstGeom prst="roundRect">
            <a:avLst>
              <a:gd name="adj" fmla="val 10000"/>
            </a:avLst>
          </a:prstGeom>
          <a:solidFill>
            <a:srgbClr val="F3EEDD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50976" y="5413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with Copilot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50976" y="5687568"/>
            <a:ext cx="10113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entry-point list and tracking data. Require the break-even arithmetic shown, and a stated stop rule — refuse a case that only asserts awareness value.   ·   Output feeds: slide [14] + the sensitivity slide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·  METHOD 4 OF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27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F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delivery routes were priced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200400" cy="35204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7556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required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59536" y="2121408"/>
            <a:ext cx="2697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[Delivery team estimates, with ranges]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[Partner term sheets / indicative terms]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[Capability register]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[Hurdle rate and horizon]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087368" y="1627632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8736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08576" y="1572768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the capabilities each feature requires — capabilities, not tasks. Keep the same names end to end or the slides will not reconcile.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87368" y="2340864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87368" y="2340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08576" y="2286000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each capability have / buy / build. Name real partner candidates with indicative terms — an unnamed partner is a build with optimism attached.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87368" y="3054096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87368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08576" y="2999232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each route: time to launch, capex, margin share, and a confidence band from the delivery team and the partner's committed dates.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87368" y="3767328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87368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08576" y="3712464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the configured NPV by route timing and confidence. Keep the built-instead counterfactual row — it is what prices the partner decision.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87368" y="448056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87368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08576" y="4425696"/>
            <a:ext cx="6867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partner routes: what the partner holds, what we keep, contract terms, and the re-internalise trigger with its review date.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285232"/>
            <a:ext cx="11027664" cy="914400"/>
          </a:xfrm>
          <a:prstGeom prst="roundRect">
            <a:avLst>
              <a:gd name="adj" fmla="val 10000"/>
            </a:avLst>
          </a:prstGeom>
          <a:solidFill>
            <a:srgbClr val="F3EEDD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9FB2BC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50976" y="5413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with Copilot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50976" y="5687568"/>
            <a:ext cx="10113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4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chat per feature. Paste the capability inventory and terms; require the counterfactual row and the defensibility bounds before accepting a verdict.   ·   Output feeds: slides [15–18]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Segment Proposition Recommendation — Minto template</dc:title>
  <dc:subject>PptxGenJS Presentation</dc:subject>
  <dc:creator>Segment proposition template</dc:creator>
  <cp:lastModifiedBy>Segment proposition template</cp:lastModifiedBy>
  <cp:revision>1</cp:revision>
  <dcterms:created xsi:type="dcterms:W3CDTF">2026-08-19T08:33:23Z</dcterms:created>
  <dcterms:modified xsi:type="dcterms:W3CDTF">2026-08-19T08:33:23Z</dcterms:modified>
</cp:coreProperties>
</file>