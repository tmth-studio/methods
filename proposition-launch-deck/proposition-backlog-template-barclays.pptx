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OCV demand score</c:v>
                </c:pt>
              </c:strCache>
            </c:strRef>
          </c:tx>
          <c:spPr>
            <a:solidFill>
              <a:srgbClr val="00395D"/>
            </a:solidFill>
            <a:effectLst/>
          </c:spPr>
          <c:invertIfNegative val="0"/>
          <c:dLbls>
            <c:numFmt formatCode="#,##0" sourceLinked="0"/>
            <c:txPr>
              <a:bodyPr/>
              <a:lstStyle/>
              <a:p>
                <a:pPr>
                  <a:defRPr b="1" i="0" strike="noStrike" sz="1200" u="none">
                    <a:solidFill>
                      <a:srgbClr val="00395D"/>
                    </a:solidFill>
                    <a:latin typeface="Expert Sans"/>
                  </a:defRPr>
                </a:pPr>
              </a:p>
            </c:txPr>
            <c:showLegendKey val="0"/>
            <c:showVal val="1"/>
            <c:showCatName val="0"/>
            <c:showSerName val="0"/>
            <c:showPercent val="0"/>
            <c:showBubbleSize val="0"/>
            <c:showLeaderLines val="0"/>
          </c:dLbls>
          <c:dPt>
            <c:idx val="0"/>
            <c:invertIfNegative val="0"/>
            <c:bubble3D val="0"/>
            <c:spPr>
              <a:solidFill>
                <a:srgbClr val="00395D"/>
              </a:solidFill>
              <a:effectLst/>
            </c:spPr>
          </c:dPt>
          <c:dPt>
            <c:idx val="1"/>
            <c:invertIfNegative val="0"/>
            <c:bubble3D val="0"/>
            <c:spPr>
              <a:solidFill>
                <a:srgbClr val="00395D"/>
              </a:solidFill>
              <a:effectLst/>
            </c:spPr>
          </c:dPt>
          <c:dPt>
            <c:idx val="2"/>
            <c:invertIfNegative val="0"/>
            <c:bubble3D val="0"/>
            <c:spPr>
              <a:solidFill>
                <a:srgbClr val="00395D"/>
              </a:solidFill>
              <a:effectLst/>
            </c:spPr>
          </c:dPt>
          <c:dPt>
            <c:idx val="3"/>
            <c:invertIfNegative val="0"/>
            <c:bubble3D val="0"/>
            <c:spPr>
              <a:solidFill>
                <a:srgbClr val="BFBFBF"/>
              </a:solidFill>
              <a:effectLst/>
            </c:spPr>
          </c:dPt>
          <c:dPt>
            <c:idx val="4"/>
            <c:invertIfNegative val="0"/>
            <c:bubble3D val="0"/>
            <c:spPr>
              <a:solidFill>
                <a:srgbClr val="BFBFBF"/>
              </a:solidFill>
              <a:effectLst/>
            </c:spPr>
          </c:dPt>
          <c:cat>
            <c:multiLvlStrRef>
              <c:f>Sheet1!$A$2:$A$6</c:f>
              <c:multiLvlStrCache>
                <c:ptCount val="5"/>
                <c:lvl>
                  <c:pt idx="0">
                    <c:v>FX payments</c:v>
                  </c:pt>
                  <c:pt idx="1">
                    <c:v>Invoice finance</c:v>
                  </c:pt>
                  <c:pt idx="2">
                    <c:v>Trade insurance</c:v>
                  </c:pt>
                  <c:pt idx="3">
                    <c:v>Crypto payments</c:v>
                  </c:pt>
                  <c:pt idx="4">
                    <c:v>Rewards scheme</c:v>
                  </c:pt>
                </c:lvl>
              </c:multiLvlStrCache>
            </c:multiLvlStrRef>
          </c:cat>
          <c:val>
            <c:numRef>
              <c:f>Sheet1!$B$2:$B$6</c:f>
              <c:numCache>
                <c:formatCode>General</c:formatCode>
                <c:ptCount val="5"/>
                <c:pt idx="0">
                  <c:v>78</c:v>
                </c:pt>
                <c:pt idx="1">
                  <c:v>72</c:v>
                </c:pt>
                <c:pt idx="2">
                  <c:v>64</c:v>
                </c:pt>
                <c:pt idx="3">
                  <c:v>41</c:v>
                </c:pt>
                <c:pt idx="4">
                  <c:v>33</c:v>
                </c:pt>
              </c:numCache>
            </c:numRef>
          </c:val>
        </c:ser>
        <c:dLbls>
          <c:numFmt formatCode="#,##0" sourceLinked="0"/>
          <c:txPr>
            <a:bodyPr/>
            <a:lstStyle/>
            <a:p>
              <a:pPr>
                <a:defRPr b="1" i="0" strike="noStrike" sz="1200" u="none">
                  <a:solidFill>
                    <a:srgbClr val="00395D"/>
                  </a:solidFill>
                  <a:latin typeface="Expert Sans"/>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F5563"/>
                </a:solidFill>
                <a:latin typeface="Expert Sans"/>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12700" cap="flat">
              <a:solidFill>
                <a:srgbClr val="E8EEF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E7F8D"/>
                </a:solidFill>
                <a:latin typeface="Expert Sans"/>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Barclays IR style: white ground, cyan rule and title, navy support. Add the standard divisional cover image via the corporate template if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Delete this slide before the deck goes to a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addressed to Copilot in PowerPoint: select it and instruct 'follow the instructions on this slide using the client data below'. The self-check bar makes completion verifiable. Delete before the deck goes to a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Complication earns the backlog framing: the reason a one-off pick fails is that the decision repeats and the evidence moves. If the client genuinely decides once and never again, use the base proposition-launch template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governing thought in Barclays IR style: cyan statement, pale-blue expansion rows. One sentence, then four rows that expand it without new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line. Three independent reasons about the whole backlog - not three sub-decisions. The one analytical dependency (route timing feeds the return discount) is a data flow, shown where it happens in section 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photograph slide. The whole system on one page: positions, the three columns that produced them, and the statuses. When the backlog is re-scored, only this page and its inputs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Demand is the admission test, not the sort key - it protects the backlog from optimism.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 of 60 is calibrated on past launches (appendix). Insurance passes at 64 - close to the line, which is why its position is re-tested at every quarterly re-score.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Limits stated by us before a sceptic finds them. Note how the limits connect to the re-score cadence: uncertainty is not a reason to freeze the backlog, it is the reason the backlog gets re-scored.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wrapper is the standing shell the backlog ships into - it persists across cycles while features accrete. Mental availability at the entry points is what it buys; the break-even and stop rule keep it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The sort key is the deck's central discipline: per-slot return, not raw NPV.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teaching row is insurance: raw NPV would put it second, per-slot puts it third. If the client's capacity is capital rather than slots, change the denominator - the rule survives, the unit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bridge says plainly which lever does the work. The wrapper's +0.8 is deliberately modest here - its full value is the standing shell across cycles, argued in section 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stops the deck being a discount programme with a strategy attached. Rejected levers are named in the appendix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flow from section 03: route timing and confidence set the discount applied here. The counterfactual row prices the route decision inside the sort - one number, one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re-score rule is the difference between a backlog and a one-off deck. Each row names an observable trigger and the mechanical consequence - no re-litigation, just re-scoring.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Capacity sets the cut-line on the sorted list; the routes protect the advantage.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Route verdicts differ per feature and each states its reason in place. The FX reason is compounding (core platform); the invoice finance reason is speed priced in section 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partner ends up holding the customer or the data, the earnings survive but the moat does not. The re-internalise trigger keeps 'partner' a route, not a destiny.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sensitivity slide inherits the backlog's key property: being wrong is survivable, because the system re-scores instead of re-arguing.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asks: the rule, the slate, the terms, the stop. Every line: verb, owner, date. Adopting the rule is the ask that outlives the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contents. The method pages make the deck reproducible: a colleague with Copilot and the inputs can re-run every analysis - which is also what makes the quarterly re-score cheap.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page. The OCV standard in the repository is the authority; this page is the operator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page for the sort. Step 4 is the archetype's core discipline; step 5 is what makes the backlog durable.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page for the wrapper. Memory spend gets the same discipline as incentive spend: a mechanism, a break-even, a stop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page for the routes. Confidence bands come from the people who deliver, not the people who recommend.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201168"/>
          </a:xfrm>
          <a:prstGeom prst="rect">
            <a:avLst/>
          </a:prstGeom>
          <a:solidFill>
            <a:srgbClr val="00AEEF"/>
          </a:solidFill>
          <a:ln w="12700">
            <a:solidFill>
              <a:srgbClr val="00AEEF"/>
            </a:solidFill>
            <a:prstDash val="solid"/>
          </a:ln>
        </p:spPr>
      </p:sp>
      <p:sp>
        <p:nvSpPr>
          <p:cNvPr id="3" name="Text 1"/>
          <p:cNvSpPr/>
          <p:nvPr/>
        </p:nvSpPr>
        <p:spPr>
          <a:xfrm>
            <a:off x="566928" y="1325880"/>
            <a:ext cx="7863840" cy="310896"/>
          </a:xfrm>
          <a:prstGeom prst="rect">
            <a:avLst/>
          </a:prstGeom>
          <a:noFill/>
          <a:ln/>
        </p:spPr>
        <p:txBody>
          <a:bodyPr wrap="square" lIns="0" tIns="0" rIns="0" bIns="0" rtlCol="0" anchor="ctr"/>
          <a:lstStyle/>
          <a:p>
            <a:pPr indent="0" marL="0">
              <a:buNone/>
            </a:pPr>
            <a:r>
              <a:rPr lang="en-US" sz="1200" b="1" spc="260" kern="0" dirty="0">
                <a:solidFill>
                  <a:srgbClr val="0083C5"/>
                </a:solidFill>
                <a:latin typeface="Expert Sans" pitchFamily="34" charset="0"/>
                <a:ea typeface="Expert Sans" pitchFamily="34" charset="-122"/>
                <a:cs typeface="Expert Sans" pitchFamily="34" charset="-120"/>
              </a:rPr>
              <a:t>PROPOSITION BACKLOG RECOMMENDATION</a:t>
            </a:r>
            <a:endParaRPr lang="en-US" sz="1200" dirty="0"/>
          </a:p>
        </p:txBody>
      </p:sp>
      <p:sp>
        <p:nvSpPr>
          <p:cNvPr id="4" name="Text 2"/>
          <p:cNvSpPr/>
          <p:nvPr/>
        </p:nvSpPr>
        <p:spPr>
          <a:xfrm>
            <a:off x="566928" y="1783080"/>
            <a:ext cx="7680960" cy="1920240"/>
          </a:xfrm>
          <a:prstGeom prst="rect">
            <a:avLst/>
          </a:prstGeom>
          <a:noFill/>
          <a:ln/>
        </p:spPr>
        <p:txBody>
          <a:bodyPr wrap="square" lIns="0" tIns="0" rIns="0" bIns="0" rtlCol="0" anchor="t"/>
          <a:lstStyle/>
          <a:p>
            <a:pPr indent="0" marL="0">
              <a:lnSpc>
                <a:spcPts val="5400"/>
              </a:lnSpc>
              <a:buNone/>
            </a:pPr>
            <a:r>
              <a:rPr lang="en-US" sz="4800" dirty="0">
                <a:solidFill>
                  <a:srgbClr val="00AEEF"/>
                </a:solidFill>
                <a:latin typeface="Expert Sans" pitchFamily="34" charset="0"/>
                <a:ea typeface="Expert Sans" pitchFamily="34" charset="-122"/>
                <a:cs typeface="Expert Sans" pitchFamily="34" charset="-120"/>
              </a:rPr>
              <a:t>What do we build,</a:t>
            </a:r>
            <a:endParaRPr lang="en-US" sz="4800" dirty="0"/>
          </a:p>
          <a:p>
            <a:pPr indent="0" marL="0">
              <a:lnSpc>
                <a:spcPts val="5400"/>
              </a:lnSpc>
              <a:buNone/>
            </a:pPr>
            <a:r>
              <a:rPr lang="en-US" sz="4800" dirty="0">
                <a:solidFill>
                  <a:srgbClr val="00AEEF"/>
                </a:solidFill>
                <a:latin typeface="Expert Sans" pitchFamily="34" charset="0"/>
                <a:ea typeface="Expert Sans" pitchFamily="34" charset="-122"/>
                <a:cs typeface="Expert Sans" pitchFamily="34" charset="-120"/>
              </a:rPr>
              <a:t>and in what order?</a:t>
            </a:r>
            <a:endParaRPr lang="en-US" sz="4800" dirty="0"/>
          </a:p>
        </p:txBody>
      </p:sp>
      <p:sp>
        <p:nvSpPr>
          <p:cNvPr id="5" name="Text 3"/>
          <p:cNvSpPr/>
          <p:nvPr/>
        </p:nvSpPr>
        <p:spPr>
          <a:xfrm>
            <a:off x="566928" y="3794760"/>
            <a:ext cx="7863840" cy="365760"/>
          </a:xfrm>
          <a:prstGeom prst="rect">
            <a:avLst/>
          </a:prstGeom>
          <a:noFill/>
          <a:ln/>
        </p:spPr>
        <p:txBody>
          <a:bodyPr wrap="square" lIns="0" tIns="0" rIns="0" bIns="0" rtlCol="0" anchor="ctr"/>
          <a:lstStyle/>
          <a:p>
            <a:pPr indent="0" marL="0">
              <a:buNone/>
            </a:pPr>
            <a:r>
              <a:rPr lang="en-US" sz="1500" dirty="0">
                <a:solidFill>
                  <a:srgbClr val="00395D"/>
                </a:solidFill>
                <a:latin typeface="Expert Sans" pitchFamily="34" charset="0"/>
                <a:ea typeface="Expert Sans" pitchFamily="34" charset="-122"/>
                <a:cs typeface="Expert Sans" pitchFamily="34" charset="-120"/>
              </a:rPr>
              <a:t>A rule that sorts the backlog · this cycle's slate · a re-score cadence</a:t>
            </a:r>
            <a:endParaRPr lang="en-US" sz="1500" dirty="0"/>
          </a:p>
        </p:txBody>
      </p:sp>
      <p:sp>
        <p:nvSpPr>
          <p:cNvPr id="6" name="Text 4"/>
          <p:cNvSpPr/>
          <p:nvPr/>
        </p:nvSpPr>
        <p:spPr>
          <a:xfrm>
            <a:off x="566928" y="4251960"/>
            <a:ext cx="8412480" cy="365760"/>
          </a:xfrm>
          <a:prstGeom prst="rect">
            <a:avLst/>
          </a:prstGeom>
          <a:noFill/>
          <a:ln/>
        </p:spPr>
        <p:txBody>
          <a:bodyPr wrap="square" lIns="0" tIns="0" rIns="0" bIns="0" rtlCol="0" anchor="ctr"/>
          <a:lstStyle/>
          <a:p>
            <a:pPr indent="0" marL="0">
              <a:buNone/>
            </a:pPr>
            <a:r>
              <a:rPr lang="en-US" sz="1200" dirty="0">
                <a:solidFill>
                  <a:srgbClr val="6E7F8D"/>
                </a:solidFill>
                <a:latin typeface="Expert Sans" pitchFamily="34" charset="0"/>
                <a:ea typeface="Expert Sans" pitchFamily="34" charset="-122"/>
                <a:cs typeface="Expert Sans" pitchFamily="34" charset="-120"/>
              </a:rPr>
              <a:t>Worked example: exporting SMEs · all names and numbers are dummy values</a:t>
            </a:r>
            <a:endParaRPr lang="en-US" sz="1200" dirty="0"/>
          </a:p>
        </p:txBody>
      </p:sp>
      <p:sp>
        <p:nvSpPr>
          <p:cNvPr id="7" name="Text 5"/>
          <p:cNvSpPr/>
          <p:nvPr/>
        </p:nvSpPr>
        <p:spPr>
          <a:xfrm>
            <a:off x="566928" y="5989320"/>
            <a:ext cx="7315200" cy="365760"/>
          </a:xfrm>
          <a:prstGeom prst="rect">
            <a:avLst/>
          </a:prstGeom>
          <a:noFill/>
          <a:ln/>
        </p:spPr>
        <p:txBody>
          <a:bodyPr wrap="square" lIns="0" tIns="0" rIns="0" bIns="0" rtlCol="0" anchor="ctr"/>
          <a:lstStyle/>
          <a:p>
            <a:pPr indent="0" marL="0">
              <a:buNone/>
            </a:pPr>
            <a:r>
              <a:rPr lang="en-US" sz="1200" dirty="0">
                <a:solidFill>
                  <a:srgbClr val="6E7F8D"/>
                </a:solidFill>
                <a:latin typeface="Expert Sans" pitchFamily="34" charset="0"/>
                <a:ea typeface="Expert Sans" pitchFamily="34" charset="-122"/>
                <a:cs typeface="Expert Sans" pitchFamily="34" charset="-120"/>
              </a:rPr>
              <a:t>[Team / function]   ·   [Month Year]</a:t>
            </a:r>
            <a:endParaRPr lang="en-US" sz="1200" dirty="0"/>
          </a:p>
        </p:txBody>
      </p:sp>
      <p:sp>
        <p:nvSpPr>
          <p:cNvPr id="8" name="Shape 6"/>
          <p:cNvSpPr/>
          <p:nvPr/>
        </p:nvSpPr>
        <p:spPr>
          <a:xfrm>
            <a:off x="9441180" y="1965960"/>
            <a:ext cx="960120" cy="566928"/>
          </a:xfrm>
          <a:prstGeom prst="roundRect">
            <a:avLst>
              <a:gd name="adj" fmla="val 11290"/>
            </a:avLst>
          </a:prstGeom>
          <a:solidFill>
            <a:srgbClr val="00AEEF"/>
          </a:solidFill>
          <a:ln w="12700">
            <a:solidFill>
              <a:srgbClr val="333333"/>
            </a:solidFill>
            <a:prstDash val="solid"/>
          </a:ln>
        </p:spPr>
      </p:sp>
      <p:sp>
        <p:nvSpPr>
          <p:cNvPr id="9" name="Shape 7"/>
          <p:cNvSpPr/>
          <p:nvPr/>
        </p:nvSpPr>
        <p:spPr>
          <a:xfrm>
            <a:off x="8938260" y="2679192"/>
            <a:ext cx="1965960" cy="566928"/>
          </a:xfrm>
          <a:prstGeom prst="roundRect">
            <a:avLst>
              <a:gd name="adj" fmla="val 11290"/>
            </a:avLst>
          </a:prstGeom>
          <a:solidFill>
            <a:srgbClr val="00395D"/>
          </a:solidFill>
          <a:ln w="12700">
            <a:solidFill>
              <a:srgbClr val="333333"/>
            </a:solidFill>
            <a:prstDash val="solid"/>
          </a:ln>
        </p:spPr>
      </p:sp>
      <p:sp>
        <p:nvSpPr>
          <p:cNvPr id="10" name="Shape 8"/>
          <p:cNvSpPr/>
          <p:nvPr/>
        </p:nvSpPr>
        <p:spPr>
          <a:xfrm>
            <a:off x="8435340" y="3392424"/>
            <a:ext cx="2971800" cy="566928"/>
          </a:xfrm>
          <a:prstGeom prst="roundRect">
            <a:avLst>
              <a:gd name="adj" fmla="val 11290"/>
            </a:avLst>
          </a:prstGeom>
          <a:solidFill>
            <a:srgbClr val="D9EEF9"/>
          </a:solidFill>
          <a:ln w="12700">
            <a:solidFill>
              <a:srgbClr val="333333"/>
            </a:solidFill>
            <a:prstDash val="solid"/>
          </a:ln>
        </p:spPr>
      </p:sp>
      <p:sp>
        <p:nvSpPr>
          <p:cNvPr id="11" name="Text 9"/>
          <p:cNvSpPr/>
          <p:nvPr/>
        </p:nvSpPr>
        <p:spPr>
          <a:xfrm>
            <a:off x="7543800" y="4215384"/>
            <a:ext cx="4754880" cy="329184"/>
          </a:xfrm>
          <a:prstGeom prst="rect">
            <a:avLst/>
          </a:prstGeom>
          <a:noFill/>
          <a:ln/>
        </p:spPr>
        <p:txBody>
          <a:bodyPr wrap="square" lIns="0" tIns="0" rIns="0" bIns="0" rtlCol="0" anchor="ctr"/>
          <a:lstStyle/>
          <a:p>
            <a:pPr algn="ctr" indent="0" marL="0">
              <a:buNone/>
            </a:pPr>
            <a:r>
              <a:rPr lang="en-US" sz="1100" dirty="0">
                <a:solidFill>
                  <a:srgbClr val="6E7F8D"/>
                </a:solidFill>
                <a:latin typeface="Expert Sans" pitchFamily="34" charset="0"/>
                <a:ea typeface="Expert Sans" pitchFamily="34" charset="-122"/>
                <a:cs typeface="Expert Sans" pitchFamily="34" charset="-120"/>
              </a:rPr>
              <a:t>Answer  →  key line  →  support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0083C5"/>
                </a:solidFill>
                <a:latin typeface="Expert Sans" pitchFamily="34" charset="0"/>
                <a:ea typeface="Expert Sans" pitchFamily="34" charset="-122"/>
                <a:cs typeface="Expert Sans" pitchFamily="34" charset="-120"/>
              </a:rPr>
              <a:t>TEMPLATE GUIDE — DELETE BEFORE SENDING</a:t>
            </a:r>
            <a:endParaRPr lang="en-US" sz="1100" dirty="0"/>
          </a:p>
        </p:txBody>
      </p:sp>
      <p:sp>
        <p:nvSpPr>
          <p:cNvPr id="3" name="Text 1"/>
          <p:cNvSpPr/>
          <p:nvPr/>
        </p:nvSpPr>
        <p:spPr>
          <a:xfrm>
            <a:off x="566928" y="548640"/>
            <a:ext cx="9564624" cy="969264"/>
          </a:xfrm>
          <a:prstGeom prst="rect">
            <a:avLst/>
          </a:prstGeom>
          <a:noFill/>
          <a:ln/>
        </p:spPr>
        <p:txBody>
          <a:bodyPr wrap="square" lIns="0" tIns="0" rIns="0" bIns="0" rtlCol="0" anchor="t"/>
          <a:lstStyle/>
          <a:p>
            <a:pPr algn="l" indent="0" marL="0">
              <a:lnSpc>
                <a:spcPts val="3000"/>
              </a:lnSpc>
              <a:buNone/>
            </a:pPr>
            <a:r>
              <a:rPr lang="en-US" sz="2500" dirty="0">
                <a:solidFill>
                  <a:srgbClr val="00AEEF"/>
                </a:solidFill>
                <a:latin typeface="Expert Sans" pitchFamily="34" charset="0"/>
                <a:ea typeface="Expert Sans" pitchFamily="34" charset="-122"/>
                <a:cs typeface="Expert Sans" pitchFamily="34" charset="-120"/>
              </a:rPr>
              <a:t>How to use this deck</a:t>
            </a:r>
            <a:endParaRPr lang="en-US" sz="2500" dirty="0"/>
          </a:p>
        </p:txBody>
      </p:sp>
      <p:sp>
        <p:nvSpPr>
          <p:cNvPr id="4" name="Shape 2"/>
          <p:cNvSpPr/>
          <p:nvPr/>
        </p:nvSpPr>
        <p:spPr>
          <a:xfrm>
            <a:off x="566928" y="1481328"/>
            <a:ext cx="11027664" cy="1060704"/>
          </a:xfrm>
          <a:prstGeom prst="roundRect">
            <a:avLst>
              <a:gd name="adj" fmla="val 8621"/>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5" name="Shape 3"/>
          <p:cNvSpPr/>
          <p:nvPr/>
        </p:nvSpPr>
        <p:spPr>
          <a:xfrm>
            <a:off x="877824" y="1801368"/>
            <a:ext cx="420624" cy="420624"/>
          </a:xfrm>
          <a:prstGeom prst="ellipse">
            <a:avLst/>
          </a:prstGeom>
          <a:solidFill>
            <a:srgbClr val="00AEEF"/>
          </a:solidFill>
          <a:ln w="12700">
            <a:solidFill>
              <a:srgbClr val="00AEEF"/>
            </a:solidFill>
            <a:prstDash val="solid"/>
          </a:ln>
        </p:spPr>
      </p:sp>
      <p:sp>
        <p:nvSpPr>
          <p:cNvPr id="6" name="Text 4"/>
          <p:cNvSpPr/>
          <p:nvPr/>
        </p:nvSpPr>
        <p:spPr>
          <a:xfrm>
            <a:off x="877824" y="180136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Expert Sans" pitchFamily="34" charset="0"/>
                <a:ea typeface="Expert Sans" pitchFamily="34" charset="-122"/>
                <a:cs typeface="Expert Sans" pitchFamily="34" charset="-120"/>
              </a:rPr>
              <a:t>1</a:t>
            </a:r>
            <a:endParaRPr lang="en-US" sz="1600" dirty="0"/>
          </a:p>
        </p:txBody>
      </p:sp>
      <p:sp>
        <p:nvSpPr>
          <p:cNvPr id="7" name="Text 5"/>
          <p:cNvSpPr/>
          <p:nvPr/>
        </p:nvSpPr>
        <p:spPr>
          <a:xfrm>
            <a:off x="1527048" y="1627632"/>
            <a:ext cx="9656064" cy="347472"/>
          </a:xfrm>
          <a:prstGeom prst="rect">
            <a:avLst/>
          </a:prstGeom>
          <a:noFill/>
          <a:ln/>
        </p:spPr>
        <p:txBody>
          <a:bodyPr wrap="square" lIns="0" tIns="0" rIns="0" bIns="0" rtlCol="0" anchor="ctr"/>
          <a:lstStyle/>
          <a:p>
            <a:pPr indent="0" marL="0">
              <a:buNone/>
            </a:pPr>
            <a:r>
              <a:rPr lang="en-US" sz="1500" b="1" dirty="0">
                <a:solidFill>
                  <a:srgbClr val="00395D"/>
                </a:solidFill>
                <a:latin typeface="Expert Sans" pitchFamily="34" charset="0"/>
                <a:ea typeface="Expert Sans" pitchFamily="34" charset="-122"/>
                <a:cs typeface="Expert Sans" pitchFamily="34" charset="-120"/>
              </a:rPr>
              <a:t>Every name and number is a dummy value</a:t>
            </a:r>
            <a:endParaRPr lang="en-US" sz="1500" dirty="0"/>
          </a:p>
        </p:txBody>
      </p:sp>
      <p:sp>
        <p:nvSpPr>
          <p:cNvPr id="8" name="Text 6"/>
          <p:cNvSpPr/>
          <p:nvPr/>
        </p:nvSpPr>
        <p:spPr>
          <a:xfrm>
            <a:off x="1527048" y="1975104"/>
            <a:ext cx="9656064" cy="512064"/>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Expert Sans" pitchFamily="34" charset="0"/>
                <a:ea typeface="Expert Sans" pitchFamily="34" charset="-122"/>
                <a:cs typeface="Expert Sans" pitchFamily="34" charset="-120"/>
              </a:rPr>
              <a:t>Exporting SMEs, 'Trade Ready', FX, the scores and the returns are a worked example. Replace all of them with your client's own.</a:t>
            </a:r>
            <a:endParaRPr lang="en-US" sz="1200" dirty="0"/>
          </a:p>
        </p:txBody>
      </p:sp>
      <p:sp>
        <p:nvSpPr>
          <p:cNvPr id="9" name="Shape 7"/>
          <p:cNvSpPr/>
          <p:nvPr/>
        </p:nvSpPr>
        <p:spPr>
          <a:xfrm>
            <a:off x="566928" y="2688336"/>
            <a:ext cx="11027664" cy="1060704"/>
          </a:xfrm>
          <a:prstGeom prst="roundRect">
            <a:avLst>
              <a:gd name="adj" fmla="val 8621"/>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0" name="Shape 8"/>
          <p:cNvSpPr/>
          <p:nvPr/>
        </p:nvSpPr>
        <p:spPr>
          <a:xfrm>
            <a:off x="877824" y="3008376"/>
            <a:ext cx="420624" cy="420624"/>
          </a:xfrm>
          <a:prstGeom prst="ellipse">
            <a:avLst/>
          </a:prstGeom>
          <a:solidFill>
            <a:srgbClr val="00AEEF"/>
          </a:solidFill>
          <a:ln w="12700">
            <a:solidFill>
              <a:srgbClr val="00AEEF"/>
            </a:solidFill>
            <a:prstDash val="solid"/>
          </a:ln>
        </p:spPr>
      </p:sp>
      <p:sp>
        <p:nvSpPr>
          <p:cNvPr id="11" name="Text 9"/>
          <p:cNvSpPr/>
          <p:nvPr/>
        </p:nvSpPr>
        <p:spPr>
          <a:xfrm>
            <a:off x="877824" y="3008376"/>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Expert Sans" pitchFamily="34" charset="0"/>
                <a:ea typeface="Expert Sans" pitchFamily="34" charset="-122"/>
                <a:cs typeface="Expert Sans" pitchFamily="34" charset="-120"/>
              </a:rPr>
              <a:t>2</a:t>
            </a:r>
            <a:endParaRPr lang="en-US" sz="1600" dirty="0"/>
          </a:p>
        </p:txBody>
      </p:sp>
      <p:sp>
        <p:nvSpPr>
          <p:cNvPr id="12" name="Text 10"/>
          <p:cNvSpPr/>
          <p:nvPr/>
        </p:nvSpPr>
        <p:spPr>
          <a:xfrm>
            <a:off x="1527048" y="2834640"/>
            <a:ext cx="9656064" cy="347472"/>
          </a:xfrm>
          <a:prstGeom prst="rect">
            <a:avLst/>
          </a:prstGeom>
          <a:noFill/>
          <a:ln/>
        </p:spPr>
        <p:txBody>
          <a:bodyPr wrap="square" lIns="0" tIns="0" rIns="0" bIns="0" rtlCol="0" anchor="ctr"/>
          <a:lstStyle/>
          <a:p>
            <a:pPr indent="0" marL="0">
              <a:buNone/>
            </a:pPr>
            <a:r>
              <a:rPr lang="en-US" sz="1500" b="1" dirty="0">
                <a:solidFill>
                  <a:srgbClr val="00395D"/>
                </a:solidFill>
                <a:latin typeface="Expert Sans" pitchFamily="34" charset="0"/>
                <a:ea typeface="Expert Sans" pitchFamily="34" charset="-122"/>
                <a:cs typeface="Expert Sans" pitchFamily="34" charset="-120"/>
              </a:rPr>
              <a:t>The answer is a rule plus this cycle's slate</a:t>
            </a:r>
            <a:endParaRPr lang="en-US" sz="1500" dirty="0"/>
          </a:p>
        </p:txBody>
      </p:sp>
      <p:sp>
        <p:nvSpPr>
          <p:cNvPr id="13" name="Text 11"/>
          <p:cNvSpPr/>
          <p:nvPr/>
        </p:nvSpPr>
        <p:spPr>
          <a:xfrm>
            <a:off x="1527048" y="3182112"/>
            <a:ext cx="9656064" cy="512064"/>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Expert Sans" pitchFamily="34" charset="0"/>
                <a:ea typeface="Expert Sans" pitchFamily="34" charset="-122"/>
                <a:cs typeface="Expert Sans" pitchFamily="34" charset="-120"/>
              </a:rPr>
              <a:t>The client approves the sorting rule AND the first output. That is what makes the backlog durable: next cycle re-runs the rule, not the argument.</a:t>
            </a:r>
            <a:endParaRPr lang="en-US" sz="1200" dirty="0"/>
          </a:p>
        </p:txBody>
      </p:sp>
      <p:sp>
        <p:nvSpPr>
          <p:cNvPr id="14" name="Shape 12"/>
          <p:cNvSpPr/>
          <p:nvPr/>
        </p:nvSpPr>
        <p:spPr>
          <a:xfrm>
            <a:off x="566928" y="3895344"/>
            <a:ext cx="11027664" cy="1060704"/>
          </a:xfrm>
          <a:prstGeom prst="roundRect">
            <a:avLst>
              <a:gd name="adj" fmla="val 8621"/>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5" name="Shape 13"/>
          <p:cNvSpPr/>
          <p:nvPr/>
        </p:nvSpPr>
        <p:spPr>
          <a:xfrm>
            <a:off x="877824" y="4215384"/>
            <a:ext cx="420624" cy="420624"/>
          </a:xfrm>
          <a:prstGeom prst="ellipse">
            <a:avLst/>
          </a:prstGeom>
          <a:solidFill>
            <a:srgbClr val="00AEEF"/>
          </a:solidFill>
          <a:ln w="12700">
            <a:solidFill>
              <a:srgbClr val="00AEEF"/>
            </a:solidFill>
            <a:prstDash val="solid"/>
          </a:ln>
        </p:spPr>
      </p:sp>
      <p:sp>
        <p:nvSpPr>
          <p:cNvPr id="16" name="Text 14"/>
          <p:cNvSpPr/>
          <p:nvPr/>
        </p:nvSpPr>
        <p:spPr>
          <a:xfrm>
            <a:off x="877824" y="4215384"/>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Expert Sans" pitchFamily="34" charset="0"/>
                <a:ea typeface="Expert Sans" pitchFamily="34" charset="-122"/>
                <a:cs typeface="Expert Sans" pitchFamily="34" charset="-120"/>
              </a:rPr>
              <a:t>3</a:t>
            </a:r>
            <a:endParaRPr lang="en-US" sz="1600" dirty="0"/>
          </a:p>
        </p:txBody>
      </p:sp>
      <p:sp>
        <p:nvSpPr>
          <p:cNvPr id="17" name="Text 15"/>
          <p:cNvSpPr/>
          <p:nvPr/>
        </p:nvSpPr>
        <p:spPr>
          <a:xfrm>
            <a:off x="1527048" y="4041648"/>
            <a:ext cx="9656064" cy="347472"/>
          </a:xfrm>
          <a:prstGeom prst="rect">
            <a:avLst/>
          </a:prstGeom>
          <a:noFill/>
          <a:ln/>
        </p:spPr>
        <p:txBody>
          <a:bodyPr wrap="square" lIns="0" tIns="0" rIns="0" bIns="0" rtlCol="0" anchor="ctr"/>
          <a:lstStyle/>
          <a:p>
            <a:pPr indent="0" marL="0">
              <a:buNone/>
            </a:pPr>
            <a:r>
              <a:rPr lang="en-US" sz="1500" b="1" dirty="0">
                <a:solidFill>
                  <a:srgbClr val="00395D"/>
                </a:solidFill>
                <a:latin typeface="Expert Sans" pitchFamily="34" charset="0"/>
                <a:ea typeface="Expert Sans" pitchFamily="34" charset="-122"/>
                <a:cs typeface="Expert Sans" pitchFamily="34" charset="-120"/>
              </a:rPr>
              <a:t>The sort key is return per build slot, not raw NPV</a:t>
            </a:r>
            <a:endParaRPr lang="en-US" sz="1500" dirty="0"/>
          </a:p>
        </p:txBody>
      </p:sp>
      <p:sp>
        <p:nvSpPr>
          <p:cNvPr id="18" name="Text 16"/>
          <p:cNvSpPr/>
          <p:nvPr/>
        </p:nvSpPr>
        <p:spPr>
          <a:xfrm>
            <a:off x="1527048" y="4389120"/>
            <a:ext cx="9656064" cy="512064"/>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Expert Sans" pitchFamily="34" charset="0"/>
                <a:ea typeface="Expert Sans" pitchFamily="34" charset="-122"/>
                <a:cs typeface="Expert Sans" pitchFamily="34" charset="-120"/>
              </a:rPr>
              <a:t>Capacity is the scarce thing. A big feature that eats two slots can lose to two small ones. The worked example shows exactly this: insurance beats invoice finance on raw NPV and still sorts below it.</a:t>
            </a:r>
            <a:endParaRPr lang="en-US" sz="1200" dirty="0"/>
          </a:p>
        </p:txBody>
      </p:sp>
      <p:sp>
        <p:nvSpPr>
          <p:cNvPr id="19" name="Shape 17"/>
          <p:cNvSpPr/>
          <p:nvPr/>
        </p:nvSpPr>
        <p:spPr>
          <a:xfrm>
            <a:off x="566928" y="5102352"/>
            <a:ext cx="11027664" cy="1060704"/>
          </a:xfrm>
          <a:prstGeom prst="roundRect">
            <a:avLst>
              <a:gd name="adj" fmla="val 8621"/>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20" name="Shape 18"/>
          <p:cNvSpPr/>
          <p:nvPr/>
        </p:nvSpPr>
        <p:spPr>
          <a:xfrm>
            <a:off x="877824" y="5422392"/>
            <a:ext cx="420624" cy="420624"/>
          </a:xfrm>
          <a:prstGeom prst="ellipse">
            <a:avLst/>
          </a:prstGeom>
          <a:solidFill>
            <a:srgbClr val="00AEEF"/>
          </a:solidFill>
          <a:ln w="12700">
            <a:solidFill>
              <a:srgbClr val="00AEEF"/>
            </a:solidFill>
            <a:prstDash val="solid"/>
          </a:ln>
        </p:spPr>
      </p:sp>
      <p:sp>
        <p:nvSpPr>
          <p:cNvPr id="21" name="Text 19"/>
          <p:cNvSpPr/>
          <p:nvPr/>
        </p:nvSpPr>
        <p:spPr>
          <a:xfrm>
            <a:off x="877824" y="5422392"/>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Expert Sans" pitchFamily="34" charset="0"/>
                <a:ea typeface="Expert Sans" pitchFamily="34" charset="-122"/>
                <a:cs typeface="Expert Sans" pitchFamily="34" charset="-120"/>
              </a:rPr>
              <a:t>4</a:t>
            </a:r>
            <a:endParaRPr lang="en-US" sz="1600" dirty="0"/>
          </a:p>
        </p:txBody>
      </p:sp>
      <p:sp>
        <p:nvSpPr>
          <p:cNvPr id="22" name="Text 20"/>
          <p:cNvSpPr/>
          <p:nvPr/>
        </p:nvSpPr>
        <p:spPr>
          <a:xfrm>
            <a:off x="1527048" y="5248656"/>
            <a:ext cx="9656064" cy="347472"/>
          </a:xfrm>
          <a:prstGeom prst="rect">
            <a:avLst/>
          </a:prstGeom>
          <a:noFill/>
          <a:ln/>
        </p:spPr>
        <p:txBody>
          <a:bodyPr wrap="square" lIns="0" tIns="0" rIns="0" bIns="0" rtlCol="0" anchor="ctr"/>
          <a:lstStyle/>
          <a:p>
            <a:pPr indent="0" marL="0">
              <a:buNone/>
            </a:pPr>
            <a:r>
              <a:rPr lang="en-US" sz="1500" b="1" dirty="0">
                <a:solidFill>
                  <a:srgbClr val="00395D"/>
                </a:solidFill>
                <a:latin typeface="Expert Sans" pitchFamily="34" charset="0"/>
                <a:ea typeface="Expert Sans" pitchFamily="34" charset="-122"/>
                <a:cs typeface="Expert Sans" pitchFamily="34" charset="-120"/>
              </a:rPr>
              <a:t>Demand gates admission; nothing buys a queue place</a:t>
            </a:r>
            <a:endParaRPr lang="en-US" sz="1500" dirty="0"/>
          </a:p>
        </p:txBody>
      </p:sp>
      <p:sp>
        <p:nvSpPr>
          <p:cNvPr id="23" name="Text 21"/>
          <p:cNvSpPr/>
          <p:nvPr/>
        </p:nvSpPr>
        <p:spPr>
          <a:xfrm>
            <a:off x="1527048" y="5596128"/>
            <a:ext cx="9656064" cy="512064"/>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Expert Sans" pitchFamily="34" charset="0"/>
                <a:ea typeface="Expert Sans" pitchFamily="34" charset="-122"/>
                <a:cs typeface="Expert Sans" pitchFamily="34" charset="-120"/>
              </a:rPr>
              <a:t>A feature below the demand gate never gets priced. This protects the backlog from model optimism dressed as ambition.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0083C5"/>
                </a:solidFill>
                <a:latin typeface="Expert Sans" pitchFamily="34" charset="0"/>
                <a:ea typeface="Expert Sans" pitchFamily="34" charset="-122"/>
                <a:cs typeface="Expert Sans" pitchFamily="34" charset="-120"/>
              </a:rPr>
              <a:t>FOR COPILOT — DELETE BEFORE SENDING</a:t>
            </a:r>
            <a:endParaRPr lang="en-US" sz="1100" dirty="0"/>
          </a:p>
        </p:txBody>
      </p:sp>
      <p:sp>
        <p:nvSpPr>
          <p:cNvPr id="3" name="Text 1"/>
          <p:cNvSpPr/>
          <p:nvPr/>
        </p:nvSpPr>
        <p:spPr>
          <a:xfrm>
            <a:off x="566928" y="548640"/>
            <a:ext cx="9564624" cy="969264"/>
          </a:xfrm>
          <a:prstGeom prst="rect">
            <a:avLst/>
          </a:prstGeom>
          <a:noFill/>
          <a:ln/>
        </p:spPr>
        <p:txBody>
          <a:bodyPr wrap="square" lIns="0" tIns="0" rIns="0" bIns="0" rtlCol="0" anchor="t"/>
          <a:lstStyle/>
          <a:p>
            <a:pPr algn="l" indent="0" marL="0">
              <a:lnSpc>
                <a:spcPts val="3000"/>
              </a:lnSpc>
              <a:buNone/>
            </a:pPr>
            <a:r>
              <a:rPr lang="en-US" sz="2400" dirty="0">
                <a:solidFill>
                  <a:srgbClr val="00AEEF"/>
                </a:solidFill>
                <a:latin typeface="Expert Sans" pitchFamily="34" charset="0"/>
                <a:ea typeface="Expert Sans" pitchFamily="34" charset="-122"/>
                <a:cs typeface="Expert Sans" pitchFamily="34" charset="-120"/>
              </a:rPr>
              <a:t>Copilot: how to insert client data and apply the brand</a:t>
            </a:r>
            <a:endParaRPr lang="en-US" sz="2400" dirty="0"/>
          </a:p>
        </p:txBody>
      </p:sp>
      <p:sp>
        <p:nvSpPr>
          <p:cNvPr id="4" name="Shape 2"/>
          <p:cNvSpPr/>
          <p:nvPr/>
        </p:nvSpPr>
        <p:spPr>
          <a:xfrm>
            <a:off x="566928" y="1481328"/>
            <a:ext cx="5440680" cy="4160520"/>
          </a:xfrm>
          <a:prstGeom prst="roundRect">
            <a:avLst>
              <a:gd name="adj" fmla="val 2198"/>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5" name="Text 3"/>
          <p:cNvSpPr/>
          <p:nvPr/>
        </p:nvSpPr>
        <p:spPr>
          <a:xfrm>
            <a:off x="859536" y="1645920"/>
            <a:ext cx="4846320" cy="310896"/>
          </a:xfrm>
          <a:prstGeom prst="rect">
            <a:avLst/>
          </a:prstGeom>
          <a:noFill/>
          <a:ln/>
        </p:spPr>
        <p:txBody>
          <a:bodyPr wrap="square" lIns="0" tIns="0" rIns="0" bIns="0" rtlCol="0" anchor="ctr"/>
          <a:lstStyle/>
          <a:p>
            <a:pPr indent="0" marL="0">
              <a:buNone/>
            </a:pPr>
            <a:r>
              <a:rPr lang="en-US" sz="1250" b="1" dirty="0">
                <a:solidFill>
                  <a:srgbClr val="00395D"/>
                </a:solidFill>
                <a:latin typeface="Expert Sans" pitchFamily="34" charset="0"/>
                <a:ea typeface="Expert Sans" pitchFamily="34" charset="-122"/>
                <a:cs typeface="Expert Sans" pitchFamily="34" charset="-120"/>
              </a:rPr>
              <a:t>A — Replace the example data</a:t>
            </a:r>
            <a:endParaRPr lang="en-US" sz="1250" dirty="0"/>
          </a:p>
        </p:txBody>
      </p:sp>
      <p:sp>
        <p:nvSpPr>
          <p:cNvPr id="6" name="Text 4"/>
          <p:cNvSpPr/>
          <p:nvPr/>
        </p:nvSpPr>
        <p:spPr>
          <a:xfrm>
            <a:off x="859536" y="1993392"/>
            <a:ext cx="4892040" cy="3520440"/>
          </a:xfrm>
          <a:prstGeom prst="rect">
            <a:avLst/>
          </a:prstGeom>
          <a:noFill/>
          <a:ln/>
        </p:spPr>
        <p:txBody>
          <a:bodyPr wrap="square" lIns="0" tIns="0" rIns="0" bIns="0" rtlCol="0" anchor="t"/>
          <a:lstStyle/>
          <a:p>
            <a:pPr indent="0" marL="0">
              <a:lnSpc>
                <a:spcPts val="1400"/>
              </a:lnSpc>
              <a:spcAft>
                <a:spcPts val="800"/>
              </a:spcAft>
              <a:buNone/>
            </a:pPr>
            <a:r>
              <a:rPr lang="en-US" sz="1050" b="1" dirty="0">
                <a:solidFill>
                  <a:srgbClr val="0083C5"/>
                </a:solidFill>
                <a:latin typeface="Expert Sans" pitchFamily="34" charset="0"/>
                <a:ea typeface="Expert Sans" pitchFamily="34" charset="-122"/>
                <a:cs typeface="Expert Sans" pitchFamily="34" charset="-120"/>
              </a:rPr>
              <a:t>1. </a:t>
            </a:r>
            <a:pPr indent="0" marL="0">
              <a:lnSpc>
                <a:spcPts val="1400"/>
              </a:lnSpc>
              <a:spcAft>
                <a:spcPts val="800"/>
              </a:spcAft>
              <a:buNone/>
            </a:pPr>
            <a:r>
              <a:rPr lang="en-US" sz="1050" dirty="0">
                <a:solidFill>
                  <a:srgbClr val="3F5563"/>
                </a:solidFill>
                <a:latin typeface="Expert Sans" pitchFamily="34" charset="0"/>
                <a:ea typeface="Expert Sans" pitchFamily="34" charset="-122"/>
                <a:cs typeface="Expert Sans" pitchFamily="34" charset="-120"/>
              </a:rPr>
              <a:t>Replace every example value: segment, the five features, demand scores, returns, slots, partner, the wrapper name, dates and owners. The method pages (23–26) state which analysis produces each number and which slides it feeds.</a:t>
            </a:r>
            <a:endParaRPr lang="en-US" sz="1050" dirty="0"/>
          </a:p>
          <a:p>
            <a:pPr indent="0" marL="0">
              <a:lnSpc>
                <a:spcPts val="1400"/>
              </a:lnSpc>
              <a:spcAft>
                <a:spcPts val="800"/>
              </a:spcAft>
              <a:buNone/>
            </a:pPr>
            <a:r>
              <a:rPr lang="en-US" sz="1050" b="1" dirty="0">
                <a:solidFill>
                  <a:srgbClr val="0083C5"/>
                </a:solidFill>
                <a:latin typeface="Expert Sans" pitchFamily="34" charset="0"/>
                <a:ea typeface="Expert Sans" pitchFamily="34" charset="-122"/>
                <a:cs typeface="Expert Sans" pitchFamily="34" charset="-120"/>
              </a:rPr>
              <a:t>2. </a:t>
            </a:r>
            <a:pPr indent="0" marL="0">
              <a:lnSpc>
                <a:spcPts val="1400"/>
              </a:lnSpc>
              <a:spcAft>
                <a:spcPts val="800"/>
              </a:spcAft>
              <a:buNone/>
            </a:pPr>
            <a:r>
              <a:rPr lang="en-US" sz="1050" dirty="0">
                <a:solidFill>
                  <a:srgbClr val="3F5563"/>
                </a:solidFill>
                <a:latin typeface="Expert Sans" pitchFamily="34" charset="0"/>
                <a:ea typeface="Expert Sans" pitchFamily="34" charset="-122"/>
                <a:cs typeface="Expert Sans" pitchFamily="34" charset="-120"/>
              </a:rPr>
              <a:t>Numbers must reconcile across slides. Check: bridge total (13) = the earnings in the governing thought (4) · per-slot returns (12) = risk-adjusted NPV (15) ÷ slots · demand scores identical on 6 and 8 · statuses on 6 match sections 01–03. If one changes, change all.</a:t>
            </a:r>
            <a:endParaRPr lang="en-US" sz="1050" dirty="0"/>
          </a:p>
          <a:p>
            <a:pPr indent="0" marL="0">
              <a:lnSpc>
                <a:spcPts val="1400"/>
              </a:lnSpc>
              <a:spcAft>
                <a:spcPts val="800"/>
              </a:spcAft>
              <a:buNone/>
            </a:pPr>
            <a:r>
              <a:rPr lang="en-US" sz="1050" b="1" dirty="0">
                <a:solidFill>
                  <a:srgbClr val="0083C5"/>
                </a:solidFill>
                <a:latin typeface="Expert Sans" pitchFamily="34" charset="0"/>
                <a:ea typeface="Expert Sans" pitchFamily="34" charset="-122"/>
                <a:cs typeface="Expert Sans" pitchFamily="34" charset="-120"/>
              </a:rPr>
              <a:t>3. </a:t>
            </a:r>
            <a:pPr indent="0" marL="0">
              <a:lnSpc>
                <a:spcPts val="1400"/>
              </a:lnSpc>
              <a:spcAft>
                <a:spcPts val="800"/>
              </a:spcAft>
              <a:buNone/>
            </a:pPr>
            <a:r>
              <a:rPr lang="en-US" sz="1050" dirty="0">
                <a:solidFill>
                  <a:srgbClr val="3F5563"/>
                </a:solidFill>
                <a:latin typeface="Expert Sans" pitchFamily="34" charset="0"/>
                <a:ea typeface="Expert Sans" pitchFamily="34" charset="-122"/>
                <a:cs typeface="Expert Sans" pitchFamily="34" charset="-120"/>
              </a:rPr>
              <a:t>Rewrite every headline as a claim about the client's answer. If a headline still fits after the answer changed, it was a label — rewrite it.</a:t>
            </a:r>
            <a:endParaRPr lang="en-US" sz="1050" dirty="0"/>
          </a:p>
          <a:p>
            <a:pPr indent="0" marL="0">
              <a:lnSpc>
                <a:spcPts val="1400"/>
              </a:lnSpc>
              <a:spcAft>
                <a:spcPts val="800"/>
              </a:spcAft>
              <a:buNone/>
            </a:pPr>
            <a:r>
              <a:rPr lang="en-US" sz="1050" b="1" dirty="0">
                <a:solidFill>
                  <a:srgbClr val="0083C5"/>
                </a:solidFill>
                <a:latin typeface="Expert Sans" pitchFamily="34" charset="0"/>
                <a:ea typeface="Expert Sans" pitchFamily="34" charset="-122"/>
                <a:cs typeface="Expert Sans" pitchFamily="34" charset="-120"/>
              </a:rPr>
              <a:t>4. </a:t>
            </a:r>
            <a:pPr indent="0" marL="0">
              <a:lnSpc>
                <a:spcPts val="1400"/>
              </a:lnSpc>
              <a:spcAft>
                <a:spcPts val="800"/>
              </a:spcAft>
              <a:buNone/>
            </a:pPr>
            <a:r>
              <a:rPr lang="en-US" sz="1050" dirty="0">
                <a:solidFill>
                  <a:srgbClr val="3F5563"/>
                </a:solidFill>
                <a:latin typeface="Expert Sans" pitchFamily="34" charset="0"/>
                <a:ea typeface="Expert Sans" pitchFamily="34" charset="-122"/>
                <a:cs typeface="Expert Sans" pitchFamily="34" charset="-120"/>
              </a:rPr>
              <a:t>Do not add, remove or reorder slides. Do not move content between sections. Do not invent data — ask for any missing input.</a:t>
            </a:r>
            <a:endParaRPr lang="en-US" sz="1050" dirty="0"/>
          </a:p>
        </p:txBody>
      </p:sp>
      <p:sp>
        <p:nvSpPr>
          <p:cNvPr id="7" name="Shape 5"/>
          <p:cNvSpPr/>
          <p:nvPr/>
        </p:nvSpPr>
        <p:spPr>
          <a:xfrm>
            <a:off x="6281928" y="1481328"/>
            <a:ext cx="5312664" cy="4160520"/>
          </a:xfrm>
          <a:prstGeom prst="roundRect">
            <a:avLst>
              <a:gd name="adj" fmla="val 2198"/>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8" name="Text 6"/>
          <p:cNvSpPr/>
          <p:nvPr/>
        </p:nvSpPr>
        <p:spPr>
          <a:xfrm>
            <a:off x="6574536" y="1645920"/>
            <a:ext cx="4846320" cy="310896"/>
          </a:xfrm>
          <a:prstGeom prst="rect">
            <a:avLst/>
          </a:prstGeom>
          <a:noFill/>
          <a:ln/>
        </p:spPr>
        <p:txBody>
          <a:bodyPr wrap="square" lIns="0" tIns="0" rIns="0" bIns="0" rtlCol="0" anchor="ctr"/>
          <a:lstStyle/>
          <a:p>
            <a:pPr indent="0" marL="0">
              <a:buNone/>
            </a:pPr>
            <a:r>
              <a:rPr lang="en-US" sz="1250" b="1" dirty="0">
                <a:solidFill>
                  <a:srgbClr val="00395D"/>
                </a:solidFill>
                <a:latin typeface="Expert Sans" pitchFamily="34" charset="0"/>
                <a:ea typeface="Expert Sans" pitchFamily="34" charset="-122"/>
                <a:cs typeface="Expert Sans" pitchFamily="34" charset="-120"/>
              </a:rPr>
              <a:t>B — Apply the client brand</a:t>
            </a:r>
            <a:endParaRPr lang="en-US" sz="1250" dirty="0"/>
          </a:p>
        </p:txBody>
      </p:sp>
      <p:sp>
        <p:nvSpPr>
          <p:cNvPr id="9" name="Text 7"/>
          <p:cNvSpPr/>
          <p:nvPr/>
        </p:nvSpPr>
        <p:spPr>
          <a:xfrm>
            <a:off x="6574536" y="1993392"/>
            <a:ext cx="4764024" cy="3520440"/>
          </a:xfrm>
          <a:prstGeom prst="rect">
            <a:avLst/>
          </a:prstGeom>
          <a:noFill/>
          <a:ln/>
        </p:spPr>
        <p:txBody>
          <a:bodyPr wrap="square" lIns="0" tIns="0" rIns="0" bIns="0" rtlCol="0" anchor="t"/>
          <a:lstStyle/>
          <a:p>
            <a:pPr indent="0" marL="0">
              <a:lnSpc>
                <a:spcPts val="1400"/>
              </a:lnSpc>
              <a:spcAft>
                <a:spcPts val="800"/>
              </a:spcAft>
              <a:buNone/>
            </a:pPr>
            <a:r>
              <a:rPr lang="en-US" sz="1050" b="1" dirty="0">
                <a:solidFill>
                  <a:srgbClr val="0083C5"/>
                </a:solidFill>
                <a:latin typeface="Expert Sans" pitchFamily="34" charset="0"/>
                <a:ea typeface="Expert Sans" pitchFamily="34" charset="-122"/>
                <a:cs typeface="Expert Sans" pitchFamily="34" charset="-120"/>
              </a:rPr>
              <a:t>5. </a:t>
            </a:r>
            <a:pPr indent="0" marL="0">
              <a:lnSpc>
                <a:spcPts val="1400"/>
              </a:lnSpc>
              <a:spcAft>
                <a:spcPts val="800"/>
              </a:spcAft>
              <a:buNone/>
            </a:pPr>
            <a:r>
              <a:rPr lang="en-US" sz="1050" dirty="0">
                <a:solidFill>
                  <a:srgbClr val="3F5563"/>
                </a:solidFill>
                <a:latin typeface="Expert Sans" pitchFamily="34" charset="0"/>
                <a:ea typeface="Expert Sans" pitchFamily="34" charset="-122"/>
                <a:cs typeface="Expert Sans" pitchFamily="34" charset="-120"/>
              </a:rPr>
              <a:t>Apply the client's template through the slide master (Design → theme). Do not restyle shapes one by one, and do not redesign layouts.</a:t>
            </a:r>
            <a:endParaRPr lang="en-US" sz="1050" dirty="0"/>
          </a:p>
          <a:p>
            <a:pPr indent="0" marL="0">
              <a:lnSpc>
                <a:spcPts val="1400"/>
              </a:lnSpc>
              <a:spcAft>
                <a:spcPts val="800"/>
              </a:spcAft>
              <a:buNone/>
            </a:pPr>
            <a:r>
              <a:rPr lang="en-US" sz="1050" b="1" dirty="0">
                <a:solidFill>
                  <a:srgbClr val="0083C5"/>
                </a:solidFill>
                <a:latin typeface="Expert Sans" pitchFamily="34" charset="0"/>
                <a:ea typeface="Expert Sans" pitchFamily="34" charset="-122"/>
                <a:cs typeface="Expert Sans" pitchFamily="34" charset="-120"/>
              </a:rPr>
              <a:t>6. </a:t>
            </a:r>
            <a:pPr indent="0" marL="0">
              <a:lnSpc>
                <a:spcPts val="1400"/>
              </a:lnSpc>
              <a:spcAft>
                <a:spcPts val="800"/>
              </a:spcAft>
              <a:buNone/>
            </a:pPr>
            <a:r>
              <a:rPr lang="en-US" sz="1050" dirty="0">
                <a:solidFill>
                  <a:srgbClr val="3F5563"/>
                </a:solidFill>
                <a:latin typeface="Expert Sans" pitchFamily="34" charset="0"/>
                <a:ea typeface="Expert Sans" pitchFamily="34" charset="-122"/>
                <a:cs typeface="Expert Sans" pitchFamily="34" charset="-120"/>
              </a:rPr>
              <a:t>This build already carries the Barclays IR palette (from the Q1 2026 results deck): cyan 00AEEF = titles, accents, chart highlight · navy 00395D = data colour, panel headers, dark cells · pale blue D9EEF9 = cards · grey BFBFBF = comparisons and negatives. Do not remap these.</a:t>
            </a:r>
            <a:endParaRPr lang="en-US" sz="1050" dirty="0"/>
          </a:p>
          <a:p>
            <a:pPr indent="0" marL="0">
              <a:lnSpc>
                <a:spcPts val="1400"/>
              </a:lnSpc>
              <a:spcAft>
                <a:spcPts val="800"/>
              </a:spcAft>
              <a:buNone/>
            </a:pPr>
            <a:r>
              <a:rPr lang="en-US" sz="1050" b="1" dirty="0">
                <a:solidFill>
                  <a:srgbClr val="0083C5"/>
                </a:solidFill>
                <a:latin typeface="Expert Sans" pitchFamily="34" charset="0"/>
                <a:ea typeface="Expert Sans" pitchFamily="34" charset="-122"/>
                <a:cs typeface="Expert Sans" pitchFamily="34" charset="-120"/>
              </a:rPr>
              <a:t>7. </a:t>
            </a:r>
            <a:pPr indent="0" marL="0">
              <a:lnSpc>
                <a:spcPts val="1400"/>
              </a:lnSpc>
              <a:spcAft>
                <a:spcPts val="800"/>
              </a:spcAft>
              <a:buNone/>
            </a:pPr>
            <a:r>
              <a:rPr lang="en-US" sz="1050" dirty="0">
                <a:solidFill>
                  <a:srgbClr val="3F5563"/>
                </a:solidFill>
                <a:latin typeface="Expert Sans" pitchFamily="34" charset="0"/>
                <a:ea typeface="Expert Sans" pitchFamily="34" charset="-122"/>
                <a:cs typeface="Expert Sans" pitchFamily="34" charset="-120"/>
              </a:rPr>
              <a:t>Fonts: Expert Sans throughout (the Barclays corporate font). If a machine lacks it, accept the substitution — do not switch fonts manually.</a:t>
            </a:r>
            <a:endParaRPr lang="en-US" sz="1050" dirty="0"/>
          </a:p>
          <a:p>
            <a:pPr indent="0" marL="0">
              <a:lnSpc>
                <a:spcPts val="1400"/>
              </a:lnSpc>
              <a:spcAft>
                <a:spcPts val="800"/>
              </a:spcAft>
              <a:buNone/>
            </a:pPr>
            <a:r>
              <a:rPr lang="en-US" sz="1050" b="1" dirty="0">
                <a:solidFill>
                  <a:srgbClr val="0083C5"/>
                </a:solidFill>
                <a:latin typeface="Expert Sans" pitchFamily="34" charset="0"/>
                <a:ea typeface="Expert Sans" pitchFamily="34" charset="-122"/>
                <a:cs typeface="Expert Sans" pitchFamily="34" charset="-120"/>
              </a:rPr>
              <a:t>8. </a:t>
            </a:r>
            <a:pPr indent="0" marL="0">
              <a:lnSpc>
                <a:spcPts val="1400"/>
              </a:lnSpc>
              <a:spcAft>
                <a:spcPts val="800"/>
              </a:spcAft>
              <a:buNone/>
            </a:pPr>
            <a:r>
              <a:rPr lang="en-US" sz="1050" dirty="0">
                <a:solidFill>
                  <a:srgbClr val="3F5563"/>
                </a:solidFill>
                <a:latin typeface="Expert Sans" pitchFamily="34" charset="0"/>
                <a:ea typeface="Expert Sans" pitchFamily="34" charset="-122"/>
                <a:cs typeface="Expert Sans" pitchFamily="34" charset="-120"/>
              </a:rPr>
              <a:t>Never restyle: PASS green / FAIL red, and the one-highlight rule (one accent element per exhibit).</a:t>
            </a:r>
            <a:endParaRPr lang="en-US" sz="1050" dirty="0"/>
          </a:p>
          <a:p>
            <a:pPr indent="0" marL="0">
              <a:lnSpc>
                <a:spcPts val="1400"/>
              </a:lnSpc>
              <a:spcAft>
                <a:spcPts val="800"/>
              </a:spcAft>
              <a:buNone/>
            </a:pPr>
            <a:r>
              <a:rPr lang="en-US" sz="1050" b="1" dirty="0">
                <a:solidFill>
                  <a:srgbClr val="0083C5"/>
                </a:solidFill>
                <a:latin typeface="Expert Sans" pitchFamily="34" charset="0"/>
                <a:ea typeface="Expert Sans" pitchFamily="34" charset="-122"/>
                <a:cs typeface="Expert Sans" pitchFamily="34" charset="-120"/>
              </a:rPr>
              <a:t>9. </a:t>
            </a:r>
            <a:pPr indent="0" marL="0">
              <a:lnSpc>
                <a:spcPts val="1400"/>
              </a:lnSpc>
              <a:spcAft>
                <a:spcPts val="800"/>
              </a:spcAft>
              <a:buNone/>
            </a:pPr>
            <a:r>
              <a:rPr lang="en-US" sz="1050" dirty="0">
                <a:solidFill>
                  <a:srgbClr val="3F5563"/>
                </a:solidFill>
                <a:latin typeface="Expert Sans" pitchFamily="34" charset="0"/>
                <a:ea typeface="Expert Sans" pitchFamily="34" charset="-122"/>
                <a:cs typeface="Expert Sans" pitchFamily="34" charset="-120"/>
              </a:rPr>
              <a:t>After the rebrand, check every title still fits two lines and every table sits inside the margins. List anything that broke.</a:t>
            </a:r>
            <a:endParaRPr lang="en-US" sz="1050" dirty="0"/>
          </a:p>
        </p:txBody>
      </p:sp>
      <p:sp>
        <p:nvSpPr>
          <p:cNvPr id="10" name="Shape 8"/>
          <p:cNvSpPr/>
          <p:nvPr/>
        </p:nvSpPr>
        <p:spPr>
          <a:xfrm>
            <a:off x="566928" y="5806440"/>
            <a:ext cx="11027664" cy="685800"/>
          </a:xfrm>
          <a:prstGeom prst="roundRect">
            <a:avLst>
              <a:gd name="adj" fmla="val 13333"/>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1" name="Text 9"/>
          <p:cNvSpPr/>
          <p:nvPr/>
        </p:nvSpPr>
        <p:spPr>
          <a:xfrm>
            <a:off x="950976" y="5897880"/>
            <a:ext cx="10113264" cy="502920"/>
          </a:xfrm>
          <a:prstGeom prst="rect">
            <a:avLst/>
          </a:prstGeom>
          <a:noFill/>
          <a:ln/>
        </p:spPr>
        <p:txBody>
          <a:bodyPr wrap="square" lIns="0" tIns="0" rIns="0" bIns="0" rtlCol="0" anchor="ctr"/>
          <a:lstStyle/>
          <a:p>
            <a:pPr indent="0" marL="0">
              <a:buNone/>
            </a:pPr>
            <a:r>
              <a:rPr lang="en-US" sz="1150" b="1" dirty="0">
                <a:solidFill>
                  <a:srgbClr val="00395D"/>
                </a:solidFill>
                <a:latin typeface="Expert Sans" pitchFamily="34" charset="0"/>
                <a:ea typeface="Expert Sans" pitchFamily="34" charset="-122"/>
                <a:cs typeface="Expert Sans" pitchFamily="34" charset="-120"/>
              </a:rPr>
              <a:t>Final self-check: report every example value still present, and PASS or FAIL for each reconcile check in step 2. Do not declare the deck finished with an open FAIL.</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0083C5"/>
                </a:solidFill>
                <a:latin typeface="Expert Sans" pitchFamily="34" charset="0"/>
                <a:ea typeface="Expert Sans" pitchFamily="34" charset="-122"/>
                <a:cs typeface="Expert Sans" pitchFamily="34" charset="-120"/>
              </a:rPr>
              <a:t>WHY WE ARE HERE</a:t>
            </a:r>
            <a:endParaRPr lang="en-US" sz="1100" dirty="0"/>
          </a:p>
        </p:txBody>
      </p:sp>
      <p:sp>
        <p:nvSpPr>
          <p:cNvPr id="3" name="Text 1"/>
          <p:cNvSpPr/>
          <p:nvPr/>
        </p:nvSpPr>
        <p:spPr>
          <a:xfrm>
            <a:off x="566928" y="548640"/>
            <a:ext cx="9564624" cy="969264"/>
          </a:xfrm>
          <a:prstGeom prst="rect">
            <a:avLst/>
          </a:prstGeom>
          <a:noFill/>
          <a:ln/>
        </p:spPr>
        <p:txBody>
          <a:bodyPr wrap="square" lIns="0" tIns="0" rIns="0" bIns="0" rtlCol="0" anchor="t"/>
          <a:lstStyle/>
          <a:p>
            <a:pPr algn="l" indent="0" marL="0">
              <a:lnSpc>
                <a:spcPts val="3000"/>
              </a:lnSpc>
              <a:buNone/>
            </a:pPr>
            <a:r>
              <a:rPr lang="en-US" sz="2500" dirty="0">
                <a:solidFill>
                  <a:srgbClr val="00AEEF"/>
                </a:solidFill>
                <a:latin typeface="Expert Sans" pitchFamily="34" charset="0"/>
                <a:ea typeface="Expert Sans" pitchFamily="34" charset="-122"/>
                <a:cs typeface="Expert Sans" pitchFamily="34" charset="-120"/>
              </a:rPr>
              <a:t>The question we set out to answer</a:t>
            </a:r>
            <a:endParaRPr lang="en-US" sz="2500" dirty="0"/>
          </a:p>
        </p:txBody>
      </p:sp>
      <p:sp>
        <p:nvSpPr>
          <p:cNvPr id="4" name="Shape 2"/>
          <p:cNvSpPr/>
          <p:nvPr/>
        </p:nvSpPr>
        <p:spPr>
          <a:xfrm>
            <a:off x="566928" y="1517904"/>
            <a:ext cx="11027664" cy="1078992"/>
          </a:xfrm>
          <a:prstGeom prst="roundRect">
            <a:avLst>
              <a:gd name="adj" fmla="val 8475"/>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5" name="Text 3"/>
          <p:cNvSpPr/>
          <p:nvPr/>
        </p:nvSpPr>
        <p:spPr>
          <a:xfrm>
            <a:off x="950976" y="1700784"/>
            <a:ext cx="2743200" cy="292608"/>
          </a:xfrm>
          <a:prstGeom prst="rect">
            <a:avLst/>
          </a:prstGeom>
          <a:noFill/>
          <a:ln/>
        </p:spPr>
        <p:txBody>
          <a:bodyPr wrap="square" lIns="0" tIns="0" rIns="0" bIns="0" rtlCol="0" anchor="ctr"/>
          <a:lstStyle/>
          <a:p>
            <a:pPr indent="0" marL="0">
              <a:buNone/>
            </a:pPr>
            <a:r>
              <a:rPr lang="en-US" sz="1150" b="1" spc="200" kern="0" dirty="0">
                <a:solidFill>
                  <a:srgbClr val="0083C5"/>
                </a:solidFill>
                <a:latin typeface="Expert Sans" pitchFamily="34" charset="0"/>
                <a:ea typeface="Expert Sans" pitchFamily="34" charset="-122"/>
                <a:cs typeface="Expert Sans" pitchFamily="34" charset="-120"/>
              </a:rPr>
              <a:t>SITUATION</a:t>
            </a:r>
            <a:endParaRPr lang="en-US" sz="1150" dirty="0"/>
          </a:p>
        </p:txBody>
      </p:sp>
      <p:sp>
        <p:nvSpPr>
          <p:cNvPr id="6" name="Text 4"/>
          <p:cNvSpPr/>
          <p:nvPr/>
        </p:nvSpPr>
        <p:spPr>
          <a:xfrm>
            <a:off x="950976" y="2011680"/>
            <a:ext cx="10113264" cy="420624"/>
          </a:xfrm>
          <a:prstGeom prst="rect">
            <a:avLst/>
          </a:prstGeom>
          <a:noFill/>
          <a:ln/>
        </p:spPr>
        <p:txBody>
          <a:bodyPr wrap="square" lIns="0" tIns="0" rIns="0" bIns="0" rtlCol="0" anchor="t"/>
          <a:lstStyle/>
          <a:p>
            <a:pPr indent="0" marL="0">
              <a:lnSpc>
                <a:spcPts val="1900"/>
              </a:lnSpc>
              <a:buNone/>
            </a:pPr>
            <a:r>
              <a:rPr lang="en-US" sz="1400" dirty="0">
                <a:solidFill>
                  <a:srgbClr val="3F5563"/>
                </a:solidFill>
                <a:latin typeface="Expert Sans" pitchFamily="34" charset="0"/>
                <a:ea typeface="Expert Sans" pitchFamily="34" charset="-122"/>
                <a:cs typeface="Expert Sans" pitchFamily="34" charset="-120"/>
              </a:rPr>
              <a:t>The bank serves exporting SMEs. Five candidate features sit on the roadmap; build capacity is two slots per cycle, with an earnings mandate.</a:t>
            </a:r>
            <a:endParaRPr lang="en-US" sz="1400" dirty="0"/>
          </a:p>
        </p:txBody>
      </p:sp>
      <p:sp>
        <p:nvSpPr>
          <p:cNvPr id="7" name="Shape 5"/>
          <p:cNvSpPr/>
          <p:nvPr/>
        </p:nvSpPr>
        <p:spPr>
          <a:xfrm>
            <a:off x="566928" y="2779776"/>
            <a:ext cx="11027664" cy="1353312"/>
          </a:xfrm>
          <a:prstGeom prst="roundRect">
            <a:avLst>
              <a:gd name="adj" fmla="val 6757"/>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8" name="Text 6"/>
          <p:cNvSpPr/>
          <p:nvPr/>
        </p:nvSpPr>
        <p:spPr>
          <a:xfrm>
            <a:off x="950976" y="2962656"/>
            <a:ext cx="2743200" cy="292608"/>
          </a:xfrm>
          <a:prstGeom prst="rect">
            <a:avLst/>
          </a:prstGeom>
          <a:noFill/>
          <a:ln/>
        </p:spPr>
        <p:txBody>
          <a:bodyPr wrap="square" lIns="0" tIns="0" rIns="0" bIns="0" rtlCol="0" anchor="ctr"/>
          <a:lstStyle/>
          <a:p>
            <a:pPr indent="0" marL="0">
              <a:buNone/>
            </a:pPr>
            <a:r>
              <a:rPr lang="en-US" sz="1150" b="1" spc="200" kern="0" dirty="0">
                <a:solidFill>
                  <a:srgbClr val="0083C5"/>
                </a:solidFill>
                <a:latin typeface="Expert Sans" pitchFamily="34" charset="0"/>
                <a:ea typeface="Expert Sans" pitchFamily="34" charset="-122"/>
                <a:cs typeface="Expert Sans" pitchFamily="34" charset="-120"/>
              </a:rPr>
              <a:t>COMPLICATION</a:t>
            </a:r>
            <a:endParaRPr lang="en-US" sz="1150" dirty="0"/>
          </a:p>
        </p:txBody>
      </p:sp>
      <p:sp>
        <p:nvSpPr>
          <p:cNvPr id="9" name="Text 7"/>
          <p:cNvSpPr/>
          <p:nvPr/>
        </p:nvSpPr>
        <p:spPr>
          <a:xfrm>
            <a:off x="950976" y="3273552"/>
            <a:ext cx="10113264" cy="694944"/>
          </a:xfrm>
          <a:prstGeom prst="rect">
            <a:avLst/>
          </a:prstGeom>
          <a:noFill/>
          <a:ln/>
        </p:spPr>
        <p:txBody>
          <a:bodyPr wrap="square" lIns="0" tIns="0" rIns="0" bIns="0" rtlCol="0" anchor="t"/>
          <a:lstStyle/>
          <a:p>
            <a:pPr indent="0" marL="0">
              <a:lnSpc>
                <a:spcPts val="1900"/>
              </a:lnSpc>
              <a:buNone/>
            </a:pPr>
            <a:r>
              <a:rPr lang="en-US" sz="1400" dirty="0">
                <a:solidFill>
                  <a:srgbClr val="3F5563"/>
                </a:solidFill>
                <a:latin typeface="Expert Sans" pitchFamily="34" charset="0"/>
                <a:ea typeface="Expert Sans" pitchFamily="34" charset="-122"/>
                <a:cs typeface="Expert Sans" pitchFamily="34" charset="-120"/>
              </a:rPr>
              <a:t>A one-off pick answers this cycle and nothing after it. The features differ in demand, return and build cost — and the evidence moves as we learn. Gut feel cannot hold an order across cycles.</a:t>
            </a:r>
            <a:endParaRPr lang="en-US" sz="1400" dirty="0"/>
          </a:p>
        </p:txBody>
      </p:sp>
      <p:sp>
        <p:nvSpPr>
          <p:cNvPr id="10" name="Shape 8"/>
          <p:cNvSpPr/>
          <p:nvPr/>
        </p:nvSpPr>
        <p:spPr>
          <a:xfrm>
            <a:off x="566928" y="4315968"/>
            <a:ext cx="11027664" cy="960120"/>
          </a:xfrm>
          <a:prstGeom prst="roundRect">
            <a:avLst>
              <a:gd name="adj" fmla="val 9524"/>
            </a:avLst>
          </a:prstGeom>
          <a:solidFill>
            <a:srgbClr val="CDE9F8"/>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1" name="Text 9"/>
          <p:cNvSpPr/>
          <p:nvPr/>
        </p:nvSpPr>
        <p:spPr>
          <a:xfrm>
            <a:off x="950976" y="4498848"/>
            <a:ext cx="2743200" cy="292608"/>
          </a:xfrm>
          <a:prstGeom prst="rect">
            <a:avLst/>
          </a:prstGeom>
          <a:noFill/>
          <a:ln/>
        </p:spPr>
        <p:txBody>
          <a:bodyPr wrap="square" lIns="0" tIns="0" rIns="0" bIns="0" rtlCol="0" anchor="ctr"/>
          <a:lstStyle/>
          <a:p>
            <a:pPr indent="0" marL="0">
              <a:buNone/>
            </a:pPr>
            <a:r>
              <a:rPr lang="en-US" sz="1150" b="1" spc="200" kern="0" dirty="0">
                <a:solidFill>
                  <a:srgbClr val="00395D"/>
                </a:solidFill>
                <a:latin typeface="Expert Sans" pitchFamily="34" charset="0"/>
                <a:ea typeface="Expert Sans" pitchFamily="34" charset="-122"/>
                <a:cs typeface="Expert Sans" pitchFamily="34" charset="-120"/>
              </a:rPr>
              <a:t>QUESTION</a:t>
            </a:r>
            <a:endParaRPr lang="en-US" sz="1150" dirty="0"/>
          </a:p>
        </p:txBody>
      </p:sp>
      <p:sp>
        <p:nvSpPr>
          <p:cNvPr id="12" name="Text 10"/>
          <p:cNvSpPr/>
          <p:nvPr/>
        </p:nvSpPr>
        <p:spPr>
          <a:xfrm>
            <a:off x="950976" y="4809744"/>
            <a:ext cx="10113264" cy="301752"/>
          </a:xfrm>
          <a:prstGeom prst="rect">
            <a:avLst/>
          </a:prstGeom>
          <a:noFill/>
          <a:ln/>
        </p:spPr>
        <p:txBody>
          <a:bodyPr wrap="square" lIns="0" tIns="0" rIns="0" bIns="0" rtlCol="0" anchor="t"/>
          <a:lstStyle/>
          <a:p>
            <a:pPr indent="0" marL="0">
              <a:lnSpc>
                <a:spcPts val="2300"/>
              </a:lnSpc>
              <a:buNone/>
            </a:pPr>
            <a:r>
              <a:rPr lang="en-US" sz="1800" b="1" dirty="0">
                <a:solidFill>
                  <a:srgbClr val="00395D"/>
                </a:solidFill>
                <a:latin typeface="Expert Sans" pitchFamily="34" charset="0"/>
                <a:ea typeface="Expert Sans" pitchFamily="34" charset="-122"/>
                <a:cs typeface="Expert Sans" pitchFamily="34" charset="-120"/>
              </a:rPr>
              <a:t>What do we build into the exporting-SME proposition — and in what order?</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0083C5"/>
                </a:solidFill>
                <a:latin typeface="Expert Sans" pitchFamily="34" charset="0"/>
                <a:ea typeface="Expert Sans" pitchFamily="34" charset="-122"/>
                <a:cs typeface="Expert Sans" pitchFamily="34" charset="-120"/>
              </a:rPr>
              <a:t>RECOMMENDATION</a:t>
            </a:r>
            <a:endParaRPr lang="en-US" sz="1100" dirty="0"/>
          </a:p>
        </p:txBody>
      </p:sp>
      <p:sp>
        <p:nvSpPr>
          <p:cNvPr id="3" name="Text 1"/>
          <p:cNvSpPr/>
          <p:nvPr/>
        </p:nvSpPr>
        <p:spPr>
          <a:xfrm>
            <a:off x="9235440" y="256032"/>
            <a:ext cx="2377440" cy="274320"/>
          </a:xfrm>
          <a:prstGeom prst="rect">
            <a:avLst/>
          </a:prstGeom>
          <a:noFill/>
          <a:ln/>
        </p:spPr>
        <p:txBody>
          <a:bodyPr wrap="square" lIns="0" tIns="0" rIns="0" bIns="0" rtlCol="0" anchor="ctr"/>
          <a:lstStyle/>
          <a:p>
            <a:pPr algn="r" indent="0" marL="0">
              <a:buNone/>
            </a:pPr>
            <a:r>
              <a:rPr lang="en-US" sz="850" dirty="0">
                <a:solidFill>
                  <a:srgbClr val="6E7F8D"/>
                </a:solidFill>
                <a:latin typeface="Expert Sans" pitchFamily="34" charset="0"/>
                <a:ea typeface="Expert Sans" pitchFamily="34" charset="-122"/>
                <a:cs typeface="Expert Sans" pitchFamily="34" charset="-120"/>
              </a:rPr>
              <a:t>Proposition backlog  |  [Month Year]  </a:t>
            </a:r>
            <a:pPr algn="r" indent="0" marL="0">
              <a:buNone/>
            </a:pPr>
            <a:r>
              <a:rPr lang="en-US" sz="850" dirty="0">
                <a:solidFill>
                  <a:srgbClr val="6E7F8D"/>
                </a:solidFill>
                <a:latin typeface="Expert Sans" pitchFamily="34" charset="0"/>
                <a:ea typeface="Expert Sans" pitchFamily="34" charset="-122"/>
                <a:cs typeface="Expert Sans" pitchFamily="34" charset="-120"/>
              </a:rPr>
              <a:t>|  4</a:t>
            </a:r>
            <a:endParaRPr lang="en-US" sz="850" dirty="0"/>
          </a:p>
        </p:txBody>
      </p:sp>
      <p:sp>
        <p:nvSpPr>
          <p:cNvPr id="4" name="Text 2"/>
          <p:cNvSpPr/>
          <p:nvPr/>
        </p:nvSpPr>
        <p:spPr>
          <a:xfrm>
            <a:off x="566928" y="658368"/>
            <a:ext cx="11027664" cy="1371600"/>
          </a:xfrm>
          <a:prstGeom prst="rect">
            <a:avLst/>
          </a:prstGeom>
          <a:noFill/>
          <a:ln/>
        </p:spPr>
        <p:txBody>
          <a:bodyPr wrap="square" lIns="0" tIns="0" rIns="0" bIns="0" rtlCol="0" anchor="t"/>
          <a:lstStyle/>
          <a:p>
            <a:pPr indent="0" marL="0">
              <a:lnSpc>
                <a:spcPts val="3300"/>
              </a:lnSpc>
              <a:buNone/>
            </a:pPr>
            <a:r>
              <a:rPr lang="en-US" sz="2600" dirty="0">
                <a:solidFill>
                  <a:srgbClr val="00AEEF"/>
                </a:solidFill>
                <a:latin typeface="Expert Sans" pitchFamily="34" charset="0"/>
                <a:ea typeface="Expert Sans" pitchFamily="34" charset="-122"/>
                <a:cs typeface="Expert Sans" pitchFamily="34" charset="-120"/>
              </a:rPr>
              <a:t>Fill 'Trade Ready' in return order: FX and invoice finance take this cycle's two slots — £6m a year by year 3.</a:t>
            </a:r>
            <a:endParaRPr lang="en-US" sz="2600" dirty="0"/>
          </a:p>
        </p:txBody>
      </p:sp>
      <p:sp>
        <p:nvSpPr>
          <p:cNvPr id="5" name="Shape 3"/>
          <p:cNvSpPr/>
          <p:nvPr/>
        </p:nvSpPr>
        <p:spPr>
          <a:xfrm>
            <a:off x="566928" y="2423160"/>
            <a:ext cx="11027664" cy="658368"/>
          </a:xfrm>
          <a:prstGeom prst="roundRect">
            <a:avLst>
              <a:gd name="adj" fmla="val 13889"/>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6" name="Text 4"/>
          <p:cNvSpPr/>
          <p:nvPr/>
        </p:nvSpPr>
        <p:spPr>
          <a:xfrm>
            <a:off x="886968" y="2423160"/>
            <a:ext cx="2011680" cy="658368"/>
          </a:xfrm>
          <a:prstGeom prst="rect">
            <a:avLst/>
          </a:prstGeom>
          <a:noFill/>
          <a:ln/>
        </p:spPr>
        <p:txBody>
          <a:bodyPr wrap="square" lIns="0" tIns="0" rIns="0" bIns="0" rtlCol="0" anchor="ctr"/>
          <a:lstStyle/>
          <a:p>
            <a:pPr indent="0" marL="0">
              <a:buNone/>
            </a:pPr>
            <a:r>
              <a:rPr lang="en-US" sz="1500" b="1" dirty="0">
                <a:solidFill>
                  <a:srgbClr val="0083C5"/>
                </a:solidFill>
                <a:latin typeface="Expert Sans" pitchFamily="34" charset="0"/>
                <a:ea typeface="Expert Sans" pitchFamily="34" charset="-122"/>
                <a:cs typeface="Expert Sans" pitchFamily="34" charset="-120"/>
              </a:rPr>
              <a:t>This cycle</a:t>
            </a:r>
            <a:endParaRPr lang="en-US" sz="1500" dirty="0"/>
          </a:p>
        </p:txBody>
      </p:sp>
      <p:sp>
        <p:nvSpPr>
          <p:cNvPr id="7" name="Text 5"/>
          <p:cNvSpPr/>
          <p:nvPr/>
        </p:nvSpPr>
        <p:spPr>
          <a:xfrm>
            <a:off x="2990088" y="2423160"/>
            <a:ext cx="5852160" cy="658368"/>
          </a:xfrm>
          <a:prstGeom prst="rect">
            <a:avLst/>
          </a:prstGeom>
          <a:noFill/>
          <a:ln/>
        </p:spPr>
        <p:txBody>
          <a:bodyPr wrap="square" lIns="0" tIns="0" rIns="0" bIns="0" rtlCol="0" anchor="ctr"/>
          <a:lstStyle/>
          <a:p>
            <a:pPr indent="0" marL="0">
              <a:buNone/>
            </a:pPr>
            <a:r>
              <a:rPr lang="en-US" sz="1500" b="1" dirty="0">
                <a:solidFill>
                  <a:srgbClr val="00395D"/>
                </a:solidFill>
                <a:latin typeface="Expert Sans" pitchFamily="34" charset="0"/>
                <a:ea typeface="Expert Sans" pitchFamily="34" charset="-122"/>
                <a:cs typeface="Expert Sans" pitchFamily="34" charset="-120"/>
              </a:rPr>
              <a:t>FX payments (build) · invoice finance (partner)</a:t>
            </a:r>
            <a:endParaRPr lang="en-US" sz="1500" dirty="0"/>
          </a:p>
        </p:txBody>
      </p:sp>
      <p:sp>
        <p:nvSpPr>
          <p:cNvPr id="8" name="Text 6"/>
          <p:cNvSpPr/>
          <p:nvPr/>
        </p:nvSpPr>
        <p:spPr>
          <a:xfrm>
            <a:off x="8933688" y="2423160"/>
            <a:ext cx="2926080" cy="658368"/>
          </a:xfrm>
          <a:prstGeom prst="rect">
            <a:avLst/>
          </a:prstGeom>
          <a:noFill/>
          <a:ln/>
        </p:spPr>
        <p:txBody>
          <a:bodyPr wrap="square" lIns="0" tIns="0" rIns="0" bIns="0" rtlCol="0" anchor="ctr"/>
          <a:lstStyle/>
          <a:p>
            <a:pPr indent="0" marL="0">
              <a:buNone/>
            </a:pPr>
            <a:r>
              <a:rPr lang="en-US" sz="1200" dirty="0">
                <a:solidFill>
                  <a:srgbClr val="3F5563"/>
                </a:solidFill>
                <a:latin typeface="Expert Sans" pitchFamily="34" charset="0"/>
                <a:ea typeface="Expert Sans" pitchFamily="34" charset="-122"/>
                <a:cs typeface="Expert Sans" pitchFamily="34" charset="-120"/>
              </a:rPr>
              <a:t>the two slots</a:t>
            </a:r>
            <a:endParaRPr lang="en-US" sz="1200" dirty="0"/>
          </a:p>
        </p:txBody>
      </p:sp>
      <p:sp>
        <p:nvSpPr>
          <p:cNvPr id="9" name="Shape 7"/>
          <p:cNvSpPr/>
          <p:nvPr/>
        </p:nvSpPr>
        <p:spPr>
          <a:xfrm>
            <a:off x="566928" y="3246120"/>
            <a:ext cx="11027664" cy="658368"/>
          </a:xfrm>
          <a:prstGeom prst="roundRect">
            <a:avLst>
              <a:gd name="adj" fmla="val 13889"/>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0" name="Text 8"/>
          <p:cNvSpPr/>
          <p:nvPr/>
        </p:nvSpPr>
        <p:spPr>
          <a:xfrm>
            <a:off x="886968" y="3246120"/>
            <a:ext cx="2011680" cy="658368"/>
          </a:xfrm>
          <a:prstGeom prst="rect">
            <a:avLst/>
          </a:prstGeom>
          <a:noFill/>
          <a:ln/>
        </p:spPr>
        <p:txBody>
          <a:bodyPr wrap="square" lIns="0" tIns="0" rIns="0" bIns="0" rtlCol="0" anchor="ctr"/>
          <a:lstStyle/>
          <a:p>
            <a:pPr indent="0" marL="0">
              <a:buNone/>
            </a:pPr>
            <a:r>
              <a:rPr lang="en-US" sz="1500" b="1" dirty="0">
                <a:solidFill>
                  <a:srgbClr val="0083C5"/>
                </a:solidFill>
                <a:latin typeface="Expert Sans" pitchFamily="34" charset="0"/>
                <a:ea typeface="Expert Sans" pitchFamily="34" charset="-122"/>
                <a:cs typeface="Expert Sans" pitchFamily="34" charset="-120"/>
              </a:rPr>
              <a:t>Next cycle</a:t>
            </a:r>
            <a:endParaRPr lang="en-US" sz="1500" dirty="0"/>
          </a:p>
        </p:txBody>
      </p:sp>
      <p:sp>
        <p:nvSpPr>
          <p:cNvPr id="11" name="Text 9"/>
          <p:cNvSpPr/>
          <p:nvPr/>
        </p:nvSpPr>
        <p:spPr>
          <a:xfrm>
            <a:off x="2990088" y="3246120"/>
            <a:ext cx="5852160" cy="658368"/>
          </a:xfrm>
          <a:prstGeom prst="rect">
            <a:avLst/>
          </a:prstGeom>
          <a:noFill/>
          <a:ln/>
        </p:spPr>
        <p:txBody>
          <a:bodyPr wrap="square" lIns="0" tIns="0" rIns="0" bIns="0" rtlCol="0" anchor="ctr"/>
          <a:lstStyle/>
          <a:p>
            <a:pPr indent="0" marL="0">
              <a:buNone/>
            </a:pPr>
            <a:r>
              <a:rPr lang="en-US" sz="1500" b="1" dirty="0">
                <a:solidFill>
                  <a:srgbClr val="00395D"/>
                </a:solidFill>
                <a:latin typeface="Expert Sans" pitchFamily="34" charset="0"/>
                <a:ea typeface="Expert Sans" pitchFamily="34" charset="-122"/>
                <a:cs typeface="Expert Sans" pitchFamily="34" charset="-120"/>
              </a:rPr>
              <a:t>Trade insurance</a:t>
            </a:r>
            <a:endParaRPr lang="en-US" sz="1500" dirty="0"/>
          </a:p>
        </p:txBody>
      </p:sp>
      <p:sp>
        <p:nvSpPr>
          <p:cNvPr id="12" name="Text 10"/>
          <p:cNvSpPr/>
          <p:nvPr/>
        </p:nvSpPr>
        <p:spPr>
          <a:xfrm>
            <a:off x="8933688" y="3246120"/>
            <a:ext cx="2926080" cy="658368"/>
          </a:xfrm>
          <a:prstGeom prst="rect">
            <a:avLst/>
          </a:prstGeom>
          <a:noFill/>
          <a:ln/>
        </p:spPr>
        <p:txBody>
          <a:bodyPr wrap="square" lIns="0" tIns="0" rIns="0" bIns="0" rtlCol="0" anchor="ctr"/>
          <a:lstStyle/>
          <a:p>
            <a:pPr indent="0" marL="0">
              <a:buNone/>
            </a:pPr>
            <a:r>
              <a:rPr lang="en-US" sz="1200" dirty="0">
                <a:solidFill>
                  <a:srgbClr val="3F5563"/>
                </a:solidFill>
                <a:latin typeface="Expert Sans" pitchFamily="34" charset="0"/>
                <a:ea typeface="Expert Sans" pitchFamily="34" charset="-122"/>
                <a:cs typeface="Expert Sans" pitchFamily="34" charset="-120"/>
              </a:rPr>
              <a:t>third by return per slot</a:t>
            </a:r>
            <a:endParaRPr lang="en-US" sz="1200" dirty="0"/>
          </a:p>
        </p:txBody>
      </p:sp>
      <p:sp>
        <p:nvSpPr>
          <p:cNvPr id="13" name="Shape 11"/>
          <p:cNvSpPr/>
          <p:nvPr/>
        </p:nvSpPr>
        <p:spPr>
          <a:xfrm>
            <a:off x="566928" y="4069080"/>
            <a:ext cx="11027664" cy="658368"/>
          </a:xfrm>
          <a:prstGeom prst="roundRect">
            <a:avLst>
              <a:gd name="adj" fmla="val 13889"/>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4" name="Text 12"/>
          <p:cNvSpPr/>
          <p:nvPr/>
        </p:nvSpPr>
        <p:spPr>
          <a:xfrm>
            <a:off x="886968" y="4069080"/>
            <a:ext cx="2011680" cy="658368"/>
          </a:xfrm>
          <a:prstGeom prst="rect">
            <a:avLst/>
          </a:prstGeom>
          <a:noFill/>
          <a:ln/>
        </p:spPr>
        <p:txBody>
          <a:bodyPr wrap="square" lIns="0" tIns="0" rIns="0" bIns="0" rtlCol="0" anchor="ctr"/>
          <a:lstStyle/>
          <a:p>
            <a:pPr indent="0" marL="0">
              <a:buNone/>
            </a:pPr>
            <a:r>
              <a:rPr lang="en-US" sz="1500" b="1" dirty="0">
                <a:solidFill>
                  <a:srgbClr val="0083C5"/>
                </a:solidFill>
                <a:latin typeface="Expert Sans" pitchFamily="34" charset="0"/>
                <a:ea typeface="Expert Sans" pitchFamily="34" charset="-122"/>
                <a:cs typeface="Expert Sans" pitchFamily="34" charset="-120"/>
              </a:rPr>
              <a:t>Off the list</a:t>
            </a:r>
            <a:endParaRPr lang="en-US" sz="1500" dirty="0"/>
          </a:p>
        </p:txBody>
      </p:sp>
      <p:sp>
        <p:nvSpPr>
          <p:cNvPr id="15" name="Text 13"/>
          <p:cNvSpPr/>
          <p:nvPr/>
        </p:nvSpPr>
        <p:spPr>
          <a:xfrm>
            <a:off x="2990088" y="4069080"/>
            <a:ext cx="5852160" cy="658368"/>
          </a:xfrm>
          <a:prstGeom prst="rect">
            <a:avLst/>
          </a:prstGeom>
          <a:noFill/>
          <a:ln/>
        </p:spPr>
        <p:txBody>
          <a:bodyPr wrap="square" lIns="0" tIns="0" rIns="0" bIns="0" rtlCol="0" anchor="ctr"/>
          <a:lstStyle/>
          <a:p>
            <a:pPr indent="0" marL="0">
              <a:buNone/>
            </a:pPr>
            <a:r>
              <a:rPr lang="en-US" sz="1500" b="1" dirty="0">
                <a:solidFill>
                  <a:srgbClr val="00395D"/>
                </a:solidFill>
                <a:latin typeface="Expert Sans" pitchFamily="34" charset="0"/>
                <a:ea typeface="Expert Sans" pitchFamily="34" charset="-122"/>
                <a:cs typeface="Expert Sans" pitchFamily="34" charset="-120"/>
              </a:rPr>
              <a:t>Crypto payments · rewards scheme</a:t>
            </a:r>
            <a:endParaRPr lang="en-US" sz="1500" dirty="0"/>
          </a:p>
        </p:txBody>
      </p:sp>
      <p:sp>
        <p:nvSpPr>
          <p:cNvPr id="16" name="Text 14"/>
          <p:cNvSpPr/>
          <p:nvPr/>
        </p:nvSpPr>
        <p:spPr>
          <a:xfrm>
            <a:off x="8933688" y="4069080"/>
            <a:ext cx="2926080" cy="658368"/>
          </a:xfrm>
          <a:prstGeom prst="rect">
            <a:avLst/>
          </a:prstGeom>
          <a:noFill/>
          <a:ln/>
        </p:spPr>
        <p:txBody>
          <a:bodyPr wrap="square" lIns="0" tIns="0" rIns="0" bIns="0" rtlCol="0" anchor="ctr"/>
          <a:lstStyle/>
          <a:p>
            <a:pPr indent="0" marL="0">
              <a:buNone/>
            </a:pPr>
            <a:r>
              <a:rPr lang="en-US" sz="1200" dirty="0">
                <a:solidFill>
                  <a:srgbClr val="3F5563"/>
                </a:solidFill>
                <a:latin typeface="Expert Sans" pitchFamily="34" charset="0"/>
                <a:ea typeface="Expert Sans" pitchFamily="34" charset="-122"/>
                <a:cs typeface="Expert Sans" pitchFamily="34" charset="-120"/>
              </a:rPr>
              <a:t>below the demand gate</a:t>
            </a:r>
            <a:endParaRPr lang="en-US" sz="1200" dirty="0"/>
          </a:p>
        </p:txBody>
      </p:sp>
      <p:sp>
        <p:nvSpPr>
          <p:cNvPr id="17" name="Shape 15"/>
          <p:cNvSpPr/>
          <p:nvPr/>
        </p:nvSpPr>
        <p:spPr>
          <a:xfrm>
            <a:off x="566928" y="4892040"/>
            <a:ext cx="11027664" cy="658368"/>
          </a:xfrm>
          <a:prstGeom prst="roundRect">
            <a:avLst>
              <a:gd name="adj" fmla="val 13889"/>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8" name="Text 16"/>
          <p:cNvSpPr/>
          <p:nvPr/>
        </p:nvSpPr>
        <p:spPr>
          <a:xfrm>
            <a:off x="886968" y="4892040"/>
            <a:ext cx="2011680" cy="658368"/>
          </a:xfrm>
          <a:prstGeom prst="rect">
            <a:avLst/>
          </a:prstGeom>
          <a:noFill/>
          <a:ln/>
        </p:spPr>
        <p:txBody>
          <a:bodyPr wrap="square" lIns="0" tIns="0" rIns="0" bIns="0" rtlCol="0" anchor="ctr"/>
          <a:lstStyle/>
          <a:p>
            <a:pPr indent="0" marL="0">
              <a:buNone/>
            </a:pPr>
            <a:r>
              <a:rPr lang="en-US" sz="1500" b="1" dirty="0">
                <a:solidFill>
                  <a:srgbClr val="0083C5"/>
                </a:solidFill>
                <a:latin typeface="Expert Sans" pitchFamily="34" charset="0"/>
                <a:ea typeface="Expert Sans" pitchFamily="34" charset="-122"/>
                <a:cs typeface="Expert Sans" pitchFamily="34" charset="-120"/>
              </a:rPr>
              <a:t>Standing</a:t>
            </a:r>
            <a:endParaRPr lang="en-US" sz="1500" dirty="0"/>
          </a:p>
        </p:txBody>
      </p:sp>
      <p:sp>
        <p:nvSpPr>
          <p:cNvPr id="19" name="Text 17"/>
          <p:cNvSpPr/>
          <p:nvPr/>
        </p:nvSpPr>
        <p:spPr>
          <a:xfrm>
            <a:off x="2990088" y="4892040"/>
            <a:ext cx="5852160" cy="658368"/>
          </a:xfrm>
          <a:prstGeom prst="rect">
            <a:avLst/>
          </a:prstGeom>
          <a:noFill/>
          <a:ln/>
        </p:spPr>
        <p:txBody>
          <a:bodyPr wrap="square" lIns="0" tIns="0" rIns="0" bIns="0" rtlCol="0" anchor="ctr"/>
          <a:lstStyle/>
          <a:p>
            <a:pPr indent="0" marL="0">
              <a:buNone/>
            </a:pPr>
            <a:r>
              <a:rPr lang="en-US" sz="1500" b="1" dirty="0">
                <a:solidFill>
                  <a:srgbClr val="00395D"/>
                </a:solidFill>
                <a:latin typeface="Expert Sans" pitchFamily="34" charset="0"/>
                <a:ea typeface="Expert Sans" pitchFamily="34" charset="-122"/>
                <a:cs typeface="Expert Sans" pitchFamily="34" charset="-120"/>
              </a:rPr>
              <a:t>Re-score the backlog every quarter</a:t>
            </a:r>
            <a:endParaRPr lang="en-US" sz="1500" dirty="0"/>
          </a:p>
        </p:txBody>
      </p:sp>
      <p:sp>
        <p:nvSpPr>
          <p:cNvPr id="20" name="Text 18"/>
          <p:cNvSpPr/>
          <p:nvPr/>
        </p:nvSpPr>
        <p:spPr>
          <a:xfrm>
            <a:off x="8933688" y="4892040"/>
            <a:ext cx="2926080" cy="658368"/>
          </a:xfrm>
          <a:prstGeom prst="rect">
            <a:avLst/>
          </a:prstGeom>
          <a:noFill/>
          <a:ln/>
        </p:spPr>
        <p:txBody>
          <a:bodyPr wrap="square" lIns="0" tIns="0" rIns="0" bIns="0" rtlCol="0" anchor="ctr"/>
          <a:lstStyle/>
          <a:p>
            <a:pPr indent="0" marL="0">
              <a:buNone/>
            </a:pPr>
            <a:r>
              <a:rPr lang="en-US" sz="1200" dirty="0">
                <a:solidFill>
                  <a:srgbClr val="3F5563"/>
                </a:solidFill>
                <a:latin typeface="Expert Sans" pitchFamily="34" charset="0"/>
                <a:ea typeface="Expert Sans" pitchFamily="34" charset="-122"/>
                <a:cs typeface="Expert Sans" pitchFamily="34" charset="-120"/>
              </a:rPr>
              <a:t>the order moves with the evidence</a:t>
            </a:r>
            <a:endParaRPr lang="en-US" sz="1200" dirty="0"/>
          </a:p>
        </p:txBody>
      </p:sp>
      <p:sp>
        <p:nvSpPr>
          <p:cNvPr id="21" name="Shape 19"/>
          <p:cNvSpPr/>
          <p:nvPr/>
        </p:nvSpPr>
        <p:spPr>
          <a:xfrm>
            <a:off x="566928" y="5870448"/>
            <a:ext cx="11027664" cy="0"/>
          </a:xfrm>
          <a:prstGeom prst="line">
            <a:avLst/>
          </a:prstGeom>
          <a:noFill/>
          <a:ln w="12700">
            <a:solidFill>
              <a:srgbClr val="C9DDE8"/>
            </a:solidFill>
            <a:prstDash val="solid"/>
          </a:ln>
        </p:spPr>
      </p:sp>
      <p:sp>
        <p:nvSpPr>
          <p:cNvPr id="22" name="Text 20"/>
          <p:cNvSpPr/>
          <p:nvPr/>
        </p:nvSpPr>
        <p:spPr>
          <a:xfrm>
            <a:off x="566928" y="5998464"/>
            <a:ext cx="10296144" cy="457200"/>
          </a:xfrm>
          <a:prstGeom prst="rect">
            <a:avLst/>
          </a:prstGeom>
          <a:noFill/>
          <a:ln/>
        </p:spPr>
        <p:txBody>
          <a:bodyPr wrap="square" lIns="0" tIns="0" rIns="0" bIns="0" rtlCol="0" anchor="t"/>
          <a:lstStyle/>
          <a:p>
            <a:pPr indent="0" marL="0">
              <a:lnSpc>
                <a:spcPts val="1900"/>
              </a:lnSpc>
              <a:buNone/>
            </a:pPr>
            <a:r>
              <a:rPr lang="en-US" sz="1300" dirty="0">
                <a:solidFill>
                  <a:srgbClr val="3F5563"/>
                </a:solidFill>
                <a:latin typeface="Expert Sans" pitchFamily="34" charset="0"/>
                <a:ea typeface="Expert Sans" pitchFamily="34" charset="-122"/>
                <a:cs typeface="Expert Sans" pitchFamily="34" charset="-120"/>
              </a:rPr>
              <a:t>The client approves two things: this cycle's slate, and the rule that produced it. Next cycle re-runs the rule.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0083C5"/>
                </a:solidFill>
                <a:latin typeface="Expert Sans" pitchFamily="34" charset="0"/>
                <a:ea typeface="Expert Sans" pitchFamily="34" charset="-122"/>
                <a:cs typeface="Expert Sans" pitchFamily="34" charset="-120"/>
              </a:rPr>
              <a:t>THE ARGUMENT IN ONE PAGE</a:t>
            </a:r>
            <a:endParaRPr lang="en-US" sz="1100" dirty="0"/>
          </a:p>
        </p:txBody>
      </p:sp>
      <p:sp>
        <p:nvSpPr>
          <p:cNvPr id="3" name="Text 1"/>
          <p:cNvSpPr/>
          <p:nvPr/>
        </p:nvSpPr>
        <p:spPr>
          <a:xfrm>
            <a:off x="566928" y="548640"/>
            <a:ext cx="9564624" cy="969264"/>
          </a:xfrm>
          <a:prstGeom prst="rect">
            <a:avLst/>
          </a:prstGeom>
          <a:noFill/>
          <a:ln/>
        </p:spPr>
        <p:txBody>
          <a:bodyPr wrap="square" lIns="0" tIns="0" rIns="0" bIns="0" rtlCol="0" anchor="t"/>
          <a:lstStyle/>
          <a:p>
            <a:pPr algn="l" indent="0" marL="0">
              <a:lnSpc>
                <a:spcPts val="3000"/>
              </a:lnSpc>
              <a:buNone/>
            </a:pPr>
            <a:r>
              <a:rPr lang="en-US" sz="2500" dirty="0">
                <a:solidFill>
                  <a:srgbClr val="00AEEF"/>
                </a:solidFill>
                <a:latin typeface="Expert Sans" pitchFamily="34" charset="0"/>
                <a:ea typeface="Expert Sans" pitchFamily="34" charset="-122"/>
                <a:cs typeface="Expert Sans" pitchFamily="34" charset="-120"/>
              </a:rPr>
              <a:t>Three things make this order right</a:t>
            </a:r>
            <a:endParaRPr lang="en-US" sz="2500" dirty="0"/>
          </a:p>
        </p:txBody>
      </p:sp>
      <p:sp>
        <p:nvSpPr>
          <p:cNvPr id="4" name="Shape 2"/>
          <p:cNvSpPr/>
          <p:nvPr/>
        </p:nvSpPr>
        <p:spPr>
          <a:xfrm>
            <a:off x="566928" y="1627632"/>
            <a:ext cx="3493008" cy="3794760"/>
          </a:xfrm>
          <a:prstGeom prst="roundRect">
            <a:avLst>
              <a:gd name="adj" fmla="val 2618"/>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5" name="Shape 3"/>
          <p:cNvSpPr/>
          <p:nvPr/>
        </p:nvSpPr>
        <p:spPr>
          <a:xfrm>
            <a:off x="914400" y="1938528"/>
            <a:ext cx="475488" cy="475488"/>
          </a:xfrm>
          <a:prstGeom prst="ellipse">
            <a:avLst/>
          </a:prstGeom>
          <a:solidFill>
            <a:srgbClr val="00AEEF"/>
          </a:solidFill>
          <a:ln w="12700">
            <a:solidFill>
              <a:srgbClr val="00AEEF"/>
            </a:solidFill>
            <a:prstDash val="solid"/>
          </a:ln>
        </p:spPr>
      </p:sp>
      <p:sp>
        <p:nvSpPr>
          <p:cNvPr id="6" name="Text 4"/>
          <p:cNvSpPr/>
          <p:nvPr/>
        </p:nvSpPr>
        <p:spPr>
          <a:xfrm>
            <a:off x="914400" y="19385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Expert Sans" pitchFamily="34" charset="0"/>
                <a:ea typeface="Expert Sans" pitchFamily="34" charset="-122"/>
                <a:cs typeface="Expert Sans" pitchFamily="34" charset="-120"/>
              </a:rPr>
              <a:t>1</a:t>
            </a:r>
            <a:endParaRPr lang="en-US" sz="1600" dirty="0"/>
          </a:p>
        </p:txBody>
      </p:sp>
      <p:sp>
        <p:nvSpPr>
          <p:cNvPr id="7" name="Text 5"/>
          <p:cNvSpPr/>
          <p:nvPr/>
        </p:nvSpPr>
        <p:spPr>
          <a:xfrm>
            <a:off x="1527048" y="1938528"/>
            <a:ext cx="2212848" cy="475488"/>
          </a:xfrm>
          <a:prstGeom prst="rect">
            <a:avLst/>
          </a:prstGeom>
          <a:noFill/>
          <a:ln/>
        </p:spPr>
        <p:txBody>
          <a:bodyPr wrap="square" lIns="0" tIns="0" rIns="0" bIns="0" rtlCol="0" anchor="ctr"/>
          <a:lstStyle/>
          <a:p>
            <a:pPr indent="0" marL="0">
              <a:buNone/>
            </a:pPr>
            <a:r>
              <a:rPr lang="en-US" sz="1100" b="1" spc="200" kern="0" dirty="0">
                <a:solidFill>
                  <a:srgbClr val="0083C5"/>
                </a:solidFill>
                <a:latin typeface="Expert Sans" pitchFamily="34" charset="0"/>
                <a:ea typeface="Expert Sans" pitchFamily="34" charset="-122"/>
                <a:cs typeface="Expert Sans" pitchFamily="34" charset="-120"/>
              </a:rPr>
              <a:t>DEMAND ADMITS</a:t>
            </a:r>
            <a:endParaRPr lang="en-US" sz="1100" dirty="0"/>
          </a:p>
        </p:txBody>
      </p:sp>
      <p:sp>
        <p:nvSpPr>
          <p:cNvPr id="8" name="Text 6"/>
          <p:cNvSpPr/>
          <p:nvPr/>
        </p:nvSpPr>
        <p:spPr>
          <a:xfrm>
            <a:off x="914400" y="2578608"/>
            <a:ext cx="2798064" cy="1051560"/>
          </a:xfrm>
          <a:prstGeom prst="rect">
            <a:avLst/>
          </a:prstGeom>
          <a:noFill/>
          <a:ln/>
        </p:spPr>
        <p:txBody>
          <a:bodyPr wrap="square" lIns="0" tIns="0" rIns="0" bIns="0" rtlCol="0" anchor="t"/>
          <a:lstStyle/>
          <a:p>
            <a:pPr indent="0" marL="0">
              <a:lnSpc>
                <a:spcPts val="2100"/>
              </a:lnSpc>
              <a:buNone/>
            </a:pPr>
            <a:r>
              <a:rPr lang="en-US" sz="1650" b="1" dirty="0">
                <a:solidFill>
                  <a:srgbClr val="00395D"/>
                </a:solidFill>
                <a:latin typeface="Expert Sans" pitchFamily="34" charset="0"/>
                <a:ea typeface="Expert Sans" pitchFamily="34" charset="-122"/>
                <a:cs typeface="Expert Sans" pitchFamily="34" charset="-120"/>
              </a:rPr>
              <a:t>Exporters want three of the five — and will think of us</a:t>
            </a:r>
            <a:endParaRPr lang="en-US" sz="1650" dirty="0"/>
          </a:p>
        </p:txBody>
      </p:sp>
      <p:sp>
        <p:nvSpPr>
          <p:cNvPr id="9" name="Text 7"/>
          <p:cNvSpPr/>
          <p:nvPr/>
        </p:nvSpPr>
        <p:spPr>
          <a:xfrm>
            <a:off x="914400" y="3675888"/>
            <a:ext cx="2798064" cy="1645920"/>
          </a:xfrm>
          <a:prstGeom prst="rect">
            <a:avLst/>
          </a:prstGeom>
          <a:noFill/>
          <a:ln/>
        </p:spPr>
        <p:txBody>
          <a:bodyPr wrap="square" lIns="0" tIns="0" rIns="0" bIns="0" rtlCol="0" anchor="t"/>
          <a:lstStyle/>
          <a:p>
            <a:pPr indent="0" marL="0">
              <a:lnSpc>
                <a:spcPts val="1600"/>
              </a:lnSpc>
              <a:buNone/>
            </a:pPr>
            <a:r>
              <a:rPr lang="en-US" sz="1150" dirty="0">
                <a:solidFill>
                  <a:srgbClr val="3F5563"/>
                </a:solidFill>
                <a:latin typeface="Expert Sans" pitchFamily="34" charset="0"/>
                <a:ea typeface="Expert Sans" pitchFamily="34" charset="-122"/>
                <a:cs typeface="Expert Sans" pitchFamily="34" charset="-120"/>
              </a:rPr>
              <a:t>FX (78), invoice finance (72) and insurance (64) clear the demand gate of 60. Crypto (41) and rewards (33) never get priced. The 'Trade Ready' name makes the shelf visible at the moment the need hits.</a:t>
            </a:r>
            <a:endParaRPr lang="en-US" sz="1150" dirty="0"/>
          </a:p>
        </p:txBody>
      </p:sp>
      <p:sp>
        <p:nvSpPr>
          <p:cNvPr id="10" name="Shape 8"/>
          <p:cNvSpPr/>
          <p:nvPr/>
        </p:nvSpPr>
        <p:spPr>
          <a:xfrm>
            <a:off x="4334256" y="1627632"/>
            <a:ext cx="3493008" cy="3794760"/>
          </a:xfrm>
          <a:prstGeom prst="roundRect">
            <a:avLst>
              <a:gd name="adj" fmla="val 2618"/>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1" name="Shape 9"/>
          <p:cNvSpPr/>
          <p:nvPr/>
        </p:nvSpPr>
        <p:spPr>
          <a:xfrm>
            <a:off x="4681728" y="1938528"/>
            <a:ext cx="475488" cy="475488"/>
          </a:xfrm>
          <a:prstGeom prst="ellipse">
            <a:avLst/>
          </a:prstGeom>
          <a:solidFill>
            <a:srgbClr val="00AEEF"/>
          </a:solidFill>
          <a:ln w="12700">
            <a:solidFill>
              <a:srgbClr val="00AEEF"/>
            </a:solidFill>
            <a:prstDash val="solid"/>
          </a:ln>
        </p:spPr>
      </p:sp>
      <p:sp>
        <p:nvSpPr>
          <p:cNvPr id="12" name="Text 10"/>
          <p:cNvSpPr/>
          <p:nvPr/>
        </p:nvSpPr>
        <p:spPr>
          <a:xfrm>
            <a:off x="4681728" y="19385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Expert Sans" pitchFamily="34" charset="0"/>
                <a:ea typeface="Expert Sans" pitchFamily="34" charset="-122"/>
                <a:cs typeface="Expert Sans" pitchFamily="34" charset="-120"/>
              </a:rPr>
              <a:t>2</a:t>
            </a:r>
            <a:endParaRPr lang="en-US" sz="1600" dirty="0"/>
          </a:p>
        </p:txBody>
      </p:sp>
      <p:sp>
        <p:nvSpPr>
          <p:cNvPr id="13" name="Text 11"/>
          <p:cNvSpPr/>
          <p:nvPr/>
        </p:nvSpPr>
        <p:spPr>
          <a:xfrm>
            <a:off x="5294376" y="1938528"/>
            <a:ext cx="2212848" cy="475488"/>
          </a:xfrm>
          <a:prstGeom prst="rect">
            <a:avLst/>
          </a:prstGeom>
          <a:noFill/>
          <a:ln/>
        </p:spPr>
        <p:txBody>
          <a:bodyPr wrap="square" lIns="0" tIns="0" rIns="0" bIns="0" rtlCol="0" anchor="ctr"/>
          <a:lstStyle/>
          <a:p>
            <a:pPr indent="0" marL="0">
              <a:buNone/>
            </a:pPr>
            <a:r>
              <a:rPr lang="en-US" sz="1100" b="1" spc="200" kern="0" dirty="0">
                <a:solidFill>
                  <a:srgbClr val="0083C5"/>
                </a:solidFill>
                <a:latin typeface="Expert Sans" pitchFamily="34" charset="0"/>
                <a:ea typeface="Expert Sans" pitchFamily="34" charset="-122"/>
                <a:cs typeface="Expert Sans" pitchFamily="34" charset="-120"/>
              </a:rPr>
              <a:t>RETURN SORTS</a:t>
            </a:r>
            <a:endParaRPr lang="en-US" sz="1100" dirty="0"/>
          </a:p>
        </p:txBody>
      </p:sp>
      <p:sp>
        <p:nvSpPr>
          <p:cNvPr id="14" name="Text 12"/>
          <p:cNvSpPr/>
          <p:nvPr/>
        </p:nvSpPr>
        <p:spPr>
          <a:xfrm>
            <a:off x="4681728" y="2578608"/>
            <a:ext cx="2798064" cy="1051560"/>
          </a:xfrm>
          <a:prstGeom prst="rect">
            <a:avLst/>
          </a:prstGeom>
          <a:noFill/>
          <a:ln/>
        </p:spPr>
        <p:txBody>
          <a:bodyPr wrap="square" lIns="0" tIns="0" rIns="0" bIns="0" rtlCol="0" anchor="t"/>
          <a:lstStyle/>
          <a:p>
            <a:pPr indent="0" marL="0">
              <a:lnSpc>
                <a:spcPts val="2100"/>
              </a:lnSpc>
              <a:buNone/>
            </a:pPr>
            <a:r>
              <a:rPr lang="en-US" sz="1650" b="1" dirty="0">
                <a:solidFill>
                  <a:srgbClr val="00395D"/>
                </a:solidFill>
                <a:latin typeface="Expert Sans" pitchFamily="34" charset="0"/>
                <a:ea typeface="Expert Sans" pitchFamily="34" charset="-122"/>
                <a:cs typeface="Expert Sans" pitchFamily="34" charset="-120"/>
              </a:rPr>
              <a:t>Return per build slot sets the order — FX first</a:t>
            </a:r>
            <a:endParaRPr lang="en-US" sz="1650" dirty="0"/>
          </a:p>
        </p:txBody>
      </p:sp>
      <p:sp>
        <p:nvSpPr>
          <p:cNvPr id="15" name="Text 13"/>
          <p:cNvSpPr/>
          <p:nvPr/>
        </p:nvSpPr>
        <p:spPr>
          <a:xfrm>
            <a:off x="4681728" y="3675888"/>
            <a:ext cx="2798064" cy="1645920"/>
          </a:xfrm>
          <a:prstGeom prst="rect">
            <a:avLst/>
          </a:prstGeom>
          <a:noFill/>
          <a:ln/>
        </p:spPr>
        <p:txBody>
          <a:bodyPr wrap="square" lIns="0" tIns="0" rIns="0" bIns="0" rtlCol="0" anchor="t"/>
          <a:lstStyle/>
          <a:p>
            <a:pPr indent="0" marL="0">
              <a:lnSpc>
                <a:spcPts val="1600"/>
              </a:lnSpc>
              <a:buNone/>
            </a:pPr>
            <a:r>
              <a:rPr lang="en-US" sz="1150" dirty="0">
                <a:solidFill>
                  <a:srgbClr val="3F5563"/>
                </a:solidFill>
                <a:latin typeface="Expert Sans" pitchFamily="34" charset="0"/>
                <a:ea typeface="Expert Sans" pitchFamily="34" charset="-122"/>
                <a:cs typeface="Expert Sans" pitchFamily="34" charset="-120"/>
              </a:rPr>
              <a:t>FX earns £2.1m a slot, invoice finance £1.6m, insurance £0.9m. Insurance beats invoice finance on raw NPV and still sorts below it — it needs two slots. The order is re-scored quarterly.</a:t>
            </a:r>
            <a:endParaRPr lang="en-US" sz="1150" dirty="0"/>
          </a:p>
        </p:txBody>
      </p:sp>
      <p:sp>
        <p:nvSpPr>
          <p:cNvPr id="16" name="Shape 14"/>
          <p:cNvSpPr/>
          <p:nvPr/>
        </p:nvSpPr>
        <p:spPr>
          <a:xfrm>
            <a:off x="8101584" y="1627632"/>
            <a:ext cx="3493008" cy="3794760"/>
          </a:xfrm>
          <a:prstGeom prst="roundRect">
            <a:avLst>
              <a:gd name="adj" fmla="val 2618"/>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7" name="Shape 15"/>
          <p:cNvSpPr/>
          <p:nvPr/>
        </p:nvSpPr>
        <p:spPr>
          <a:xfrm>
            <a:off x="8449056" y="1938528"/>
            <a:ext cx="475488" cy="475488"/>
          </a:xfrm>
          <a:prstGeom prst="ellipse">
            <a:avLst/>
          </a:prstGeom>
          <a:solidFill>
            <a:srgbClr val="00AEEF"/>
          </a:solidFill>
          <a:ln w="12700">
            <a:solidFill>
              <a:srgbClr val="00AEEF"/>
            </a:solidFill>
            <a:prstDash val="solid"/>
          </a:ln>
        </p:spPr>
      </p:sp>
      <p:sp>
        <p:nvSpPr>
          <p:cNvPr id="18" name="Text 16"/>
          <p:cNvSpPr/>
          <p:nvPr/>
        </p:nvSpPr>
        <p:spPr>
          <a:xfrm>
            <a:off x="8449056" y="19385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Expert Sans" pitchFamily="34" charset="0"/>
                <a:ea typeface="Expert Sans" pitchFamily="34" charset="-122"/>
                <a:cs typeface="Expert Sans" pitchFamily="34" charset="-120"/>
              </a:rPr>
              <a:t>3</a:t>
            </a:r>
            <a:endParaRPr lang="en-US" sz="1600" dirty="0"/>
          </a:p>
        </p:txBody>
      </p:sp>
      <p:sp>
        <p:nvSpPr>
          <p:cNvPr id="19" name="Text 17"/>
          <p:cNvSpPr/>
          <p:nvPr/>
        </p:nvSpPr>
        <p:spPr>
          <a:xfrm>
            <a:off x="9061704" y="1938528"/>
            <a:ext cx="2212848" cy="475488"/>
          </a:xfrm>
          <a:prstGeom prst="rect">
            <a:avLst/>
          </a:prstGeom>
          <a:noFill/>
          <a:ln/>
        </p:spPr>
        <p:txBody>
          <a:bodyPr wrap="square" lIns="0" tIns="0" rIns="0" bIns="0" rtlCol="0" anchor="ctr"/>
          <a:lstStyle/>
          <a:p>
            <a:pPr indent="0" marL="0">
              <a:buNone/>
            </a:pPr>
            <a:r>
              <a:rPr lang="en-US" sz="1100" b="1" spc="200" kern="0" dirty="0">
                <a:solidFill>
                  <a:srgbClr val="0083C5"/>
                </a:solidFill>
                <a:latin typeface="Expert Sans" pitchFamily="34" charset="0"/>
                <a:ea typeface="Expert Sans" pitchFamily="34" charset="-122"/>
                <a:cs typeface="Expert Sans" pitchFamily="34" charset="-120"/>
              </a:rPr>
              <a:t>CAPACITY CUTS</a:t>
            </a:r>
            <a:endParaRPr lang="en-US" sz="1100" dirty="0"/>
          </a:p>
        </p:txBody>
      </p:sp>
      <p:sp>
        <p:nvSpPr>
          <p:cNvPr id="20" name="Text 18"/>
          <p:cNvSpPr/>
          <p:nvPr/>
        </p:nvSpPr>
        <p:spPr>
          <a:xfrm>
            <a:off x="8449056" y="2578608"/>
            <a:ext cx="2798064" cy="1051560"/>
          </a:xfrm>
          <a:prstGeom prst="rect">
            <a:avLst/>
          </a:prstGeom>
          <a:noFill/>
          <a:ln/>
        </p:spPr>
        <p:txBody>
          <a:bodyPr wrap="square" lIns="0" tIns="0" rIns="0" bIns="0" rtlCol="0" anchor="t"/>
          <a:lstStyle/>
          <a:p>
            <a:pPr indent="0" marL="0">
              <a:lnSpc>
                <a:spcPts val="2100"/>
              </a:lnSpc>
              <a:buNone/>
            </a:pPr>
            <a:r>
              <a:rPr lang="en-US" sz="1650" b="1" dirty="0">
                <a:solidFill>
                  <a:srgbClr val="00395D"/>
                </a:solidFill>
                <a:latin typeface="Expert Sans" pitchFamily="34" charset="0"/>
                <a:ea typeface="Expert Sans" pitchFamily="34" charset="-122"/>
                <a:cs typeface="Expert Sans" pitchFamily="34" charset="-120"/>
              </a:rPr>
              <a:t>Two slots this cycle — and the routes keep the edge</a:t>
            </a:r>
            <a:endParaRPr lang="en-US" sz="1650" dirty="0"/>
          </a:p>
        </p:txBody>
      </p:sp>
      <p:sp>
        <p:nvSpPr>
          <p:cNvPr id="21" name="Text 19"/>
          <p:cNvSpPr/>
          <p:nvPr/>
        </p:nvSpPr>
        <p:spPr>
          <a:xfrm>
            <a:off x="8449056" y="3675888"/>
            <a:ext cx="2798064" cy="1645920"/>
          </a:xfrm>
          <a:prstGeom prst="rect">
            <a:avLst/>
          </a:prstGeom>
          <a:noFill/>
          <a:ln/>
        </p:spPr>
        <p:txBody>
          <a:bodyPr wrap="square" lIns="0" tIns="0" rIns="0" bIns="0" rtlCol="0" anchor="t"/>
          <a:lstStyle/>
          <a:p>
            <a:pPr indent="0" marL="0">
              <a:lnSpc>
                <a:spcPts val="1600"/>
              </a:lnSpc>
              <a:buNone/>
            </a:pPr>
            <a:r>
              <a:rPr lang="en-US" sz="1150" dirty="0">
                <a:solidFill>
                  <a:srgbClr val="3F5563"/>
                </a:solidFill>
                <a:latin typeface="Expert Sans" pitchFamily="34" charset="0"/>
                <a:ea typeface="Expert Sans" pitchFamily="34" charset="-122"/>
                <a:cs typeface="Expert Sans" pitchFamily="34" charset="-120"/>
              </a:rPr>
              <a:t>FX builds in-house on our core platform. Invoice finance partners: live in 5 months instead of 18. Insurance waits on the claims capability. Partner terms keep the customer and the data ours.</a:t>
            </a:r>
            <a:endParaRPr lang="en-US" sz="1150" dirty="0"/>
          </a:p>
        </p:txBody>
      </p:sp>
      <p:sp>
        <p:nvSpPr>
          <p:cNvPr id="22" name="Text 20"/>
          <p:cNvSpPr/>
          <p:nvPr/>
        </p:nvSpPr>
        <p:spPr>
          <a:xfrm>
            <a:off x="566928" y="5596128"/>
            <a:ext cx="11027664" cy="457200"/>
          </a:xfrm>
          <a:prstGeom prst="rect">
            <a:avLst/>
          </a:prstGeom>
          <a:noFill/>
          <a:ln/>
        </p:spPr>
        <p:txBody>
          <a:bodyPr wrap="square" lIns="0" tIns="0" rIns="0" bIns="0" rtlCol="0" anchor="ctr"/>
          <a:lstStyle/>
          <a:p>
            <a:pPr indent="0" marL="0">
              <a:buNone/>
            </a:pPr>
            <a:r>
              <a:rPr lang="en-US" sz="1300" i="1" dirty="0">
                <a:solidFill>
                  <a:srgbClr val="6E7F8D"/>
                </a:solidFill>
                <a:latin typeface="Expert Sans" pitchFamily="34" charset="0"/>
                <a:ea typeface="Expert Sans" pitchFamily="34" charset="-122"/>
                <a:cs typeface="Expert Sans" pitchFamily="34" charset="-120"/>
              </a:rPr>
              <a:t>Each reason stands alone: attack demand, the sort, or the cut separately — the other two hold.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0083C5"/>
                </a:solidFill>
                <a:latin typeface="Expert Sans" pitchFamily="34" charset="0"/>
                <a:ea typeface="Expert Sans" pitchFamily="34" charset="-122"/>
                <a:cs typeface="Expert Sans" pitchFamily="34" charset="-120"/>
              </a:rPr>
              <a:t>THE BACKLOG, DECIDED</a:t>
            </a:r>
            <a:endParaRPr lang="en-US" sz="1100" dirty="0"/>
          </a:p>
        </p:txBody>
      </p:sp>
      <p:sp>
        <p:nvSpPr>
          <p:cNvPr id="3" name="Text 1"/>
          <p:cNvSpPr/>
          <p:nvPr/>
        </p:nvSpPr>
        <p:spPr>
          <a:xfrm>
            <a:off x="566928" y="548640"/>
            <a:ext cx="9564624" cy="969264"/>
          </a:xfrm>
          <a:prstGeom prst="rect">
            <a:avLst/>
          </a:prstGeom>
          <a:noFill/>
          <a:ln/>
        </p:spPr>
        <p:txBody>
          <a:bodyPr wrap="square" lIns="0" tIns="0" rIns="0" bIns="0" rtlCol="0" anchor="t"/>
          <a:lstStyle/>
          <a:p>
            <a:pPr algn="l" indent="0" marL="0">
              <a:lnSpc>
                <a:spcPts val="3000"/>
              </a:lnSpc>
              <a:buNone/>
            </a:pPr>
            <a:r>
              <a:rPr lang="en-US" sz="2500" dirty="0">
                <a:solidFill>
                  <a:srgbClr val="00AEEF"/>
                </a:solidFill>
                <a:latin typeface="Expert Sans" pitchFamily="34" charset="0"/>
                <a:ea typeface="Expert Sans" pitchFamily="34" charset="-122"/>
                <a:cs typeface="Expert Sans" pitchFamily="34" charset="-120"/>
              </a:rPr>
              <a:t>One page: the order, and why each feature sits where it sits</a:t>
            </a:r>
            <a:endParaRPr lang="en-US" sz="2500" dirty="0"/>
          </a:p>
        </p:txBody>
      </p:sp>
      <p:sp>
        <p:nvSpPr>
          <p:cNvPr id="4" name="Text 2"/>
          <p:cNvSpPr/>
          <p:nvPr/>
        </p:nvSpPr>
        <p:spPr>
          <a:xfrm>
            <a:off x="566928" y="1627632"/>
            <a:ext cx="1097280" cy="658368"/>
          </a:xfrm>
          <a:prstGeom prst="rect">
            <a:avLst/>
          </a:prstGeom>
          <a:noFill/>
          <a:ln/>
        </p:spPr>
        <p:txBody>
          <a:bodyPr wrap="square" lIns="0" tIns="0" rIns="0" bIns="0" rtlCol="0" anchor="b"/>
          <a:lstStyle/>
          <a:p>
            <a:pPr indent="0" marL="0">
              <a:lnSpc>
                <a:spcPts val="1400"/>
              </a:lnSpc>
              <a:buNone/>
            </a:pPr>
            <a:r>
              <a:rPr lang="en-US" sz="1100" b="1" dirty="0">
                <a:solidFill>
                  <a:srgbClr val="00395D"/>
                </a:solidFill>
                <a:latin typeface="Expert Sans" pitchFamily="34" charset="0"/>
                <a:ea typeface="Expert Sans" pitchFamily="34" charset="-122"/>
                <a:cs typeface="Expert Sans" pitchFamily="34" charset="-120"/>
              </a:rPr>
              <a:t>Position</a:t>
            </a:r>
            <a:endParaRPr lang="en-US" sz="1100" dirty="0"/>
          </a:p>
        </p:txBody>
      </p:sp>
      <p:sp>
        <p:nvSpPr>
          <p:cNvPr id="5" name="Text 3"/>
          <p:cNvSpPr/>
          <p:nvPr/>
        </p:nvSpPr>
        <p:spPr>
          <a:xfrm>
            <a:off x="1801368" y="1627632"/>
            <a:ext cx="2423160" cy="658368"/>
          </a:xfrm>
          <a:prstGeom prst="rect">
            <a:avLst/>
          </a:prstGeom>
          <a:noFill/>
          <a:ln/>
        </p:spPr>
        <p:txBody>
          <a:bodyPr wrap="square" lIns="0" tIns="0" rIns="0" bIns="0" rtlCol="0" anchor="b"/>
          <a:lstStyle/>
          <a:p>
            <a:pPr indent="0" marL="0">
              <a:lnSpc>
                <a:spcPts val="1400"/>
              </a:lnSpc>
              <a:buNone/>
            </a:pPr>
            <a:r>
              <a:rPr lang="en-US" sz="1100" b="1" dirty="0">
                <a:solidFill>
                  <a:srgbClr val="00395D"/>
                </a:solidFill>
                <a:latin typeface="Expert Sans" pitchFamily="34" charset="0"/>
                <a:ea typeface="Expert Sans" pitchFamily="34" charset="-122"/>
                <a:cs typeface="Expert Sans" pitchFamily="34" charset="-120"/>
              </a:rPr>
              <a:t>Feature</a:t>
            </a:r>
            <a:endParaRPr lang="en-US" sz="1100" dirty="0"/>
          </a:p>
        </p:txBody>
      </p:sp>
      <p:sp>
        <p:nvSpPr>
          <p:cNvPr id="6" name="Text 4"/>
          <p:cNvSpPr/>
          <p:nvPr/>
        </p:nvSpPr>
        <p:spPr>
          <a:xfrm>
            <a:off x="4361688" y="1627632"/>
            <a:ext cx="1417320" cy="658368"/>
          </a:xfrm>
          <a:prstGeom prst="rect">
            <a:avLst/>
          </a:prstGeom>
          <a:noFill/>
          <a:ln/>
        </p:spPr>
        <p:txBody>
          <a:bodyPr wrap="square" lIns="0" tIns="0" rIns="0" bIns="0" rtlCol="0" anchor="b"/>
          <a:lstStyle/>
          <a:p>
            <a:pPr indent="0" marL="0">
              <a:lnSpc>
                <a:spcPts val="1400"/>
              </a:lnSpc>
              <a:buNone/>
            </a:pPr>
            <a:r>
              <a:rPr lang="en-US" sz="1100" b="1" dirty="0">
                <a:solidFill>
                  <a:srgbClr val="00395D"/>
                </a:solidFill>
                <a:latin typeface="Expert Sans" pitchFamily="34" charset="0"/>
                <a:ea typeface="Expert Sans" pitchFamily="34" charset="-122"/>
                <a:cs typeface="Expert Sans" pitchFamily="34" charset="-120"/>
              </a:rPr>
              <a:t>Demand</a:t>
            </a:r>
            <a:endParaRPr lang="en-US" sz="1100" dirty="0"/>
          </a:p>
          <a:p>
            <a:pPr indent="0" marL="0">
              <a:lnSpc>
                <a:spcPts val="1400"/>
              </a:lnSpc>
              <a:buNone/>
            </a:pPr>
            <a:r>
              <a:rPr lang="en-US" sz="1100" b="1" dirty="0">
                <a:solidFill>
                  <a:srgbClr val="00395D"/>
                </a:solidFill>
                <a:latin typeface="Expert Sans" pitchFamily="34" charset="0"/>
                <a:ea typeface="Expert Sans" pitchFamily="34" charset="-122"/>
                <a:cs typeface="Expert Sans" pitchFamily="34" charset="-120"/>
              </a:rPr>
              <a:t>vs gate 60</a:t>
            </a:r>
            <a:endParaRPr lang="en-US" sz="1100" dirty="0"/>
          </a:p>
        </p:txBody>
      </p:sp>
      <p:sp>
        <p:nvSpPr>
          <p:cNvPr id="7" name="Text 5"/>
          <p:cNvSpPr/>
          <p:nvPr/>
        </p:nvSpPr>
        <p:spPr>
          <a:xfrm>
            <a:off x="5916168" y="1627632"/>
            <a:ext cx="1417320" cy="658368"/>
          </a:xfrm>
          <a:prstGeom prst="rect">
            <a:avLst/>
          </a:prstGeom>
          <a:noFill/>
          <a:ln/>
        </p:spPr>
        <p:txBody>
          <a:bodyPr wrap="square" lIns="0" tIns="0" rIns="0" bIns="0" rtlCol="0" anchor="b"/>
          <a:lstStyle/>
          <a:p>
            <a:pPr indent="0" marL="0">
              <a:lnSpc>
                <a:spcPts val="1400"/>
              </a:lnSpc>
              <a:buNone/>
            </a:pPr>
            <a:r>
              <a:rPr lang="en-US" sz="1100" b="1" dirty="0">
                <a:solidFill>
                  <a:srgbClr val="00395D"/>
                </a:solidFill>
                <a:latin typeface="Expert Sans" pitchFamily="34" charset="0"/>
                <a:ea typeface="Expert Sans" pitchFamily="34" charset="-122"/>
                <a:cs typeface="Expert Sans" pitchFamily="34" charset="-120"/>
              </a:rPr>
              <a:t>Return</a:t>
            </a:r>
            <a:endParaRPr lang="en-US" sz="1100" dirty="0"/>
          </a:p>
          <a:p>
            <a:pPr indent="0" marL="0">
              <a:lnSpc>
                <a:spcPts val="1400"/>
              </a:lnSpc>
              <a:buNone/>
            </a:pPr>
            <a:r>
              <a:rPr lang="en-US" sz="1100" b="1" dirty="0">
                <a:solidFill>
                  <a:srgbClr val="00395D"/>
                </a:solidFill>
                <a:latin typeface="Expert Sans" pitchFamily="34" charset="0"/>
                <a:ea typeface="Expert Sans" pitchFamily="34" charset="-122"/>
                <a:cs typeface="Expert Sans" pitchFamily="34" charset="-120"/>
              </a:rPr>
              <a:t>per slot</a:t>
            </a:r>
            <a:endParaRPr lang="en-US" sz="1100" dirty="0"/>
          </a:p>
        </p:txBody>
      </p:sp>
      <p:sp>
        <p:nvSpPr>
          <p:cNvPr id="8" name="Text 6"/>
          <p:cNvSpPr/>
          <p:nvPr/>
        </p:nvSpPr>
        <p:spPr>
          <a:xfrm>
            <a:off x="7470648" y="1627632"/>
            <a:ext cx="2606040" cy="658368"/>
          </a:xfrm>
          <a:prstGeom prst="rect">
            <a:avLst/>
          </a:prstGeom>
          <a:noFill/>
          <a:ln/>
        </p:spPr>
        <p:txBody>
          <a:bodyPr wrap="square" lIns="0" tIns="0" rIns="0" bIns="0" rtlCol="0" anchor="b"/>
          <a:lstStyle/>
          <a:p>
            <a:pPr indent="0" marL="0">
              <a:lnSpc>
                <a:spcPts val="1400"/>
              </a:lnSpc>
              <a:buNone/>
            </a:pPr>
            <a:r>
              <a:rPr lang="en-US" sz="1100" b="1" dirty="0">
                <a:solidFill>
                  <a:srgbClr val="00395D"/>
                </a:solidFill>
                <a:latin typeface="Expert Sans" pitchFamily="34" charset="0"/>
                <a:ea typeface="Expert Sans" pitchFamily="34" charset="-122"/>
                <a:cs typeface="Expert Sans" pitchFamily="34" charset="-120"/>
              </a:rPr>
              <a:t>Route</a:t>
            </a:r>
            <a:endParaRPr lang="en-US" sz="1100" dirty="0"/>
          </a:p>
        </p:txBody>
      </p:sp>
      <p:sp>
        <p:nvSpPr>
          <p:cNvPr id="9" name="Text 7"/>
          <p:cNvSpPr/>
          <p:nvPr/>
        </p:nvSpPr>
        <p:spPr>
          <a:xfrm>
            <a:off x="10213848" y="1627632"/>
            <a:ext cx="1325880" cy="658368"/>
          </a:xfrm>
          <a:prstGeom prst="rect">
            <a:avLst/>
          </a:prstGeom>
          <a:noFill/>
          <a:ln/>
        </p:spPr>
        <p:txBody>
          <a:bodyPr wrap="square" lIns="0" tIns="0" rIns="0" bIns="0" rtlCol="0" anchor="b"/>
          <a:lstStyle/>
          <a:p>
            <a:pPr indent="0" marL="0">
              <a:lnSpc>
                <a:spcPts val="1400"/>
              </a:lnSpc>
              <a:buNone/>
            </a:pPr>
            <a:r>
              <a:rPr lang="en-US" sz="1100" b="1" dirty="0">
                <a:solidFill>
                  <a:srgbClr val="00395D"/>
                </a:solidFill>
                <a:latin typeface="Expert Sans" pitchFamily="34" charset="0"/>
                <a:ea typeface="Expert Sans" pitchFamily="34" charset="-122"/>
                <a:cs typeface="Expert Sans" pitchFamily="34" charset="-120"/>
              </a:rPr>
              <a:t>Status</a:t>
            </a:r>
            <a:endParaRPr lang="en-US" sz="1100" dirty="0"/>
          </a:p>
        </p:txBody>
      </p:sp>
      <p:sp>
        <p:nvSpPr>
          <p:cNvPr id="10" name="Shape 8"/>
          <p:cNvSpPr/>
          <p:nvPr/>
        </p:nvSpPr>
        <p:spPr>
          <a:xfrm>
            <a:off x="566928" y="2359152"/>
            <a:ext cx="11027664" cy="0"/>
          </a:xfrm>
          <a:prstGeom prst="line">
            <a:avLst/>
          </a:prstGeom>
          <a:noFill/>
          <a:ln w="19050">
            <a:solidFill>
              <a:srgbClr val="00395D"/>
            </a:solidFill>
            <a:prstDash val="solid"/>
          </a:ln>
        </p:spPr>
      </p:sp>
      <p:sp>
        <p:nvSpPr>
          <p:cNvPr id="11" name="Shape 9"/>
          <p:cNvSpPr/>
          <p:nvPr/>
        </p:nvSpPr>
        <p:spPr>
          <a:xfrm>
            <a:off x="566928" y="2432304"/>
            <a:ext cx="11027664" cy="658368"/>
          </a:xfrm>
          <a:prstGeom prst="rect">
            <a:avLst/>
          </a:prstGeom>
          <a:solidFill>
            <a:srgbClr val="F5F8FA"/>
          </a:solidFill>
          <a:ln w="12700">
            <a:solidFill>
              <a:srgbClr val="F5F8FA"/>
            </a:solidFill>
            <a:prstDash val="solid"/>
          </a:ln>
        </p:spPr>
      </p:sp>
      <p:sp>
        <p:nvSpPr>
          <p:cNvPr id="12" name="Text 10"/>
          <p:cNvSpPr/>
          <p:nvPr/>
        </p:nvSpPr>
        <p:spPr>
          <a:xfrm>
            <a:off x="566928" y="2487168"/>
            <a:ext cx="1097280" cy="548640"/>
          </a:xfrm>
          <a:prstGeom prst="rect">
            <a:avLst/>
          </a:prstGeom>
          <a:noFill/>
          <a:ln/>
        </p:spPr>
        <p:txBody>
          <a:bodyPr wrap="square" lIns="0" tIns="0" rIns="0" bIns="0" rtlCol="0" anchor="ctr"/>
          <a:lstStyle/>
          <a:p>
            <a:pPr indent="0" marL="0">
              <a:buNone/>
            </a:pPr>
            <a:r>
              <a:rPr lang="en-US" sz="1800" b="1" dirty="0">
                <a:solidFill>
                  <a:srgbClr val="0083C5"/>
                </a:solidFill>
                <a:latin typeface="Expert Sans" pitchFamily="34" charset="0"/>
                <a:ea typeface="Expert Sans" pitchFamily="34" charset="-122"/>
                <a:cs typeface="Expert Sans" pitchFamily="34" charset="-120"/>
              </a:rPr>
              <a:t>1</a:t>
            </a:r>
            <a:endParaRPr lang="en-US" sz="1800" dirty="0"/>
          </a:p>
        </p:txBody>
      </p:sp>
      <p:sp>
        <p:nvSpPr>
          <p:cNvPr id="13" name="Text 11"/>
          <p:cNvSpPr/>
          <p:nvPr/>
        </p:nvSpPr>
        <p:spPr>
          <a:xfrm>
            <a:off x="1801368" y="2487168"/>
            <a:ext cx="2423160" cy="548640"/>
          </a:xfrm>
          <a:prstGeom prst="rect">
            <a:avLst/>
          </a:prstGeom>
          <a:noFill/>
          <a:ln/>
        </p:spPr>
        <p:txBody>
          <a:bodyPr wrap="square" lIns="0" tIns="0" rIns="0" bIns="0" rtlCol="0" anchor="ctr"/>
          <a:lstStyle/>
          <a:p>
            <a:pPr indent="0" marL="0">
              <a:buNone/>
            </a:pPr>
            <a:r>
              <a:rPr lang="en-US" sz="1400" b="1" dirty="0">
                <a:solidFill>
                  <a:srgbClr val="00395D"/>
                </a:solidFill>
                <a:latin typeface="Expert Sans" pitchFamily="34" charset="0"/>
                <a:ea typeface="Expert Sans" pitchFamily="34" charset="-122"/>
                <a:cs typeface="Expert Sans" pitchFamily="34" charset="-120"/>
              </a:rPr>
              <a:t>FX payments</a:t>
            </a:r>
            <a:endParaRPr lang="en-US" sz="1400" dirty="0"/>
          </a:p>
        </p:txBody>
      </p:sp>
      <p:sp>
        <p:nvSpPr>
          <p:cNvPr id="14" name="Text 12"/>
          <p:cNvSpPr/>
          <p:nvPr/>
        </p:nvSpPr>
        <p:spPr>
          <a:xfrm>
            <a:off x="4361688" y="2487168"/>
            <a:ext cx="1417320" cy="548640"/>
          </a:xfrm>
          <a:prstGeom prst="rect">
            <a:avLst/>
          </a:prstGeom>
          <a:noFill/>
          <a:ln/>
        </p:spPr>
        <p:txBody>
          <a:bodyPr wrap="square" lIns="0" tIns="0" rIns="0" bIns="0" rtlCol="0" anchor="ctr"/>
          <a:lstStyle/>
          <a:p>
            <a:pPr indent="0" marL="0">
              <a:buNone/>
            </a:pPr>
            <a:r>
              <a:rPr lang="en-US" sz="1300" dirty="0">
                <a:solidFill>
                  <a:srgbClr val="3F5563"/>
                </a:solidFill>
                <a:latin typeface="Expert Sans" pitchFamily="34" charset="0"/>
                <a:ea typeface="Expert Sans" pitchFamily="34" charset="-122"/>
                <a:cs typeface="Expert Sans" pitchFamily="34" charset="-120"/>
              </a:rPr>
              <a:t>78</a:t>
            </a:r>
            <a:endParaRPr lang="en-US" sz="1300" dirty="0"/>
          </a:p>
        </p:txBody>
      </p:sp>
      <p:sp>
        <p:nvSpPr>
          <p:cNvPr id="15" name="Text 13"/>
          <p:cNvSpPr/>
          <p:nvPr/>
        </p:nvSpPr>
        <p:spPr>
          <a:xfrm>
            <a:off x="5916168" y="2487168"/>
            <a:ext cx="1417320" cy="548640"/>
          </a:xfrm>
          <a:prstGeom prst="rect">
            <a:avLst/>
          </a:prstGeom>
          <a:noFill/>
          <a:ln/>
        </p:spPr>
        <p:txBody>
          <a:bodyPr wrap="square" lIns="0" tIns="0" rIns="0" bIns="0" rtlCol="0" anchor="ctr"/>
          <a:lstStyle/>
          <a:p>
            <a:pPr indent="0" marL="0">
              <a:buNone/>
            </a:pPr>
            <a:r>
              <a:rPr lang="en-US" sz="1300" b="1" dirty="0">
                <a:solidFill>
                  <a:srgbClr val="00395D"/>
                </a:solidFill>
                <a:latin typeface="Expert Sans" pitchFamily="34" charset="0"/>
                <a:ea typeface="Expert Sans" pitchFamily="34" charset="-122"/>
                <a:cs typeface="Expert Sans" pitchFamily="34" charset="-120"/>
              </a:rPr>
              <a:t>£2.1m</a:t>
            </a:r>
            <a:endParaRPr lang="en-US" sz="1300" dirty="0"/>
          </a:p>
        </p:txBody>
      </p:sp>
      <p:sp>
        <p:nvSpPr>
          <p:cNvPr id="16" name="Text 14"/>
          <p:cNvSpPr/>
          <p:nvPr/>
        </p:nvSpPr>
        <p:spPr>
          <a:xfrm>
            <a:off x="7470648" y="2487168"/>
            <a:ext cx="2606040" cy="548640"/>
          </a:xfrm>
          <a:prstGeom prst="rect">
            <a:avLst/>
          </a:prstGeom>
          <a:noFill/>
          <a:ln/>
        </p:spPr>
        <p:txBody>
          <a:bodyPr wrap="square" lIns="0" tIns="0" rIns="0" bIns="0" rtlCol="0" anchor="ctr"/>
          <a:lstStyle/>
          <a:p>
            <a:pPr indent="0" marL="0">
              <a:buNone/>
            </a:pPr>
            <a:r>
              <a:rPr lang="en-US" sz="1200" dirty="0">
                <a:solidFill>
                  <a:srgbClr val="3F5563"/>
                </a:solidFill>
                <a:latin typeface="Expert Sans" pitchFamily="34" charset="0"/>
                <a:ea typeface="Expert Sans" pitchFamily="34" charset="-122"/>
                <a:cs typeface="Expert Sans" pitchFamily="34" charset="-120"/>
              </a:rPr>
              <a:t>Build in-house</a:t>
            </a:r>
            <a:endParaRPr lang="en-US" sz="1200" dirty="0"/>
          </a:p>
        </p:txBody>
      </p:sp>
      <p:sp>
        <p:nvSpPr>
          <p:cNvPr id="17" name="Text 15"/>
          <p:cNvSpPr/>
          <p:nvPr/>
        </p:nvSpPr>
        <p:spPr>
          <a:xfrm>
            <a:off x="10213848" y="2487168"/>
            <a:ext cx="1463040" cy="548640"/>
          </a:xfrm>
          <a:prstGeom prst="rect">
            <a:avLst/>
          </a:prstGeom>
          <a:noFill/>
          <a:ln/>
        </p:spPr>
        <p:txBody>
          <a:bodyPr wrap="square" lIns="0" tIns="0" rIns="0" bIns="0" rtlCol="0" anchor="ctr"/>
          <a:lstStyle/>
          <a:p>
            <a:pPr indent="0" marL="0">
              <a:buNone/>
            </a:pPr>
            <a:r>
              <a:rPr lang="en-US" sz="1100" b="1" spc="80" kern="0" dirty="0">
                <a:solidFill>
                  <a:srgbClr val="0083C5"/>
                </a:solidFill>
                <a:latin typeface="Expert Sans" pitchFamily="34" charset="0"/>
                <a:ea typeface="Expert Sans" pitchFamily="34" charset="-122"/>
                <a:cs typeface="Expert Sans" pitchFamily="34" charset="-120"/>
              </a:rPr>
              <a:t>THIS CYCLE</a:t>
            </a:r>
            <a:endParaRPr lang="en-US" sz="1100" dirty="0"/>
          </a:p>
        </p:txBody>
      </p:sp>
      <p:sp>
        <p:nvSpPr>
          <p:cNvPr id="18" name="Text 16"/>
          <p:cNvSpPr/>
          <p:nvPr/>
        </p:nvSpPr>
        <p:spPr>
          <a:xfrm>
            <a:off x="566928" y="3127248"/>
            <a:ext cx="1097280" cy="548640"/>
          </a:xfrm>
          <a:prstGeom prst="rect">
            <a:avLst/>
          </a:prstGeom>
          <a:noFill/>
          <a:ln/>
        </p:spPr>
        <p:txBody>
          <a:bodyPr wrap="square" lIns="0" tIns="0" rIns="0" bIns="0" rtlCol="0" anchor="ctr"/>
          <a:lstStyle/>
          <a:p>
            <a:pPr indent="0" marL="0">
              <a:buNone/>
            </a:pPr>
            <a:r>
              <a:rPr lang="en-US" sz="1800" b="1" dirty="0">
                <a:solidFill>
                  <a:srgbClr val="0083C5"/>
                </a:solidFill>
                <a:latin typeface="Expert Sans" pitchFamily="34" charset="0"/>
                <a:ea typeface="Expert Sans" pitchFamily="34" charset="-122"/>
                <a:cs typeface="Expert Sans" pitchFamily="34" charset="-120"/>
              </a:rPr>
              <a:t>2</a:t>
            </a:r>
            <a:endParaRPr lang="en-US" sz="1800" dirty="0"/>
          </a:p>
        </p:txBody>
      </p:sp>
      <p:sp>
        <p:nvSpPr>
          <p:cNvPr id="19" name="Text 17"/>
          <p:cNvSpPr/>
          <p:nvPr/>
        </p:nvSpPr>
        <p:spPr>
          <a:xfrm>
            <a:off x="1801368" y="3127248"/>
            <a:ext cx="2423160" cy="548640"/>
          </a:xfrm>
          <a:prstGeom prst="rect">
            <a:avLst/>
          </a:prstGeom>
          <a:noFill/>
          <a:ln/>
        </p:spPr>
        <p:txBody>
          <a:bodyPr wrap="square" lIns="0" tIns="0" rIns="0" bIns="0" rtlCol="0" anchor="ctr"/>
          <a:lstStyle/>
          <a:p>
            <a:pPr indent="0" marL="0">
              <a:buNone/>
            </a:pPr>
            <a:r>
              <a:rPr lang="en-US" sz="1400" b="1" dirty="0">
                <a:solidFill>
                  <a:srgbClr val="00395D"/>
                </a:solidFill>
                <a:latin typeface="Expert Sans" pitchFamily="34" charset="0"/>
                <a:ea typeface="Expert Sans" pitchFamily="34" charset="-122"/>
                <a:cs typeface="Expert Sans" pitchFamily="34" charset="-120"/>
              </a:rPr>
              <a:t>Invoice finance</a:t>
            </a:r>
            <a:endParaRPr lang="en-US" sz="1400" dirty="0"/>
          </a:p>
        </p:txBody>
      </p:sp>
      <p:sp>
        <p:nvSpPr>
          <p:cNvPr id="20" name="Text 18"/>
          <p:cNvSpPr/>
          <p:nvPr/>
        </p:nvSpPr>
        <p:spPr>
          <a:xfrm>
            <a:off x="4361688" y="3127248"/>
            <a:ext cx="1417320" cy="548640"/>
          </a:xfrm>
          <a:prstGeom prst="rect">
            <a:avLst/>
          </a:prstGeom>
          <a:noFill/>
          <a:ln/>
        </p:spPr>
        <p:txBody>
          <a:bodyPr wrap="square" lIns="0" tIns="0" rIns="0" bIns="0" rtlCol="0" anchor="ctr"/>
          <a:lstStyle/>
          <a:p>
            <a:pPr indent="0" marL="0">
              <a:buNone/>
            </a:pPr>
            <a:r>
              <a:rPr lang="en-US" sz="1300" dirty="0">
                <a:solidFill>
                  <a:srgbClr val="3F5563"/>
                </a:solidFill>
                <a:latin typeface="Expert Sans" pitchFamily="34" charset="0"/>
                <a:ea typeface="Expert Sans" pitchFamily="34" charset="-122"/>
                <a:cs typeface="Expert Sans" pitchFamily="34" charset="-120"/>
              </a:rPr>
              <a:t>72</a:t>
            </a:r>
            <a:endParaRPr lang="en-US" sz="1300" dirty="0"/>
          </a:p>
        </p:txBody>
      </p:sp>
      <p:sp>
        <p:nvSpPr>
          <p:cNvPr id="21" name="Text 19"/>
          <p:cNvSpPr/>
          <p:nvPr/>
        </p:nvSpPr>
        <p:spPr>
          <a:xfrm>
            <a:off x="5916168" y="3127248"/>
            <a:ext cx="1417320" cy="548640"/>
          </a:xfrm>
          <a:prstGeom prst="rect">
            <a:avLst/>
          </a:prstGeom>
          <a:noFill/>
          <a:ln/>
        </p:spPr>
        <p:txBody>
          <a:bodyPr wrap="square" lIns="0" tIns="0" rIns="0" bIns="0" rtlCol="0" anchor="ctr"/>
          <a:lstStyle/>
          <a:p>
            <a:pPr indent="0" marL="0">
              <a:buNone/>
            </a:pPr>
            <a:r>
              <a:rPr lang="en-US" sz="1300" b="1" dirty="0">
                <a:solidFill>
                  <a:srgbClr val="00395D"/>
                </a:solidFill>
                <a:latin typeface="Expert Sans" pitchFamily="34" charset="0"/>
                <a:ea typeface="Expert Sans" pitchFamily="34" charset="-122"/>
                <a:cs typeface="Expert Sans" pitchFamily="34" charset="-120"/>
              </a:rPr>
              <a:t>£1.6m</a:t>
            </a:r>
            <a:endParaRPr lang="en-US" sz="1300" dirty="0"/>
          </a:p>
        </p:txBody>
      </p:sp>
      <p:sp>
        <p:nvSpPr>
          <p:cNvPr id="22" name="Text 20"/>
          <p:cNvSpPr/>
          <p:nvPr/>
        </p:nvSpPr>
        <p:spPr>
          <a:xfrm>
            <a:off x="7470648" y="3127248"/>
            <a:ext cx="2606040" cy="548640"/>
          </a:xfrm>
          <a:prstGeom prst="rect">
            <a:avLst/>
          </a:prstGeom>
          <a:noFill/>
          <a:ln/>
        </p:spPr>
        <p:txBody>
          <a:bodyPr wrap="square" lIns="0" tIns="0" rIns="0" bIns="0" rtlCol="0" anchor="ctr"/>
          <a:lstStyle/>
          <a:p>
            <a:pPr indent="0" marL="0">
              <a:buNone/>
            </a:pPr>
            <a:r>
              <a:rPr lang="en-US" sz="1200" dirty="0">
                <a:solidFill>
                  <a:srgbClr val="3F5563"/>
                </a:solidFill>
                <a:latin typeface="Expert Sans" pitchFamily="34" charset="0"/>
                <a:ea typeface="Expert Sans" pitchFamily="34" charset="-122"/>
                <a:cs typeface="Expert Sans" pitchFamily="34" charset="-120"/>
              </a:rPr>
              <a:t>Partner</a:t>
            </a:r>
            <a:endParaRPr lang="en-US" sz="1200" dirty="0"/>
          </a:p>
        </p:txBody>
      </p:sp>
      <p:sp>
        <p:nvSpPr>
          <p:cNvPr id="23" name="Text 21"/>
          <p:cNvSpPr/>
          <p:nvPr/>
        </p:nvSpPr>
        <p:spPr>
          <a:xfrm>
            <a:off x="10213848" y="3127248"/>
            <a:ext cx="1463040" cy="548640"/>
          </a:xfrm>
          <a:prstGeom prst="rect">
            <a:avLst/>
          </a:prstGeom>
          <a:noFill/>
          <a:ln/>
        </p:spPr>
        <p:txBody>
          <a:bodyPr wrap="square" lIns="0" tIns="0" rIns="0" bIns="0" rtlCol="0" anchor="ctr"/>
          <a:lstStyle/>
          <a:p>
            <a:pPr indent="0" marL="0">
              <a:buNone/>
            </a:pPr>
            <a:r>
              <a:rPr lang="en-US" sz="1100" b="1" spc="80" kern="0" dirty="0">
                <a:solidFill>
                  <a:srgbClr val="0083C5"/>
                </a:solidFill>
                <a:latin typeface="Expert Sans" pitchFamily="34" charset="0"/>
                <a:ea typeface="Expert Sans" pitchFamily="34" charset="-122"/>
                <a:cs typeface="Expert Sans" pitchFamily="34" charset="-120"/>
              </a:rPr>
              <a:t>THIS CYCLE</a:t>
            </a:r>
            <a:endParaRPr lang="en-US" sz="1100" dirty="0"/>
          </a:p>
        </p:txBody>
      </p:sp>
      <p:sp>
        <p:nvSpPr>
          <p:cNvPr id="24" name="Shape 22"/>
          <p:cNvSpPr/>
          <p:nvPr/>
        </p:nvSpPr>
        <p:spPr>
          <a:xfrm>
            <a:off x="566928" y="3712464"/>
            <a:ext cx="11027664" cy="658368"/>
          </a:xfrm>
          <a:prstGeom prst="rect">
            <a:avLst/>
          </a:prstGeom>
          <a:solidFill>
            <a:srgbClr val="F5F8FA"/>
          </a:solidFill>
          <a:ln w="12700">
            <a:solidFill>
              <a:srgbClr val="F5F8FA"/>
            </a:solidFill>
            <a:prstDash val="solid"/>
          </a:ln>
        </p:spPr>
      </p:sp>
      <p:sp>
        <p:nvSpPr>
          <p:cNvPr id="25" name="Text 23"/>
          <p:cNvSpPr/>
          <p:nvPr/>
        </p:nvSpPr>
        <p:spPr>
          <a:xfrm>
            <a:off x="566928" y="3767328"/>
            <a:ext cx="1097280" cy="548640"/>
          </a:xfrm>
          <a:prstGeom prst="rect">
            <a:avLst/>
          </a:prstGeom>
          <a:noFill/>
          <a:ln/>
        </p:spPr>
        <p:txBody>
          <a:bodyPr wrap="square" lIns="0" tIns="0" rIns="0" bIns="0" rtlCol="0" anchor="ctr"/>
          <a:lstStyle/>
          <a:p>
            <a:pPr indent="0" marL="0">
              <a:buNone/>
            </a:pPr>
            <a:r>
              <a:rPr lang="en-US" sz="1800" b="1" dirty="0">
                <a:solidFill>
                  <a:srgbClr val="007FBD"/>
                </a:solidFill>
                <a:latin typeface="Expert Sans" pitchFamily="34" charset="0"/>
                <a:ea typeface="Expert Sans" pitchFamily="34" charset="-122"/>
                <a:cs typeface="Expert Sans" pitchFamily="34" charset="-120"/>
              </a:rPr>
              <a:t>3</a:t>
            </a:r>
            <a:endParaRPr lang="en-US" sz="1800" dirty="0"/>
          </a:p>
        </p:txBody>
      </p:sp>
      <p:sp>
        <p:nvSpPr>
          <p:cNvPr id="26" name="Text 24"/>
          <p:cNvSpPr/>
          <p:nvPr/>
        </p:nvSpPr>
        <p:spPr>
          <a:xfrm>
            <a:off x="1801368" y="3767328"/>
            <a:ext cx="2423160" cy="548640"/>
          </a:xfrm>
          <a:prstGeom prst="rect">
            <a:avLst/>
          </a:prstGeom>
          <a:noFill/>
          <a:ln/>
        </p:spPr>
        <p:txBody>
          <a:bodyPr wrap="square" lIns="0" tIns="0" rIns="0" bIns="0" rtlCol="0" anchor="ctr"/>
          <a:lstStyle/>
          <a:p>
            <a:pPr indent="0" marL="0">
              <a:buNone/>
            </a:pPr>
            <a:r>
              <a:rPr lang="en-US" sz="1400" b="1" dirty="0">
                <a:solidFill>
                  <a:srgbClr val="00395D"/>
                </a:solidFill>
                <a:latin typeface="Expert Sans" pitchFamily="34" charset="0"/>
                <a:ea typeface="Expert Sans" pitchFamily="34" charset="-122"/>
                <a:cs typeface="Expert Sans" pitchFamily="34" charset="-120"/>
              </a:rPr>
              <a:t>Trade insurance</a:t>
            </a:r>
            <a:endParaRPr lang="en-US" sz="1400" dirty="0"/>
          </a:p>
        </p:txBody>
      </p:sp>
      <p:sp>
        <p:nvSpPr>
          <p:cNvPr id="27" name="Text 25"/>
          <p:cNvSpPr/>
          <p:nvPr/>
        </p:nvSpPr>
        <p:spPr>
          <a:xfrm>
            <a:off x="4361688" y="3767328"/>
            <a:ext cx="1417320" cy="548640"/>
          </a:xfrm>
          <a:prstGeom prst="rect">
            <a:avLst/>
          </a:prstGeom>
          <a:noFill/>
          <a:ln/>
        </p:spPr>
        <p:txBody>
          <a:bodyPr wrap="square" lIns="0" tIns="0" rIns="0" bIns="0" rtlCol="0" anchor="ctr"/>
          <a:lstStyle/>
          <a:p>
            <a:pPr indent="0" marL="0">
              <a:buNone/>
            </a:pPr>
            <a:r>
              <a:rPr lang="en-US" sz="1300" dirty="0">
                <a:solidFill>
                  <a:srgbClr val="3F5563"/>
                </a:solidFill>
                <a:latin typeface="Expert Sans" pitchFamily="34" charset="0"/>
                <a:ea typeface="Expert Sans" pitchFamily="34" charset="-122"/>
                <a:cs typeface="Expert Sans" pitchFamily="34" charset="-120"/>
              </a:rPr>
              <a:t>64</a:t>
            </a:r>
            <a:endParaRPr lang="en-US" sz="1300" dirty="0"/>
          </a:p>
        </p:txBody>
      </p:sp>
      <p:sp>
        <p:nvSpPr>
          <p:cNvPr id="28" name="Text 26"/>
          <p:cNvSpPr/>
          <p:nvPr/>
        </p:nvSpPr>
        <p:spPr>
          <a:xfrm>
            <a:off x="5916168" y="3767328"/>
            <a:ext cx="1417320" cy="548640"/>
          </a:xfrm>
          <a:prstGeom prst="rect">
            <a:avLst/>
          </a:prstGeom>
          <a:noFill/>
          <a:ln/>
        </p:spPr>
        <p:txBody>
          <a:bodyPr wrap="square" lIns="0" tIns="0" rIns="0" bIns="0" rtlCol="0" anchor="ctr"/>
          <a:lstStyle/>
          <a:p>
            <a:pPr indent="0" marL="0">
              <a:buNone/>
            </a:pPr>
            <a:r>
              <a:rPr lang="en-US" sz="1300" dirty="0">
                <a:solidFill>
                  <a:srgbClr val="00395D"/>
                </a:solidFill>
                <a:latin typeface="Expert Sans" pitchFamily="34" charset="0"/>
                <a:ea typeface="Expert Sans" pitchFamily="34" charset="-122"/>
                <a:cs typeface="Expert Sans" pitchFamily="34" charset="-120"/>
              </a:rPr>
              <a:t>£0.9m</a:t>
            </a:r>
            <a:endParaRPr lang="en-US" sz="1300" dirty="0"/>
          </a:p>
        </p:txBody>
      </p:sp>
      <p:sp>
        <p:nvSpPr>
          <p:cNvPr id="29" name="Text 27"/>
          <p:cNvSpPr/>
          <p:nvPr/>
        </p:nvSpPr>
        <p:spPr>
          <a:xfrm>
            <a:off x="7470648" y="3767328"/>
            <a:ext cx="2606040" cy="548640"/>
          </a:xfrm>
          <a:prstGeom prst="rect">
            <a:avLst/>
          </a:prstGeom>
          <a:noFill/>
          <a:ln/>
        </p:spPr>
        <p:txBody>
          <a:bodyPr wrap="square" lIns="0" tIns="0" rIns="0" bIns="0" rtlCol="0" anchor="ctr"/>
          <a:lstStyle/>
          <a:p>
            <a:pPr indent="0" marL="0">
              <a:buNone/>
            </a:pPr>
            <a:r>
              <a:rPr lang="en-US" sz="1200" dirty="0">
                <a:solidFill>
                  <a:srgbClr val="3F5563"/>
                </a:solidFill>
                <a:latin typeface="Expert Sans" pitchFamily="34" charset="0"/>
                <a:ea typeface="Expert Sans" pitchFamily="34" charset="-122"/>
                <a:cs typeface="Expert Sans" pitchFamily="34" charset="-120"/>
              </a:rPr>
              <a:t>Build — needs claims capability</a:t>
            </a:r>
            <a:endParaRPr lang="en-US" sz="1200" dirty="0"/>
          </a:p>
        </p:txBody>
      </p:sp>
      <p:sp>
        <p:nvSpPr>
          <p:cNvPr id="30" name="Text 28"/>
          <p:cNvSpPr/>
          <p:nvPr/>
        </p:nvSpPr>
        <p:spPr>
          <a:xfrm>
            <a:off x="10213848" y="3767328"/>
            <a:ext cx="1463040" cy="548640"/>
          </a:xfrm>
          <a:prstGeom prst="rect">
            <a:avLst/>
          </a:prstGeom>
          <a:noFill/>
          <a:ln/>
        </p:spPr>
        <p:txBody>
          <a:bodyPr wrap="square" lIns="0" tIns="0" rIns="0" bIns="0" rtlCol="0" anchor="ctr"/>
          <a:lstStyle/>
          <a:p>
            <a:pPr indent="0" marL="0">
              <a:buNone/>
            </a:pPr>
            <a:r>
              <a:rPr lang="en-US" sz="1100" b="1" spc="80" kern="0" dirty="0">
                <a:solidFill>
                  <a:srgbClr val="007FBD"/>
                </a:solidFill>
                <a:latin typeface="Expert Sans" pitchFamily="34" charset="0"/>
                <a:ea typeface="Expert Sans" pitchFamily="34" charset="-122"/>
                <a:cs typeface="Expert Sans" pitchFamily="34" charset="-120"/>
              </a:rPr>
              <a:t>NEXT CYCLE</a:t>
            </a:r>
            <a:endParaRPr lang="en-US" sz="1100" dirty="0"/>
          </a:p>
        </p:txBody>
      </p:sp>
      <p:sp>
        <p:nvSpPr>
          <p:cNvPr id="31" name="Text 29"/>
          <p:cNvSpPr/>
          <p:nvPr/>
        </p:nvSpPr>
        <p:spPr>
          <a:xfrm>
            <a:off x="566928" y="4407408"/>
            <a:ext cx="1097280" cy="548640"/>
          </a:xfrm>
          <a:prstGeom prst="rect">
            <a:avLst/>
          </a:prstGeom>
          <a:noFill/>
          <a:ln/>
        </p:spPr>
        <p:txBody>
          <a:bodyPr wrap="square" lIns="0" tIns="0" rIns="0" bIns="0" rtlCol="0" anchor="ctr"/>
          <a:lstStyle/>
          <a:p>
            <a:pPr indent="0" marL="0">
              <a:buNone/>
            </a:pPr>
            <a:r>
              <a:rPr lang="en-US" sz="1800" b="1" dirty="0">
                <a:solidFill>
                  <a:srgbClr val="6E7F8D"/>
                </a:solidFill>
                <a:latin typeface="Expert Sans" pitchFamily="34" charset="0"/>
                <a:ea typeface="Expert Sans" pitchFamily="34" charset="-122"/>
                <a:cs typeface="Expert Sans" pitchFamily="34" charset="-120"/>
              </a:rPr>
              <a:t>—</a:t>
            </a:r>
            <a:endParaRPr lang="en-US" sz="1800" dirty="0"/>
          </a:p>
        </p:txBody>
      </p:sp>
      <p:sp>
        <p:nvSpPr>
          <p:cNvPr id="32" name="Text 30"/>
          <p:cNvSpPr/>
          <p:nvPr/>
        </p:nvSpPr>
        <p:spPr>
          <a:xfrm>
            <a:off x="1801368" y="4407408"/>
            <a:ext cx="2423160" cy="548640"/>
          </a:xfrm>
          <a:prstGeom prst="rect">
            <a:avLst/>
          </a:prstGeom>
          <a:noFill/>
          <a:ln/>
        </p:spPr>
        <p:txBody>
          <a:bodyPr wrap="square" lIns="0" tIns="0" rIns="0" bIns="0" rtlCol="0" anchor="ctr"/>
          <a:lstStyle/>
          <a:p>
            <a:pPr indent="0" marL="0">
              <a:buNone/>
            </a:pPr>
            <a:r>
              <a:rPr lang="en-US" sz="1400" b="1" dirty="0">
                <a:solidFill>
                  <a:srgbClr val="3F5563"/>
                </a:solidFill>
                <a:latin typeface="Expert Sans" pitchFamily="34" charset="0"/>
                <a:ea typeface="Expert Sans" pitchFamily="34" charset="-122"/>
                <a:cs typeface="Expert Sans" pitchFamily="34" charset="-120"/>
              </a:rPr>
              <a:t>Crypto payments</a:t>
            </a:r>
            <a:endParaRPr lang="en-US" sz="1400" dirty="0"/>
          </a:p>
        </p:txBody>
      </p:sp>
      <p:sp>
        <p:nvSpPr>
          <p:cNvPr id="33" name="Text 31"/>
          <p:cNvSpPr/>
          <p:nvPr/>
        </p:nvSpPr>
        <p:spPr>
          <a:xfrm>
            <a:off x="4361688" y="4407408"/>
            <a:ext cx="1417320" cy="548640"/>
          </a:xfrm>
          <a:prstGeom prst="rect">
            <a:avLst/>
          </a:prstGeom>
          <a:noFill/>
          <a:ln/>
        </p:spPr>
        <p:txBody>
          <a:bodyPr wrap="square" lIns="0" tIns="0" rIns="0" bIns="0" rtlCol="0" anchor="ctr"/>
          <a:lstStyle/>
          <a:p>
            <a:pPr indent="0" marL="0">
              <a:buNone/>
            </a:pPr>
            <a:r>
              <a:rPr lang="en-US" sz="1300" dirty="0">
                <a:solidFill>
                  <a:srgbClr val="A8443C"/>
                </a:solidFill>
                <a:latin typeface="Expert Sans" pitchFamily="34" charset="0"/>
                <a:ea typeface="Expert Sans" pitchFamily="34" charset="-122"/>
                <a:cs typeface="Expert Sans" pitchFamily="34" charset="-120"/>
              </a:rPr>
              <a:t>41</a:t>
            </a:r>
            <a:endParaRPr lang="en-US" sz="1300" dirty="0"/>
          </a:p>
        </p:txBody>
      </p:sp>
      <p:sp>
        <p:nvSpPr>
          <p:cNvPr id="34" name="Text 32"/>
          <p:cNvSpPr/>
          <p:nvPr/>
        </p:nvSpPr>
        <p:spPr>
          <a:xfrm>
            <a:off x="5916168" y="4407408"/>
            <a:ext cx="1417320" cy="548640"/>
          </a:xfrm>
          <a:prstGeom prst="rect">
            <a:avLst/>
          </a:prstGeom>
          <a:noFill/>
          <a:ln/>
        </p:spPr>
        <p:txBody>
          <a:bodyPr wrap="square" lIns="0" tIns="0" rIns="0" bIns="0" rtlCol="0" anchor="ctr"/>
          <a:lstStyle/>
          <a:p>
            <a:pPr indent="0" marL="0">
              <a:buNone/>
            </a:pPr>
            <a:r>
              <a:rPr lang="en-US" sz="1300" dirty="0">
                <a:solidFill>
                  <a:srgbClr val="6E7F8D"/>
                </a:solidFill>
                <a:latin typeface="Expert Sans" pitchFamily="34" charset="0"/>
                <a:ea typeface="Expert Sans" pitchFamily="34" charset="-122"/>
                <a:cs typeface="Expert Sans" pitchFamily="34" charset="-120"/>
              </a:rPr>
              <a:t>not priced</a:t>
            </a:r>
            <a:endParaRPr lang="en-US" sz="1300" dirty="0"/>
          </a:p>
        </p:txBody>
      </p:sp>
      <p:sp>
        <p:nvSpPr>
          <p:cNvPr id="35" name="Text 33"/>
          <p:cNvSpPr/>
          <p:nvPr/>
        </p:nvSpPr>
        <p:spPr>
          <a:xfrm>
            <a:off x="7470648" y="4407408"/>
            <a:ext cx="2606040" cy="548640"/>
          </a:xfrm>
          <a:prstGeom prst="rect">
            <a:avLst/>
          </a:prstGeom>
          <a:noFill/>
          <a:ln/>
        </p:spPr>
        <p:txBody>
          <a:bodyPr wrap="square" lIns="0" tIns="0" rIns="0" bIns="0" rtlCol="0" anchor="ctr"/>
          <a:lstStyle/>
          <a:p>
            <a:pPr indent="0" marL="0">
              <a:buNone/>
            </a:pPr>
            <a:r>
              <a:rPr lang="en-US" sz="1200" dirty="0">
                <a:solidFill>
                  <a:srgbClr val="6E7F8D"/>
                </a:solidFill>
                <a:latin typeface="Expert Sans" pitchFamily="34" charset="0"/>
                <a:ea typeface="Expert Sans" pitchFamily="34" charset="-122"/>
                <a:cs typeface="Expert Sans" pitchFamily="34" charset="-120"/>
              </a:rPr>
              <a:t>—</a:t>
            </a:r>
            <a:endParaRPr lang="en-US" sz="1200" dirty="0"/>
          </a:p>
        </p:txBody>
      </p:sp>
      <p:sp>
        <p:nvSpPr>
          <p:cNvPr id="36" name="Text 34"/>
          <p:cNvSpPr/>
          <p:nvPr/>
        </p:nvSpPr>
        <p:spPr>
          <a:xfrm>
            <a:off x="10213848" y="4407408"/>
            <a:ext cx="1463040" cy="548640"/>
          </a:xfrm>
          <a:prstGeom prst="rect">
            <a:avLst/>
          </a:prstGeom>
          <a:noFill/>
          <a:ln/>
        </p:spPr>
        <p:txBody>
          <a:bodyPr wrap="square" lIns="0" tIns="0" rIns="0" bIns="0" rtlCol="0" anchor="ctr"/>
          <a:lstStyle/>
          <a:p>
            <a:pPr indent="0" marL="0">
              <a:buNone/>
            </a:pPr>
            <a:r>
              <a:rPr lang="en-US" sz="1100" b="1" spc="80" kern="0" dirty="0">
                <a:solidFill>
                  <a:srgbClr val="6E7F8D"/>
                </a:solidFill>
                <a:latin typeface="Expert Sans" pitchFamily="34" charset="0"/>
                <a:ea typeface="Expert Sans" pitchFamily="34" charset="-122"/>
                <a:cs typeface="Expert Sans" pitchFamily="34" charset="-120"/>
              </a:rPr>
              <a:t>OFF THE LIST</a:t>
            </a:r>
            <a:endParaRPr lang="en-US" sz="1100" dirty="0"/>
          </a:p>
        </p:txBody>
      </p:sp>
      <p:sp>
        <p:nvSpPr>
          <p:cNvPr id="37" name="Shape 35"/>
          <p:cNvSpPr/>
          <p:nvPr/>
        </p:nvSpPr>
        <p:spPr>
          <a:xfrm>
            <a:off x="566928" y="4992624"/>
            <a:ext cx="11027664" cy="658368"/>
          </a:xfrm>
          <a:prstGeom prst="rect">
            <a:avLst/>
          </a:prstGeom>
          <a:solidFill>
            <a:srgbClr val="F5F8FA"/>
          </a:solidFill>
          <a:ln w="12700">
            <a:solidFill>
              <a:srgbClr val="F5F8FA"/>
            </a:solidFill>
            <a:prstDash val="solid"/>
          </a:ln>
        </p:spPr>
      </p:sp>
      <p:sp>
        <p:nvSpPr>
          <p:cNvPr id="38" name="Text 36"/>
          <p:cNvSpPr/>
          <p:nvPr/>
        </p:nvSpPr>
        <p:spPr>
          <a:xfrm>
            <a:off x="566928" y="5047488"/>
            <a:ext cx="1097280" cy="548640"/>
          </a:xfrm>
          <a:prstGeom prst="rect">
            <a:avLst/>
          </a:prstGeom>
          <a:noFill/>
          <a:ln/>
        </p:spPr>
        <p:txBody>
          <a:bodyPr wrap="square" lIns="0" tIns="0" rIns="0" bIns="0" rtlCol="0" anchor="ctr"/>
          <a:lstStyle/>
          <a:p>
            <a:pPr indent="0" marL="0">
              <a:buNone/>
            </a:pPr>
            <a:r>
              <a:rPr lang="en-US" sz="1800" b="1" dirty="0">
                <a:solidFill>
                  <a:srgbClr val="6E7F8D"/>
                </a:solidFill>
                <a:latin typeface="Expert Sans" pitchFamily="34" charset="0"/>
                <a:ea typeface="Expert Sans" pitchFamily="34" charset="-122"/>
                <a:cs typeface="Expert Sans" pitchFamily="34" charset="-120"/>
              </a:rPr>
              <a:t>—</a:t>
            </a:r>
            <a:endParaRPr lang="en-US" sz="1800" dirty="0"/>
          </a:p>
        </p:txBody>
      </p:sp>
      <p:sp>
        <p:nvSpPr>
          <p:cNvPr id="39" name="Text 37"/>
          <p:cNvSpPr/>
          <p:nvPr/>
        </p:nvSpPr>
        <p:spPr>
          <a:xfrm>
            <a:off x="1801368" y="5047488"/>
            <a:ext cx="2423160" cy="548640"/>
          </a:xfrm>
          <a:prstGeom prst="rect">
            <a:avLst/>
          </a:prstGeom>
          <a:noFill/>
          <a:ln/>
        </p:spPr>
        <p:txBody>
          <a:bodyPr wrap="square" lIns="0" tIns="0" rIns="0" bIns="0" rtlCol="0" anchor="ctr"/>
          <a:lstStyle/>
          <a:p>
            <a:pPr indent="0" marL="0">
              <a:buNone/>
            </a:pPr>
            <a:r>
              <a:rPr lang="en-US" sz="1400" b="1" dirty="0">
                <a:solidFill>
                  <a:srgbClr val="3F5563"/>
                </a:solidFill>
                <a:latin typeface="Expert Sans" pitchFamily="34" charset="0"/>
                <a:ea typeface="Expert Sans" pitchFamily="34" charset="-122"/>
                <a:cs typeface="Expert Sans" pitchFamily="34" charset="-120"/>
              </a:rPr>
              <a:t>Rewards scheme</a:t>
            </a:r>
            <a:endParaRPr lang="en-US" sz="1400" dirty="0"/>
          </a:p>
        </p:txBody>
      </p:sp>
      <p:sp>
        <p:nvSpPr>
          <p:cNvPr id="40" name="Text 38"/>
          <p:cNvSpPr/>
          <p:nvPr/>
        </p:nvSpPr>
        <p:spPr>
          <a:xfrm>
            <a:off x="4361688" y="5047488"/>
            <a:ext cx="1417320" cy="548640"/>
          </a:xfrm>
          <a:prstGeom prst="rect">
            <a:avLst/>
          </a:prstGeom>
          <a:noFill/>
          <a:ln/>
        </p:spPr>
        <p:txBody>
          <a:bodyPr wrap="square" lIns="0" tIns="0" rIns="0" bIns="0" rtlCol="0" anchor="ctr"/>
          <a:lstStyle/>
          <a:p>
            <a:pPr indent="0" marL="0">
              <a:buNone/>
            </a:pPr>
            <a:r>
              <a:rPr lang="en-US" sz="1300" dirty="0">
                <a:solidFill>
                  <a:srgbClr val="A8443C"/>
                </a:solidFill>
                <a:latin typeface="Expert Sans" pitchFamily="34" charset="0"/>
                <a:ea typeface="Expert Sans" pitchFamily="34" charset="-122"/>
                <a:cs typeface="Expert Sans" pitchFamily="34" charset="-120"/>
              </a:rPr>
              <a:t>33</a:t>
            </a:r>
            <a:endParaRPr lang="en-US" sz="1300" dirty="0"/>
          </a:p>
        </p:txBody>
      </p:sp>
      <p:sp>
        <p:nvSpPr>
          <p:cNvPr id="41" name="Text 39"/>
          <p:cNvSpPr/>
          <p:nvPr/>
        </p:nvSpPr>
        <p:spPr>
          <a:xfrm>
            <a:off x="5916168" y="5047488"/>
            <a:ext cx="1417320" cy="548640"/>
          </a:xfrm>
          <a:prstGeom prst="rect">
            <a:avLst/>
          </a:prstGeom>
          <a:noFill/>
          <a:ln/>
        </p:spPr>
        <p:txBody>
          <a:bodyPr wrap="square" lIns="0" tIns="0" rIns="0" bIns="0" rtlCol="0" anchor="ctr"/>
          <a:lstStyle/>
          <a:p>
            <a:pPr indent="0" marL="0">
              <a:buNone/>
            </a:pPr>
            <a:r>
              <a:rPr lang="en-US" sz="1300" dirty="0">
                <a:solidFill>
                  <a:srgbClr val="6E7F8D"/>
                </a:solidFill>
                <a:latin typeface="Expert Sans" pitchFamily="34" charset="0"/>
                <a:ea typeface="Expert Sans" pitchFamily="34" charset="-122"/>
                <a:cs typeface="Expert Sans" pitchFamily="34" charset="-120"/>
              </a:rPr>
              <a:t>not priced</a:t>
            </a:r>
            <a:endParaRPr lang="en-US" sz="1300" dirty="0"/>
          </a:p>
        </p:txBody>
      </p:sp>
      <p:sp>
        <p:nvSpPr>
          <p:cNvPr id="42" name="Text 40"/>
          <p:cNvSpPr/>
          <p:nvPr/>
        </p:nvSpPr>
        <p:spPr>
          <a:xfrm>
            <a:off x="7470648" y="5047488"/>
            <a:ext cx="2606040" cy="548640"/>
          </a:xfrm>
          <a:prstGeom prst="rect">
            <a:avLst/>
          </a:prstGeom>
          <a:noFill/>
          <a:ln/>
        </p:spPr>
        <p:txBody>
          <a:bodyPr wrap="square" lIns="0" tIns="0" rIns="0" bIns="0" rtlCol="0" anchor="ctr"/>
          <a:lstStyle/>
          <a:p>
            <a:pPr indent="0" marL="0">
              <a:buNone/>
            </a:pPr>
            <a:r>
              <a:rPr lang="en-US" sz="1200" dirty="0">
                <a:solidFill>
                  <a:srgbClr val="6E7F8D"/>
                </a:solidFill>
                <a:latin typeface="Expert Sans" pitchFamily="34" charset="0"/>
                <a:ea typeface="Expert Sans" pitchFamily="34" charset="-122"/>
                <a:cs typeface="Expert Sans" pitchFamily="34" charset="-120"/>
              </a:rPr>
              <a:t>—</a:t>
            </a:r>
            <a:endParaRPr lang="en-US" sz="1200" dirty="0"/>
          </a:p>
        </p:txBody>
      </p:sp>
      <p:sp>
        <p:nvSpPr>
          <p:cNvPr id="43" name="Text 41"/>
          <p:cNvSpPr/>
          <p:nvPr/>
        </p:nvSpPr>
        <p:spPr>
          <a:xfrm>
            <a:off x="10213848" y="5047488"/>
            <a:ext cx="1463040" cy="548640"/>
          </a:xfrm>
          <a:prstGeom prst="rect">
            <a:avLst/>
          </a:prstGeom>
          <a:noFill/>
          <a:ln/>
        </p:spPr>
        <p:txBody>
          <a:bodyPr wrap="square" lIns="0" tIns="0" rIns="0" bIns="0" rtlCol="0" anchor="ctr"/>
          <a:lstStyle/>
          <a:p>
            <a:pPr indent="0" marL="0">
              <a:buNone/>
            </a:pPr>
            <a:r>
              <a:rPr lang="en-US" sz="1100" b="1" spc="80" kern="0" dirty="0">
                <a:solidFill>
                  <a:srgbClr val="6E7F8D"/>
                </a:solidFill>
                <a:latin typeface="Expert Sans" pitchFamily="34" charset="0"/>
                <a:ea typeface="Expert Sans" pitchFamily="34" charset="-122"/>
                <a:cs typeface="Expert Sans" pitchFamily="34" charset="-120"/>
              </a:rPr>
              <a:t>OFF THE LIST</a:t>
            </a:r>
            <a:endParaRPr lang="en-US" sz="1100" dirty="0"/>
          </a:p>
        </p:txBody>
      </p:sp>
      <p:sp>
        <p:nvSpPr>
          <p:cNvPr id="44" name="Text 42"/>
          <p:cNvSpPr/>
          <p:nvPr/>
        </p:nvSpPr>
        <p:spPr>
          <a:xfrm>
            <a:off x="566928" y="5833872"/>
            <a:ext cx="11027664" cy="384048"/>
          </a:xfrm>
          <a:prstGeom prst="rect">
            <a:avLst/>
          </a:prstGeom>
          <a:noFill/>
          <a:ln/>
        </p:spPr>
        <p:txBody>
          <a:bodyPr wrap="square" lIns="0" tIns="0" rIns="0" bIns="0" rtlCol="0" anchor="t"/>
          <a:lstStyle/>
          <a:p>
            <a:pPr indent="0" marL="0">
              <a:buNone/>
            </a:pPr>
            <a:r>
              <a:rPr lang="en-US" sz="1250" i="1" dirty="0">
                <a:solidFill>
                  <a:srgbClr val="6E7F8D"/>
                </a:solidFill>
                <a:latin typeface="Expert Sans" pitchFamily="34" charset="0"/>
                <a:ea typeface="Expert Sans" pitchFamily="34" charset="-122"/>
                <a:cs typeface="Expert Sans" pitchFamily="34" charset="-120"/>
              </a:rPr>
              <a:t>Demand admits, return sorts, capacity cuts. A feature below the gate is never priced — no queue place can be bought.</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28016"/>
          </a:xfrm>
          <a:prstGeom prst="rect">
            <a:avLst/>
          </a:prstGeom>
          <a:solidFill>
            <a:srgbClr val="00AEEF"/>
          </a:solidFill>
          <a:ln w="12700">
            <a:solidFill>
              <a:srgbClr val="00AEEF"/>
            </a:solidFill>
            <a:prstDash val="solid"/>
          </a:ln>
        </p:spPr>
      </p:sp>
      <p:sp>
        <p:nvSpPr>
          <p:cNvPr id="3" name="Text 1"/>
          <p:cNvSpPr/>
          <p:nvPr/>
        </p:nvSpPr>
        <p:spPr>
          <a:xfrm>
            <a:off x="566928" y="1874520"/>
            <a:ext cx="2377440" cy="1463040"/>
          </a:xfrm>
          <a:prstGeom prst="rect">
            <a:avLst/>
          </a:prstGeom>
          <a:noFill/>
          <a:ln/>
        </p:spPr>
        <p:txBody>
          <a:bodyPr wrap="square" lIns="0" tIns="0" rIns="0" bIns="0" rtlCol="0" anchor="ctr"/>
          <a:lstStyle/>
          <a:p>
            <a:pPr indent="0" marL="0">
              <a:buNone/>
            </a:pPr>
            <a:r>
              <a:rPr lang="en-US" sz="8800" b="1" dirty="0">
                <a:solidFill>
                  <a:srgbClr val="BFE4F7"/>
                </a:solidFill>
                <a:latin typeface="Expert Sans" pitchFamily="34" charset="0"/>
                <a:ea typeface="Expert Sans" pitchFamily="34" charset="-122"/>
                <a:cs typeface="Expert Sans" pitchFamily="34" charset="-120"/>
              </a:rPr>
              <a:t>01</a:t>
            </a:r>
            <a:endParaRPr lang="en-US" sz="8800" dirty="0"/>
          </a:p>
        </p:txBody>
      </p:sp>
      <p:sp>
        <p:nvSpPr>
          <p:cNvPr id="4" name="Text 2"/>
          <p:cNvSpPr/>
          <p:nvPr/>
        </p:nvSpPr>
        <p:spPr>
          <a:xfrm>
            <a:off x="2898648" y="2029968"/>
            <a:ext cx="8595360" cy="365760"/>
          </a:xfrm>
          <a:prstGeom prst="rect">
            <a:avLst/>
          </a:prstGeom>
          <a:noFill/>
          <a:ln/>
        </p:spPr>
        <p:txBody>
          <a:bodyPr wrap="square" lIns="0" tIns="0" rIns="0" bIns="0" rtlCol="0" anchor="ctr"/>
          <a:lstStyle/>
          <a:p>
            <a:pPr indent="0" marL="0">
              <a:buNone/>
            </a:pPr>
            <a:r>
              <a:rPr lang="en-US" sz="1200" b="1" spc="260" kern="0" dirty="0">
                <a:solidFill>
                  <a:srgbClr val="0083C5"/>
                </a:solidFill>
                <a:latin typeface="Expert Sans" pitchFamily="34" charset="0"/>
                <a:ea typeface="Expert Sans" pitchFamily="34" charset="-122"/>
                <a:cs typeface="Expert Sans" pitchFamily="34" charset="-120"/>
              </a:rPr>
              <a:t>DEMAND ADMITS</a:t>
            </a:r>
            <a:endParaRPr lang="en-US" sz="1200" dirty="0"/>
          </a:p>
        </p:txBody>
      </p:sp>
      <p:sp>
        <p:nvSpPr>
          <p:cNvPr id="5" name="Text 3"/>
          <p:cNvSpPr/>
          <p:nvPr/>
        </p:nvSpPr>
        <p:spPr>
          <a:xfrm>
            <a:off x="2898648" y="2395728"/>
            <a:ext cx="8595360" cy="914400"/>
          </a:xfrm>
          <a:prstGeom prst="rect">
            <a:avLst/>
          </a:prstGeom>
          <a:noFill/>
          <a:ln/>
        </p:spPr>
        <p:txBody>
          <a:bodyPr wrap="square" lIns="0" tIns="0" rIns="0" bIns="0" rtlCol="0" anchor="ctr"/>
          <a:lstStyle/>
          <a:p>
            <a:pPr indent="0" marL="0">
              <a:buNone/>
            </a:pPr>
            <a:r>
              <a:rPr lang="en-US" sz="3400" dirty="0">
                <a:solidFill>
                  <a:srgbClr val="00395D"/>
                </a:solidFill>
                <a:latin typeface="Expert Sans" pitchFamily="34" charset="0"/>
                <a:ea typeface="Expert Sans" pitchFamily="34" charset="-122"/>
                <a:cs typeface="Expert Sans" pitchFamily="34" charset="-120"/>
              </a:rPr>
              <a:t>Who gets into the backlog?</a:t>
            </a:r>
            <a:endParaRPr lang="en-US" sz="3400" dirty="0"/>
          </a:p>
        </p:txBody>
      </p:sp>
      <p:sp>
        <p:nvSpPr>
          <p:cNvPr id="6" name="Text 4"/>
          <p:cNvSpPr/>
          <p:nvPr/>
        </p:nvSpPr>
        <p:spPr>
          <a:xfrm>
            <a:off x="2898648" y="3346704"/>
            <a:ext cx="8412480" cy="640080"/>
          </a:xfrm>
          <a:prstGeom prst="rect">
            <a:avLst/>
          </a:prstGeom>
          <a:noFill/>
          <a:ln/>
        </p:spPr>
        <p:txBody>
          <a:bodyPr wrap="square" lIns="0" tIns="0" rIns="0" bIns="0" rtlCol="0" anchor="t"/>
          <a:lstStyle/>
          <a:p>
            <a:pPr indent="0" marL="0">
              <a:lnSpc>
                <a:spcPts val="2100"/>
              </a:lnSpc>
              <a:buNone/>
            </a:pPr>
            <a:r>
              <a:rPr lang="en-US" sz="1400" dirty="0">
                <a:solidFill>
                  <a:srgbClr val="3F5563"/>
                </a:solidFill>
                <a:latin typeface="Expert Sans" pitchFamily="34" charset="0"/>
                <a:ea typeface="Expert Sans" pitchFamily="34" charset="-122"/>
                <a:cs typeface="Expert Sans" pitchFamily="34" charset="-120"/>
              </a:rPr>
              <a:t>Measured with the OCV demand score against a gate of 60. Below the gate, a feature is never priced.</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0083C5"/>
                </a:solidFill>
                <a:latin typeface="Expert Sans" pitchFamily="34" charset="0"/>
                <a:ea typeface="Expert Sans" pitchFamily="34" charset="-122"/>
                <a:cs typeface="Expert Sans" pitchFamily="34" charset="-120"/>
              </a:rPr>
              <a:t>DEMAND ADMITS  ·  01</a:t>
            </a:r>
            <a:endParaRPr lang="en-US" sz="1100" dirty="0"/>
          </a:p>
        </p:txBody>
      </p:sp>
      <p:sp>
        <p:nvSpPr>
          <p:cNvPr id="3" name="Text 1"/>
          <p:cNvSpPr/>
          <p:nvPr/>
        </p:nvSpPr>
        <p:spPr>
          <a:xfrm>
            <a:off x="566928" y="548640"/>
            <a:ext cx="9564624" cy="969264"/>
          </a:xfrm>
          <a:prstGeom prst="rect">
            <a:avLst/>
          </a:prstGeom>
          <a:noFill/>
          <a:ln/>
        </p:spPr>
        <p:txBody>
          <a:bodyPr wrap="square" lIns="0" tIns="0" rIns="0" bIns="0" rtlCol="0" anchor="t"/>
          <a:lstStyle/>
          <a:p>
            <a:pPr algn="l" indent="0" marL="0">
              <a:lnSpc>
                <a:spcPts val="3000"/>
              </a:lnSpc>
              <a:buNone/>
            </a:pPr>
            <a:r>
              <a:rPr lang="en-US" sz="2500" dirty="0">
                <a:solidFill>
                  <a:srgbClr val="00AEEF"/>
                </a:solidFill>
                <a:latin typeface="Expert Sans" pitchFamily="34" charset="0"/>
                <a:ea typeface="Expert Sans" pitchFamily="34" charset="-122"/>
                <a:cs typeface="Expert Sans" pitchFamily="34" charset="-120"/>
              </a:rPr>
              <a:t>Three of five clear the demand gate; two are not close</a:t>
            </a:r>
            <a:endParaRPr lang="en-US" sz="2500" dirty="0"/>
          </a:p>
        </p:txBody>
      </p:sp>
      <p:graphicFrame>
        <p:nvGraphicFramePr>
          <p:cNvPr id="4" name="Chart 0" descr=""/>
          <p:cNvGraphicFramePr/>
          <p:nvPr/>
        </p:nvGraphicFramePr>
        <p:xfrm>
          <a:off x="566928" y="1737360"/>
          <a:ext cx="7452360" cy="34747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385048" y="1737360"/>
            <a:ext cx="3209544" cy="3474720"/>
          </a:xfrm>
          <a:prstGeom prst="roundRect">
            <a:avLst>
              <a:gd name="adj" fmla="val 2849"/>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6" name="Text 3"/>
          <p:cNvSpPr/>
          <p:nvPr/>
        </p:nvSpPr>
        <p:spPr>
          <a:xfrm>
            <a:off x="8705088" y="1920240"/>
            <a:ext cx="2651760" cy="310896"/>
          </a:xfrm>
          <a:prstGeom prst="rect">
            <a:avLst/>
          </a:prstGeom>
          <a:noFill/>
          <a:ln/>
        </p:spPr>
        <p:txBody>
          <a:bodyPr wrap="square" lIns="0" tIns="0" rIns="0" bIns="0" rtlCol="0" anchor="ctr"/>
          <a:lstStyle/>
          <a:p>
            <a:pPr indent="0" marL="0">
              <a:buNone/>
            </a:pPr>
            <a:r>
              <a:rPr lang="en-US" sz="1150" b="1" spc="200" kern="0" dirty="0">
                <a:solidFill>
                  <a:srgbClr val="0083C5"/>
                </a:solidFill>
                <a:latin typeface="Expert Sans" pitchFamily="34" charset="0"/>
                <a:ea typeface="Expert Sans" pitchFamily="34" charset="-122"/>
                <a:cs typeface="Expert Sans" pitchFamily="34" charset="-120"/>
              </a:rPr>
              <a:t>The gate</a:t>
            </a:r>
            <a:endParaRPr lang="en-US" sz="1150" dirty="0"/>
          </a:p>
        </p:txBody>
      </p:sp>
      <p:sp>
        <p:nvSpPr>
          <p:cNvPr id="7" name="Text 4"/>
          <p:cNvSpPr/>
          <p:nvPr/>
        </p:nvSpPr>
        <p:spPr>
          <a:xfrm>
            <a:off x="8705088" y="2249424"/>
            <a:ext cx="2651760" cy="914400"/>
          </a:xfrm>
          <a:prstGeom prst="rect">
            <a:avLst/>
          </a:prstGeom>
          <a:noFill/>
          <a:ln/>
        </p:spPr>
        <p:txBody>
          <a:bodyPr wrap="square" lIns="0" tIns="0" rIns="0" bIns="0" rtlCol="0" anchor="ctr"/>
          <a:lstStyle/>
          <a:p>
            <a:pPr indent="0" marL="0">
              <a:buNone/>
            </a:pPr>
            <a:r>
              <a:rPr lang="en-US" sz="6000" b="1" dirty="0">
                <a:solidFill>
                  <a:srgbClr val="00395D"/>
                </a:solidFill>
                <a:latin typeface="Expert Sans" pitchFamily="34" charset="0"/>
                <a:ea typeface="Expert Sans" pitchFamily="34" charset="-122"/>
                <a:cs typeface="Expert Sans" pitchFamily="34" charset="-120"/>
              </a:rPr>
              <a:t>60</a:t>
            </a:r>
            <a:endParaRPr lang="en-US" sz="6000" dirty="0"/>
          </a:p>
        </p:txBody>
      </p:sp>
      <p:sp>
        <p:nvSpPr>
          <p:cNvPr id="8" name="Text 5"/>
          <p:cNvSpPr/>
          <p:nvPr/>
        </p:nvSpPr>
        <p:spPr>
          <a:xfrm>
            <a:off x="8705088" y="3273552"/>
            <a:ext cx="2651760" cy="274320"/>
          </a:xfrm>
          <a:prstGeom prst="rect">
            <a:avLst/>
          </a:prstGeom>
          <a:noFill/>
          <a:ln/>
        </p:spPr>
        <p:txBody>
          <a:bodyPr wrap="square" lIns="0" tIns="0" rIns="0" bIns="0" rtlCol="0" anchor="ctr"/>
          <a:lstStyle/>
          <a:p>
            <a:pPr indent="0" marL="0">
              <a:buNone/>
            </a:pPr>
            <a:r>
              <a:rPr lang="en-US" sz="1150" b="1" dirty="0">
                <a:solidFill>
                  <a:srgbClr val="6E7F8D"/>
                </a:solidFill>
                <a:latin typeface="Expert Sans" pitchFamily="34" charset="0"/>
                <a:ea typeface="Expert Sans" pitchFamily="34" charset="-122"/>
                <a:cs typeface="Expert Sans" pitchFamily="34" charset="-120"/>
              </a:rPr>
              <a:t>Admitted</a:t>
            </a:r>
            <a:endParaRPr lang="en-US" sz="1150" dirty="0"/>
          </a:p>
        </p:txBody>
      </p:sp>
      <p:sp>
        <p:nvSpPr>
          <p:cNvPr id="9" name="Text 6"/>
          <p:cNvSpPr/>
          <p:nvPr/>
        </p:nvSpPr>
        <p:spPr>
          <a:xfrm>
            <a:off x="8705088" y="3547872"/>
            <a:ext cx="2697480" cy="685800"/>
          </a:xfrm>
          <a:prstGeom prst="rect">
            <a:avLst/>
          </a:prstGeom>
          <a:noFill/>
          <a:ln/>
        </p:spPr>
        <p:txBody>
          <a:bodyPr wrap="square" lIns="0" tIns="0" rIns="0" bIns="0" rtlCol="0" anchor="t"/>
          <a:lstStyle/>
          <a:p>
            <a:pPr indent="0" marL="0">
              <a:lnSpc>
                <a:spcPts val="1700"/>
              </a:lnSpc>
              <a:buNone/>
            </a:pPr>
            <a:r>
              <a:rPr lang="en-US" sz="1250" dirty="0">
                <a:solidFill>
                  <a:srgbClr val="3F5563"/>
                </a:solidFill>
                <a:latin typeface="Expert Sans" pitchFamily="34" charset="0"/>
                <a:ea typeface="Expert Sans" pitchFamily="34" charset="-122"/>
                <a:cs typeface="Expert Sans" pitchFamily="34" charset="-120"/>
              </a:rPr>
              <a:t>FX, invoice finance, insurance — priced in section 02</a:t>
            </a:r>
            <a:endParaRPr lang="en-US" sz="1250" dirty="0"/>
          </a:p>
        </p:txBody>
      </p:sp>
      <p:sp>
        <p:nvSpPr>
          <p:cNvPr id="10" name="Text 7"/>
          <p:cNvSpPr/>
          <p:nvPr/>
        </p:nvSpPr>
        <p:spPr>
          <a:xfrm>
            <a:off x="8705088" y="4279392"/>
            <a:ext cx="2651760" cy="274320"/>
          </a:xfrm>
          <a:prstGeom prst="rect">
            <a:avLst/>
          </a:prstGeom>
          <a:noFill/>
          <a:ln/>
        </p:spPr>
        <p:txBody>
          <a:bodyPr wrap="square" lIns="0" tIns="0" rIns="0" bIns="0" rtlCol="0" anchor="ctr"/>
          <a:lstStyle/>
          <a:p>
            <a:pPr indent="0" marL="0">
              <a:buNone/>
            </a:pPr>
            <a:r>
              <a:rPr lang="en-US" sz="1150" b="1" dirty="0">
                <a:solidFill>
                  <a:srgbClr val="6E7F8D"/>
                </a:solidFill>
                <a:latin typeface="Expert Sans" pitchFamily="34" charset="0"/>
                <a:ea typeface="Expert Sans" pitchFamily="34" charset="-122"/>
                <a:cs typeface="Expert Sans" pitchFamily="34" charset="-120"/>
              </a:rPr>
              <a:t>Refused</a:t>
            </a:r>
            <a:endParaRPr lang="en-US" sz="1150" dirty="0"/>
          </a:p>
        </p:txBody>
      </p:sp>
      <p:sp>
        <p:nvSpPr>
          <p:cNvPr id="11" name="Text 8"/>
          <p:cNvSpPr/>
          <p:nvPr/>
        </p:nvSpPr>
        <p:spPr>
          <a:xfrm>
            <a:off x="8705088" y="4553712"/>
            <a:ext cx="2697480" cy="502920"/>
          </a:xfrm>
          <a:prstGeom prst="rect">
            <a:avLst/>
          </a:prstGeom>
          <a:noFill/>
          <a:ln/>
        </p:spPr>
        <p:txBody>
          <a:bodyPr wrap="square" lIns="0" tIns="0" rIns="0" bIns="0" rtlCol="0" anchor="t"/>
          <a:lstStyle/>
          <a:p>
            <a:pPr indent="0" marL="0">
              <a:lnSpc>
                <a:spcPts val="1700"/>
              </a:lnSpc>
              <a:buNone/>
            </a:pPr>
            <a:r>
              <a:rPr lang="en-US" sz="1250" dirty="0">
                <a:solidFill>
                  <a:srgbClr val="3F5563"/>
                </a:solidFill>
                <a:latin typeface="Expert Sans" pitchFamily="34" charset="0"/>
                <a:ea typeface="Expert Sans" pitchFamily="34" charset="-122"/>
                <a:cs typeface="Expert Sans" pitchFamily="34" charset="-120"/>
              </a:rPr>
              <a:t>Crypto, rewards — never priced</a:t>
            </a:r>
            <a:endParaRPr lang="en-US" sz="1250" dirty="0"/>
          </a:p>
        </p:txBody>
      </p:sp>
      <p:sp>
        <p:nvSpPr>
          <p:cNvPr id="12" name="Text 9"/>
          <p:cNvSpPr/>
          <p:nvPr/>
        </p:nvSpPr>
        <p:spPr>
          <a:xfrm>
            <a:off x="566928" y="6126480"/>
            <a:ext cx="11027664" cy="292608"/>
          </a:xfrm>
          <a:prstGeom prst="rect">
            <a:avLst/>
          </a:prstGeom>
          <a:noFill/>
          <a:ln/>
        </p:spPr>
        <p:txBody>
          <a:bodyPr wrap="square" lIns="0" tIns="0" rIns="0" bIns="0" rtlCol="0" anchor="ctr"/>
          <a:lstStyle/>
          <a:p>
            <a:pPr indent="0" marL="0">
              <a:buNone/>
            </a:pPr>
            <a:r>
              <a:rPr lang="en-US" sz="1000" dirty="0">
                <a:solidFill>
                  <a:srgbClr val="6E7F8D"/>
                </a:solidFill>
                <a:latin typeface="Expert Sans" pitchFamily="34" charset="0"/>
                <a:ea typeface="Expert Sans" pitchFamily="34" charset="-122"/>
                <a:cs typeface="Expert Sans" pitchFamily="34" charset="-120"/>
              </a:rPr>
              <a:t>Source: exporter research programme, 320 interviews, May–Jul [year]. OCV method: appendix.</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0083C5"/>
                </a:solidFill>
                <a:latin typeface="Expert Sans" pitchFamily="34" charset="0"/>
                <a:ea typeface="Expert Sans" pitchFamily="34" charset="-122"/>
                <a:cs typeface="Expert Sans" pitchFamily="34" charset="-120"/>
              </a:rPr>
              <a:t>DEMAND ADMITS  ·  01</a:t>
            </a:r>
            <a:endParaRPr lang="en-US" sz="1100" dirty="0"/>
          </a:p>
        </p:txBody>
      </p:sp>
      <p:sp>
        <p:nvSpPr>
          <p:cNvPr id="3" name="Text 1"/>
          <p:cNvSpPr/>
          <p:nvPr/>
        </p:nvSpPr>
        <p:spPr>
          <a:xfrm>
            <a:off x="566928" y="548640"/>
            <a:ext cx="9564624" cy="969264"/>
          </a:xfrm>
          <a:prstGeom prst="rect">
            <a:avLst/>
          </a:prstGeom>
          <a:noFill/>
          <a:ln/>
        </p:spPr>
        <p:txBody>
          <a:bodyPr wrap="square" lIns="0" tIns="0" rIns="0" bIns="0" rtlCol="0" anchor="t"/>
          <a:lstStyle/>
          <a:p>
            <a:pPr algn="l" indent="0" marL="0">
              <a:lnSpc>
                <a:spcPts val="3000"/>
              </a:lnSpc>
              <a:buNone/>
            </a:pPr>
            <a:r>
              <a:rPr lang="en-US" sz="2500" dirty="0">
                <a:solidFill>
                  <a:srgbClr val="00AEEF"/>
                </a:solidFill>
                <a:latin typeface="Expert Sans" pitchFamily="34" charset="0"/>
                <a:ea typeface="Expert Sans" pitchFamily="34" charset="-122"/>
                <a:cs typeface="Expert Sans" pitchFamily="34" charset="-120"/>
              </a:rPr>
              <a:t>What the scores rest on — and their stated limits</a:t>
            </a:r>
            <a:endParaRPr lang="en-US" sz="2500" dirty="0"/>
          </a:p>
        </p:txBody>
      </p:sp>
      <p:sp>
        <p:nvSpPr>
          <p:cNvPr id="4" name="Shape 2"/>
          <p:cNvSpPr/>
          <p:nvPr/>
        </p:nvSpPr>
        <p:spPr>
          <a:xfrm>
            <a:off x="566928" y="1627632"/>
            <a:ext cx="2585466" cy="1691640"/>
          </a:xfrm>
          <a:prstGeom prst="roundRect">
            <a:avLst>
              <a:gd name="adj" fmla="val 5405"/>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5" name="Text 3"/>
          <p:cNvSpPr/>
          <p:nvPr/>
        </p:nvSpPr>
        <p:spPr>
          <a:xfrm>
            <a:off x="822960" y="1828800"/>
            <a:ext cx="2073402" cy="777240"/>
          </a:xfrm>
          <a:prstGeom prst="rect">
            <a:avLst/>
          </a:prstGeom>
          <a:noFill/>
          <a:ln/>
        </p:spPr>
        <p:txBody>
          <a:bodyPr wrap="square" lIns="0" tIns="0" rIns="0" bIns="0" rtlCol="0" anchor="ctr"/>
          <a:lstStyle/>
          <a:p>
            <a:pPr indent="0" marL="0">
              <a:buNone/>
            </a:pPr>
            <a:r>
              <a:rPr lang="en-US" sz="3600" b="1" dirty="0">
                <a:solidFill>
                  <a:srgbClr val="00395D"/>
                </a:solidFill>
                <a:latin typeface="Expert Sans" pitchFamily="34" charset="0"/>
                <a:ea typeface="Expert Sans" pitchFamily="34" charset="-122"/>
                <a:cs typeface="Expert Sans" pitchFamily="34" charset="-120"/>
              </a:rPr>
              <a:t>320</a:t>
            </a:r>
            <a:endParaRPr lang="en-US" sz="3600" dirty="0"/>
          </a:p>
        </p:txBody>
      </p:sp>
      <p:sp>
        <p:nvSpPr>
          <p:cNvPr id="6" name="Text 4"/>
          <p:cNvSpPr/>
          <p:nvPr/>
        </p:nvSpPr>
        <p:spPr>
          <a:xfrm>
            <a:off x="822960" y="2633472"/>
            <a:ext cx="2073402" cy="566928"/>
          </a:xfrm>
          <a:prstGeom prst="rect">
            <a:avLst/>
          </a:prstGeom>
          <a:noFill/>
          <a:ln/>
        </p:spPr>
        <p:txBody>
          <a:bodyPr wrap="square" lIns="0" tIns="0" rIns="0" bIns="0" rtlCol="0" anchor="t"/>
          <a:lstStyle/>
          <a:p>
            <a:pPr indent="0" marL="0">
              <a:lnSpc>
                <a:spcPts val="1600"/>
              </a:lnSpc>
              <a:buNone/>
            </a:pPr>
            <a:r>
              <a:rPr lang="en-US" sz="1150" dirty="0">
                <a:solidFill>
                  <a:srgbClr val="3F5563"/>
                </a:solidFill>
                <a:latin typeface="Expert Sans" pitchFamily="34" charset="0"/>
                <a:ea typeface="Expert Sans" pitchFamily="34" charset="-122"/>
                <a:cs typeface="Expert Sans" pitchFamily="34" charset="-120"/>
              </a:rPr>
              <a:t>Exporting SMEs interviewed</a:t>
            </a:r>
            <a:endParaRPr lang="en-US" sz="1150" dirty="0"/>
          </a:p>
        </p:txBody>
      </p:sp>
      <p:sp>
        <p:nvSpPr>
          <p:cNvPr id="7" name="Shape 5"/>
          <p:cNvSpPr/>
          <p:nvPr/>
        </p:nvSpPr>
        <p:spPr>
          <a:xfrm>
            <a:off x="3380994" y="1627632"/>
            <a:ext cx="2585466" cy="1691640"/>
          </a:xfrm>
          <a:prstGeom prst="roundRect">
            <a:avLst>
              <a:gd name="adj" fmla="val 5405"/>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8" name="Text 6"/>
          <p:cNvSpPr/>
          <p:nvPr/>
        </p:nvSpPr>
        <p:spPr>
          <a:xfrm>
            <a:off x="3637026" y="1828800"/>
            <a:ext cx="2073402" cy="777240"/>
          </a:xfrm>
          <a:prstGeom prst="rect">
            <a:avLst/>
          </a:prstGeom>
          <a:noFill/>
          <a:ln/>
        </p:spPr>
        <p:txBody>
          <a:bodyPr wrap="square" lIns="0" tIns="0" rIns="0" bIns="0" rtlCol="0" anchor="ctr"/>
          <a:lstStyle/>
          <a:p>
            <a:pPr indent="0" marL="0">
              <a:buNone/>
            </a:pPr>
            <a:r>
              <a:rPr lang="en-US" sz="3600" b="1" dirty="0">
                <a:solidFill>
                  <a:srgbClr val="00395D"/>
                </a:solidFill>
                <a:latin typeface="Expert Sans" pitchFamily="34" charset="0"/>
                <a:ea typeface="Expert Sans" pitchFamily="34" charset="-122"/>
                <a:cs typeface="Expert Sans" pitchFamily="34" charset="-120"/>
              </a:rPr>
              <a:t>9 wks</a:t>
            </a:r>
            <a:endParaRPr lang="en-US" sz="3600" dirty="0"/>
          </a:p>
        </p:txBody>
      </p:sp>
      <p:sp>
        <p:nvSpPr>
          <p:cNvPr id="9" name="Text 7"/>
          <p:cNvSpPr/>
          <p:nvPr/>
        </p:nvSpPr>
        <p:spPr>
          <a:xfrm>
            <a:off x="3637026" y="2633472"/>
            <a:ext cx="2073402" cy="566928"/>
          </a:xfrm>
          <a:prstGeom prst="rect">
            <a:avLst/>
          </a:prstGeom>
          <a:noFill/>
          <a:ln/>
        </p:spPr>
        <p:txBody>
          <a:bodyPr wrap="square" lIns="0" tIns="0" rIns="0" bIns="0" rtlCol="0" anchor="t"/>
          <a:lstStyle/>
          <a:p>
            <a:pPr indent="0" marL="0">
              <a:lnSpc>
                <a:spcPts val="1600"/>
              </a:lnSpc>
              <a:buNone/>
            </a:pPr>
            <a:r>
              <a:rPr lang="en-US" sz="1150" dirty="0">
                <a:solidFill>
                  <a:srgbClr val="3F5563"/>
                </a:solidFill>
                <a:latin typeface="Expert Sans" pitchFamily="34" charset="0"/>
                <a:ea typeface="Expert Sans" pitchFamily="34" charset="-122"/>
                <a:cs typeface="Expert Sans" pitchFamily="34" charset="-120"/>
              </a:rPr>
              <a:t>Fieldwork window, ending [date]</a:t>
            </a:r>
            <a:endParaRPr lang="en-US" sz="1150" dirty="0"/>
          </a:p>
        </p:txBody>
      </p:sp>
      <p:sp>
        <p:nvSpPr>
          <p:cNvPr id="10" name="Shape 8"/>
          <p:cNvSpPr/>
          <p:nvPr/>
        </p:nvSpPr>
        <p:spPr>
          <a:xfrm>
            <a:off x="6195060" y="1627632"/>
            <a:ext cx="2585466" cy="1691640"/>
          </a:xfrm>
          <a:prstGeom prst="roundRect">
            <a:avLst>
              <a:gd name="adj" fmla="val 5405"/>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1" name="Text 9"/>
          <p:cNvSpPr/>
          <p:nvPr/>
        </p:nvSpPr>
        <p:spPr>
          <a:xfrm>
            <a:off x="6451092" y="1828800"/>
            <a:ext cx="2073402" cy="777240"/>
          </a:xfrm>
          <a:prstGeom prst="rect">
            <a:avLst/>
          </a:prstGeom>
          <a:noFill/>
          <a:ln/>
        </p:spPr>
        <p:txBody>
          <a:bodyPr wrap="square" lIns="0" tIns="0" rIns="0" bIns="0" rtlCol="0" anchor="ctr"/>
          <a:lstStyle/>
          <a:p>
            <a:pPr indent="0" marL="0">
              <a:buNone/>
            </a:pPr>
            <a:r>
              <a:rPr lang="en-US" sz="3600" b="1" dirty="0">
                <a:solidFill>
                  <a:srgbClr val="00395D"/>
                </a:solidFill>
                <a:latin typeface="Expert Sans" pitchFamily="34" charset="0"/>
                <a:ea typeface="Expert Sans" pitchFamily="34" charset="-122"/>
                <a:cs typeface="Expert Sans" pitchFamily="34" charset="-120"/>
              </a:rPr>
              <a:t>3 of 5</a:t>
            </a:r>
            <a:endParaRPr lang="en-US" sz="3600" dirty="0"/>
          </a:p>
        </p:txBody>
      </p:sp>
      <p:sp>
        <p:nvSpPr>
          <p:cNvPr id="12" name="Text 10"/>
          <p:cNvSpPr/>
          <p:nvPr/>
        </p:nvSpPr>
        <p:spPr>
          <a:xfrm>
            <a:off x="6451092" y="2633472"/>
            <a:ext cx="2073402" cy="566928"/>
          </a:xfrm>
          <a:prstGeom prst="rect">
            <a:avLst/>
          </a:prstGeom>
          <a:noFill/>
          <a:ln/>
        </p:spPr>
        <p:txBody>
          <a:bodyPr wrap="square" lIns="0" tIns="0" rIns="0" bIns="0" rtlCol="0" anchor="t"/>
          <a:lstStyle/>
          <a:p>
            <a:pPr indent="0" marL="0">
              <a:lnSpc>
                <a:spcPts val="1600"/>
              </a:lnSpc>
              <a:buNone/>
            </a:pPr>
            <a:r>
              <a:rPr lang="en-US" sz="1150" dirty="0">
                <a:solidFill>
                  <a:srgbClr val="3F5563"/>
                </a:solidFill>
                <a:latin typeface="Expert Sans" pitchFamily="34" charset="0"/>
                <a:ea typeface="Expert Sans" pitchFamily="34" charset="-122"/>
                <a:cs typeface="Expert Sans" pitchFamily="34" charset="-120"/>
              </a:rPr>
              <a:t>Features tested with a live prototype</a:t>
            </a:r>
            <a:endParaRPr lang="en-US" sz="1150" dirty="0"/>
          </a:p>
        </p:txBody>
      </p:sp>
      <p:sp>
        <p:nvSpPr>
          <p:cNvPr id="13" name="Shape 11"/>
          <p:cNvSpPr/>
          <p:nvPr/>
        </p:nvSpPr>
        <p:spPr>
          <a:xfrm>
            <a:off x="9009126" y="1627632"/>
            <a:ext cx="2585466" cy="1691640"/>
          </a:xfrm>
          <a:prstGeom prst="roundRect">
            <a:avLst>
              <a:gd name="adj" fmla="val 5405"/>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4" name="Text 12"/>
          <p:cNvSpPr/>
          <p:nvPr/>
        </p:nvSpPr>
        <p:spPr>
          <a:xfrm>
            <a:off x="9265158" y="1828800"/>
            <a:ext cx="2073402" cy="777240"/>
          </a:xfrm>
          <a:prstGeom prst="rect">
            <a:avLst/>
          </a:prstGeom>
          <a:noFill/>
          <a:ln/>
        </p:spPr>
        <p:txBody>
          <a:bodyPr wrap="square" lIns="0" tIns="0" rIns="0" bIns="0" rtlCol="0" anchor="ctr"/>
          <a:lstStyle/>
          <a:p>
            <a:pPr indent="0" marL="0">
              <a:buNone/>
            </a:pPr>
            <a:r>
              <a:rPr lang="en-US" sz="3600" b="1" dirty="0">
                <a:solidFill>
                  <a:srgbClr val="00395D"/>
                </a:solidFill>
                <a:latin typeface="Expert Sans" pitchFamily="34" charset="0"/>
                <a:ea typeface="Expert Sans" pitchFamily="34" charset="-122"/>
                <a:cs typeface="Expert Sans" pitchFamily="34" charset="-120"/>
              </a:rPr>
              <a:t>61%</a:t>
            </a:r>
            <a:endParaRPr lang="en-US" sz="3600" dirty="0"/>
          </a:p>
        </p:txBody>
      </p:sp>
      <p:sp>
        <p:nvSpPr>
          <p:cNvPr id="15" name="Text 13"/>
          <p:cNvSpPr/>
          <p:nvPr/>
        </p:nvSpPr>
        <p:spPr>
          <a:xfrm>
            <a:off x="9265158" y="2633472"/>
            <a:ext cx="2073402" cy="566928"/>
          </a:xfrm>
          <a:prstGeom prst="rect">
            <a:avLst/>
          </a:prstGeom>
          <a:noFill/>
          <a:ln/>
        </p:spPr>
        <p:txBody>
          <a:bodyPr wrap="square" lIns="0" tIns="0" rIns="0" bIns="0" rtlCol="0" anchor="t"/>
          <a:lstStyle/>
          <a:p>
            <a:pPr indent="0" marL="0">
              <a:lnSpc>
                <a:spcPts val="1600"/>
              </a:lnSpc>
              <a:buNone/>
            </a:pPr>
            <a:r>
              <a:rPr lang="en-US" sz="1150" dirty="0">
                <a:solidFill>
                  <a:srgbClr val="3F5563"/>
                </a:solidFill>
                <a:latin typeface="Expert Sans" pitchFamily="34" charset="0"/>
                <a:ea typeface="Expert Sans" pitchFamily="34" charset="-122"/>
                <a:cs typeface="Expert Sans" pitchFamily="34" charset="-120"/>
              </a:rPr>
              <a:t>Of segment revenue represented</a:t>
            </a:r>
            <a:endParaRPr lang="en-US" sz="1150" dirty="0"/>
          </a:p>
        </p:txBody>
      </p:sp>
      <p:sp>
        <p:nvSpPr>
          <p:cNvPr id="16" name="Text 14"/>
          <p:cNvSpPr/>
          <p:nvPr/>
        </p:nvSpPr>
        <p:spPr>
          <a:xfrm>
            <a:off x="566928" y="3611880"/>
            <a:ext cx="11027664" cy="365760"/>
          </a:xfrm>
          <a:prstGeom prst="rect">
            <a:avLst/>
          </a:prstGeom>
          <a:noFill/>
          <a:ln/>
        </p:spPr>
        <p:txBody>
          <a:bodyPr wrap="square" lIns="0" tIns="0" rIns="0" bIns="0" rtlCol="0" anchor="ctr"/>
          <a:lstStyle/>
          <a:p>
            <a:pPr indent="0" marL="0">
              <a:buNone/>
            </a:pPr>
            <a:r>
              <a:rPr lang="en-US" sz="1500" b="1" dirty="0">
                <a:solidFill>
                  <a:srgbClr val="00395D"/>
                </a:solidFill>
                <a:latin typeface="Expert Sans" pitchFamily="34" charset="0"/>
                <a:ea typeface="Expert Sans" pitchFamily="34" charset="-122"/>
                <a:cs typeface="Expert Sans" pitchFamily="34" charset="-120"/>
              </a:rPr>
              <a:t>Known limits of the evidence</a:t>
            </a:r>
            <a:endParaRPr lang="en-US" sz="1500" dirty="0"/>
          </a:p>
        </p:txBody>
      </p:sp>
      <p:sp>
        <p:nvSpPr>
          <p:cNvPr id="17" name="Text 15"/>
          <p:cNvSpPr/>
          <p:nvPr/>
        </p:nvSpPr>
        <p:spPr>
          <a:xfrm>
            <a:off x="566928" y="4023360"/>
            <a:ext cx="11027664" cy="1737360"/>
          </a:xfrm>
          <a:prstGeom prst="rect">
            <a:avLst/>
          </a:prstGeom>
          <a:noFill/>
          <a:ln/>
        </p:spPr>
        <p:txBody>
          <a:bodyPr wrap="square" lIns="0" tIns="0" rIns="0" bIns="0" rtlCol="0" anchor="t"/>
          <a:lstStyle/>
          <a:p>
            <a:pPr marL="342900" indent="-342900">
              <a:lnSpc>
                <a:spcPts val="1900"/>
              </a:lnSpc>
              <a:spcAft>
                <a:spcPts val="700"/>
              </a:spcAft>
              <a:buSzPct val="100000"/>
              <a:buChar char="•"/>
            </a:pPr>
            <a:r>
              <a:rPr lang="en-US" sz="1300" dirty="0">
                <a:solidFill>
                  <a:srgbClr val="3F5563"/>
                </a:solidFill>
                <a:latin typeface="Expert Sans" pitchFamily="34" charset="0"/>
                <a:ea typeface="Expert Sans" pitchFamily="34" charset="-122"/>
                <a:cs typeface="Expert Sans" pitchFamily="34" charset="-120"/>
              </a:rPr>
              <a:t>Smallest exporters (under £1m turnover) are under-represented — could overstate invoice finance demand</a:t>
            </a:r>
            <a:endParaRPr lang="en-US" sz="1300" dirty="0"/>
          </a:p>
          <a:p>
            <a:pPr marL="342900" indent="-342900">
              <a:lnSpc>
                <a:spcPts val="1900"/>
              </a:lnSpc>
              <a:spcAft>
                <a:spcPts val="700"/>
              </a:spcAft>
              <a:buSzPct val="100000"/>
              <a:buChar char="•"/>
            </a:pPr>
            <a:r>
              <a:rPr lang="en-US" sz="1300" dirty="0">
                <a:solidFill>
                  <a:srgbClr val="3F5563"/>
                </a:solidFill>
                <a:latin typeface="Expert Sans" pitchFamily="34" charset="0"/>
                <a:ea typeface="Expert Sans" pitchFamily="34" charset="-122"/>
                <a:cs typeface="Expert Sans" pitchFamily="34" charset="-120"/>
              </a:rPr>
              <a:t>Exporters over-claim switching intent; scores are calibrated against observed uptake, not stated intent</a:t>
            </a:r>
            <a:endParaRPr lang="en-US" sz="1300" dirty="0"/>
          </a:p>
          <a:p>
            <a:pPr marL="342900" indent="-342900">
              <a:lnSpc>
                <a:spcPts val="1900"/>
              </a:lnSpc>
              <a:spcAft>
                <a:spcPts val="700"/>
              </a:spcAft>
              <a:buSzPct val="100000"/>
              <a:buChar char="•"/>
            </a:pPr>
            <a:r>
              <a:rPr lang="en-US" sz="1300" dirty="0">
                <a:solidFill>
                  <a:srgbClr val="3F5563"/>
                </a:solidFill>
                <a:latin typeface="Expert Sans" pitchFamily="34" charset="0"/>
                <a:ea typeface="Expert Sans" pitchFamily="34" charset="-122"/>
                <a:cs typeface="Expert Sans" pitchFamily="34" charset="-120"/>
              </a:rPr>
              <a:t>Crypto and rewards were tested by description only — a prototype could move them, and a re-score would catch it</a:t>
            </a:r>
            <a:endParaRPr lang="en-US" sz="1300" dirty="0"/>
          </a:p>
          <a:p>
            <a:pPr marL="342900" indent="-342900">
              <a:lnSpc>
                <a:spcPts val="1900"/>
              </a:lnSpc>
              <a:spcAft>
                <a:spcPts val="700"/>
              </a:spcAft>
              <a:buSzPct val="100000"/>
              <a:buChar char="•"/>
            </a:pPr>
            <a:r>
              <a:rPr lang="en-US" sz="1300" dirty="0">
                <a:solidFill>
                  <a:srgbClr val="3F5563"/>
                </a:solidFill>
                <a:latin typeface="Expert Sans" pitchFamily="34" charset="0"/>
                <a:ea typeface="Expert Sans" pitchFamily="34" charset="-122"/>
                <a:cs typeface="Expert Sans" pitchFamily="34" charset="-120"/>
              </a:rPr>
              <a:t>Insurance sits four points above the gate: treated as admitted, re-tested every quarter</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0083C5"/>
                </a:solidFill>
                <a:latin typeface="Expert Sans" pitchFamily="34" charset="0"/>
                <a:ea typeface="Expert Sans" pitchFamily="34" charset="-122"/>
                <a:cs typeface="Expert Sans" pitchFamily="34" charset="-120"/>
              </a:rPr>
              <a:t>DEMAND ADMITS  ·  01  ·  PROPOSITION LEVEL</a:t>
            </a:r>
            <a:endParaRPr lang="en-US" sz="1100" dirty="0"/>
          </a:p>
        </p:txBody>
      </p:sp>
      <p:sp>
        <p:nvSpPr>
          <p:cNvPr id="3" name="Text 1"/>
          <p:cNvSpPr/>
          <p:nvPr/>
        </p:nvSpPr>
        <p:spPr>
          <a:xfrm>
            <a:off x="566928" y="548640"/>
            <a:ext cx="9564624" cy="969264"/>
          </a:xfrm>
          <a:prstGeom prst="rect">
            <a:avLst/>
          </a:prstGeom>
          <a:noFill/>
          <a:ln/>
        </p:spPr>
        <p:txBody>
          <a:bodyPr wrap="square" lIns="0" tIns="0" rIns="0" bIns="0" rtlCol="0" anchor="t"/>
          <a:lstStyle/>
          <a:p>
            <a:pPr algn="l" indent="0" marL="0">
              <a:lnSpc>
                <a:spcPts val="3000"/>
              </a:lnSpc>
              <a:buNone/>
            </a:pPr>
            <a:r>
              <a:rPr lang="en-US" sz="2500" dirty="0">
                <a:solidFill>
                  <a:srgbClr val="00AEEF"/>
                </a:solidFill>
                <a:latin typeface="Expert Sans" pitchFamily="34" charset="0"/>
                <a:ea typeface="Expert Sans" pitchFamily="34" charset="-122"/>
                <a:cs typeface="Expert Sans" pitchFamily="34" charset="-120"/>
              </a:rPr>
              <a:t>'Trade Ready' makes the shelf visible when the need hits</a:t>
            </a:r>
            <a:endParaRPr lang="en-US" sz="2500" dirty="0"/>
          </a:p>
        </p:txBody>
      </p:sp>
      <p:sp>
        <p:nvSpPr>
          <p:cNvPr id="4" name="Shape 2"/>
          <p:cNvSpPr/>
          <p:nvPr/>
        </p:nvSpPr>
        <p:spPr>
          <a:xfrm>
            <a:off x="566928" y="1627632"/>
            <a:ext cx="11027664" cy="896112"/>
          </a:xfrm>
          <a:prstGeom prst="roundRect">
            <a:avLst>
              <a:gd name="adj" fmla="val 10204"/>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5" name="Text 3"/>
          <p:cNvSpPr/>
          <p:nvPr/>
        </p:nvSpPr>
        <p:spPr>
          <a:xfrm>
            <a:off x="950976" y="1728216"/>
            <a:ext cx="3108960" cy="694944"/>
          </a:xfrm>
          <a:prstGeom prst="rect">
            <a:avLst/>
          </a:prstGeom>
          <a:noFill/>
          <a:ln/>
        </p:spPr>
        <p:txBody>
          <a:bodyPr wrap="square" lIns="0" tIns="0" rIns="0" bIns="0" rtlCol="0" anchor="ctr"/>
          <a:lstStyle/>
          <a:p>
            <a:pPr indent="0" marL="0">
              <a:buNone/>
            </a:pPr>
            <a:r>
              <a:rPr lang="en-US" sz="1400" b="1" dirty="0">
                <a:solidFill>
                  <a:srgbClr val="00395D"/>
                </a:solidFill>
                <a:latin typeface="Expert Sans" pitchFamily="34" charset="0"/>
                <a:ea typeface="Expert Sans" pitchFamily="34" charset="-122"/>
                <a:cs typeface="Expert Sans" pitchFamily="34" charset="-120"/>
              </a:rPr>
              <a:t>The gap</a:t>
            </a:r>
            <a:endParaRPr lang="en-US" sz="1400" dirty="0"/>
          </a:p>
        </p:txBody>
      </p:sp>
      <p:sp>
        <p:nvSpPr>
          <p:cNvPr id="6" name="Text 4"/>
          <p:cNvSpPr/>
          <p:nvPr/>
        </p:nvSpPr>
        <p:spPr>
          <a:xfrm>
            <a:off x="4315968" y="1728216"/>
            <a:ext cx="6821424" cy="694944"/>
          </a:xfrm>
          <a:prstGeom prst="rect">
            <a:avLst/>
          </a:prstGeom>
          <a:noFill/>
          <a:ln/>
        </p:spPr>
        <p:txBody>
          <a:bodyPr wrap="square" lIns="0" tIns="0" rIns="0" bIns="0" rtlCol="0" anchor="ctr"/>
          <a:lstStyle/>
          <a:p>
            <a:pPr indent="0" marL="0">
              <a:lnSpc>
                <a:spcPts val="1600"/>
              </a:lnSpc>
              <a:buNone/>
            </a:pPr>
            <a:r>
              <a:rPr lang="en-US" sz="1250" dirty="0">
                <a:solidFill>
                  <a:srgbClr val="3F5563"/>
                </a:solidFill>
                <a:latin typeface="Expert Sans" pitchFamily="34" charset="0"/>
                <a:ea typeface="Expert Sans" pitchFamily="34" charset="-122"/>
                <a:cs typeface="Expert Sans" pitchFamily="34" charset="-120"/>
              </a:rPr>
              <a:t>At the moments that matter — the first export order, the first unpaid foreign invoice — exporters name their bank 22% of the time, and the market leader 41%.</a:t>
            </a:r>
            <a:endParaRPr lang="en-US" sz="1250" dirty="0"/>
          </a:p>
        </p:txBody>
      </p:sp>
      <p:sp>
        <p:nvSpPr>
          <p:cNvPr id="7" name="Shape 5"/>
          <p:cNvSpPr/>
          <p:nvPr/>
        </p:nvSpPr>
        <p:spPr>
          <a:xfrm>
            <a:off x="566928" y="2651760"/>
            <a:ext cx="11027664" cy="896112"/>
          </a:xfrm>
          <a:prstGeom prst="roundRect">
            <a:avLst>
              <a:gd name="adj" fmla="val 10204"/>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8" name="Text 6"/>
          <p:cNvSpPr/>
          <p:nvPr/>
        </p:nvSpPr>
        <p:spPr>
          <a:xfrm>
            <a:off x="950976" y="2752344"/>
            <a:ext cx="3108960" cy="694944"/>
          </a:xfrm>
          <a:prstGeom prst="rect">
            <a:avLst/>
          </a:prstGeom>
          <a:noFill/>
          <a:ln/>
        </p:spPr>
        <p:txBody>
          <a:bodyPr wrap="square" lIns="0" tIns="0" rIns="0" bIns="0" rtlCol="0" anchor="ctr"/>
          <a:lstStyle/>
          <a:p>
            <a:pPr indent="0" marL="0">
              <a:buNone/>
            </a:pPr>
            <a:r>
              <a:rPr lang="en-US" sz="1400" b="1" dirty="0">
                <a:solidFill>
                  <a:srgbClr val="00395D"/>
                </a:solidFill>
                <a:latin typeface="Expert Sans" pitchFamily="34" charset="0"/>
                <a:ea typeface="Expert Sans" pitchFamily="34" charset="-122"/>
                <a:cs typeface="Expert Sans" pitchFamily="34" charset="-120"/>
              </a:rPr>
              <a:t>The wrapper</a:t>
            </a:r>
            <a:endParaRPr lang="en-US" sz="1400" dirty="0"/>
          </a:p>
        </p:txBody>
      </p:sp>
      <p:sp>
        <p:nvSpPr>
          <p:cNvPr id="9" name="Text 7"/>
          <p:cNvSpPr/>
          <p:nvPr/>
        </p:nvSpPr>
        <p:spPr>
          <a:xfrm>
            <a:off x="4315968" y="2752344"/>
            <a:ext cx="6821424" cy="694944"/>
          </a:xfrm>
          <a:prstGeom prst="rect">
            <a:avLst/>
          </a:prstGeom>
          <a:noFill/>
          <a:ln/>
        </p:spPr>
        <p:txBody>
          <a:bodyPr wrap="square" lIns="0" tIns="0" rIns="0" bIns="0" rtlCol="0" anchor="ctr"/>
          <a:lstStyle/>
          <a:p>
            <a:pPr indent="0" marL="0">
              <a:lnSpc>
                <a:spcPts val="1600"/>
              </a:lnSpc>
              <a:buNone/>
            </a:pPr>
            <a:r>
              <a:rPr lang="en-US" sz="1250" dirty="0">
                <a:solidFill>
                  <a:srgbClr val="3F5563"/>
                </a:solidFill>
                <a:latin typeface="Expert Sans" pitchFamily="34" charset="0"/>
                <a:ea typeface="Expert Sans" pitchFamily="34" charset="-122"/>
                <a:cs typeface="Expert Sans" pitchFamily="34" charset="-120"/>
              </a:rPr>
              <a:t>One name over the launched features, with a fixed set of brand assets, tied to those two moments. Product communications ladder up to it, not alongside it.</a:t>
            </a:r>
            <a:endParaRPr lang="en-US" sz="1250" dirty="0"/>
          </a:p>
        </p:txBody>
      </p:sp>
      <p:sp>
        <p:nvSpPr>
          <p:cNvPr id="10" name="Shape 8"/>
          <p:cNvSpPr/>
          <p:nvPr/>
        </p:nvSpPr>
        <p:spPr>
          <a:xfrm>
            <a:off x="566928" y="3675888"/>
            <a:ext cx="11027664" cy="896112"/>
          </a:xfrm>
          <a:prstGeom prst="roundRect">
            <a:avLst>
              <a:gd name="adj" fmla="val 10204"/>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1" name="Text 9"/>
          <p:cNvSpPr/>
          <p:nvPr/>
        </p:nvSpPr>
        <p:spPr>
          <a:xfrm>
            <a:off x="950976" y="3776472"/>
            <a:ext cx="3108960" cy="694944"/>
          </a:xfrm>
          <a:prstGeom prst="rect">
            <a:avLst/>
          </a:prstGeom>
          <a:noFill/>
          <a:ln/>
        </p:spPr>
        <p:txBody>
          <a:bodyPr wrap="square" lIns="0" tIns="0" rIns="0" bIns="0" rtlCol="0" anchor="ctr"/>
          <a:lstStyle/>
          <a:p>
            <a:pPr indent="0" marL="0">
              <a:buNone/>
            </a:pPr>
            <a:r>
              <a:rPr lang="en-US" sz="1400" b="1" dirty="0">
                <a:solidFill>
                  <a:srgbClr val="00395D"/>
                </a:solidFill>
                <a:latin typeface="Expert Sans" pitchFamily="34" charset="0"/>
                <a:ea typeface="Expert Sans" pitchFamily="34" charset="-122"/>
                <a:cs typeface="Expert Sans" pitchFamily="34" charset="-120"/>
              </a:rPr>
              <a:t>The economics</a:t>
            </a:r>
            <a:endParaRPr lang="en-US" sz="1400" dirty="0"/>
          </a:p>
        </p:txBody>
      </p:sp>
      <p:sp>
        <p:nvSpPr>
          <p:cNvPr id="12" name="Text 10"/>
          <p:cNvSpPr/>
          <p:nvPr/>
        </p:nvSpPr>
        <p:spPr>
          <a:xfrm>
            <a:off x="4315968" y="3776472"/>
            <a:ext cx="6821424" cy="694944"/>
          </a:xfrm>
          <a:prstGeom prst="rect">
            <a:avLst/>
          </a:prstGeom>
          <a:noFill/>
          <a:ln/>
        </p:spPr>
        <p:txBody>
          <a:bodyPr wrap="square" lIns="0" tIns="0" rIns="0" bIns="0" rtlCol="0" anchor="ctr"/>
          <a:lstStyle/>
          <a:p>
            <a:pPr indent="0" marL="0">
              <a:lnSpc>
                <a:spcPts val="1600"/>
              </a:lnSpc>
              <a:buNone/>
            </a:pPr>
            <a:r>
              <a:rPr lang="en-US" sz="1250" dirty="0">
                <a:solidFill>
                  <a:srgbClr val="3F5563"/>
                </a:solidFill>
                <a:latin typeface="Expert Sans" pitchFamily="34" charset="0"/>
                <a:ea typeface="Expert Sans" pitchFamily="34" charset="-122"/>
                <a:cs typeface="Expert Sans" pitchFamily="34" charset="-120"/>
              </a:rPr>
              <a:t>£0.8m a year, fixed — spread across every feature in the shell, unlike incentives that pay per redemption. Break-even at a 6-point lift in recall.</a:t>
            </a:r>
            <a:endParaRPr lang="en-US" sz="1250" dirty="0"/>
          </a:p>
        </p:txBody>
      </p:sp>
      <p:sp>
        <p:nvSpPr>
          <p:cNvPr id="13" name="Shape 11"/>
          <p:cNvSpPr/>
          <p:nvPr/>
        </p:nvSpPr>
        <p:spPr>
          <a:xfrm>
            <a:off x="566928" y="4700016"/>
            <a:ext cx="11027664" cy="896112"/>
          </a:xfrm>
          <a:prstGeom prst="roundRect">
            <a:avLst>
              <a:gd name="adj" fmla="val 10204"/>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4" name="Text 12"/>
          <p:cNvSpPr/>
          <p:nvPr/>
        </p:nvSpPr>
        <p:spPr>
          <a:xfrm>
            <a:off x="950976" y="4800600"/>
            <a:ext cx="3108960" cy="694944"/>
          </a:xfrm>
          <a:prstGeom prst="rect">
            <a:avLst/>
          </a:prstGeom>
          <a:noFill/>
          <a:ln/>
        </p:spPr>
        <p:txBody>
          <a:bodyPr wrap="square" lIns="0" tIns="0" rIns="0" bIns="0" rtlCol="0" anchor="ctr"/>
          <a:lstStyle/>
          <a:p>
            <a:pPr indent="0" marL="0">
              <a:buNone/>
            </a:pPr>
            <a:r>
              <a:rPr lang="en-US" sz="1400" b="1" dirty="0">
                <a:solidFill>
                  <a:srgbClr val="00395D"/>
                </a:solidFill>
                <a:latin typeface="Expert Sans" pitchFamily="34" charset="0"/>
                <a:ea typeface="Expert Sans" pitchFamily="34" charset="-122"/>
                <a:cs typeface="Expert Sans" pitchFamily="34" charset="-120"/>
              </a:rPr>
              <a:t>The multiplier rule</a:t>
            </a:r>
            <a:endParaRPr lang="en-US" sz="1400" dirty="0"/>
          </a:p>
        </p:txBody>
      </p:sp>
      <p:sp>
        <p:nvSpPr>
          <p:cNvPr id="15" name="Text 13"/>
          <p:cNvSpPr/>
          <p:nvPr/>
        </p:nvSpPr>
        <p:spPr>
          <a:xfrm>
            <a:off x="4315968" y="4800600"/>
            <a:ext cx="6821424" cy="694944"/>
          </a:xfrm>
          <a:prstGeom prst="rect">
            <a:avLst/>
          </a:prstGeom>
          <a:noFill/>
          <a:ln/>
        </p:spPr>
        <p:txBody>
          <a:bodyPr wrap="square" lIns="0" tIns="0" rIns="0" bIns="0" rtlCol="0" anchor="ctr"/>
          <a:lstStyle/>
          <a:p>
            <a:pPr indent="0" marL="0">
              <a:lnSpc>
                <a:spcPts val="1600"/>
              </a:lnSpc>
              <a:buNone/>
            </a:pPr>
            <a:r>
              <a:rPr lang="en-US" sz="1250" dirty="0">
                <a:solidFill>
                  <a:srgbClr val="3F5563"/>
                </a:solidFill>
                <a:latin typeface="Expert Sans" pitchFamily="34" charset="0"/>
                <a:ea typeface="Expert Sans" pitchFamily="34" charset="-122"/>
                <a:cs typeface="Expert Sans" pitchFamily="34" charset="-120"/>
              </a:rPr>
              <a:t>A wrapper multiplies what is there. It cannot rescue a feature below the demand gate — weak features wrapped are weak features remembered.</a:t>
            </a:r>
            <a:endParaRPr lang="en-US" sz="1250" dirty="0"/>
          </a:p>
        </p:txBody>
      </p:sp>
      <p:sp>
        <p:nvSpPr>
          <p:cNvPr id="16" name="Text 14"/>
          <p:cNvSpPr/>
          <p:nvPr/>
        </p:nvSpPr>
        <p:spPr>
          <a:xfrm>
            <a:off x="566928" y="5815584"/>
            <a:ext cx="11027664" cy="548640"/>
          </a:xfrm>
          <a:prstGeom prst="rect">
            <a:avLst/>
          </a:prstGeom>
          <a:noFill/>
          <a:ln/>
        </p:spPr>
        <p:txBody>
          <a:bodyPr wrap="square" lIns="0" tIns="0" rIns="0" bIns="0" rtlCol="0" anchor="t"/>
          <a:lstStyle/>
          <a:p>
            <a:pPr indent="0" marL="0">
              <a:lnSpc>
                <a:spcPts val="1800"/>
              </a:lnSpc>
              <a:buNone/>
            </a:pPr>
            <a:r>
              <a:rPr lang="en-US" sz="1300" i="1" dirty="0">
                <a:solidFill>
                  <a:srgbClr val="6E7F8D"/>
                </a:solidFill>
                <a:latin typeface="Expert Sans" pitchFamily="34" charset="0"/>
                <a:ea typeface="Expert Sans" pitchFamily="34" charset="-122"/>
                <a:cs typeface="Expert Sans" pitchFamily="34" charset="-120"/>
              </a:rPr>
              <a:t>The wrapper is a demand claim — will they think of us — so it lives in this section. Its cost appears in the earnings bridge; its stop rule sits on the sensitivity page.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28016"/>
          </a:xfrm>
          <a:prstGeom prst="rect">
            <a:avLst/>
          </a:prstGeom>
          <a:solidFill>
            <a:srgbClr val="00AEEF"/>
          </a:solidFill>
          <a:ln w="12700">
            <a:solidFill>
              <a:srgbClr val="00AEEF"/>
            </a:solidFill>
            <a:prstDash val="solid"/>
          </a:ln>
        </p:spPr>
      </p:sp>
      <p:sp>
        <p:nvSpPr>
          <p:cNvPr id="3" name="Text 1"/>
          <p:cNvSpPr/>
          <p:nvPr/>
        </p:nvSpPr>
        <p:spPr>
          <a:xfrm>
            <a:off x="566928" y="1874520"/>
            <a:ext cx="2377440" cy="1463040"/>
          </a:xfrm>
          <a:prstGeom prst="rect">
            <a:avLst/>
          </a:prstGeom>
          <a:noFill/>
          <a:ln/>
        </p:spPr>
        <p:txBody>
          <a:bodyPr wrap="square" lIns="0" tIns="0" rIns="0" bIns="0" rtlCol="0" anchor="ctr"/>
          <a:lstStyle/>
          <a:p>
            <a:pPr indent="0" marL="0">
              <a:buNone/>
            </a:pPr>
            <a:r>
              <a:rPr lang="en-US" sz="8800" b="1" dirty="0">
                <a:solidFill>
                  <a:srgbClr val="BFE4F7"/>
                </a:solidFill>
                <a:latin typeface="Expert Sans" pitchFamily="34" charset="0"/>
                <a:ea typeface="Expert Sans" pitchFamily="34" charset="-122"/>
                <a:cs typeface="Expert Sans" pitchFamily="34" charset="-120"/>
              </a:rPr>
              <a:t>02</a:t>
            </a:r>
            <a:endParaRPr lang="en-US" sz="8800" dirty="0"/>
          </a:p>
        </p:txBody>
      </p:sp>
      <p:sp>
        <p:nvSpPr>
          <p:cNvPr id="4" name="Text 2"/>
          <p:cNvSpPr/>
          <p:nvPr/>
        </p:nvSpPr>
        <p:spPr>
          <a:xfrm>
            <a:off x="2898648" y="2029968"/>
            <a:ext cx="8595360" cy="365760"/>
          </a:xfrm>
          <a:prstGeom prst="rect">
            <a:avLst/>
          </a:prstGeom>
          <a:noFill/>
          <a:ln/>
        </p:spPr>
        <p:txBody>
          <a:bodyPr wrap="square" lIns="0" tIns="0" rIns="0" bIns="0" rtlCol="0" anchor="ctr"/>
          <a:lstStyle/>
          <a:p>
            <a:pPr indent="0" marL="0">
              <a:buNone/>
            </a:pPr>
            <a:r>
              <a:rPr lang="en-US" sz="1200" b="1" spc="260" kern="0" dirty="0">
                <a:solidFill>
                  <a:srgbClr val="0083C5"/>
                </a:solidFill>
                <a:latin typeface="Expert Sans" pitchFamily="34" charset="0"/>
                <a:ea typeface="Expert Sans" pitchFamily="34" charset="-122"/>
                <a:cs typeface="Expert Sans" pitchFamily="34" charset="-120"/>
              </a:rPr>
              <a:t>RETURN SORTS</a:t>
            </a:r>
            <a:endParaRPr lang="en-US" sz="1200" dirty="0"/>
          </a:p>
        </p:txBody>
      </p:sp>
      <p:sp>
        <p:nvSpPr>
          <p:cNvPr id="5" name="Text 3"/>
          <p:cNvSpPr/>
          <p:nvPr/>
        </p:nvSpPr>
        <p:spPr>
          <a:xfrm>
            <a:off x="2898648" y="2395728"/>
            <a:ext cx="8595360" cy="914400"/>
          </a:xfrm>
          <a:prstGeom prst="rect">
            <a:avLst/>
          </a:prstGeom>
          <a:noFill/>
          <a:ln/>
        </p:spPr>
        <p:txBody>
          <a:bodyPr wrap="square" lIns="0" tIns="0" rIns="0" bIns="0" rtlCol="0" anchor="ctr"/>
          <a:lstStyle/>
          <a:p>
            <a:pPr indent="0" marL="0">
              <a:buNone/>
            </a:pPr>
            <a:r>
              <a:rPr lang="en-US" sz="3400" dirty="0">
                <a:solidFill>
                  <a:srgbClr val="00395D"/>
                </a:solidFill>
                <a:latin typeface="Expert Sans" pitchFamily="34" charset="0"/>
                <a:ea typeface="Expert Sans" pitchFamily="34" charset="-122"/>
                <a:cs typeface="Expert Sans" pitchFamily="34" charset="-120"/>
              </a:rPr>
              <a:t>What order do the admitted features take?</a:t>
            </a:r>
            <a:endParaRPr lang="en-US" sz="3400" dirty="0"/>
          </a:p>
        </p:txBody>
      </p:sp>
      <p:sp>
        <p:nvSpPr>
          <p:cNvPr id="6" name="Text 4"/>
          <p:cNvSpPr/>
          <p:nvPr/>
        </p:nvSpPr>
        <p:spPr>
          <a:xfrm>
            <a:off x="2898648" y="3346704"/>
            <a:ext cx="8412480" cy="640080"/>
          </a:xfrm>
          <a:prstGeom prst="rect">
            <a:avLst/>
          </a:prstGeom>
          <a:noFill/>
          <a:ln/>
        </p:spPr>
        <p:txBody>
          <a:bodyPr wrap="square" lIns="0" tIns="0" rIns="0" bIns="0" rtlCol="0" anchor="t"/>
          <a:lstStyle/>
          <a:p>
            <a:pPr indent="0" marL="0">
              <a:lnSpc>
                <a:spcPts val="2100"/>
              </a:lnSpc>
              <a:buNone/>
            </a:pPr>
            <a:r>
              <a:rPr lang="en-US" sz="1400" dirty="0">
                <a:solidFill>
                  <a:srgbClr val="3F5563"/>
                </a:solidFill>
                <a:latin typeface="Expert Sans" pitchFamily="34" charset="0"/>
                <a:ea typeface="Expert Sans" pitchFamily="34" charset="-122"/>
                <a:cs typeface="Expert Sans" pitchFamily="34" charset="-120"/>
              </a:rPr>
              <a:t>Sorted by risk-adjusted return per build slot — capacity is the scarce thing, so returns are measured against it.</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0083C5"/>
                </a:solidFill>
                <a:latin typeface="Expert Sans" pitchFamily="34" charset="0"/>
                <a:ea typeface="Expert Sans" pitchFamily="34" charset="-122"/>
                <a:cs typeface="Expert Sans" pitchFamily="34" charset="-120"/>
              </a:rPr>
              <a:t>RETURN SORTS  ·  02</a:t>
            </a:r>
            <a:endParaRPr lang="en-US" sz="1100" dirty="0"/>
          </a:p>
        </p:txBody>
      </p:sp>
      <p:sp>
        <p:nvSpPr>
          <p:cNvPr id="3" name="Text 1"/>
          <p:cNvSpPr/>
          <p:nvPr/>
        </p:nvSpPr>
        <p:spPr>
          <a:xfrm>
            <a:off x="566928" y="548640"/>
            <a:ext cx="9564624" cy="969264"/>
          </a:xfrm>
          <a:prstGeom prst="rect">
            <a:avLst/>
          </a:prstGeom>
          <a:noFill/>
          <a:ln/>
        </p:spPr>
        <p:txBody>
          <a:bodyPr wrap="square" lIns="0" tIns="0" rIns="0" bIns="0" rtlCol="0" anchor="t"/>
          <a:lstStyle/>
          <a:p>
            <a:pPr algn="l" indent="0" marL="0">
              <a:lnSpc>
                <a:spcPts val="3000"/>
              </a:lnSpc>
              <a:buNone/>
            </a:pPr>
            <a:r>
              <a:rPr lang="en-US" sz="2500" dirty="0">
                <a:solidFill>
                  <a:srgbClr val="00AEEF"/>
                </a:solidFill>
                <a:latin typeface="Expert Sans" pitchFamily="34" charset="0"/>
                <a:ea typeface="Expert Sans" pitchFamily="34" charset="-122"/>
                <a:cs typeface="Expert Sans" pitchFamily="34" charset="-120"/>
              </a:rPr>
              <a:t>Per-slot return sets the order — and it re-orders raw NPV</a:t>
            </a:r>
            <a:endParaRPr lang="en-US" sz="2500" dirty="0"/>
          </a:p>
        </p:txBody>
      </p:sp>
      <p:sp>
        <p:nvSpPr>
          <p:cNvPr id="4" name="Text 2"/>
          <p:cNvSpPr/>
          <p:nvPr/>
        </p:nvSpPr>
        <p:spPr>
          <a:xfrm>
            <a:off x="566928" y="1783080"/>
            <a:ext cx="3429000" cy="365760"/>
          </a:xfrm>
          <a:prstGeom prst="rect">
            <a:avLst/>
          </a:prstGeom>
          <a:noFill/>
          <a:ln/>
        </p:spPr>
        <p:txBody>
          <a:bodyPr wrap="square" lIns="0" tIns="0" rIns="0" bIns="0" rtlCol="0" anchor="b"/>
          <a:lstStyle/>
          <a:p>
            <a:pPr indent="0" marL="0">
              <a:buNone/>
            </a:pPr>
            <a:r>
              <a:rPr lang="en-US" sz="1150" b="1" dirty="0">
                <a:solidFill>
                  <a:srgbClr val="00395D"/>
                </a:solidFill>
                <a:latin typeface="Expert Sans" pitchFamily="34" charset="0"/>
                <a:ea typeface="Expert Sans" pitchFamily="34" charset="-122"/>
                <a:cs typeface="Expert Sans" pitchFamily="34" charset="-120"/>
              </a:rPr>
              <a:t>Feature</a:t>
            </a:r>
            <a:endParaRPr lang="en-US" sz="1150" dirty="0"/>
          </a:p>
        </p:txBody>
      </p:sp>
      <p:sp>
        <p:nvSpPr>
          <p:cNvPr id="5" name="Text 3"/>
          <p:cNvSpPr/>
          <p:nvPr/>
        </p:nvSpPr>
        <p:spPr>
          <a:xfrm>
            <a:off x="4133088" y="1783080"/>
            <a:ext cx="2148840" cy="365760"/>
          </a:xfrm>
          <a:prstGeom prst="rect">
            <a:avLst/>
          </a:prstGeom>
          <a:noFill/>
          <a:ln/>
        </p:spPr>
        <p:txBody>
          <a:bodyPr wrap="square" lIns="0" tIns="0" rIns="0" bIns="0" rtlCol="0" anchor="b"/>
          <a:lstStyle/>
          <a:p>
            <a:pPr indent="0" marL="0">
              <a:buNone/>
            </a:pPr>
            <a:r>
              <a:rPr lang="en-US" sz="1150" b="1" dirty="0">
                <a:solidFill>
                  <a:srgbClr val="00395D"/>
                </a:solidFill>
                <a:latin typeface="Expert Sans" pitchFamily="34" charset="0"/>
                <a:ea typeface="Expert Sans" pitchFamily="34" charset="-122"/>
                <a:cs typeface="Expert Sans" pitchFamily="34" charset="-120"/>
              </a:rPr>
              <a:t>Risk-adjusted NPV</a:t>
            </a:r>
            <a:endParaRPr lang="en-US" sz="1150" dirty="0"/>
          </a:p>
        </p:txBody>
      </p:sp>
      <p:sp>
        <p:nvSpPr>
          <p:cNvPr id="6" name="Text 4"/>
          <p:cNvSpPr/>
          <p:nvPr/>
        </p:nvSpPr>
        <p:spPr>
          <a:xfrm>
            <a:off x="6419088" y="1783080"/>
            <a:ext cx="1600200" cy="365760"/>
          </a:xfrm>
          <a:prstGeom prst="rect">
            <a:avLst/>
          </a:prstGeom>
          <a:noFill/>
          <a:ln/>
        </p:spPr>
        <p:txBody>
          <a:bodyPr wrap="square" lIns="0" tIns="0" rIns="0" bIns="0" rtlCol="0" anchor="b"/>
          <a:lstStyle/>
          <a:p>
            <a:pPr indent="0" marL="0">
              <a:buNone/>
            </a:pPr>
            <a:r>
              <a:rPr lang="en-US" sz="1150" b="1" dirty="0">
                <a:solidFill>
                  <a:srgbClr val="00395D"/>
                </a:solidFill>
                <a:latin typeface="Expert Sans" pitchFamily="34" charset="0"/>
                <a:ea typeface="Expert Sans" pitchFamily="34" charset="-122"/>
                <a:cs typeface="Expert Sans" pitchFamily="34" charset="-120"/>
              </a:rPr>
              <a:t>Build slots</a:t>
            </a:r>
            <a:endParaRPr lang="en-US" sz="1150" dirty="0"/>
          </a:p>
        </p:txBody>
      </p:sp>
      <p:sp>
        <p:nvSpPr>
          <p:cNvPr id="7" name="Text 5"/>
          <p:cNvSpPr/>
          <p:nvPr/>
        </p:nvSpPr>
        <p:spPr>
          <a:xfrm>
            <a:off x="8156448" y="1783080"/>
            <a:ext cx="2240280" cy="365760"/>
          </a:xfrm>
          <a:prstGeom prst="rect">
            <a:avLst/>
          </a:prstGeom>
          <a:noFill/>
          <a:ln/>
        </p:spPr>
        <p:txBody>
          <a:bodyPr wrap="square" lIns="0" tIns="0" rIns="0" bIns="0" rtlCol="0" anchor="b"/>
          <a:lstStyle/>
          <a:p>
            <a:pPr indent="0" marL="0">
              <a:buNone/>
            </a:pPr>
            <a:r>
              <a:rPr lang="en-US" sz="1150" b="1" dirty="0">
                <a:solidFill>
                  <a:srgbClr val="00395D"/>
                </a:solidFill>
                <a:latin typeface="Expert Sans" pitchFamily="34" charset="0"/>
                <a:ea typeface="Expert Sans" pitchFamily="34" charset="-122"/>
                <a:cs typeface="Expert Sans" pitchFamily="34" charset="-120"/>
              </a:rPr>
              <a:t>Return per slot</a:t>
            </a:r>
            <a:endParaRPr lang="en-US" sz="1150" dirty="0"/>
          </a:p>
        </p:txBody>
      </p:sp>
      <p:sp>
        <p:nvSpPr>
          <p:cNvPr id="8" name="Text 6"/>
          <p:cNvSpPr/>
          <p:nvPr/>
        </p:nvSpPr>
        <p:spPr>
          <a:xfrm>
            <a:off x="10533888" y="1783080"/>
            <a:ext cx="960120" cy="365760"/>
          </a:xfrm>
          <a:prstGeom prst="rect">
            <a:avLst/>
          </a:prstGeom>
          <a:noFill/>
          <a:ln/>
        </p:spPr>
        <p:txBody>
          <a:bodyPr wrap="square" lIns="0" tIns="0" rIns="0" bIns="0" rtlCol="0" anchor="b"/>
          <a:lstStyle/>
          <a:p>
            <a:pPr indent="0" marL="0">
              <a:buNone/>
            </a:pPr>
            <a:r>
              <a:rPr lang="en-US" sz="1150" b="1" dirty="0">
                <a:solidFill>
                  <a:srgbClr val="00395D"/>
                </a:solidFill>
                <a:latin typeface="Expert Sans" pitchFamily="34" charset="0"/>
                <a:ea typeface="Expert Sans" pitchFamily="34" charset="-122"/>
                <a:cs typeface="Expert Sans" pitchFamily="34" charset="-120"/>
              </a:rPr>
              <a:t>Order</a:t>
            </a:r>
            <a:endParaRPr lang="en-US" sz="1150" dirty="0"/>
          </a:p>
        </p:txBody>
      </p:sp>
      <p:sp>
        <p:nvSpPr>
          <p:cNvPr id="9" name="Shape 7"/>
          <p:cNvSpPr/>
          <p:nvPr/>
        </p:nvSpPr>
        <p:spPr>
          <a:xfrm>
            <a:off x="566928" y="2221992"/>
            <a:ext cx="11027664" cy="0"/>
          </a:xfrm>
          <a:prstGeom prst="line">
            <a:avLst/>
          </a:prstGeom>
          <a:noFill/>
          <a:ln w="19050">
            <a:solidFill>
              <a:srgbClr val="00395D"/>
            </a:solidFill>
            <a:prstDash val="solid"/>
          </a:ln>
        </p:spPr>
      </p:sp>
      <p:sp>
        <p:nvSpPr>
          <p:cNvPr id="10" name="Shape 8"/>
          <p:cNvSpPr/>
          <p:nvPr/>
        </p:nvSpPr>
        <p:spPr>
          <a:xfrm>
            <a:off x="566928" y="2322576"/>
            <a:ext cx="11027664" cy="658368"/>
          </a:xfrm>
          <a:prstGeom prst="rect">
            <a:avLst/>
          </a:prstGeom>
          <a:solidFill>
            <a:srgbClr val="F5F8FA"/>
          </a:solidFill>
          <a:ln w="12700">
            <a:solidFill>
              <a:srgbClr val="F5F8FA"/>
            </a:solidFill>
            <a:prstDash val="solid"/>
          </a:ln>
        </p:spPr>
      </p:sp>
      <p:sp>
        <p:nvSpPr>
          <p:cNvPr id="11" name="Text 9"/>
          <p:cNvSpPr/>
          <p:nvPr/>
        </p:nvSpPr>
        <p:spPr>
          <a:xfrm>
            <a:off x="566928" y="2368296"/>
            <a:ext cx="3429000" cy="566928"/>
          </a:xfrm>
          <a:prstGeom prst="rect">
            <a:avLst/>
          </a:prstGeom>
          <a:noFill/>
          <a:ln/>
        </p:spPr>
        <p:txBody>
          <a:bodyPr wrap="square" lIns="0" tIns="0" rIns="0" bIns="0" rtlCol="0" anchor="ctr"/>
          <a:lstStyle/>
          <a:p>
            <a:pPr indent="0" marL="0">
              <a:buNone/>
            </a:pPr>
            <a:r>
              <a:rPr lang="en-US" sz="1400" b="1" dirty="0">
                <a:solidFill>
                  <a:srgbClr val="00395D"/>
                </a:solidFill>
                <a:latin typeface="Expert Sans" pitchFamily="34" charset="0"/>
                <a:ea typeface="Expert Sans" pitchFamily="34" charset="-122"/>
                <a:cs typeface="Expert Sans" pitchFamily="34" charset="-120"/>
              </a:rPr>
              <a:t>FX payments</a:t>
            </a:r>
            <a:endParaRPr lang="en-US" sz="1400" dirty="0"/>
          </a:p>
        </p:txBody>
      </p:sp>
      <p:sp>
        <p:nvSpPr>
          <p:cNvPr id="12" name="Text 10"/>
          <p:cNvSpPr/>
          <p:nvPr/>
        </p:nvSpPr>
        <p:spPr>
          <a:xfrm>
            <a:off x="4133088" y="2368296"/>
            <a:ext cx="2148840" cy="566928"/>
          </a:xfrm>
          <a:prstGeom prst="rect">
            <a:avLst/>
          </a:prstGeom>
          <a:noFill/>
          <a:ln/>
        </p:spPr>
        <p:txBody>
          <a:bodyPr wrap="square" lIns="0" tIns="0" rIns="0" bIns="0" rtlCol="0" anchor="ctr"/>
          <a:lstStyle/>
          <a:p>
            <a:pPr indent="0" marL="0">
              <a:buNone/>
            </a:pPr>
            <a:r>
              <a:rPr lang="en-US" sz="1400" dirty="0">
                <a:solidFill>
                  <a:srgbClr val="3F5563"/>
                </a:solidFill>
                <a:latin typeface="Expert Sans" pitchFamily="34" charset="0"/>
                <a:ea typeface="Expert Sans" pitchFamily="34" charset="-122"/>
                <a:cs typeface="Expert Sans" pitchFamily="34" charset="-120"/>
              </a:rPr>
              <a:t>£2.1m</a:t>
            </a:r>
            <a:endParaRPr lang="en-US" sz="1400" dirty="0"/>
          </a:p>
        </p:txBody>
      </p:sp>
      <p:sp>
        <p:nvSpPr>
          <p:cNvPr id="13" name="Text 11"/>
          <p:cNvSpPr/>
          <p:nvPr/>
        </p:nvSpPr>
        <p:spPr>
          <a:xfrm>
            <a:off x="6419088" y="2368296"/>
            <a:ext cx="1600200" cy="566928"/>
          </a:xfrm>
          <a:prstGeom prst="rect">
            <a:avLst/>
          </a:prstGeom>
          <a:noFill/>
          <a:ln/>
        </p:spPr>
        <p:txBody>
          <a:bodyPr wrap="square" lIns="0" tIns="0" rIns="0" bIns="0" rtlCol="0" anchor="ctr"/>
          <a:lstStyle/>
          <a:p>
            <a:pPr indent="0" marL="0">
              <a:buNone/>
            </a:pPr>
            <a:r>
              <a:rPr lang="en-US" sz="1400" dirty="0">
                <a:solidFill>
                  <a:srgbClr val="3F5563"/>
                </a:solidFill>
                <a:latin typeface="Expert Sans" pitchFamily="34" charset="0"/>
                <a:ea typeface="Expert Sans" pitchFamily="34" charset="-122"/>
                <a:cs typeface="Expert Sans" pitchFamily="34" charset="-120"/>
              </a:rPr>
              <a:t>1</a:t>
            </a:r>
            <a:endParaRPr lang="en-US" sz="1400" dirty="0"/>
          </a:p>
        </p:txBody>
      </p:sp>
      <p:sp>
        <p:nvSpPr>
          <p:cNvPr id="14" name="Text 12"/>
          <p:cNvSpPr/>
          <p:nvPr/>
        </p:nvSpPr>
        <p:spPr>
          <a:xfrm>
            <a:off x="8156448" y="2368296"/>
            <a:ext cx="2240280" cy="566928"/>
          </a:xfrm>
          <a:prstGeom prst="rect">
            <a:avLst/>
          </a:prstGeom>
          <a:noFill/>
          <a:ln/>
        </p:spPr>
        <p:txBody>
          <a:bodyPr wrap="square" lIns="0" tIns="0" rIns="0" bIns="0" rtlCol="0" anchor="ctr"/>
          <a:lstStyle/>
          <a:p>
            <a:pPr indent="0" marL="0">
              <a:buNone/>
            </a:pPr>
            <a:r>
              <a:rPr lang="en-US" sz="1400" b="1" dirty="0">
                <a:solidFill>
                  <a:srgbClr val="00395D"/>
                </a:solidFill>
                <a:latin typeface="Expert Sans" pitchFamily="34" charset="0"/>
                <a:ea typeface="Expert Sans" pitchFamily="34" charset="-122"/>
                <a:cs typeface="Expert Sans" pitchFamily="34" charset="-120"/>
              </a:rPr>
              <a:t>£2.1m</a:t>
            </a:r>
            <a:endParaRPr lang="en-US" sz="1400" dirty="0"/>
          </a:p>
        </p:txBody>
      </p:sp>
      <p:sp>
        <p:nvSpPr>
          <p:cNvPr id="15" name="Text 13"/>
          <p:cNvSpPr/>
          <p:nvPr/>
        </p:nvSpPr>
        <p:spPr>
          <a:xfrm>
            <a:off x="10533888" y="2368296"/>
            <a:ext cx="1097280" cy="566928"/>
          </a:xfrm>
          <a:prstGeom prst="rect">
            <a:avLst/>
          </a:prstGeom>
          <a:noFill/>
          <a:ln/>
        </p:spPr>
        <p:txBody>
          <a:bodyPr wrap="square" lIns="0" tIns="0" rIns="0" bIns="0" rtlCol="0" anchor="ctr"/>
          <a:lstStyle/>
          <a:p>
            <a:pPr indent="0" marL="0">
              <a:buNone/>
            </a:pPr>
            <a:r>
              <a:rPr lang="en-US" sz="1700" b="1" dirty="0">
                <a:solidFill>
                  <a:srgbClr val="0083C5"/>
                </a:solidFill>
                <a:latin typeface="Expert Sans" pitchFamily="34" charset="0"/>
                <a:ea typeface="Expert Sans" pitchFamily="34" charset="-122"/>
                <a:cs typeface="Expert Sans" pitchFamily="34" charset="-120"/>
              </a:rPr>
              <a:t>1st</a:t>
            </a:r>
            <a:endParaRPr lang="en-US" sz="1700" dirty="0"/>
          </a:p>
        </p:txBody>
      </p:sp>
      <p:sp>
        <p:nvSpPr>
          <p:cNvPr id="16" name="Text 14"/>
          <p:cNvSpPr/>
          <p:nvPr/>
        </p:nvSpPr>
        <p:spPr>
          <a:xfrm>
            <a:off x="566928" y="3063240"/>
            <a:ext cx="3429000" cy="566928"/>
          </a:xfrm>
          <a:prstGeom prst="rect">
            <a:avLst/>
          </a:prstGeom>
          <a:noFill/>
          <a:ln/>
        </p:spPr>
        <p:txBody>
          <a:bodyPr wrap="square" lIns="0" tIns="0" rIns="0" bIns="0" rtlCol="0" anchor="ctr"/>
          <a:lstStyle/>
          <a:p>
            <a:pPr indent="0" marL="0">
              <a:buNone/>
            </a:pPr>
            <a:r>
              <a:rPr lang="en-US" sz="1400" b="1" dirty="0">
                <a:solidFill>
                  <a:srgbClr val="00395D"/>
                </a:solidFill>
                <a:latin typeface="Expert Sans" pitchFamily="34" charset="0"/>
                <a:ea typeface="Expert Sans" pitchFamily="34" charset="-122"/>
                <a:cs typeface="Expert Sans" pitchFamily="34" charset="-120"/>
              </a:rPr>
              <a:t>Invoice finance (partnered)</a:t>
            </a:r>
            <a:endParaRPr lang="en-US" sz="1400" dirty="0"/>
          </a:p>
        </p:txBody>
      </p:sp>
      <p:sp>
        <p:nvSpPr>
          <p:cNvPr id="17" name="Text 15"/>
          <p:cNvSpPr/>
          <p:nvPr/>
        </p:nvSpPr>
        <p:spPr>
          <a:xfrm>
            <a:off x="4133088" y="3063240"/>
            <a:ext cx="2148840" cy="566928"/>
          </a:xfrm>
          <a:prstGeom prst="rect">
            <a:avLst/>
          </a:prstGeom>
          <a:noFill/>
          <a:ln/>
        </p:spPr>
        <p:txBody>
          <a:bodyPr wrap="square" lIns="0" tIns="0" rIns="0" bIns="0" rtlCol="0" anchor="ctr"/>
          <a:lstStyle/>
          <a:p>
            <a:pPr indent="0" marL="0">
              <a:buNone/>
            </a:pPr>
            <a:r>
              <a:rPr lang="en-US" sz="1400" dirty="0">
                <a:solidFill>
                  <a:srgbClr val="3F5563"/>
                </a:solidFill>
                <a:latin typeface="Expert Sans" pitchFamily="34" charset="0"/>
                <a:ea typeface="Expert Sans" pitchFamily="34" charset="-122"/>
                <a:cs typeface="Expert Sans" pitchFamily="34" charset="-120"/>
              </a:rPr>
              <a:t>£1.6m</a:t>
            </a:r>
            <a:endParaRPr lang="en-US" sz="1400" dirty="0"/>
          </a:p>
        </p:txBody>
      </p:sp>
      <p:sp>
        <p:nvSpPr>
          <p:cNvPr id="18" name="Text 16"/>
          <p:cNvSpPr/>
          <p:nvPr/>
        </p:nvSpPr>
        <p:spPr>
          <a:xfrm>
            <a:off x="6419088" y="3063240"/>
            <a:ext cx="1600200" cy="566928"/>
          </a:xfrm>
          <a:prstGeom prst="rect">
            <a:avLst/>
          </a:prstGeom>
          <a:noFill/>
          <a:ln/>
        </p:spPr>
        <p:txBody>
          <a:bodyPr wrap="square" lIns="0" tIns="0" rIns="0" bIns="0" rtlCol="0" anchor="ctr"/>
          <a:lstStyle/>
          <a:p>
            <a:pPr indent="0" marL="0">
              <a:buNone/>
            </a:pPr>
            <a:r>
              <a:rPr lang="en-US" sz="1400" dirty="0">
                <a:solidFill>
                  <a:srgbClr val="3F5563"/>
                </a:solidFill>
                <a:latin typeface="Expert Sans" pitchFamily="34" charset="0"/>
                <a:ea typeface="Expert Sans" pitchFamily="34" charset="-122"/>
                <a:cs typeface="Expert Sans" pitchFamily="34" charset="-120"/>
              </a:rPr>
              <a:t>1</a:t>
            </a:r>
            <a:endParaRPr lang="en-US" sz="1400" dirty="0"/>
          </a:p>
        </p:txBody>
      </p:sp>
      <p:sp>
        <p:nvSpPr>
          <p:cNvPr id="19" name="Text 17"/>
          <p:cNvSpPr/>
          <p:nvPr/>
        </p:nvSpPr>
        <p:spPr>
          <a:xfrm>
            <a:off x="8156448" y="3063240"/>
            <a:ext cx="2240280" cy="566928"/>
          </a:xfrm>
          <a:prstGeom prst="rect">
            <a:avLst/>
          </a:prstGeom>
          <a:noFill/>
          <a:ln/>
        </p:spPr>
        <p:txBody>
          <a:bodyPr wrap="square" lIns="0" tIns="0" rIns="0" bIns="0" rtlCol="0" anchor="ctr"/>
          <a:lstStyle/>
          <a:p>
            <a:pPr indent="0" marL="0">
              <a:buNone/>
            </a:pPr>
            <a:r>
              <a:rPr lang="en-US" sz="1400" b="1" dirty="0">
                <a:solidFill>
                  <a:srgbClr val="00395D"/>
                </a:solidFill>
                <a:latin typeface="Expert Sans" pitchFamily="34" charset="0"/>
                <a:ea typeface="Expert Sans" pitchFamily="34" charset="-122"/>
                <a:cs typeface="Expert Sans" pitchFamily="34" charset="-120"/>
              </a:rPr>
              <a:t>£1.6m</a:t>
            </a:r>
            <a:endParaRPr lang="en-US" sz="1400" dirty="0"/>
          </a:p>
        </p:txBody>
      </p:sp>
      <p:sp>
        <p:nvSpPr>
          <p:cNvPr id="20" name="Text 18"/>
          <p:cNvSpPr/>
          <p:nvPr/>
        </p:nvSpPr>
        <p:spPr>
          <a:xfrm>
            <a:off x="10533888" y="3063240"/>
            <a:ext cx="1097280" cy="566928"/>
          </a:xfrm>
          <a:prstGeom prst="rect">
            <a:avLst/>
          </a:prstGeom>
          <a:noFill/>
          <a:ln/>
        </p:spPr>
        <p:txBody>
          <a:bodyPr wrap="square" lIns="0" tIns="0" rIns="0" bIns="0" rtlCol="0" anchor="ctr"/>
          <a:lstStyle/>
          <a:p>
            <a:pPr indent="0" marL="0">
              <a:buNone/>
            </a:pPr>
            <a:r>
              <a:rPr lang="en-US" sz="1700" b="1" dirty="0">
                <a:solidFill>
                  <a:srgbClr val="0083C5"/>
                </a:solidFill>
                <a:latin typeface="Expert Sans" pitchFamily="34" charset="0"/>
                <a:ea typeface="Expert Sans" pitchFamily="34" charset="-122"/>
                <a:cs typeface="Expert Sans" pitchFamily="34" charset="-120"/>
              </a:rPr>
              <a:t>2nd</a:t>
            </a:r>
            <a:endParaRPr lang="en-US" sz="1700" dirty="0"/>
          </a:p>
        </p:txBody>
      </p:sp>
      <p:sp>
        <p:nvSpPr>
          <p:cNvPr id="21" name="Shape 19"/>
          <p:cNvSpPr/>
          <p:nvPr/>
        </p:nvSpPr>
        <p:spPr>
          <a:xfrm>
            <a:off x="566928" y="3712464"/>
            <a:ext cx="11027664" cy="658368"/>
          </a:xfrm>
          <a:prstGeom prst="rect">
            <a:avLst/>
          </a:prstGeom>
          <a:solidFill>
            <a:srgbClr val="F5F8FA"/>
          </a:solidFill>
          <a:ln w="12700">
            <a:solidFill>
              <a:srgbClr val="F5F8FA"/>
            </a:solidFill>
            <a:prstDash val="solid"/>
          </a:ln>
        </p:spPr>
      </p:sp>
      <p:sp>
        <p:nvSpPr>
          <p:cNvPr id="22" name="Text 20"/>
          <p:cNvSpPr/>
          <p:nvPr/>
        </p:nvSpPr>
        <p:spPr>
          <a:xfrm>
            <a:off x="566928" y="3758184"/>
            <a:ext cx="3429000" cy="566928"/>
          </a:xfrm>
          <a:prstGeom prst="rect">
            <a:avLst/>
          </a:prstGeom>
          <a:noFill/>
          <a:ln/>
        </p:spPr>
        <p:txBody>
          <a:bodyPr wrap="square" lIns="0" tIns="0" rIns="0" bIns="0" rtlCol="0" anchor="ctr"/>
          <a:lstStyle/>
          <a:p>
            <a:pPr indent="0" marL="0">
              <a:buNone/>
            </a:pPr>
            <a:r>
              <a:rPr lang="en-US" sz="1400" b="1" dirty="0">
                <a:solidFill>
                  <a:srgbClr val="00395D"/>
                </a:solidFill>
                <a:latin typeface="Expert Sans" pitchFamily="34" charset="0"/>
                <a:ea typeface="Expert Sans" pitchFamily="34" charset="-122"/>
                <a:cs typeface="Expert Sans" pitchFamily="34" charset="-120"/>
              </a:rPr>
              <a:t>Trade insurance</a:t>
            </a:r>
            <a:endParaRPr lang="en-US" sz="1400" dirty="0"/>
          </a:p>
        </p:txBody>
      </p:sp>
      <p:sp>
        <p:nvSpPr>
          <p:cNvPr id="23" name="Text 21"/>
          <p:cNvSpPr/>
          <p:nvPr/>
        </p:nvSpPr>
        <p:spPr>
          <a:xfrm>
            <a:off x="4133088" y="3758184"/>
            <a:ext cx="2148840" cy="566928"/>
          </a:xfrm>
          <a:prstGeom prst="rect">
            <a:avLst/>
          </a:prstGeom>
          <a:noFill/>
          <a:ln/>
        </p:spPr>
        <p:txBody>
          <a:bodyPr wrap="square" lIns="0" tIns="0" rIns="0" bIns="0" rtlCol="0" anchor="ctr"/>
          <a:lstStyle/>
          <a:p>
            <a:pPr indent="0" marL="0">
              <a:buNone/>
            </a:pPr>
            <a:r>
              <a:rPr lang="en-US" sz="1400" b="1" dirty="0">
                <a:solidFill>
                  <a:srgbClr val="A8443C"/>
                </a:solidFill>
                <a:latin typeface="Expert Sans" pitchFamily="34" charset="0"/>
                <a:ea typeface="Expert Sans" pitchFamily="34" charset="-122"/>
                <a:cs typeface="Expert Sans" pitchFamily="34" charset="-120"/>
              </a:rPr>
              <a:t>£1.8m</a:t>
            </a:r>
            <a:endParaRPr lang="en-US" sz="1400" dirty="0"/>
          </a:p>
        </p:txBody>
      </p:sp>
      <p:sp>
        <p:nvSpPr>
          <p:cNvPr id="24" name="Text 22"/>
          <p:cNvSpPr/>
          <p:nvPr/>
        </p:nvSpPr>
        <p:spPr>
          <a:xfrm>
            <a:off x="6419088" y="3758184"/>
            <a:ext cx="1600200" cy="566928"/>
          </a:xfrm>
          <a:prstGeom prst="rect">
            <a:avLst/>
          </a:prstGeom>
          <a:noFill/>
          <a:ln/>
        </p:spPr>
        <p:txBody>
          <a:bodyPr wrap="square" lIns="0" tIns="0" rIns="0" bIns="0" rtlCol="0" anchor="ctr"/>
          <a:lstStyle/>
          <a:p>
            <a:pPr indent="0" marL="0">
              <a:buNone/>
            </a:pPr>
            <a:r>
              <a:rPr lang="en-US" sz="1400" b="1" dirty="0">
                <a:solidFill>
                  <a:srgbClr val="A8443C"/>
                </a:solidFill>
                <a:latin typeface="Expert Sans" pitchFamily="34" charset="0"/>
                <a:ea typeface="Expert Sans" pitchFamily="34" charset="-122"/>
                <a:cs typeface="Expert Sans" pitchFamily="34" charset="-120"/>
              </a:rPr>
              <a:t>2</a:t>
            </a:r>
            <a:endParaRPr lang="en-US" sz="1400" dirty="0"/>
          </a:p>
        </p:txBody>
      </p:sp>
      <p:sp>
        <p:nvSpPr>
          <p:cNvPr id="25" name="Text 23"/>
          <p:cNvSpPr/>
          <p:nvPr/>
        </p:nvSpPr>
        <p:spPr>
          <a:xfrm>
            <a:off x="8156448" y="3758184"/>
            <a:ext cx="2240280" cy="566928"/>
          </a:xfrm>
          <a:prstGeom prst="rect">
            <a:avLst/>
          </a:prstGeom>
          <a:noFill/>
          <a:ln/>
        </p:spPr>
        <p:txBody>
          <a:bodyPr wrap="square" lIns="0" tIns="0" rIns="0" bIns="0" rtlCol="0" anchor="ctr"/>
          <a:lstStyle/>
          <a:p>
            <a:pPr indent="0" marL="0">
              <a:buNone/>
            </a:pPr>
            <a:r>
              <a:rPr lang="en-US" sz="1400" b="1" dirty="0">
                <a:solidFill>
                  <a:srgbClr val="00395D"/>
                </a:solidFill>
                <a:latin typeface="Expert Sans" pitchFamily="34" charset="0"/>
                <a:ea typeface="Expert Sans" pitchFamily="34" charset="-122"/>
                <a:cs typeface="Expert Sans" pitchFamily="34" charset="-120"/>
              </a:rPr>
              <a:t>£0.9m</a:t>
            </a:r>
            <a:endParaRPr lang="en-US" sz="1400" dirty="0"/>
          </a:p>
        </p:txBody>
      </p:sp>
      <p:sp>
        <p:nvSpPr>
          <p:cNvPr id="26" name="Text 24"/>
          <p:cNvSpPr/>
          <p:nvPr/>
        </p:nvSpPr>
        <p:spPr>
          <a:xfrm>
            <a:off x="10533888" y="3758184"/>
            <a:ext cx="1097280" cy="566928"/>
          </a:xfrm>
          <a:prstGeom prst="rect">
            <a:avLst/>
          </a:prstGeom>
          <a:noFill/>
          <a:ln/>
        </p:spPr>
        <p:txBody>
          <a:bodyPr wrap="square" lIns="0" tIns="0" rIns="0" bIns="0" rtlCol="0" anchor="ctr"/>
          <a:lstStyle/>
          <a:p>
            <a:pPr indent="0" marL="0">
              <a:buNone/>
            </a:pPr>
            <a:r>
              <a:rPr lang="en-US" sz="1700" b="1" dirty="0">
                <a:solidFill>
                  <a:srgbClr val="0083C5"/>
                </a:solidFill>
                <a:latin typeface="Expert Sans" pitchFamily="34" charset="0"/>
                <a:ea typeface="Expert Sans" pitchFamily="34" charset="-122"/>
                <a:cs typeface="Expert Sans" pitchFamily="34" charset="-120"/>
              </a:rPr>
              <a:t>3rd</a:t>
            </a:r>
            <a:endParaRPr lang="en-US" sz="1700" dirty="0"/>
          </a:p>
        </p:txBody>
      </p:sp>
      <p:sp>
        <p:nvSpPr>
          <p:cNvPr id="27" name="Shape 25"/>
          <p:cNvSpPr/>
          <p:nvPr/>
        </p:nvSpPr>
        <p:spPr>
          <a:xfrm>
            <a:off x="566928" y="4617720"/>
            <a:ext cx="11027664" cy="1234440"/>
          </a:xfrm>
          <a:prstGeom prst="roundRect">
            <a:avLst>
              <a:gd name="adj" fmla="val 7407"/>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28" name="Text 26"/>
          <p:cNvSpPr/>
          <p:nvPr/>
        </p:nvSpPr>
        <p:spPr>
          <a:xfrm>
            <a:off x="950976" y="4764024"/>
            <a:ext cx="3657600" cy="292608"/>
          </a:xfrm>
          <a:prstGeom prst="rect">
            <a:avLst/>
          </a:prstGeom>
          <a:noFill/>
          <a:ln/>
        </p:spPr>
        <p:txBody>
          <a:bodyPr wrap="square" lIns="0" tIns="0" rIns="0" bIns="0" rtlCol="0" anchor="ctr"/>
          <a:lstStyle/>
          <a:p>
            <a:pPr indent="0" marL="0">
              <a:buNone/>
            </a:pPr>
            <a:r>
              <a:rPr lang="en-US" sz="1150" b="1" spc="200" kern="0" dirty="0">
                <a:solidFill>
                  <a:srgbClr val="0083C5"/>
                </a:solidFill>
                <a:latin typeface="Expert Sans" pitchFamily="34" charset="0"/>
                <a:ea typeface="Expert Sans" pitchFamily="34" charset="-122"/>
                <a:cs typeface="Expert Sans" pitchFamily="34" charset="-120"/>
              </a:rPr>
              <a:t>Why per slot, not raw NPV</a:t>
            </a:r>
            <a:endParaRPr lang="en-US" sz="1150" dirty="0"/>
          </a:p>
        </p:txBody>
      </p:sp>
      <p:sp>
        <p:nvSpPr>
          <p:cNvPr id="29" name="Text 27"/>
          <p:cNvSpPr/>
          <p:nvPr/>
        </p:nvSpPr>
        <p:spPr>
          <a:xfrm>
            <a:off x="950976" y="5056632"/>
            <a:ext cx="10113264" cy="685800"/>
          </a:xfrm>
          <a:prstGeom prst="rect">
            <a:avLst/>
          </a:prstGeom>
          <a:noFill/>
          <a:ln/>
        </p:spPr>
        <p:txBody>
          <a:bodyPr wrap="square" lIns="0" tIns="0" rIns="0" bIns="0" rtlCol="0" anchor="t"/>
          <a:lstStyle/>
          <a:p>
            <a:pPr indent="0" marL="0">
              <a:lnSpc>
                <a:spcPts val="1800"/>
              </a:lnSpc>
              <a:buNone/>
            </a:pPr>
            <a:r>
              <a:rPr lang="en-US" sz="1300" dirty="0">
                <a:solidFill>
                  <a:srgbClr val="00395D"/>
                </a:solidFill>
                <a:latin typeface="Expert Sans" pitchFamily="34" charset="0"/>
                <a:ea typeface="Expert Sans" pitchFamily="34" charset="-122"/>
                <a:cs typeface="Expert Sans" pitchFamily="34" charset="-120"/>
              </a:rPr>
              <a:t>Insurance beats invoice finance on raw NPV (£1.8m vs £1.6m) — and still sorts below it, because it eats both of the cycle's slots. Capacity is the scarce thing; returns are measured against what they consume.</a:t>
            </a:r>
            <a:endParaRPr lang="en-US" sz="1300" dirty="0"/>
          </a:p>
        </p:txBody>
      </p:sp>
      <p:sp>
        <p:nvSpPr>
          <p:cNvPr id="30" name="Text 28"/>
          <p:cNvSpPr/>
          <p:nvPr/>
        </p:nvSpPr>
        <p:spPr>
          <a:xfrm>
            <a:off x="566928" y="6126480"/>
            <a:ext cx="11027664" cy="292608"/>
          </a:xfrm>
          <a:prstGeom prst="rect">
            <a:avLst/>
          </a:prstGeom>
          <a:noFill/>
          <a:ln/>
        </p:spPr>
        <p:txBody>
          <a:bodyPr wrap="square" lIns="0" tIns="0" rIns="0" bIns="0" rtlCol="0" anchor="ctr"/>
          <a:lstStyle/>
          <a:p>
            <a:pPr indent="0" marL="0">
              <a:buNone/>
            </a:pPr>
            <a:r>
              <a:rPr lang="en-US" sz="1000" dirty="0">
                <a:solidFill>
                  <a:srgbClr val="6E7F8D"/>
                </a:solidFill>
                <a:latin typeface="Expert Sans" pitchFamily="34" charset="0"/>
                <a:ea typeface="Expert Sans" pitchFamily="34" charset="-122"/>
                <a:cs typeface="Expert Sans" pitchFamily="34" charset="-120"/>
              </a:rPr>
              <a:t>Risk-adjusted NPV: base earnings per feature, levers applied, discounted for route timing (slide 15).</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0083C5"/>
                </a:solidFill>
                <a:latin typeface="Expert Sans" pitchFamily="34" charset="0"/>
                <a:ea typeface="Expert Sans" pitchFamily="34" charset="-122"/>
                <a:cs typeface="Expert Sans" pitchFamily="34" charset="-120"/>
              </a:rPr>
              <a:t>RETURN SORTS  ·  02</a:t>
            </a:r>
            <a:endParaRPr lang="en-US" sz="1100" dirty="0"/>
          </a:p>
        </p:txBody>
      </p:sp>
      <p:sp>
        <p:nvSpPr>
          <p:cNvPr id="3" name="Text 1"/>
          <p:cNvSpPr/>
          <p:nvPr/>
        </p:nvSpPr>
        <p:spPr>
          <a:xfrm>
            <a:off x="566928" y="548640"/>
            <a:ext cx="9564624" cy="969264"/>
          </a:xfrm>
          <a:prstGeom prst="rect">
            <a:avLst/>
          </a:prstGeom>
          <a:noFill/>
          <a:ln/>
        </p:spPr>
        <p:txBody>
          <a:bodyPr wrap="square" lIns="0" tIns="0" rIns="0" bIns="0" rtlCol="0" anchor="t"/>
          <a:lstStyle/>
          <a:p>
            <a:pPr algn="l" indent="0" marL="0">
              <a:lnSpc>
                <a:spcPts val="3000"/>
              </a:lnSpc>
              <a:buNone/>
            </a:pPr>
            <a:r>
              <a:rPr lang="en-US" sz="2500" dirty="0">
                <a:solidFill>
                  <a:srgbClr val="00AEEF"/>
                </a:solidFill>
                <a:latin typeface="Expert Sans" pitchFamily="34" charset="0"/>
                <a:ea typeface="Expert Sans" pitchFamily="34" charset="-122"/>
                <a:cs typeface="Expert Sans" pitchFamily="34" charset="-120"/>
              </a:rPr>
              <a:t>Configuration lifts the cycle's earnings from £4m to £6.3m</a:t>
            </a:r>
            <a:endParaRPr lang="en-US" sz="2500" dirty="0"/>
          </a:p>
        </p:txBody>
      </p:sp>
      <p:sp>
        <p:nvSpPr>
          <p:cNvPr id="4" name="Text 2"/>
          <p:cNvSpPr/>
          <p:nvPr/>
        </p:nvSpPr>
        <p:spPr>
          <a:xfrm>
            <a:off x="566928" y="1463040"/>
            <a:ext cx="8229600" cy="292608"/>
          </a:xfrm>
          <a:prstGeom prst="rect">
            <a:avLst/>
          </a:prstGeom>
          <a:noFill/>
          <a:ln/>
        </p:spPr>
        <p:txBody>
          <a:bodyPr wrap="square" lIns="0" tIns="0" rIns="0" bIns="0" rtlCol="0" anchor="ctr"/>
          <a:lstStyle/>
          <a:p>
            <a:pPr indent="0" marL="0">
              <a:buNone/>
            </a:pPr>
            <a:r>
              <a:rPr lang="en-US" sz="1200" dirty="0">
                <a:solidFill>
                  <a:srgbClr val="6E7F8D"/>
                </a:solidFill>
                <a:latin typeface="Expert Sans" pitchFamily="34" charset="0"/>
                <a:ea typeface="Expert Sans" pitchFamily="34" charset="-122"/>
                <a:cs typeface="Expert Sans" pitchFamily="34" charset="-120"/>
              </a:rPr>
              <a:t>£m annual earnings, year 3 run-rate, this cycle's two features</a:t>
            </a:r>
            <a:endParaRPr lang="en-US" sz="1200" dirty="0"/>
          </a:p>
        </p:txBody>
      </p:sp>
      <p:sp>
        <p:nvSpPr>
          <p:cNvPr id="5" name="Shape 3"/>
          <p:cNvSpPr/>
          <p:nvPr/>
        </p:nvSpPr>
        <p:spPr>
          <a:xfrm>
            <a:off x="795528" y="3200400"/>
            <a:ext cx="1481328" cy="2011680"/>
          </a:xfrm>
          <a:prstGeom prst="rect">
            <a:avLst/>
          </a:prstGeom>
          <a:solidFill>
            <a:srgbClr val="00395D"/>
          </a:solidFill>
          <a:ln w="12700">
            <a:solidFill>
              <a:srgbClr val="00395D"/>
            </a:solidFill>
            <a:prstDash val="solid"/>
          </a:ln>
        </p:spPr>
      </p:sp>
      <p:sp>
        <p:nvSpPr>
          <p:cNvPr id="6" name="Text 4"/>
          <p:cNvSpPr/>
          <p:nvPr/>
        </p:nvSpPr>
        <p:spPr>
          <a:xfrm>
            <a:off x="795528" y="2889504"/>
            <a:ext cx="1481328" cy="274320"/>
          </a:xfrm>
          <a:prstGeom prst="rect">
            <a:avLst/>
          </a:prstGeom>
          <a:noFill/>
          <a:ln/>
        </p:spPr>
        <p:txBody>
          <a:bodyPr wrap="square" lIns="0" tIns="0" rIns="0" bIns="0" rtlCol="0" anchor="ctr"/>
          <a:lstStyle/>
          <a:p>
            <a:pPr algn="ctr" indent="0" marL="0">
              <a:buNone/>
            </a:pPr>
            <a:r>
              <a:rPr lang="en-US" sz="1200" b="1" dirty="0">
                <a:solidFill>
                  <a:srgbClr val="00395D"/>
                </a:solidFill>
                <a:latin typeface="Expert Sans" pitchFamily="34" charset="0"/>
                <a:ea typeface="Expert Sans" pitchFamily="34" charset="-122"/>
                <a:cs typeface="Expert Sans" pitchFamily="34" charset="-120"/>
              </a:rPr>
              <a:t>4.0</a:t>
            </a:r>
            <a:endParaRPr lang="en-US" sz="1200" dirty="0"/>
          </a:p>
        </p:txBody>
      </p:sp>
      <p:sp>
        <p:nvSpPr>
          <p:cNvPr id="7" name="Text 5"/>
          <p:cNvSpPr/>
          <p:nvPr/>
        </p:nvSpPr>
        <p:spPr>
          <a:xfrm>
            <a:off x="722376" y="5303520"/>
            <a:ext cx="1627632" cy="868680"/>
          </a:xfrm>
          <a:prstGeom prst="rect">
            <a:avLst/>
          </a:prstGeom>
          <a:noFill/>
          <a:ln/>
        </p:spPr>
        <p:txBody>
          <a:bodyPr wrap="square" lIns="0" tIns="0" rIns="0" bIns="0" rtlCol="0" anchor="t"/>
          <a:lstStyle/>
          <a:p>
            <a:pPr algn="ctr" indent="0" marL="0">
              <a:lnSpc>
                <a:spcPts val="1200"/>
              </a:lnSpc>
              <a:buNone/>
            </a:pPr>
            <a:r>
              <a:rPr lang="en-US" sz="1000" dirty="0">
                <a:solidFill>
                  <a:srgbClr val="3F5563"/>
                </a:solidFill>
                <a:latin typeface="Expert Sans" pitchFamily="34" charset="0"/>
                <a:ea typeface="Expert Sans" pitchFamily="34" charset="-122"/>
                <a:cs typeface="Expert Sans" pitchFamily="34" charset="-120"/>
              </a:rPr>
              <a:t>Base case</a:t>
            </a:r>
            <a:endParaRPr lang="en-US" sz="1000" dirty="0"/>
          </a:p>
          <a:p>
            <a:pPr algn="ctr" indent="0" marL="0">
              <a:lnSpc>
                <a:spcPts val="1200"/>
              </a:lnSpc>
              <a:buNone/>
            </a:pPr>
            <a:r>
              <a:rPr lang="en-US" sz="1000" dirty="0">
                <a:solidFill>
                  <a:srgbClr val="3F5563"/>
                </a:solidFill>
                <a:latin typeface="Expert Sans" pitchFamily="34" charset="0"/>
                <a:ea typeface="Expert Sans" pitchFamily="34" charset="-122"/>
                <a:cs typeface="Expert Sans" pitchFamily="34" charset="-120"/>
              </a:rPr>
              <a:t>(list price,</a:t>
            </a:r>
            <a:endParaRPr lang="en-US" sz="1000" dirty="0"/>
          </a:p>
          <a:p>
            <a:pPr algn="ctr" indent="0" marL="0">
              <a:lnSpc>
                <a:spcPts val="1200"/>
              </a:lnSpc>
              <a:buNone/>
            </a:pPr>
            <a:r>
              <a:rPr lang="en-US" sz="1000" dirty="0">
                <a:solidFill>
                  <a:srgbClr val="3F5563"/>
                </a:solidFill>
                <a:latin typeface="Expert Sans" pitchFamily="34" charset="0"/>
                <a:ea typeface="Expert Sans" pitchFamily="34" charset="-122"/>
                <a:cs typeface="Expert Sans" pitchFamily="34" charset="-120"/>
              </a:rPr>
              <a:t>no levers)</a:t>
            </a:r>
            <a:endParaRPr lang="en-US" sz="1000" dirty="0"/>
          </a:p>
        </p:txBody>
      </p:sp>
      <p:sp>
        <p:nvSpPr>
          <p:cNvPr id="8" name="Shape 6"/>
          <p:cNvSpPr/>
          <p:nvPr/>
        </p:nvSpPr>
        <p:spPr>
          <a:xfrm>
            <a:off x="2660904" y="2747772"/>
            <a:ext cx="1481328" cy="452628"/>
          </a:xfrm>
          <a:prstGeom prst="rect">
            <a:avLst/>
          </a:prstGeom>
          <a:solidFill>
            <a:srgbClr val="00AEEF"/>
          </a:solidFill>
          <a:ln w="12700">
            <a:solidFill>
              <a:srgbClr val="00AEEF"/>
            </a:solidFill>
            <a:prstDash val="solid"/>
          </a:ln>
        </p:spPr>
      </p:sp>
      <p:sp>
        <p:nvSpPr>
          <p:cNvPr id="9" name="Text 7"/>
          <p:cNvSpPr/>
          <p:nvPr/>
        </p:nvSpPr>
        <p:spPr>
          <a:xfrm>
            <a:off x="2660904" y="2436876"/>
            <a:ext cx="1481328" cy="274320"/>
          </a:xfrm>
          <a:prstGeom prst="rect">
            <a:avLst/>
          </a:prstGeom>
          <a:noFill/>
          <a:ln/>
        </p:spPr>
        <p:txBody>
          <a:bodyPr wrap="square" lIns="0" tIns="0" rIns="0" bIns="0" rtlCol="0" anchor="ctr"/>
          <a:lstStyle/>
          <a:p>
            <a:pPr algn="ctr" indent="0" marL="0">
              <a:buNone/>
            </a:pPr>
            <a:r>
              <a:rPr lang="en-US" sz="1200" b="1" dirty="0">
                <a:solidFill>
                  <a:srgbClr val="00395D"/>
                </a:solidFill>
                <a:latin typeface="Expert Sans" pitchFamily="34" charset="0"/>
                <a:ea typeface="Expert Sans" pitchFamily="34" charset="-122"/>
                <a:cs typeface="Expert Sans" pitchFamily="34" charset="-120"/>
              </a:rPr>
              <a:t>+0.9</a:t>
            </a:r>
            <a:endParaRPr lang="en-US" sz="1200" dirty="0"/>
          </a:p>
        </p:txBody>
      </p:sp>
      <p:sp>
        <p:nvSpPr>
          <p:cNvPr id="10" name="Text 8"/>
          <p:cNvSpPr/>
          <p:nvPr/>
        </p:nvSpPr>
        <p:spPr>
          <a:xfrm>
            <a:off x="2587752" y="5303520"/>
            <a:ext cx="1627632" cy="868680"/>
          </a:xfrm>
          <a:prstGeom prst="rect">
            <a:avLst/>
          </a:prstGeom>
          <a:noFill/>
          <a:ln/>
        </p:spPr>
        <p:txBody>
          <a:bodyPr wrap="square" lIns="0" tIns="0" rIns="0" bIns="0" rtlCol="0" anchor="t"/>
          <a:lstStyle/>
          <a:p>
            <a:pPr algn="ctr" indent="0" marL="0">
              <a:lnSpc>
                <a:spcPts val="1200"/>
              </a:lnSpc>
              <a:buNone/>
            </a:pPr>
            <a:r>
              <a:rPr lang="en-US" sz="1000" dirty="0">
                <a:solidFill>
                  <a:srgbClr val="3F5563"/>
                </a:solidFill>
                <a:latin typeface="Expert Sans" pitchFamily="34" charset="0"/>
                <a:ea typeface="Expert Sans" pitchFamily="34" charset="-122"/>
                <a:cs typeface="Expert Sans" pitchFamily="34" charset="-120"/>
              </a:rPr>
              <a:t>Price</a:t>
            </a:r>
            <a:endParaRPr lang="en-US" sz="1000" dirty="0"/>
          </a:p>
          <a:p>
            <a:pPr algn="ctr" indent="0" marL="0">
              <a:lnSpc>
                <a:spcPts val="1200"/>
              </a:lnSpc>
              <a:buNone/>
            </a:pPr>
            <a:r>
              <a:rPr lang="en-US" sz="1000" dirty="0">
                <a:solidFill>
                  <a:srgbClr val="3F5563"/>
                </a:solidFill>
                <a:latin typeface="Expert Sans" pitchFamily="34" charset="0"/>
                <a:ea typeface="Expert Sans" pitchFamily="34" charset="-122"/>
                <a:cs typeface="Expert Sans" pitchFamily="34" charset="-120"/>
              </a:rPr>
              <a:t>move</a:t>
            </a:r>
            <a:endParaRPr lang="en-US" sz="1000" dirty="0"/>
          </a:p>
        </p:txBody>
      </p:sp>
      <p:sp>
        <p:nvSpPr>
          <p:cNvPr id="11" name="Shape 9"/>
          <p:cNvSpPr/>
          <p:nvPr/>
        </p:nvSpPr>
        <p:spPr>
          <a:xfrm>
            <a:off x="4526280" y="2093976"/>
            <a:ext cx="1481328" cy="653796"/>
          </a:xfrm>
          <a:prstGeom prst="rect">
            <a:avLst/>
          </a:prstGeom>
          <a:solidFill>
            <a:srgbClr val="00AEEF"/>
          </a:solidFill>
          <a:ln w="12700">
            <a:solidFill>
              <a:srgbClr val="00AEEF"/>
            </a:solidFill>
            <a:prstDash val="solid"/>
          </a:ln>
        </p:spPr>
      </p:sp>
      <p:sp>
        <p:nvSpPr>
          <p:cNvPr id="12" name="Text 10"/>
          <p:cNvSpPr/>
          <p:nvPr/>
        </p:nvSpPr>
        <p:spPr>
          <a:xfrm>
            <a:off x="4526280" y="1783080"/>
            <a:ext cx="1481328" cy="274320"/>
          </a:xfrm>
          <a:prstGeom prst="rect">
            <a:avLst/>
          </a:prstGeom>
          <a:noFill/>
          <a:ln/>
        </p:spPr>
        <p:txBody>
          <a:bodyPr wrap="square" lIns="0" tIns="0" rIns="0" bIns="0" rtlCol="0" anchor="ctr"/>
          <a:lstStyle/>
          <a:p>
            <a:pPr algn="ctr" indent="0" marL="0">
              <a:buNone/>
            </a:pPr>
            <a:r>
              <a:rPr lang="en-US" sz="1200" b="1" dirty="0">
                <a:solidFill>
                  <a:srgbClr val="00395D"/>
                </a:solidFill>
                <a:latin typeface="Expert Sans" pitchFamily="34" charset="0"/>
                <a:ea typeface="Expert Sans" pitchFamily="34" charset="-122"/>
                <a:cs typeface="Expert Sans" pitchFamily="34" charset="-120"/>
              </a:rPr>
              <a:t>+1.3</a:t>
            </a:r>
            <a:endParaRPr lang="en-US" sz="1200" dirty="0"/>
          </a:p>
        </p:txBody>
      </p:sp>
      <p:sp>
        <p:nvSpPr>
          <p:cNvPr id="13" name="Text 11"/>
          <p:cNvSpPr/>
          <p:nvPr/>
        </p:nvSpPr>
        <p:spPr>
          <a:xfrm>
            <a:off x="4453128" y="5303520"/>
            <a:ext cx="1627632" cy="868680"/>
          </a:xfrm>
          <a:prstGeom prst="rect">
            <a:avLst/>
          </a:prstGeom>
          <a:noFill/>
          <a:ln/>
        </p:spPr>
        <p:txBody>
          <a:bodyPr wrap="square" lIns="0" tIns="0" rIns="0" bIns="0" rtlCol="0" anchor="t"/>
          <a:lstStyle/>
          <a:p>
            <a:pPr algn="ctr" indent="0" marL="0">
              <a:lnSpc>
                <a:spcPts val="1200"/>
              </a:lnSpc>
              <a:buNone/>
            </a:pPr>
            <a:r>
              <a:rPr lang="en-US" sz="1000" dirty="0">
                <a:solidFill>
                  <a:srgbClr val="3F5563"/>
                </a:solidFill>
                <a:latin typeface="Expert Sans" pitchFamily="34" charset="0"/>
                <a:ea typeface="Expert Sans" pitchFamily="34" charset="-122"/>
                <a:cs typeface="Expert Sans" pitchFamily="34" charset="-120"/>
              </a:rPr>
              <a:t>Switch</a:t>
            </a:r>
            <a:endParaRPr lang="en-US" sz="1000" dirty="0"/>
          </a:p>
          <a:p>
            <a:pPr algn="ctr" indent="0" marL="0">
              <a:lnSpc>
                <a:spcPts val="1200"/>
              </a:lnSpc>
              <a:buNone/>
            </a:pPr>
            <a:r>
              <a:rPr lang="en-US" sz="1000" dirty="0">
                <a:solidFill>
                  <a:srgbClr val="3F5563"/>
                </a:solidFill>
                <a:latin typeface="Expert Sans" pitchFamily="34" charset="0"/>
                <a:ea typeface="Expert Sans" pitchFamily="34" charset="-122"/>
                <a:cs typeface="Expert Sans" pitchFamily="34" charset="-120"/>
              </a:rPr>
              <a:t>incentive</a:t>
            </a:r>
            <a:endParaRPr lang="en-US" sz="1000" dirty="0"/>
          </a:p>
          <a:p>
            <a:pPr algn="ctr" indent="0" marL="0">
              <a:lnSpc>
                <a:spcPts val="1200"/>
              </a:lnSpc>
              <a:buNone/>
            </a:pPr>
            <a:r>
              <a:rPr lang="en-US" sz="1000" dirty="0">
                <a:solidFill>
                  <a:srgbClr val="3F5563"/>
                </a:solidFill>
                <a:latin typeface="Expert Sans" pitchFamily="34" charset="0"/>
                <a:ea typeface="Expert Sans" pitchFamily="34" charset="-122"/>
                <a:cs typeface="Expert Sans" pitchFamily="34" charset="-120"/>
              </a:rPr>
              <a:t>uptake</a:t>
            </a:r>
            <a:endParaRPr lang="en-US" sz="1000" dirty="0"/>
          </a:p>
        </p:txBody>
      </p:sp>
      <p:sp>
        <p:nvSpPr>
          <p:cNvPr id="14" name="Shape 12"/>
          <p:cNvSpPr/>
          <p:nvPr/>
        </p:nvSpPr>
        <p:spPr>
          <a:xfrm>
            <a:off x="6391656" y="2093976"/>
            <a:ext cx="1481328" cy="352044"/>
          </a:xfrm>
          <a:prstGeom prst="rect">
            <a:avLst/>
          </a:prstGeom>
          <a:solidFill>
            <a:srgbClr val="BFBFBF"/>
          </a:solidFill>
          <a:ln w="12700">
            <a:solidFill>
              <a:srgbClr val="BFBFBF"/>
            </a:solidFill>
            <a:prstDash val="solid"/>
          </a:ln>
        </p:spPr>
      </p:sp>
      <p:sp>
        <p:nvSpPr>
          <p:cNvPr id="15" name="Text 13"/>
          <p:cNvSpPr/>
          <p:nvPr/>
        </p:nvSpPr>
        <p:spPr>
          <a:xfrm>
            <a:off x="6391656" y="1783080"/>
            <a:ext cx="1481328" cy="274320"/>
          </a:xfrm>
          <a:prstGeom prst="rect">
            <a:avLst/>
          </a:prstGeom>
          <a:noFill/>
          <a:ln/>
        </p:spPr>
        <p:txBody>
          <a:bodyPr wrap="square" lIns="0" tIns="0" rIns="0" bIns="0" rtlCol="0" anchor="ctr"/>
          <a:lstStyle/>
          <a:p>
            <a:pPr algn="ctr" indent="0" marL="0">
              <a:buNone/>
            </a:pPr>
            <a:r>
              <a:rPr lang="en-US" sz="1200" b="1" dirty="0">
                <a:solidFill>
                  <a:srgbClr val="00395D"/>
                </a:solidFill>
                <a:latin typeface="Expert Sans" pitchFamily="34" charset="0"/>
                <a:ea typeface="Expert Sans" pitchFamily="34" charset="-122"/>
                <a:cs typeface="Expert Sans" pitchFamily="34" charset="-120"/>
              </a:rPr>
              <a:t>-0.7</a:t>
            </a:r>
            <a:endParaRPr lang="en-US" sz="1200" dirty="0"/>
          </a:p>
        </p:txBody>
      </p:sp>
      <p:sp>
        <p:nvSpPr>
          <p:cNvPr id="16" name="Text 14"/>
          <p:cNvSpPr/>
          <p:nvPr/>
        </p:nvSpPr>
        <p:spPr>
          <a:xfrm>
            <a:off x="6318504" y="5303520"/>
            <a:ext cx="1627632" cy="868680"/>
          </a:xfrm>
          <a:prstGeom prst="rect">
            <a:avLst/>
          </a:prstGeom>
          <a:noFill/>
          <a:ln/>
        </p:spPr>
        <p:txBody>
          <a:bodyPr wrap="square" lIns="0" tIns="0" rIns="0" bIns="0" rtlCol="0" anchor="t"/>
          <a:lstStyle/>
          <a:p>
            <a:pPr algn="ctr" indent="0" marL="0">
              <a:lnSpc>
                <a:spcPts val="1200"/>
              </a:lnSpc>
              <a:buNone/>
            </a:pPr>
            <a:r>
              <a:rPr lang="en-US" sz="1000" dirty="0">
                <a:solidFill>
                  <a:srgbClr val="3F5563"/>
                </a:solidFill>
                <a:latin typeface="Expert Sans" pitchFamily="34" charset="0"/>
                <a:ea typeface="Expert Sans" pitchFamily="34" charset="-122"/>
                <a:cs typeface="Expert Sans" pitchFamily="34" charset="-120"/>
              </a:rPr>
              <a:t>Incentive</a:t>
            </a:r>
            <a:endParaRPr lang="en-US" sz="1000" dirty="0"/>
          </a:p>
          <a:p>
            <a:pPr algn="ctr" indent="0" marL="0">
              <a:lnSpc>
                <a:spcPts val="1200"/>
              </a:lnSpc>
              <a:buNone/>
            </a:pPr>
            <a:r>
              <a:rPr lang="en-US" sz="1000" dirty="0">
                <a:solidFill>
                  <a:srgbClr val="3F5563"/>
                </a:solidFill>
                <a:latin typeface="Expert Sans" pitchFamily="34" charset="0"/>
                <a:ea typeface="Expert Sans" pitchFamily="34" charset="-122"/>
                <a:cs typeface="Expert Sans" pitchFamily="34" charset="-120"/>
              </a:rPr>
              <a:t>cost</a:t>
            </a:r>
            <a:endParaRPr lang="en-US" sz="1000" dirty="0"/>
          </a:p>
        </p:txBody>
      </p:sp>
      <p:sp>
        <p:nvSpPr>
          <p:cNvPr id="17" name="Shape 15"/>
          <p:cNvSpPr/>
          <p:nvPr/>
        </p:nvSpPr>
        <p:spPr>
          <a:xfrm>
            <a:off x="8257032" y="2043684"/>
            <a:ext cx="1481328" cy="402336"/>
          </a:xfrm>
          <a:prstGeom prst="rect">
            <a:avLst/>
          </a:prstGeom>
          <a:solidFill>
            <a:srgbClr val="00AEEF"/>
          </a:solidFill>
          <a:ln w="12700">
            <a:solidFill>
              <a:srgbClr val="00AEEF"/>
            </a:solidFill>
            <a:prstDash val="solid"/>
          </a:ln>
        </p:spPr>
      </p:sp>
      <p:sp>
        <p:nvSpPr>
          <p:cNvPr id="18" name="Text 16"/>
          <p:cNvSpPr/>
          <p:nvPr/>
        </p:nvSpPr>
        <p:spPr>
          <a:xfrm>
            <a:off x="8257032" y="1732788"/>
            <a:ext cx="1481328" cy="274320"/>
          </a:xfrm>
          <a:prstGeom prst="rect">
            <a:avLst/>
          </a:prstGeom>
          <a:noFill/>
          <a:ln/>
        </p:spPr>
        <p:txBody>
          <a:bodyPr wrap="square" lIns="0" tIns="0" rIns="0" bIns="0" rtlCol="0" anchor="ctr"/>
          <a:lstStyle/>
          <a:p>
            <a:pPr algn="ctr" indent="0" marL="0">
              <a:buNone/>
            </a:pPr>
            <a:r>
              <a:rPr lang="en-US" sz="1200" b="1" dirty="0">
                <a:solidFill>
                  <a:srgbClr val="00395D"/>
                </a:solidFill>
                <a:latin typeface="Expert Sans" pitchFamily="34" charset="0"/>
                <a:ea typeface="Expert Sans" pitchFamily="34" charset="-122"/>
                <a:cs typeface="Expert Sans" pitchFamily="34" charset="-120"/>
              </a:rPr>
              <a:t>+0.8</a:t>
            </a:r>
            <a:endParaRPr lang="en-US" sz="1200" dirty="0"/>
          </a:p>
        </p:txBody>
      </p:sp>
      <p:sp>
        <p:nvSpPr>
          <p:cNvPr id="19" name="Text 17"/>
          <p:cNvSpPr/>
          <p:nvPr/>
        </p:nvSpPr>
        <p:spPr>
          <a:xfrm>
            <a:off x="8183880" y="5303520"/>
            <a:ext cx="1627632" cy="868680"/>
          </a:xfrm>
          <a:prstGeom prst="rect">
            <a:avLst/>
          </a:prstGeom>
          <a:noFill/>
          <a:ln/>
        </p:spPr>
        <p:txBody>
          <a:bodyPr wrap="square" lIns="0" tIns="0" rIns="0" bIns="0" rtlCol="0" anchor="t"/>
          <a:lstStyle/>
          <a:p>
            <a:pPr algn="ctr" indent="0" marL="0">
              <a:lnSpc>
                <a:spcPts val="1200"/>
              </a:lnSpc>
              <a:buNone/>
            </a:pPr>
            <a:r>
              <a:rPr lang="en-US" sz="1000" dirty="0">
                <a:solidFill>
                  <a:srgbClr val="3F5563"/>
                </a:solidFill>
                <a:latin typeface="Expert Sans" pitchFamily="34" charset="0"/>
                <a:ea typeface="Expert Sans" pitchFamily="34" charset="-122"/>
                <a:cs typeface="Expert Sans" pitchFamily="34" charset="-120"/>
              </a:rPr>
              <a:t>'Trade Ready'</a:t>
            </a:r>
            <a:endParaRPr lang="en-US" sz="1000" dirty="0"/>
          </a:p>
          <a:p>
            <a:pPr algn="ctr" indent="0" marL="0">
              <a:lnSpc>
                <a:spcPts val="1200"/>
              </a:lnSpc>
              <a:buNone/>
            </a:pPr>
            <a:r>
              <a:rPr lang="en-US" sz="1000" dirty="0">
                <a:solidFill>
                  <a:srgbClr val="3F5563"/>
                </a:solidFill>
                <a:latin typeface="Expert Sans" pitchFamily="34" charset="0"/>
                <a:ea typeface="Expert Sans" pitchFamily="34" charset="-122"/>
                <a:cs typeface="Expert Sans" pitchFamily="34" charset="-120"/>
              </a:rPr>
              <a:t>recall</a:t>
            </a:r>
            <a:endParaRPr lang="en-US" sz="1000" dirty="0"/>
          </a:p>
          <a:p>
            <a:pPr algn="ctr" indent="0" marL="0">
              <a:lnSpc>
                <a:spcPts val="1200"/>
              </a:lnSpc>
              <a:buNone/>
            </a:pPr>
            <a:r>
              <a:rPr lang="en-US" sz="1000" dirty="0">
                <a:solidFill>
                  <a:srgbClr val="3F5563"/>
                </a:solidFill>
                <a:latin typeface="Expert Sans" pitchFamily="34" charset="0"/>
                <a:ea typeface="Expert Sans" pitchFamily="34" charset="-122"/>
                <a:cs typeface="Expert Sans" pitchFamily="34" charset="-120"/>
              </a:rPr>
              <a:t>uplift</a:t>
            </a:r>
            <a:endParaRPr lang="en-US" sz="1000" dirty="0"/>
          </a:p>
        </p:txBody>
      </p:sp>
      <p:sp>
        <p:nvSpPr>
          <p:cNvPr id="20" name="Shape 18"/>
          <p:cNvSpPr/>
          <p:nvPr/>
        </p:nvSpPr>
        <p:spPr>
          <a:xfrm>
            <a:off x="10122408" y="2043684"/>
            <a:ext cx="1481328" cy="3168396"/>
          </a:xfrm>
          <a:prstGeom prst="rect">
            <a:avLst/>
          </a:prstGeom>
          <a:solidFill>
            <a:srgbClr val="00395D"/>
          </a:solidFill>
          <a:ln w="12700">
            <a:solidFill>
              <a:srgbClr val="00395D"/>
            </a:solidFill>
            <a:prstDash val="solid"/>
          </a:ln>
        </p:spPr>
      </p:sp>
      <p:sp>
        <p:nvSpPr>
          <p:cNvPr id="21" name="Text 19"/>
          <p:cNvSpPr/>
          <p:nvPr/>
        </p:nvSpPr>
        <p:spPr>
          <a:xfrm>
            <a:off x="10122408" y="1732788"/>
            <a:ext cx="1481328" cy="274320"/>
          </a:xfrm>
          <a:prstGeom prst="rect">
            <a:avLst/>
          </a:prstGeom>
          <a:noFill/>
          <a:ln/>
        </p:spPr>
        <p:txBody>
          <a:bodyPr wrap="square" lIns="0" tIns="0" rIns="0" bIns="0" rtlCol="0" anchor="ctr"/>
          <a:lstStyle/>
          <a:p>
            <a:pPr algn="ctr" indent="0" marL="0">
              <a:buNone/>
            </a:pPr>
            <a:r>
              <a:rPr lang="en-US" sz="1200" b="1" dirty="0">
                <a:solidFill>
                  <a:srgbClr val="00395D"/>
                </a:solidFill>
                <a:latin typeface="Expert Sans" pitchFamily="34" charset="0"/>
                <a:ea typeface="Expert Sans" pitchFamily="34" charset="-122"/>
                <a:cs typeface="Expert Sans" pitchFamily="34" charset="-120"/>
              </a:rPr>
              <a:t>6.3</a:t>
            </a:r>
            <a:endParaRPr lang="en-US" sz="1200" dirty="0"/>
          </a:p>
        </p:txBody>
      </p:sp>
      <p:sp>
        <p:nvSpPr>
          <p:cNvPr id="22" name="Text 20"/>
          <p:cNvSpPr/>
          <p:nvPr/>
        </p:nvSpPr>
        <p:spPr>
          <a:xfrm>
            <a:off x="10049256" y="5303520"/>
            <a:ext cx="1627632" cy="868680"/>
          </a:xfrm>
          <a:prstGeom prst="rect">
            <a:avLst/>
          </a:prstGeom>
          <a:noFill/>
          <a:ln/>
        </p:spPr>
        <p:txBody>
          <a:bodyPr wrap="square" lIns="0" tIns="0" rIns="0" bIns="0" rtlCol="0" anchor="t"/>
          <a:lstStyle/>
          <a:p>
            <a:pPr algn="ctr" indent="0" marL="0">
              <a:lnSpc>
                <a:spcPts val="1200"/>
              </a:lnSpc>
              <a:buNone/>
            </a:pPr>
            <a:r>
              <a:rPr lang="en-US" sz="1000" dirty="0">
                <a:solidFill>
                  <a:srgbClr val="3F5563"/>
                </a:solidFill>
                <a:latin typeface="Expert Sans" pitchFamily="34" charset="0"/>
                <a:ea typeface="Expert Sans" pitchFamily="34" charset="-122"/>
                <a:cs typeface="Expert Sans" pitchFamily="34" charset="-120"/>
              </a:rPr>
              <a:t>Configured</a:t>
            </a:r>
            <a:endParaRPr lang="en-US" sz="1000" dirty="0"/>
          </a:p>
          <a:p>
            <a:pPr algn="ctr" indent="0" marL="0">
              <a:lnSpc>
                <a:spcPts val="1200"/>
              </a:lnSpc>
              <a:buNone/>
            </a:pPr>
            <a:r>
              <a:rPr lang="en-US" sz="1000" dirty="0">
                <a:solidFill>
                  <a:srgbClr val="3F5563"/>
                </a:solidFill>
                <a:latin typeface="Expert Sans" pitchFamily="34" charset="0"/>
                <a:ea typeface="Expert Sans" pitchFamily="34" charset="-122"/>
                <a:cs typeface="Expert Sans" pitchFamily="34" charset="-120"/>
              </a:rPr>
              <a:t>case</a:t>
            </a:r>
            <a:endParaRPr lang="en-US" sz="1000" dirty="0"/>
          </a:p>
        </p:txBody>
      </p:sp>
      <p:sp>
        <p:nvSpPr>
          <p:cNvPr id="23" name="Text 21"/>
          <p:cNvSpPr/>
          <p:nvPr/>
        </p:nvSpPr>
        <p:spPr>
          <a:xfrm>
            <a:off x="566928" y="5779008"/>
            <a:ext cx="11027664" cy="384048"/>
          </a:xfrm>
          <a:prstGeom prst="rect">
            <a:avLst/>
          </a:prstGeom>
          <a:noFill/>
          <a:ln/>
        </p:spPr>
        <p:txBody>
          <a:bodyPr wrap="square" lIns="0" tIns="0" rIns="0" bIns="0" rtlCol="0" anchor="ctr"/>
          <a:lstStyle/>
          <a:p>
            <a:pPr indent="0" marL="0">
              <a:buNone/>
            </a:pPr>
            <a:r>
              <a:rPr lang="en-US" sz="1300" i="1" dirty="0">
                <a:solidFill>
                  <a:srgbClr val="6E7F8D"/>
                </a:solidFill>
                <a:latin typeface="Expert Sans" pitchFamily="34" charset="0"/>
                <a:ea typeface="Expert Sans" pitchFamily="34" charset="-122"/>
                <a:cs typeface="Expert Sans" pitchFamily="34" charset="-120"/>
              </a:rPr>
              <a:t>The switch incentive does most of the lever work (+1.3) and costs half of it back (−0.7). The wrapper's recall uplift is the smallest add — and the only one that also serves every future feature.</a:t>
            </a:r>
            <a:endParaRPr lang="en-US" sz="1300" dirty="0"/>
          </a:p>
        </p:txBody>
      </p:sp>
      <p:sp>
        <p:nvSpPr>
          <p:cNvPr id="24" name="Text 22"/>
          <p:cNvSpPr/>
          <p:nvPr/>
        </p:nvSpPr>
        <p:spPr>
          <a:xfrm>
            <a:off x="566928" y="6126480"/>
            <a:ext cx="11027664" cy="292608"/>
          </a:xfrm>
          <a:prstGeom prst="rect">
            <a:avLst/>
          </a:prstGeom>
          <a:noFill/>
          <a:ln/>
        </p:spPr>
        <p:txBody>
          <a:bodyPr wrap="square" lIns="0" tIns="0" rIns="0" bIns="0" rtlCol="0" anchor="ctr"/>
          <a:lstStyle/>
          <a:p>
            <a:pPr indent="0" marL="0">
              <a:buNone/>
            </a:pPr>
            <a:r>
              <a:rPr lang="en-US" sz="1000" dirty="0">
                <a:solidFill>
                  <a:srgbClr val="6E7F8D"/>
                </a:solidFill>
                <a:latin typeface="Expert Sans" pitchFamily="34" charset="0"/>
                <a:ea typeface="Expert Sans" pitchFamily="34" charset="-122"/>
                <a:cs typeface="Expert Sans" pitchFamily="34" charset="-120"/>
              </a:rPr>
              <a:t>Source: pricing model v3. Incentive cost is gross, before clawback terms.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0083C5"/>
                </a:solidFill>
                <a:latin typeface="Expert Sans" pitchFamily="34" charset="0"/>
                <a:ea typeface="Expert Sans" pitchFamily="34" charset="-122"/>
                <a:cs typeface="Expert Sans" pitchFamily="34" charset="-120"/>
              </a:rPr>
              <a:t>RETURN SORTS  ·  02</a:t>
            </a:r>
            <a:endParaRPr lang="en-US" sz="1100" dirty="0"/>
          </a:p>
        </p:txBody>
      </p:sp>
      <p:sp>
        <p:nvSpPr>
          <p:cNvPr id="3" name="Text 1"/>
          <p:cNvSpPr/>
          <p:nvPr/>
        </p:nvSpPr>
        <p:spPr>
          <a:xfrm>
            <a:off x="566928" y="548640"/>
            <a:ext cx="9564624" cy="969264"/>
          </a:xfrm>
          <a:prstGeom prst="rect">
            <a:avLst/>
          </a:prstGeom>
          <a:noFill/>
          <a:ln/>
        </p:spPr>
        <p:txBody>
          <a:bodyPr wrap="square" lIns="0" tIns="0" rIns="0" bIns="0" rtlCol="0" anchor="t"/>
          <a:lstStyle/>
          <a:p>
            <a:pPr algn="l" indent="0" marL="0">
              <a:lnSpc>
                <a:spcPts val="3000"/>
              </a:lnSpc>
              <a:buNone/>
            </a:pPr>
            <a:r>
              <a:rPr lang="en-US" sz="2500" dirty="0">
                <a:solidFill>
                  <a:srgbClr val="00AEEF"/>
                </a:solidFill>
                <a:latin typeface="Expert Sans" pitchFamily="34" charset="0"/>
                <a:ea typeface="Expert Sans" pitchFamily="34" charset="-122"/>
                <a:cs typeface="Expert Sans" pitchFamily="34" charset="-120"/>
              </a:rPr>
              <a:t>Incentives are spent only where a free default cannot work</a:t>
            </a:r>
            <a:endParaRPr lang="en-US" sz="2500" dirty="0"/>
          </a:p>
        </p:txBody>
      </p:sp>
      <p:sp>
        <p:nvSpPr>
          <p:cNvPr id="4" name="Shape 2"/>
          <p:cNvSpPr/>
          <p:nvPr/>
        </p:nvSpPr>
        <p:spPr>
          <a:xfrm>
            <a:off x="566928" y="1645920"/>
            <a:ext cx="11027664" cy="1170432"/>
          </a:xfrm>
          <a:prstGeom prst="roundRect">
            <a:avLst>
              <a:gd name="adj" fmla="val 7813"/>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5" name="Text 3"/>
          <p:cNvSpPr/>
          <p:nvPr/>
        </p:nvSpPr>
        <p:spPr>
          <a:xfrm>
            <a:off x="950976" y="1828800"/>
            <a:ext cx="4023360" cy="786384"/>
          </a:xfrm>
          <a:prstGeom prst="rect">
            <a:avLst/>
          </a:prstGeom>
          <a:noFill/>
          <a:ln/>
        </p:spPr>
        <p:txBody>
          <a:bodyPr wrap="square" lIns="0" tIns="0" rIns="0" bIns="0" rtlCol="0" anchor="ctr"/>
          <a:lstStyle/>
          <a:p>
            <a:pPr indent="0" marL="0">
              <a:lnSpc>
                <a:spcPts val="2000"/>
              </a:lnSpc>
              <a:buNone/>
            </a:pPr>
            <a:r>
              <a:rPr lang="en-US" sz="1500" b="1" dirty="0">
                <a:solidFill>
                  <a:srgbClr val="00395D"/>
                </a:solidFill>
                <a:latin typeface="Expert Sans" pitchFamily="34" charset="0"/>
                <a:ea typeface="Expert Sans" pitchFamily="34" charset="-122"/>
                <a:cs typeface="Expert Sans" pitchFamily="34" charset="-120"/>
              </a:rPr>
              <a:t>Defaults beat persuasion</a:t>
            </a:r>
            <a:endParaRPr lang="en-US" sz="1500" dirty="0"/>
          </a:p>
        </p:txBody>
      </p:sp>
      <p:sp>
        <p:nvSpPr>
          <p:cNvPr id="6" name="Text 4"/>
          <p:cNvSpPr/>
          <p:nvPr/>
        </p:nvSpPr>
        <p:spPr>
          <a:xfrm>
            <a:off x="5138928" y="1828800"/>
            <a:ext cx="5998464" cy="822960"/>
          </a:xfrm>
          <a:prstGeom prst="rect">
            <a:avLst/>
          </a:prstGeom>
          <a:noFill/>
          <a:ln/>
        </p:spPr>
        <p:txBody>
          <a:bodyPr wrap="square" lIns="0" tIns="0" rIns="0" bIns="0" rtlCol="0" anchor="ctr"/>
          <a:lstStyle/>
          <a:p>
            <a:pPr indent="0" marL="0">
              <a:lnSpc>
                <a:spcPts val="1800"/>
              </a:lnSpc>
              <a:buNone/>
            </a:pPr>
            <a:r>
              <a:rPr lang="en-US" sz="1300" dirty="0">
                <a:solidFill>
                  <a:srgbClr val="3F5563"/>
                </a:solidFill>
                <a:latin typeface="Expert Sans" pitchFamily="34" charset="0"/>
                <a:ea typeface="Expert Sans" pitchFamily="34" charset="-122"/>
                <a:cs typeface="Expert Sans" pitchFamily="34" charset="-120"/>
              </a:rPr>
              <a:t>FX is switched on for every exporting customer at onboarding — no incentive. Regulator trials and our own tests show pre-set options beat paid persuasion.</a:t>
            </a:r>
            <a:endParaRPr lang="en-US" sz="1300" dirty="0"/>
          </a:p>
        </p:txBody>
      </p:sp>
      <p:sp>
        <p:nvSpPr>
          <p:cNvPr id="7" name="Shape 5"/>
          <p:cNvSpPr/>
          <p:nvPr/>
        </p:nvSpPr>
        <p:spPr>
          <a:xfrm>
            <a:off x="566928" y="2980944"/>
            <a:ext cx="11027664" cy="1170432"/>
          </a:xfrm>
          <a:prstGeom prst="roundRect">
            <a:avLst>
              <a:gd name="adj" fmla="val 7813"/>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8" name="Text 6"/>
          <p:cNvSpPr/>
          <p:nvPr/>
        </p:nvSpPr>
        <p:spPr>
          <a:xfrm>
            <a:off x="950976" y="3163824"/>
            <a:ext cx="4023360" cy="786384"/>
          </a:xfrm>
          <a:prstGeom prst="rect">
            <a:avLst/>
          </a:prstGeom>
          <a:noFill/>
          <a:ln/>
        </p:spPr>
        <p:txBody>
          <a:bodyPr wrap="square" lIns="0" tIns="0" rIns="0" bIns="0" rtlCol="0" anchor="ctr"/>
          <a:lstStyle/>
          <a:p>
            <a:pPr indent="0" marL="0">
              <a:lnSpc>
                <a:spcPts val="2000"/>
              </a:lnSpc>
              <a:buNone/>
            </a:pPr>
            <a:r>
              <a:rPr lang="en-US" sz="1500" b="1" dirty="0">
                <a:solidFill>
                  <a:srgbClr val="00395D"/>
                </a:solidFill>
                <a:latin typeface="Expert Sans" pitchFamily="34" charset="0"/>
                <a:ea typeface="Expert Sans" pitchFamily="34" charset="-122"/>
                <a:cs typeface="Expert Sans" pitchFamily="34" charset="-120"/>
              </a:rPr>
              <a:t>Incentives buy selection, not behaviour</a:t>
            </a:r>
            <a:endParaRPr lang="en-US" sz="1500" dirty="0"/>
          </a:p>
        </p:txBody>
      </p:sp>
      <p:sp>
        <p:nvSpPr>
          <p:cNvPr id="9" name="Text 7"/>
          <p:cNvSpPr/>
          <p:nvPr/>
        </p:nvSpPr>
        <p:spPr>
          <a:xfrm>
            <a:off x="5138928" y="3163824"/>
            <a:ext cx="5998464" cy="822960"/>
          </a:xfrm>
          <a:prstGeom prst="rect">
            <a:avLst/>
          </a:prstGeom>
          <a:noFill/>
          <a:ln/>
        </p:spPr>
        <p:txBody>
          <a:bodyPr wrap="square" lIns="0" tIns="0" rIns="0" bIns="0" rtlCol="0" anchor="ctr"/>
          <a:lstStyle/>
          <a:p>
            <a:pPr indent="0" marL="0">
              <a:lnSpc>
                <a:spcPts val="1800"/>
              </a:lnSpc>
              <a:buNone/>
            </a:pPr>
            <a:r>
              <a:rPr lang="en-US" sz="1300" dirty="0">
                <a:solidFill>
                  <a:srgbClr val="3F5563"/>
                </a:solidFill>
                <a:latin typeface="Expert Sans" pitchFamily="34" charset="0"/>
                <a:ea typeface="Expert Sans" pitchFamily="34" charset="-122"/>
                <a:cs typeface="Expert Sans" pitchFamily="34" charset="-120"/>
              </a:rPr>
              <a:t>Around a third of incentive redeemers would have acted anyway — the dead-weight share, estimated from our last two campaigns. It is priced into the −0.7.</a:t>
            </a:r>
            <a:endParaRPr lang="en-US" sz="1300" dirty="0"/>
          </a:p>
        </p:txBody>
      </p:sp>
      <p:sp>
        <p:nvSpPr>
          <p:cNvPr id="10" name="Shape 8"/>
          <p:cNvSpPr/>
          <p:nvPr/>
        </p:nvSpPr>
        <p:spPr>
          <a:xfrm>
            <a:off x="566928" y="4315968"/>
            <a:ext cx="11027664" cy="1170432"/>
          </a:xfrm>
          <a:prstGeom prst="roundRect">
            <a:avLst>
              <a:gd name="adj" fmla="val 7813"/>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1" name="Text 9"/>
          <p:cNvSpPr/>
          <p:nvPr/>
        </p:nvSpPr>
        <p:spPr>
          <a:xfrm>
            <a:off x="950976" y="4498848"/>
            <a:ext cx="4023360" cy="786384"/>
          </a:xfrm>
          <a:prstGeom prst="rect">
            <a:avLst/>
          </a:prstGeom>
          <a:noFill/>
          <a:ln/>
        </p:spPr>
        <p:txBody>
          <a:bodyPr wrap="square" lIns="0" tIns="0" rIns="0" bIns="0" rtlCol="0" anchor="ctr"/>
          <a:lstStyle/>
          <a:p>
            <a:pPr indent="0" marL="0">
              <a:lnSpc>
                <a:spcPts val="2000"/>
              </a:lnSpc>
              <a:buNone/>
            </a:pPr>
            <a:r>
              <a:rPr lang="en-US" sz="1500" b="1" dirty="0">
                <a:solidFill>
                  <a:srgbClr val="00395D"/>
                </a:solidFill>
                <a:latin typeface="Expert Sans" pitchFamily="34" charset="0"/>
                <a:ea typeface="Expert Sans" pitchFamily="34" charset="-122"/>
                <a:cs typeface="Expert Sans" pitchFamily="34" charset="-120"/>
              </a:rPr>
              <a:t>Where incentives DO pay</a:t>
            </a:r>
            <a:endParaRPr lang="en-US" sz="1500" dirty="0"/>
          </a:p>
        </p:txBody>
      </p:sp>
      <p:sp>
        <p:nvSpPr>
          <p:cNvPr id="12" name="Text 10"/>
          <p:cNvSpPr/>
          <p:nvPr/>
        </p:nvSpPr>
        <p:spPr>
          <a:xfrm>
            <a:off x="5138928" y="4498848"/>
            <a:ext cx="5998464" cy="822960"/>
          </a:xfrm>
          <a:prstGeom prst="rect">
            <a:avLst/>
          </a:prstGeom>
          <a:noFill/>
          <a:ln/>
        </p:spPr>
        <p:txBody>
          <a:bodyPr wrap="square" lIns="0" tIns="0" rIns="0" bIns="0" rtlCol="0" anchor="ctr"/>
          <a:lstStyle/>
          <a:p>
            <a:pPr indent="0" marL="0">
              <a:lnSpc>
                <a:spcPts val="1800"/>
              </a:lnSpc>
              <a:buNone/>
            </a:pPr>
            <a:r>
              <a:rPr lang="en-US" sz="1300" dirty="0">
                <a:solidFill>
                  <a:srgbClr val="3F5563"/>
                </a:solidFill>
                <a:latin typeface="Expert Sans" pitchFamily="34" charset="0"/>
                <a:ea typeface="Expert Sans" pitchFamily="34" charset="-122"/>
                <a:cs typeface="Expert Sans" pitchFamily="34" charset="-120"/>
              </a:rPr>
              <a:t>The switching moment. Invoice finance targets exporters leaving a factoring provider — a real cost to move, a one-off payment to cover it, capped and clawed back.</a:t>
            </a:r>
            <a:endParaRPr lang="en-US" sz="1300" dirty="0"/>
          </a:p>
        </p:txBody>
      </p:sp>
      <p:sp>
        <p:nvSpPr>
          <p:cNvPr id="13" name="Text 11"/>
          <p:cNvSpPr/>
          <p:nvPr/>
        </p:nvSpPr>
        <p:spPr>
          <a:xfrm>
            <a:off x="566928" y="5779008"/>
            <a:ext cx="11027664" cy="502920"/>
          </a:xfrm>
          <a:prstGeom prst="rect">
            <a:avLst/>
          </a:prstGeom>
          <a:noFill/>
          <a:ln/>
        </p:spPr>
        <p:txBody>
          <a:bodyPr wrap="square" lIns="0" tIns="0" rIns="0" bIns="0" rtlCol="0" anchor="ctr"/>
          <a:lstStyle/>
          <a:p>
            <a:pPr indent="0" marL="0">
              <a:buNone/>
            </a:pPr>
            <a:r>
              <a:rPr lang="en-US" sz="1350" i="1" dirty="0">
                <a:solidFill>
                  <a:srgbClr val="6E7F8D"/>
                </a:solidFill>
                <a:latin typeface="Expert Sans" pitchFamily="34" charset="0"/>
                <a:ea typeface="Expert Sans" pitchFamily="34" charset="-122"/>
                <a:cs typeface="Expert Sans" pitchFamily="34" charset="-120"/>
              </a:rPr>
              <a:t>The test for every pound of incentive: would the behaviour happen anyway, and could a default do it free? Spend survives only if the answer is no, twice.</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0083C5"/>
                </a:solidFill>
                <a:latin typeface="Expert Sans" pitchFamily="34" charset="0"/>
                <a:ea typeface="Expert Sans" pitchFamily="34" charset="-122"/>
                <a:cs typeface="Expert Sans" pitchFamily="34" charset="-120"/>
              </a:rPr>
              <a:t>RETURN SORTS  ·  02</a:t>
            </a:r>
            <a:endParaRPr lang="en-US" sz="1100" dirty="0"/>
          </a:p>
        </p:txBody>
      </p:sp>
      <p:sp>
        <p:nvSpPr>
          <p:cNvPr id="3" name="Text 1"/>
          <p:cNvSpPr/>
          <p:nvPr/>
        </p:nvSpPr>
        <p:spPr>
          <a:xfrm>
            <a:off x="566928" y="548640"/>
            <a:ext cx="9564624" cy="969264"/>
          </a:xfrm>
          <a:prstGeom prst="rect">
            <a:avLst/>
          </a:prstGeom>
          <a:noFill/>
          <a:ln/>
        </p:spPr>
        <p:txBody>
          <a:bodyPr wrap="square" lIns="0" tIns="0" rIns="0" bIns="0" rtlCol="0" anchor="t"/>
          <a:lstStyle/>
          <a:p>
            <a:pPr algn="l" indent="0" marL="0">
              <a:lnSpc>
                <a:spcPts val="3000"/>
              </a:lnSpc>
              <a:buNone/>
            </a:pPr>
            <a:r>
              <a:rPr lang="en-US" sz="2500" dirty="0">
                <a:solidFill>
                  <a:srgbClr val="00AEEF"/>
                </a:solidFill>
                <a:latin typeface="Expert Sans" pitchFamily="34" charset="0"/>
                <a:ea typeface="Expert Sans" pitchFamily="34" charset="-122"/>
                <a:cs typeface="Expert Sans" pitchFamily="34" charset="-120"/>
              </a:rPr>
              <a:t>Returns are discounted for each route's timing — the partner route is what puts invoice finance second</a:t>
            </a:r>
            <a:endParaRPr lang="en-US" sz="2500" dirty="0"/>
          </a:p>
        </p:txBody>
      </p:sp>
      <p:sp>
        <p:nvSpPr>
          <p:cNvPr id="4" name="Text 2"/>
          <p:cNvSpPr/>
          <p:nvPr/>
        </p:nvSpPr>
        <p:spPr>
          <a:xfrm>
            <a:off x="566928" y="1965960"/>
            <a:ext cx="2011680" cy="365760"/>
          </a:xfrm>
          <a:prstGeom prst="rect">
            <a:avLst/>
          </a:prstGeom>
          <a:noFill/>
          <a:ln/>
        </p:spPr>
        <p:txBody>
          <a:bodyPr wrap="square" lIns="0" tIns="0" rIns="0" bIns="0" rtlCol="0" anchor="b"/>
          <a:lstStyle/>
          <a:p>
            <a:pPr indent="0" marL="0">
              <a:buNone/>
            </a:pPr>
            <a:r>
              <a:rPr lang="en-US" sz="1100" b="1" dirty="0">
                <a:solidFill>
                  <a:srgbClr val="00395D"/>
                </a:solidFill>
                <a:latin typeface="Expert Sans" pitchFamily="34" charset="0"/>
                <a:ea typeface="Expert Sans" pitchFamily="34" charset="-122"/>
                <a:cs typeface="Expert Sans" pitchFamily="34" charset="-120"/>
              </a:rPr>
              <a:t>Feature · route</a:t>
            </a:r>
            <a:endParaRPr lang="en-US" sz="1100" dirty="0"/>
          </a:p>
        </p:txBody>
      </p:sp>
      <p:sp>
        <p:nvSpPr>
          <p:cNvPr id="5" name="Text 3"/>
          <p:cNvSpPr/>
          <p:nvPr/>
        </p:nvSpPr>
        <p:spPr>
          <a:xfrm>
            <a:off x="3858768" y="1965960"/>
            <a:ext cx="2011680" cy="365760"/>
          </a:xfrm>
          <a:prstGeom prst="rect">
            <a:avLst/>
          </a:prstGeom>
          <a:noFill/>
          <a:ln/>
        </p:spPr>
        <p:txBody>
          <a:bodyPr wrap="square" lIns="0" tIns="0" rIns="0" bIns="0" rtlCol="0" anchor="b"/>
          <a:lstStyle/>
          <a:p>
            <a:pPr indent="0" marL="0">
              <a:buNone/>
            </a:pPr>
            <a:r>
              <a:rPr lang="en-US" sz="1100" b="1" dirty="0">
                <a:solidFill>
                  <a:srgbClr val="00395D"/>
                </a:solidFill>
                <a:latin typeface="Expert Sans" pitchFamily="34" charset="0"/>
                <a:ea typeface="Expert Sans" pitchFamily="34" charset="-122"/>
                <a:cs typeface="Expert Sans" pitchFamily="34" charset="-120"/>
              </a:rPr>
              <a:t>Configured NPV</a:t>
            </a:r>
            <a:endParaRPr lang="en-US" sz="1100" dirty="0"/>
          </a:p>
        </p:txBody>
      </p:sp>
      <p:sp>
        <p:nvSpPr>
          <p:cNvPr id="6" name="Text 4"/>
          <p:cNvSpPr/>
          <p:nvPr/>
        </p:nvSpPr>
        <p:spPr>
          <a:xfrm>
            <a:off x="5961888" y="1965960"/>
            <a:ext cx="2011680" cy="365760"/>
          </a:xfrm>
          <a:prstGeom prst="rect">
            <a:avLst/>
          </a:prstGeom>
          <a:noFill/>
          <a:ln/>
        </p:spPr>
        <p:txBody>
          <a:bodyPr wrap="square" lIns="0" tIns="0" rIns="0" bIns="0" rtlCol="0" anchor="b"/>
          <a:lstStyle/>
          <a:p>
            <a:pPr indent="0" marL="0">
              <a:buNone/>
            </a:pPr>
            <a:r>
              <a:rPr lang="en-US" sz="1100" b="1" dirty="0">
                <a:solidFill>
                  <a:srgbClr val="00395D"/>
                </a:solidFill>
                <a:latin typeface="Expert Sans" pitchFamily="34" charset="0"/>
                <a:ea typeface="Expert Sans" pitchFamily="34" charset="-122"/>
                <a:cs typeface="Expert Sans" pitchFamily="34" charset="-120"/>
              </a:rPr>
              <a:t>Time to launch</a:t>
            </a:r>
            <a:endParaRPr lang="en-US" sz="1100" dirty="0"/>
          </a:p>
        </p:txBody>
      </p:sp>
      <p:sp>
        <p:nvSpPr>
          <p:cNvPr id="7" name="Text 5"/>
          <p:cNvSpPr/>
          <p:nvPr/>
        </p:nvSpPr>
        <p:spPr>
          <a:xfrm>
            <a:off x="7607808" y="1965960"/>
            <a:ext cx="2011680" cy="365760"/>
          </a:xfrm>
          <a:prstGeom prst="rect">
            <a:avLst/>
          </a:prstGeom>
          <a:noFill/>
          <a:ln/>
        </p:spPr>
        <p:txBody>
          <a:bodyPr wrap="square" lIns="0" tIns="0" rIns="0" bIns="0" rtlCol="0" anchor="b"/>
          <a:lstStyle/>
          <a:p>
            <a:pPr indent="0" marL="0">
              <a:buNone/>
            </a:pPr>
            <a:r>
              <a:rPr lang="en-US" sz="1100" b="1" dirty="0">
                <a:solidFill>
                  <a:srgbClr val="00395D"/>
                </a:solidFill>
                <a:latin typeface="Expert Sans" pitchFamily="34" charset="0"/>
                <a:ea typeface="Expert Sans" pitchFamily="34" charset="-122"/>
                <a:cs typeface="Expert Sans" pitchFamily="34" charset="-120"/>
              </a:rPr>
              <a:t>Confidence</a:t>
            </a:r>
            <a:endParaRPr lang="en-US" sz="1100" dirty="0"/>
          </a:p>
        </p:txBody>
      </p:sp>
      <p:sp>
        <p:nvSpPr>
          <p:cNvPr id="8" name="Text 6"/>
          <p:cNvSpPr/>
          <p:nvPr/>
        </p:nvSpPr>
        <p:spPr>
          <a:xfrm>
            <a:off x="9070848" y="1965960"/>
            <a:ext cx="2011680" cy="365760"/>
          </a:xfrm>
          <a:prstGeom prst="rect">
            <a:avLst/>
          </a:prstGeom>
          <a:noFill/>
          <a:ln/>
        </p:spPr>
        <p:txBody>
          <a:bodyPr wrap="square" lIns="0" tIns="0" rIns="0" bIns="0" rtlCol="0" anchor="b"/>
          <a:lstStyle/>
          <a:p>
            <a:pPr indent="0" marL="0">
              <a:buNone/>
            </a:pPr>
            <a:r>
              <a:rPr lang="en-US" sz="1100" b="1" dirty="0">
                <a:solidFill>
                  <a:srgbClr val="00395D"/>
                </a:solidFill>
                <a:latin typeface="Expert Sans" pitchFamily="34" charset="0"/>
                <a:ea typeface="Expert Sans" pitchFamily="34" charset="-122"/>
                <a:cs typeface="Expert Sans" pitchFamily="34" charset="-120"/>
              </a:rPr>
              <a:t>Risk-adjusted NPV</a:t>
            </a:r>
            <a:endParaRPr lang="en-US" sz="1100" dirty="0"/>
          </a:p>
        </p:txBody>
      </p:sp>
      <p:sp>
        <p:nvSpPr>
          <p:cNvPr id="9" name="Text 7"/>
          <p:cNvSpPr/>
          <p:nvPr/>
        </p:nvSpPr>
        <p:spPr>
          <a:xfrm>
            <a:off x="11173968" y="1965960"/>
            <a:ext cx="2011680" cy="365760"/>
          </a:xfrm>
          <a:prstGeom prst="rect">
            <a:avLst/>
          </a:prstGeom>
          <a:noFill/>
          <a:ln/>
        </p:spPr>
        <p:txBody>
          <a:bodyPr wrap="square" lIns="0" tIns="0" rIns="0" bIns="0" rtlCol="0" anchor="b"/>
          <a:lstStyle/>
          <a:p>
            <a:pPr indent="0" marL="0">
              <a:buNone/>
            </a:pPr>
            <a:r>
              <a:rPr lang="en-US" sz="1100" b="1" dirty="0">
                <a:solidFill>
                  <a:srgbClr val="00395D"/>
                </a:solidFill>
                <a:latin typeface="Expert Sans" pitchFamily="34" charset="0"/>
                <a:ea typeface="Expert Sans" pitchFamily="34" charset="-122"/>
                <a:cs typeface="Expert Sans" pitchFamily="34" charset="-120"/>
              </a:rPr>
              <a:t>Vs hurdle</a:t>
            </a:r>
            <a:endParaRPr lang="en-US" sz="1100" dirty="0"/>
          </a:p>
        </p:txBody>
      </p:sp>
      <p:sp>
        <p:nvSpPr>
          <p:cNvPr id="10" name="Shape 8"/>
          <p:cNvSpPr/>
          <p:nvPr/>
        </p:nvSpPr>
        <p:spPr>
          <a:xfrm>
            <a:off x="566928" y="2404872"/>
            <a:ext cx="11027664" cy="0"/>
          </a:xfrm>
          <a:prstGeom prst="line">
            <a:avLst/>
          </a:prstGeom>
          <a:noFill/>
          <a:ln w="19050">
            <a:solidFill>
              <a:srgbClr val="00395D"/>
            </a:solidFill>
            <a:prstDash val="solid"/>
          </a:ln>
        </p:spPr>
      </p:sp>
      <p:sp>
        <p:nvSpPr>
          <p:cNvPr id="11" name="Shape 9"/>
          <p:cNvSpPr/>
          <p:nvPr/>
        </p:nvSpPr>
        <p:spPr>
          <a:xfrm>
            <a:off x="566928" y="2505456"/>
            <a:ext cx="11027664" cy="658368"/>
          </a:xfrm>
          <a:prstGeom prst="rect">
            <a:avLst/>
          </a:prstGeom>
          <a:solidFill>
            <a:srgbClr val="F5F8FA"/>
          </a:solidFill>
          <a:ln w="12700">
            <a:solidFill>
              <a:srgbClr val="F5F8FA"/>
            </a:solidFill>
            <a:prstDash val="solid"/>
          </a:ln>
        </p:spPr>
      </p:sp>
      <p:sp>
        <p:nvSpPr>
          <p:cNvPr id="12" name="Text 10"/>
          <p:cNvSpPr/>
          <p:nvPr/>
        </p:nvSpPr>
        <p:spPr>
          <a:xfrm>
            <a:off x="566928" y="2551176"/>
            <a:ext cx="3108960" cy="566928"/>
          </a:xfrm>
          <a:prstGeom prst="rect">
            <a:avLst/>
          </a:prstGeom>
          <a:noFill/>
          <a:ln/>
        </p:spPr>
        <p:txBody>
          <a:bodyPr wrap="square" lIns="0" tIns="0" rIns="0" bIns="0" rtlCol="0" anchor="ctr"/>
          <a:lstStyle/>
          <a:p>
            <a:pPr indent="0" marL="0">
              <a:buNone/>
            </a:pPr>
            <a:r>
              <a:rPr lang="en-US" sz="1300" b="1" dirty="0">
                <a:solidFill>
                  <a:srgbClr val="00395D"/>
                </a:solidFill>
                <a:latin typeface="Expert Sans" pitchFamily="34" charset="0"/>
                <a:ea typeface="Expert Sans" pitchFamily="34" charset="-122"/>
                <a:cs typeface="Expert Sans" pitchFamily="34" charset="-120"/>
              </a:rPr>
              <a:t>FX — build</a:t>
            </a:r>
            <a:endParaRPr lang="en-US" sz="1300" dirty="0"/>
          </a:p>
        </p:txBody>
      </p:sp>
      <p:sp>
        <p:nvSpPr>
          <p:cNvPr id="13" name="Text 11"/>
          <p:cNvSpPr/>
          <p:nvPr/>
        </p:nvSpPr>
        <p:spPr>
          <a:xfrm>
            <a:off x="3858768" y="2551176"/>
            <a:ext cx="1920240" cy="566928"/>
          </a:xfrm>
          <a:prstGeom prst="rect">
            <a:avLst/>
          </a:prstGeom>
          <a:noFill/>
          <a:ln/>
        </p:spPr>
        <p:txBody>
          <a:bodyPr wrap="square" lIns="0" tIns="0" rIns="0" bIns="0" rtlCol="0" anchor="ctr"/>
          <a:lstStyle/>
          <a:p>
            <a:pPr indent="0" marL="0">
              <a:buNone/>
            </a:pPr>
            <a:r>
              <a:rPr lang="en-US" sz="1300" dirty="0">
                <a:solidFill>
                  <a:srgbClr val="3F5563"/>
                </a:solidFill>
                <a:latin typeface="Expert Sans" pitchFamily="34" charset="0"/>
                <a:ea typeface="Expert Sans" pitchFamily="34" charset="-122"/>
                <a:cs typeface="Expert Sans" pitchFamily="34" charset="-120"/>
              </a:rPr>
              <a:t>£2.4m</a:t>
            </a:r>
            <a:endParaRPr lang="en-US" sz="1300" dirty="0"/>
          </a:p>
        </p:txBody>
      </p:sp>
      <p:sp>
        <p:nvSpPr>
          <p:cNvPr id="14" name="Text 12"/>
          <p:cNvSpPr/>
          <p:nvPr/>
        </p:nvSpPr>
        <p:spPr>
          <a:xfrm>
            <a:off x="5961888" y="2551176"/>
            <a:ext cx="1554480" cy="566928"/>
          </a:xfrm>
          <a:prstGeom prst="rect">
            <a:avLst/>
          </a:prstGeom>
          <a:noFill/>
          <a:ln/>
        </p:spPr>
        <p:txBody>
          <a:bodyPr wrap="square" lIns="0" tIns="0" rIns="0" bIns="0" rtlCol="0" anchor="ctr"/>
          <a:lstStyle/>
          <a:p>
            <a:pPr indent="0" marL="0">
              <a:buNone/>
            </a:pPr>
            <a:r>
              <a:rPr lang="en-US" sz="1300" dirty="0">
                <a:solidFill>
                  <a:srgbClr val="3F5563"/>
                </a:solidFill>
                <a:latin typeface="Expert Sans" pitchFamily="34" charset="0"/>
                <a:ea typeface="Expert Sans" pitchFamily="34" charset="-122"/>
                <a:cs typeface="Expert Sans" pitchFamily="34" charset="-120"/>
              </a:rPr>
              <a:t>9 mths ±1</a:t>
            </a:r>
            <a:endParaRPr lang="en-US" sz="1300" dirty="0"/>
          </a:p>
        </p:txBody>
      </p:sp>
      <p:sp>
        <p:nvSpPr>
          <p:cNvPr id="15" name="Shape 13"/>
          <p:cNvSpPr/>
          <p:nvPr/>
        </p:nvSpPr>
        <p:spPr>
          <a:xfrm>
            <a:off x="7607808" y="2697480"/>
            <a:ext cx="841248" cy="274320"/>
          </a:xfrm>
          <a:prstGeom prst="roundRect">
            <a:avLst>
              <a:gd name="adj" fmla="val 50000"/>
            </a:avLst>
          </a:prstGeom>
          <a:solidFill>
            <a:srgbClr val="2F6B4F"/>
          </a:solidFill>
          <a:ln w="12700">
            <a:solidFill>
              <a:srgbClr val="2F6B4F"/>
            </a:solidFill>
            <a:prstDash val="solid"/>
          </a:ln>
        </p:spPr>
      </p:sp>
      <p:sp>
        <p:nvSpPr>
          <p:cNvPr id="16" name="Text 14"/>
          <p:cNvSpPr/>
          <p:nvPr/>
        </p:nvSpPr>
        <p:spPr>
          <a:xfrm>
            <a:off x="7607808" y="2697480"/>
            <a:ext cx="841248" cy="274320"/>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Expert Sans" pitchFamily="34" charset="0"/>
                <a:ea typeface="Expert Sans" pitchFamily="34" charset="-122"/>
                <a:cs typeface="Expert Sans" pitchFamily="34" charset="-120"/>
              </a:rPr>
              <a:t>HIGH</a:t>
            </a:r>
            <a:endParaRPr lang="en-US" sz="1000" dirty="0"/>
          </a:p>
        </p:txBody>
      </p:sp>
      <p:sp>
        <p:nvSpPr>
          <p:cNvPr id="17" name="Text 15"/>
          <p:cNvSpPr/>
          <p:nvPr/>
        </p:nvSpPr>
        <p:spPr>
          <a:xfrm>
            <a:off x="9070848" y="2551176"/>
            <a:ext cx="1920240" cy="566928"/>
          </a:xfrm>
          <a:prstGeom prst="rect">
            <a:avLst/>
          </a:prstGeom>
          <a:noFill/>
          <a:ln/>
        </p:spPr>
        <p:txBody>
          <a:bodyPr wrap="square" lIns="0" tIns="0" rIns="0" bIns="0" rtlCol="0" anchor="ctr"/>
          <a:lstStyle/>
          <a:p>
            <a:pPr indent="0" marL="0">
              <a:buNone/>
            </a:pPr>
            <a:r>
              <a:rPr lang="en-US" sz="1300" b="1" dirty="0">
                <a:solidFill>
                  <a:srgbClr val="00395D"/>
                </a:solidFill>
                <a:latin typeface="Expert Sans" pitchFamily="34" charset="0"/>
                <a:ea typeface="Expert Sans" pitchFamily="34" charset="-122"/>
                <a:cs typeface="Expert Sans" pitchFamily="34" charset="-120"/>
              </a:rPr>
              <a:t>£2.1m</a:t>
            </a:r>
            <a:endParaRPr lang="en-US" sz="1300" dirty="0"/>
          </a:p>
        </p:txBody>
      </p:sp>
      <p:sp>
        <p:nvSpPr>
          <p:cNvPr id="18" name="Shape 16"/>
          <p:cNvSpPr/>
          <p:nvPr/>
        </p:nvSpPr>
        <p:spPr>
          <a:xfrm>
            <a:off x="11173968" y="2697480"/>
            <a:ext cx="841248" cy="274320"/>
          </a:xfrm>
          <a:prstGeom prst="roundRect">
            <a:avLst>
              <a:gd name="adj" fmla="val 50000"/>
            </a:avLst>
          </a:prstGeom>
          <a:solidFill>
            <a:srgbClr val="2F6B4F"/>
          </a:solidFill>
          <a:ln w="12700">
            <a:solidFill>
              <a:srgbClr val="2F6B4F"/>
            </a:solidFill>
            <a:prstDash val="solid"/>
          </a:ln>
        </p:spPr>
      </p:sp>
      <p:sp>
        <p:nvSpPr>
          <p:cNvPr id="19" name="Text 17"/>
          <p:cNvSpPr/>
          <p:nvPr/>
        </p:nvSpPr>
        <p:spPr>
          <a:xfrm>
            <a:off x="11173968" y="2697480"/>
            <a:ext cx="841248" cy="274320"/>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Expert Sans" pitchFamily="34" charset="0"/>
                <a:ea typeface="Expert Sans" pitchFamily="34" charset="-122"/>
                <a:cs typeface="Expert Sans" pitchFamily="34" charset="-120"/>
              </a:rPr>
              <a:t>PASS</a:t>
            </a:r>
            <a:endParaRPr lang="en-US" sz="1000" dirty="0"/>
          </a:p>
        </p:txBody>
      </p:sp>
      <p:sp>
        <p:nvSpPr>
          <p:cNvPr id="20" name="Text 18"/>
          <p:cNvSpPr/>
          <p:nvPr/>
        </p:nvSpPr>
        <p:spPr>
          <a:xfrm>
            <a:off x="566928" y="3246120"/>
            <a:ext cx="3108960" cy="566928"/>
          </a:xfrm>
          <a:prstGeom prst="rect">
            <a:avLst/>
          </a:prstGeom>
          <a:noFill/>
          <a:ln/>
        </p:spPr>
        <p:txBody>
          <a:bodyPr wrap="square" lIns="0" tIns="0" rIns="0" bIns="0" rtlCol="0" anchor="ctr"/>
          <a:lstStyle/>
          <a:p>
            <a:pPr indent="0" marL="0">
              <a:buNone/>
            </a:pPr>
            <a:r>
              <a:rPr lang="en-US" sz="1300" b="1" dirty="0">
                <a:solidFill>
                  <a:srgbClr val="00395D"/>
                </a:solidFill>
                <a:latin typeface="Expert Sans" pitchFamily="34" charset="0"/>
                <a:ea typeface="Expert Sans" pitchFamily="34" charset="-122"/>
                <a:cs typeface="Expert Sans" pitchFamily="34" charset="-120"/>
              </a:rPr>
              <a:t>Invoice finance — partner</a:t>
            </a:r>
            <a:endParaRPr lang="en-US" sz="1300" dirty="0"/>
          </a:p>
        </p:txBody>
      </p:sp>
      <p:sp>
        <p:nvSpPr>
          <p:cNvPr id="21" name="Text 19"/>
          <p:cNvSpPr/>
          <p:nvPr/>
        </p:nvSpPr>
        <p:spPr>
          <a:xfrm>
            <a:off x="3858768" y="3246120"/>
            <a:ext cx="1920240" cy="566928"/>
          </a:xfrm>
          <a:prstGeom prst="rect">
            <a:avLst/>
          </a:prstGeom>
          <a:noFill/>
          <a:ln/>
        </p:spPr>
        <p:txBody>
          <a:bodyPr wrap="square" lIns="0" tIns="0" rIns="0" bIns="0" rtlCol="0" anchor="ctr"/>
          <a:lstStyle/>
          <a:p>
            <a:pPr indent="0" marL="0">
              <a:buNone/>
            </a:pPr>
            <a:r>
              <a:rPr lang="en-US" sz="1300" dirty="0">
                <a:solidFill>
                  <a:srgbClr val="3F5563"/>
                </a:solidFill>
                <a:latin typeface="Expert Sans" pitchFamily="34" charset="0"/>
                <a:ea typeface="Expert Sans" pitchFamily="34" charset="-122"/>
                <a:cs typeface="Expert Sans" pitchFamily="34" charset="-120"/>
              </a:rPr>
              <a:t>£1.9m</a:t>
            </a:r>
            <a:endParaRPr lang="en-US" sz="1300" dirty="0"/>
          </a:p>
        </p:txBody>
      </p:sp>
      <p:sp>
        <p:nvSpPr>
          <p:cNvPr id="22" name="Text 20"/>
          <p:cNvSpPr/>
          <p:nvPr/>
        </p:nvSpPr>
        <p:spPr>
          <a:xfrm>
            <a:off x="5961888" y="3246120"/>
            <a:ext cx="1554480" cy="566928"/>
          </a:xfrm>
          <a:prstGeom prst="rect">
            <a:avLst/>
          </a:prstGeom>
          <a:noFill/>
          <a:ln/>
        </p:spPr>
        <p:txBody>
          <a:bodyPr wrap="square" lIns="0" tIns="0" rIns="0" bIns="0" rtlCol="0" anchor="ctr"/>
          <a:lstStyle/>
          <a:p>
            <a:pPr indent="0" marL="0">
              <a:buNone/>
            </a:pPr>
            <a:r>
              <a:rPr lang="en-US" sz="1300" dirty="0">
                <a:solidFill>
                  <a:srgbClr val="3F5563"/>
                </a:solidFill>
                <a:latin typeface="Expert Sans" pitchFamily="34" charset="0"/>
                <a:ea typeface="Expert Sans" pitchFamily="34" charset="-122"/>
                <a:cs typeface="Expert Sans" pitchFamily="34" charset="-120"/>
              </a:rPr>
              <a:t>5 mths ±1</a:t>
            </a:r>
            <a:endParaRPr lang="en-US" sz="1300" dirty="0"/>
          </a:p>
        </p:txBody>
      </p:sp>
      <p:sp>
        <p:nvSpPr>
          <p:cNvPr id="23" name="Shape 21"/>
          <p:cNvSpPr/>
          <p:nvPr/>
        </p:nvSpPr>
        <p:spPr>
          <a:xfrm>
            <a:off x="7607808" y="3392424"/>
            <a:ext cx="841248" cy="274320"/>
          </a:xfrm>
          <a:prstGeom prst="roundRect">
            <a:avLst>
              <a:gd name="adj" fmla="val 50000"/>
            </a:avLst>
          </a:prstGeom>
          <a:solidFill>
            <a:srgbClr val="2F6B4F"/>
          </a:solidFill>
          <a:ln w="12700">
            <a:solidFill>
              <a:srgbClr val="2F6B4F"/>
            </a:solidFill>
            <a:prstDash val="solid"/>
          </a:ln>
        </p:spPr>
      </p:sp>
      <p:sp>
        <p:nvSpPr>
          <p:cNvPr id="24" name="Text 22"/>
          <p:cNvSpPr/>
          <p:nvPr/>
        </p:nvSpPr>
        <p:spPr>
          <a:xfrm>
            <a:off x="7607808" y="3392424"/>
            <a:ext cx="841248" cy="274320"/>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Expert Sans" pitchFamily="34" charset="0"/>
                <a:ea typeface="Expert Sans" pitchFamily="34" charset="-122"/>
                <a:cs typeface="Expert Sans" pitchFamily="34" charset="-120"/>
              </a:rPr>
              <a:t>HIGH</a:t>
            </a:r>
            <a:endParaRPr lang="en-US" sz="1000" dirty="0"/>
          </a:p>
        </p:txBody>
      </p:sp>
      <p:sp>
        <p:nvSpPr>
          <p:cNvPr id="25" name="Text 23"/>
          <p:cNvSpPr/>
          <p:nvPr/>
        </p:nvSpPr>
        <p:spPr>
          <a:xfrm>
            <a:off x="9070848" y="3246120"/>
            <a:ext cx="1920240" cy="566928"/>
          </a:xfrm>
          <a:prstGeom prst="rect">
            <a:avLst/>
          </a:prstGeom>
          <a:noFill/>
          <a:ln/>
        </p:spPr>
        <p:txBody>
          <a:bodyPr wrap="square" lIns="0" tIns="0" rIns="0" bIns="0" rtlCol="0" anchor="ctr"/>
          <a:lstStyle/>
          <a:p>
            <a:pPr indent="0" marL="0">
              <a:buNone/>
            </a:pPr>
            <a:r>
              <a:rPr lang="en-US" sz="1300" b="1" dirty="0">
                <a:solidFill>
                  <a:srgbClr val="00395D"/>
                </a:solidFill>
                <a:latin typeface="Expert Sans" pitchFamily="34" charset="0"/>
                <a:ea typeface="Expert Sans" pitchFamily="34" charset="-122"/>
                <a:cs typeface="Expert Sans" pitchFamily="34" charset="-120"/>
              </a:rPr>
              <a:t>£1.6m</a:t>
            </a:r>
            <a:endParaRPr lang="en-US" sz="1300" dirty="0"/>
          </a:p>
        </p:txBody>
      </p:sp>
      <p:sp>
        <p:nvSpPr>
          <p:cNvPr id="26" name="Shape 24"/>
          <p:cNvSpPr/>
          <p:nvPr/>
        </p:nvSpPr>
        <p:spPr>
          <a:xfrm>
            <a:off x="11173968" y="3392424"/>
            <a:ext cx="841248" cy="274320"/>
          </a:xfrm>
          <a:prstGeom prst="roundRect">
            <a:avLst>
              <a:gd name="adj" fmla="val 50000"/>
            </a:avLst>
          </a:prstGeom>
          <a:solidFill>
            <a:srgbClr val="2F6B4F"/>
          </a:solidFill>
          <a:ln w="12700">
            <a:solidFill>
              <a:srgbClr val="2F6B4F"/>
            </a:solidFill>
            <a:prstDash val="solid"/>
          </a:ln>
        </p:spPr>
      </p:sp>
      <p:sp>
        <p:nvSpPr>
          <p:cNvPr id="27" name="Text 25"/>
          <p:cNvSpPr/>
          <p:nvPr/>
        </p:nvSpPr>
        <p:spPr>
          <a:xfrm>
            <a:off x="11173968" y="3392424"/>
            <a:ext cx="841248" cy="274320"/>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Expert Sans" pitchFamily="34" charset="0"/>
                <a:ea typeface="Expert Sans" pitchFamily="34" charset="-122"/>
                <a:cs typeface="Expert Sans" pitchFamily="34" charset="-120"/>
              </a:rPr>
              <a:t>PASS</a:t>
            </a:r>
            <a:endParaRPr lang="en-US" sz="1000" dirty="0"/>
          </a:p>
        </p:txBody>
      </p:sp>
      <p:sp>
        <p:nvSpPr>
          <p:cNvPr id="28" name="Shape 26"/>
          <p:cNvSpPr/>
          <p:nvPr/>
        </p:nvSpPr>
        <p:spPr>
          <a:xfrm>
            <a:off x="566928" y="3895344"/>
            <a:ext cx="11027664" cy="658368"/>
          </a:xfrm>
          <a:prstGeom prst="rect">
            <a:avLst/>
          </a:prstGeom>
          <a:solidFill>
            <a:srgbClr val="F5F8FA"/>
          </a:solidFill>
          <a:ln w="12700">
            <a:solidFill>
              <a:srgbClr val="F5F8FA"/>
            </a:solidFill>
            <a:prstDash val="solid"/>
          </a:ln>
        </p:spPr>
      </p:sp>
      <p:sp>
        <p:nvSpPr>
          <p:cNvPr id="29" name="Text 27"/>
          <p:cNvSpPr/>
          <p:nvPr/>
        </p:nvSpPr>
        <p:spPr>
          <a:xfrm>
            <a:off x="566928" y="3941064"/>
            <a:ext cx="3108960" cy="566928"/>
          </a:xfrm>
          <a:prstGeom prst="rect">
            <a:avLst/>
          </a:prstGeom>
          <a:noFill/>
          <a:ln/>
        </p:spPr>
        <p:txBody>
          <a:bodyPr wrap="square" lIns="0" tIns="0" rIns="0" bIns="0" rtlCol="0" anchor="ctr"/>
          <a:lstStyle/>
          <a:p>
            <a:pPr indent="0" marL="0">
              <a:buNone/>
            </a:pPr>
            <a:r>
              <a:rPr lang="en-US" sz="1300" dirty="0">
                <a:solidFill>
                  <a:srgbClr val="6E7F8D"/>
                </a:solidFill>
                <a:latin typeface="Expert Sans" pitchFamily="34" charset="0"/>
                <a:ea typeface="Expert Sans" pitchFamily="34" charset="-122"/>
                <a:cs typeface="Expert Sans" pitchFamily="34" charset="-120"/>
              </a:rPr>
              <a:t>Invoice finance — if built</a:t>
            </a:r>
            <a:endParaRPr lang="en-US" sz="1300" dirty="0"/>
          </a:p>
        </p:txBody>
      </p:sp>
      <p:sp>
        <p:nvSpPr>
          <p:cNvPr id="30" name="Text 28"/>
          <p:cNvSpPr/>
          <p:nvPr/>
        </p:nvSpPr>
        <p:spPr>
          <a:xfrm>
            <a:off x="3858768" y="3941064"/>
            <a:ext cx="1920240" cy="566928"/>
          </a:xfrm>
          <a:prstGeom prst="rect">
            <a:avLst/>
          </a:prstGeom>
          <a:noFill/>
          <a:ln/>
        </p:spPr>
        <p:txBody>
          <a:bodyPr wrap="square" lIns="0" tIns="0" rIns="0" bIns="0" rtlCol="0" anchor="ctr"/>
          <a:lstStyle/>
          <a:p>
            <a:pPr indent="0" marL="0">
              <a:buNone/>
            </a:pPr>
            <a:r>
              <a:rPr lang="en-US" sz="1300" dirty="0">
                <a:solidFill>
                  <a:srgbClr val="3F5563"/>
                </a:solidFill>
                <a:latin typeface="Expert Sans" pitchFamily="34" charset="0"/>
                <a:ea typeface="Expert Sans" pitchFamily="34" charset="-122"/>
                <a:cs typeface="Expert Sans" pitchFamily="34" charset="-120"/>
              </a:rPr>
              <a:t>£1.9m</a:t>
            </a:r>
            <a:endParaRPr lang="en-US" sz="1300" dirty="0"/>
          </a:p>
        </p:txBody>
      </p:sp>
      <p:sp>
        <p:nvSpPr>
          <p:cNvPr id="31" name="Text 29"/>
          <p:cNvSpPr/>
          <p:nvPr/>
        </p:nvSpPr>
        <p:spPr>
          <a:xfrm>
            <a:off x="5961888" y="3941064"/>
            <a:ext cx="1554480" cy="566928"/>
          </a:xfrm>
          <a:prstGeom prst="rect">
            <a:avLst/>
          </a:prstGeom>
          <a:noFill/>
          <a:ln/>
        </p:spPr>
        <p:txBody>
          <a:bodyPr wrap="square" lIns="0" tIns="0" rIns="0" bIns="0" rtlCol="0" anchor="ctr"/>
          <a:lstStyle/>
          <a:p>
            <a:pPr indent="0" marL="0">
              <a:buNone/>
            </a:pPr>
            <a:r>
              <a:rPr lang="en-US" sz="1300" dirty="0">
                <a:solidFill>
                  <a:srgbClr val="3F5563"/>
                </a:solidFill>
                <a:latin typeface="Expert Sans" pitchFamily="34" charset="0"/>
                <a:ea typeface="Expert Sans" pitchFamily="34" charset="-122"/>
                <a:cs typeface="Expert Sans" pitchFamily="34" charset="-120"/>
              </a:rPr>
              <a:t>18 mths ±4</a:t>
            </a:r>
            <a:endParaRPr lang="en-US" sz="1300" dirty="0"/>
          </a:p>
        </p:txBody>
      </p:sp>
      <p:sp>
        <p:nvSpPr>
          <p:cNvPr id="32" name="Shape 30"/>
          <p:cNvSpPr/>
          <p:nvPr/>
        </p:nvSpPr>
        <p:spPr>
          <a:xfrm>
            <a:off x="7607808" y="4087368"/>
            <a:ext cx="841248" cy="274320"/>
          </a:xfrm>
          <a:prstGeom prst="roundRect">
            <a:avLst>
              <a:gd name="adj" fmla="val 50000"/>
            </a:avLst>
          </a:prstGeom>
          <a:solidFill>
            <a:srgbClr val="A8443C"/>
          </a:solidFill>
          <a:ln w="12700">
            <a:solidFill>
              <a:srgbClr val="A8443C"/>
            </a:solidFill>
            <a:prstDash val="solid"/>
          </a:ln>
        </p:spPr>
      </p:sp>
      <p:sp>
        <p:nvSpPr>
          <p:cNvPr id="33" name="Text 31"/>
          <p:cNvSpPr/>
          <p:nvPr/>
        </p:nvSpPr>
        <p:spPr>
          <a:xfrm>
            <a:off x="7607808" y="4087368"/>
            <a:ext cx="841248" cy="274320"/>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Expert Sans" pitchFamily="34" charset="0"/>
                <a:ea typeface="Expert Sans" pitchFamily="34" charset="-122"/>
                <a:cs typeface="Expert Sans" pitchFamily="34" charset="-120"/>
              </a:rPr>
              <a:t>LOW</a:t>
            </a:r>
            <a:endParaRPr lang="en-US" sz="1000" dirty="0"/>
          </a:p>
        </p:txBody>
      </p:sp>
      <p:sp>
        <p:nvSpPr>
          <p:cNvPr id="34" name="Text 32"/>
          <p:cNvSpPr/>
          <p:nvPr/>
        </p:nvSpPr>
        <p:spPr>
          <a:xfrm>
            <a:off x="9070848" y="3941064"/>
            <a:ext cx="1920240" cy="566928"/>
          </a:xfrm>
          <a:prstGeom prst="rect">
            <a:avLst/>
          </a:prstGeom>
          <a:noFill/>
          <a:ln/>
        </p:spPr>
        <p:txBody>
          <a:bodyPr wrap="square" lIns="0" tIns="0" rIns="0" bIns="0" rtlCol="0" anchor="ctr"/>
          <a:lstStyle/>
          <a:p>
            <a:pPr indent="0" marL="0">
              <a:buNone/>
            </a:pPr>
            <a:r>
              <a:rPr lang="en-US" sz="1300" b="1" dirty="0">
                <a:solidFill>
                  <a:srgbClr val="00395D"/>
                </a:solidFill>
                <a:latin typeface="Expert Sans" pitchFamily="34" charset="0"/>
                <a:ea typeface="Expert Sans" pitchFamily="34" charset="-122"/>
                <a:cs typeface="Expert Sans" pitchFamily="34" charset="-120"/>
              </a:rPr>
              <a:t>£0.6m</a:t>
            </a:r>
            <a:endParaRPr lang="en-US" sz="1300" dirty="0"/>
          </a:p>
        </p:txBody>
      </p:sp>
      <p:sp>
        <p:nvSpPr>
          <p:cNvPr id="35" name="Shape 33"/>
          <p:cNvSpPr/>
          <p:nvPr/>
        </p:nvSpPr>
        <p:spPr>
          <a:xfrm>
            <a:off x="11173968" y="4087368"/>
            <a:ext cx="841248" cy="274320"/>
          </a:xfrm>
          <a:prstGeom prst="roundRect">
            <a:avLst>
              <a:gd name="adj" fmla="val 50000"/>
            </a:avLst>
          </a:prstGeom>
          <a:solidFill>
            <a:srgbClr val="A8443C"/>
          </a:solidFill>
          <a:ln w="12700">
            <a:solidFill>
              <a:srgbClr val="A8443C"/>
            </a:solidFill>
            <a:prstDash val="solid"/>
          </a:ln>
        </p:spPr>
      </p:sp>
      <p:sp>
        <p:nvSpPr>
          <p:cNvPr id="36" name="Text 34"/>
          <p:cNvSpPr/>
          <p:nvPr/>
        </p:nvSpPr>
        <p:spPr>
          <a:xfrm>
            <a:off x="11173968" y="4087368"/>
            <a:ext cx="841248" cy="274320"/>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Expert Sans" pitchFamily="34" charset="0"/>
                <a:ea typeface="Expert Sans" pitchFamily="34" charset="-122"/>
                <a:cs typeface="Expert Sans" pitchFamily="34" charset="-120"/>
              </a:rPr>
              <a:t>FAIL</a:t>
            </a:r>
            <a:endParaRPr lang="en-US" sz="1000" dirty="0"/>
          </a:p>
        </p:txBody>
      </p:sp>
      <p:sp>
        <p:nvSpPr>
          <p:cNvPr id="37" name="Shape 35"/>
          <p:cNvSpPr/>
          <p:nvPr/>
        </p:nvSpPr>
        <p:spPr>
          <a:xfrm>
            <a:off x="566928" y="4800600"/>
            <a:ext cx="11027664" cy="1051560"/>
          </a:xfrm>
          <a:prstGeom prst="roundRect">
            <a:avLst>
              <a:gd name="adj" fmla="val 8696"/>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38" name="Text 36"/>
          <p:cNvSpPr/>
          <p:nvPr/>
        </p:nvSpPr>
        <p:spPr>
          <a:xfrm>
            <a:off x="950976" y="4946904"/>
            <a:ext cx="3840480" cy="292608"/>
          </a:xfrm>
          <a:prstGeom prst="rect">
            <a:avLst/>
          </a:prstGeom>
          <a:noFill/>
          <a:ln/>
        </p:spPr>
        <p:txBody>
          <a:bodyPr wrap="square" lIns="0" tIns="0" rIns="0" bIns="0" rtlCol="0" anchor="ctr"/>
          <a:lstStyle/>
          <a:p>
            <a:pPr indent="0" marL="0">
              <a:buNone/>
            </a:pPr>
            <a:r>
              <a:rPr lang="en-US" sz="1150" b="1" spc="200" kern="0" dirty="0">
                <a:solidFill>
                  <a:srgbClr val="0083C5"/>
                </a:solidFill>
                <a:latin typeface="Expert Sans" pitchFamily="34" charset="0"/>
                <a:ea typeface="Expert Sans" pitchFamily="34" charset="-122"/>
                <a:cs typeface="Expert Sans" pitchFamily="34" charset="-120"/>
              </a:rPr>
              <a:t>Why the third row is on the slide</a:t>
            </a:r>
            <a:endParaRPr lang="en-US" sz="1150" dirty="0"/>
          </a:p>
        </p:txBody>
      </p:sp>
      <p:sp>
        <p:nvSpPr>
          <p:cNvPr id="39" name="Text 37"/>
          <p:cNvSpPr/>
          <p:nvPr/>
        </p:nvSpPr>
        <p:spPr>
          <a:xfrm>
            <a:off x="950976" y="5239512"/>
            <a:ext cx="10113264" cy="548640"/>
          </a:xfrm>
          <a:prstGeom prst="rect">
            <a:avLst/>
          </a:prstGeom>
          <a:noFill/>
          <a:ln/>
        </p:spPr>
        <p:txBody>
          <a:bodyPr wrap="square" lIns="0" tIns="0" rIns="0" bIns="0" rtlCol="0" anchor="t"/>
          <a:lstStyle/>
          <a:p>
            <a:pPr indent="0" marL="0">
              <a:lnSpc>
                <a:spcPts val="1800"/>
              </a:lnSpc>
              <a:buNone/>
            </a:pPr>
            <a:r>
              <a:rPr lang="en-US" sz="1300" dirty="0">
                <a:solidFill>
                  <a:srgbClr val="00395D"/>
                </a:solidFill>
                <a:latin typeface="Expert Sans" pitchFamily="34" charset="0"/>
                <a:ea typeface="Expert Sans" pitchFamily="34" charset="-122"/>
                <a:cs typeface="Expert Sans" pitchFamily="34" charset="-120"/>
              </a:rPr>
              <a:t>Built in-house, invoice finance falls to £0.6m a slot — below insurance, and below the hurdle. The partner route is not a preference: it is what earns the feature its place in this cycle.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0083C5"/>
                </a:solidFill>
                <a:latin typeface="Expert Sans" pitchFamily="34" charset="0"/>
                <a:ea typeface="Expert Sans" pitchFamily="34" charset="-122"/>
                <a:cs typeface="Expert Sans" pitchFamily="34" charset="-120"/>
              </a:rPr>
              <a:t>RETURN SORTS  ·  02</a:t>
            </a:r>
            <a:endParaRPr lang="en-US" sz="1100" dirty="0"/>
          </a:p>
        </p:txBody>
      </p:sp>
      <p:sp>
        <p:nvSpPr>
          <p:cNvPr id="3" name="Text 1"/>
          <p:cNvSpPr/>
          <p:nvPr/>
        </p:nvSpPr>
        <p:spPr>
          <a:xfrm>
            <a:off x="566928" y="548640"/>
            <a:ext cx="9564624" cy="969264"/>
          </a:xfrm>
          <a:prstGeom prst="rect">
            <a:avLst/>
          </a:prstGeom>
          <a:noFill/>
          <a:ln/>
        </p:spPr>
        <p:txBody>
          <a:bodyPr wrap="square" lIns="0" tIns="0" rIns="0" bIns="0" rtlCol="0" anchor="t"/>
          <a:lstStyle/>
          <a:p>
            <a:pPr algn="l" indent="0" marL="0">
              <a:lnSpc>
                <a:spcPts val="3000"/>
              </a:lnSpc>
              <a:buNone/>
            </a:pPr>
            <a:r>
              <a:rPr lang="en-US" sz="2500" dirty="0">
                <a:solidFill>
                  <a:srgbClr val="00AEEF"/>
                </a:solidFill>
                <a:latin typeface="Expert Sans" pitchFamily="34" charset="0"/>
                <a:ea typeface="Expert Sans" pitchFamily="34" charset="-122"/>
                <a:cs typeface="Expert Sans" pitchFamily="34" charset="-120"/>
              </a:rPr>
              <a:t>The order is re-scored every quarter — here is what can move it</a:t>
            </a:r>
            <a:endParaRPr lang="en-US" sz="2500" dirty="0"/>
          </a:p>
        </p:txBody>
      </p:sp>
      <p:sp>
        <p:nvSpPr>
          <p:cNvPr id="4" name="Shape 2"/>
          <p:cNvSpPr/>
          <p:nvPr/>
        </p:nvSpPr>
        <p:spPr>
          <a:xfrm>
            <a:off x="566928" y="1645920"/>
            <a:ext cx="11027664" cy="896112"/>
          </a:xfrm>
          <a:prstGeom prst="roundRect">
            <a:avLst>
              <a:gd name="adj" fmla="val 10204"/>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5" name="Text 3"/>
          <p:cNvSpPr/>
          <p:nvPr/>
        </p:nvSpPr>
        <p:spPr>
          <a:xfrm>
            <a:off x="950976" y="1746504"/>
            <a:ext cx="2926080" cy="694944"/>
          </a:xfrm>
          <a:prstGeom prst="rect">
            <a:avLst/>
          </a:prstGeom>
          <a:noFill/>
          <a:ln/>
        </p:spPr>
        <p:txBody>
          <a:bodyPr wrap="square" lIns="0" tIns="0" rIns="0" bIns="0" rtlCol="0" anchor="ctr"/>
          <a:lstStyle/>
          <a:p>
            <a:pPr indent="0" marL="0">
              <a:buNone/>
            </a:pPr>
            <a:r>
              <a:rPr lang="en-US" sz="1350" b="1" dirty="0">
                <a:solidFill>
                  <a:srgbClr val="00395D"/>
                </a:solidFill>
                <a:latin typeface="Expert Sans" pitchFamily="34" charset="0"/>
                <a:ea typeface="Expert Sans" pitchFamily="34" charset="-122"/>
                <a:cs typeface="Expert Sans" pitchFamily="34" charset="-120"/>
              </a:rPr>
              <a:t>New demand evidence</a:t>
            </a:r>
            <a:endParaRPr lang="en-US" sz="1350" dirty="0"/>
          </a:p>
        </p:txBody>
      </p:sp>
      <p:sp>
        <p:nvSpPr>
          <p:cNvPr id="6" name="Text 4"/>
          <p:cNvSpPr/>
          <p:nvPr/>
        </p:nvSpPr>
        <p:spPr>
          <a:xfrm>
            <a:off x="4133088" y="1746504"/>
            <a:ext cx="4023360" cy="694944"/>
          </a:xfrm>
          <a:prstGeom prst="rect">
            <a:avLst/>
          </a:prstGeom>
          <a:noFill/>
          <a:ln/>
        </p:spPr>
        <p:txBody>
          <a:bodyPr wrap="square" lIns="0" tIns="0" rIns="0" bIns="0" rtlCol="0" anchor="ctr"/>
          <a:lstStyle/>
          <a:p>
            <a:pPr indent="0" marL="0">
              <a:lnSpc>
                <a:spcPts val="1600"/>
              </a:lnSpc>
              <a:buNone/>
            </a:pPr>
            <a:r>
              <a:rPr lang="en-US" sz="1200" dirty="0">
                <a:solidFill>
                  <a:srgbClr val="3F5563"/>
                </a:solidFill>
                <a:latin typeface="Expert Sans" pitchFamily="34" charset="0"/>
                <a:ea typeface="Expert Sans" pitchFamily="34" charset="-122"/>
                <a:cs typeface="Expert Sans" pitchFamily="34" charset="-120"/>
              </a:rPr>
              <a:t>A prototype test of crypto, or a shift in exporter behaviour</a:t>
            </a:r>
            <a:endParaRPr lang="en-US" sz="1200" dirty="0"/>
          </a:p>
        </p:txBody>
      </p:sp>
      <p:sp>
        <p:nvSpPr>
          <p:cNvPr id="7" name="Text 5"/>
          <p:cNvSpPr/>
          <p:nvPr/>
        </p:nvSpPr>
        <p:spPr>
          <a:xfrm>
            <a:off x="8339328" y="1746504"/>
            <a:ext cx="2798064" cy="694944"/>
          </a:xfrm>
          <a:prstGeom prst="rect">
            <a:avLst/>
          </a:prstGeom>
          <a:noFill/>
          <a:ln/>
        </p:spPr>
        <p:txBody>
          <a:bodyPr wrap="square" lIns="0" tIns="0" rIns="0" bIns="0" rtlCol="0" anchor="ctr"/>
          <a:lstStyle/>
          <a:p>
            <a:pPr indent="0" marL="0">
              <a:lnSpc>
                <a:spcPts val="1600"/>
              </a:lnSpc>
              <a:buNone/>
            </a:pPr>
            <a:r>
              <a:rPr lang="en-US" sz="1200" dirty="0">
                <a:solidFill>
                  <a:srgbClr val="3F5563"/>
                </a:solidFill>
                <a:latin typeface="Expert Sans" pitchFamily="34" charset="0"/>
                <a:ea typeface="Expert Sans" pitchFamily="34" charset="-122"/>
                <a:cs typeface="Expert Sans" pitchFamily="34" charset="-120"/>
              </a:rPr>
              <a:t>Scores re-run; a feature can enter or leave the backlog</a:t>
            </a:r>
            <a:endParaRPr lang="en-US" sz="1200" dirty="0"/>
          </a:p>
        </p:txBody>
      </p:sp>
      <p:sp>
        <p:nvSpPr>
          <p:cNvPr id="8" name="Shape 6"/>
          <p:cNvSpPr/>
          <p:nvPr/>
        </p:nvSpPr>
        <p:spPr>
          <a:xfrm>
            <a:off x="566928" y="2670048"/>
            <a:ext cx="11027664" cy="896112"/>
          </a:xfrm>
          <a:prstGeom prst="roundRect">
            <a:avLst>
              <a:gd name="adj" fmla="val 10204"/>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9" name="Text 7"/>
          <p:cNvSpPr/>
          <p:nvPr/>
        </p:nvSpPr>
        <p:spPr>
          <a:xfrm>
            <a:off x="950976" y="2770632"/>
            <a:ext cx="2926080" cy="694944"/>
          </a:xfrm>
          <a:prstGeom prst="rect">
            <a:avLst/>
          </a:prstGeom>
          <a:noFill/>
          <a:ln/>
        </p:spPr>
        <p:txBody>
          <a:bodyPr wrap="square" lIns="0" tIns="0" rIns="0" bIns="0" rtlCol="0" anchor="ctr"/>
          <a:lstStyle/>
          <a:p>
            <a:pPr indent="0" marL="0">
              <a:buNone/>
            </a:pPr>
            <a:r>
              <a:rPr lang="en-US" sz="1350" b="1" dirty="0">
                <a:solidFill>
                  <a:srgbClr val="00395D"/>
                </a:solidFill>
                <a:latin typeface="Expert Sans" pitchFamily="34" charset="0"/>
                <a:ea typeface="Expert Sans" pitchFamily="34" charset="-122"/>
                <a:cs typeface="Expert Sans" pitchFamily="34" charset="-120"/>
              </a:rPr>
              <a:t>Return assumptions move</a:t>
            </a:r>
            <a:endParaRPr lang="en-US" sz="1350" dirty="0"/>
          </a:p>
        </p:txBody>
      </p:sp>
      <p:sp>
        <p:nvSpPr>
          <p:cNvPr id="10" name="Text 8"/>
          <p:cNvSpPr/>
          <p:nvPr/>
        </p:nvSpPr>
        <p:spPr>
          <a:xfrm>
            <a:off x="4133088" y="2770632"/>
            <a:ext cx="4023360" cy="694944"/>
          </a:xfrm>
          <a:prstGeom prst="rect">
            <a:avLst/>
          </a:prstGeom>
          <a:noFill/>
          <a:ln/>
        </p:spPr>
        <p:txBody>
          <a:bodyPr wrap="square" lIns="0" tIns="0" rIns="0" bIns="0" rtlCol="0" anchor="ctr"/>
          <a:lstStyle/>
          <a:p>
            <a:pPr indent="0" marL="0">
              <a:lnSpc>
                <a:spcPts val="1600"/>
              </a:lnSpc>
              <a:buNone/>
            </a:pPr>
            <a:r>
              <a:rPr lang="en-US" sz="1200" dirty="0">
                <a:solidFill>
                  <a:srgbClr val="3F5563"/>
                </a:solidFill>
                <a:latin typeface="Expert Sans" pitchFamily="34" charset="0"/>
                <a:ea typeface="Expert Sans" pitchFamily="34" charset="-122"/>
                <a:cs typeface="Expert Sans" pitchFamily="34" charset="-120"/>
              </a:rPr>
              <a:t>Uptake, margin, dead-weight or partner terms change</a:t>
            </a:r>
            <a:endParaRPr lang="en-US" sz="1200" dirty="0"/>
          </a:p>
        </p:txBody>
      </p:sp>
      <p:sp>
        <p:nvSpPr>
          <p:cNvPr id="11" name="Text 9"/>
          <p:cNvSpPr/>
          <p:nvPr/>
        </p:nvSpPr>
        <p:spPr>
          <a:xfrm>
            <a:off x="8339328" y="2770632"/>
            <a:ext cx="2798064" cy="694944"/>
          </a:xfrm>
          <a:prstGeom prst="rect">
            <a:avLst/>
          </a:prstGeom>
          <a:noFill/>
          <a:ln/>
        </p:spPr>
        <p:txBody>
          <a:bodyPr wrap="square" lIns="0" tIns="0" rIns="0" bIns="0" rtlCol="0" anchor="ctr"/>
          <a:lstStyle/>
          <a:p>
            <a:pPr indent="0" marL="0">
              <a:lnSpc>
                <a:spcPts val="1600"/>
              </a:lnSpc>
              <a:buNone/>
            </a:pPr>
            <a:r>
              <a:rPr lang="en-US" sz="1200" dirty="0">
                <a:solidFill>
                  <a:srgbClr val="3F5563"/>
                </a:solidFill>
                <a:latin typeface="Expert Sans" pitchFamily="34" charset="0"/>
                <a:ea typeface="Expert Sans" pitchFamily="34" charset="-122"/>
                <a:cs typeface="Expert Sans" pitchFamily="34" charset="-120"/>
              </a:rPr>
              <a:t>Per-slot returns re-computed; positions 2 and 3 can swap</a:t>
            </a:r>
            <a:endParaRPr lang="en-US" sz="1200" dirty="0"/>
          </a:p>
        </p:txBody>
      </p:sp>
      <p:sp>
        <p:nvSpPr>
          <p:cNvPr id="12" name="Shape 10"/>
          <p:cNvSpPr/>
          <p:nvPr/>
        </p:nvSpPr>
        <p:spPr>
          <a:xfrm>
            <a:off x="566928" y="3694176"/>
            <a:ext cx="11027664" cy="896112"/>
          </a:xfrm>
          <a:prstGeom prst="roundRect">
            <a:avLst>
              <a:gd name="adj" fmla="val 10204"/>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3" name="Text 11"/>
          <p:cNvSpPr/>
          <p:nvPr/>
        </p:nvSpPr>
        <p:spPr>
          <a:xfrm>
            <a:off x="950976" y="3794760"/>
            <a:ext cx="2926080" cy="694944"/>
          </a:xfrm>
          <a:prstGeom prst="rect">
            <a:avLst/>
          </a:prstGeom>
          <a:noFill/>
          <a:ln/>
        </p:spPr>
        <p:txBody>
          <a:bodyPr wrap="square" lIns="0" tIns="0" rIns="0" bIns="0" rtlCol="0" anchor="ctr"/>
          <a:lstStyle/>
          <a:p>
            <a:pPr indent="0" marL="0">
              <a:buNone/>
            </a:pPr>
            <a:r>
              <a:rPr lang="en-US" sz="1350" b="1" dirty="0">
                <a:solidFill>
                  <a:srgbClr val="00395D"/>
                </a:solidFill>
                <a:latin typeface="Expert Sans" pitchFamily="34" charset="0"/>
                <a:ea typeface="Expert Sans" pitchFamily="34" charset="-122"/>
                <a:cs typeface="Expert Sans" pitchFamily="34" charset="-120"/>
              </a:rPr>
              <a:t>Capability lands</a:t>
            </a:r>
            <a:endParaRPr lang="en-US" sz="1350" dirty="0"/>
          </a:p>
        </p:txBody>
      </p:sp>
      <p:sp>
        <p:nvSpPr>
          <p:cNvPr id="14" name="Text 12"/>
          <p:cNvSpPr/>
          <p:nvPr/>
        </p:nvSpPr>
        <p:spPr>
          <a:xfrm>
            <a:off x="4133088" y="3794760"/>
            <a:ext cx="4023360" cy="694944"/>
          </a:xfrm>
          <a:prstGeom prst="rect">
            <a:avLst/>
          </a:prstGeom>
          <a:noFill/>
          <a:ln/>
        </p:spPr>
        <p:txBody>
          <a:bodyPr wrap="square" lIns="0" tIns="0" rIns="0" bIns="0" rtlCol="0" anchor="ctr"/>
          <a:lstStyle/>
          <a:p>
            <a:pPr indent="0" marL="0">
              <a:lnSpc>
                <a:spcPts val="1600"/>
              </a:lnSpc>
              <a:buNone/>
            </a:pPr>
            <a:r>
              <a:rPr lang="en-US" sz="1200" dirty="0">
                <a:solidFill>
                  <a:srgbClr val="3F5563"/>
                </a:solidFill>
                <a:latin typeface="Expert Sans" pitchFamily="34" charset="0"/>
                <a:ea typeface="Expert Sans" pitchFamily="34" charset="-122"/>
                <a:cs typeface="Expert Sans" pitchFamily="34" charset="-120"/>
              </a:rPr>
              <a:t>The claims capability ships</a:t>
            </a:r>
            <a:endParaRPr lang="en-US" sz="1200" dirty="0"/>
          </a:p>
        </p:txBody>
      </p:sp>
      <p:sp>
        <p:nvSpPr>
          <p:cNvPr id="15" name="Text 13"/>
          <p:cNvSpPr/>
          <p:nvPr/>
        </p:nvSpPr>
        <p:spPr>
          <a:xfrm>
            <a:off x="8339328" y="3794760"/>
            <a:ext cx="2798064" cy="694944"/>
          </a:xfrm>
          <a:prstGeom prst="rect">
            <a:avLst/>
          </a:prstGeom>
          <a:noFill/>
          <a:ln/>
        </p:spPr>
        <p:txBody>
          <a:bodyPr wrap="square" lIns="0" tIns="0" rIns="0" bIns="0" rtlCol="0" anchor="ctr"/>
          <a:lstStyle/>
          <a:p>
            <a:pPr indent="0" marL="0">
              <a:lnSpc>
                <a:spcPts val="1600"/>
              </a:lnSpc>
              <a:buNone/>
            </a:pPr>
            <a:r>
              <a:rPr lang="en-US" sz="1200" dirty="0">
                <a:solidFill>
                  <a:srgbClr val="3F5563"/>
                </a:solidFill>
                <a:latin typeface="Expert Sans" pitchFamily="34" charset="0"/>
                <a:ea typeface="Expert Sans" pitchFamily="34" charset="-122"/>
                <a:cs typeface="Expert Sans" pitchFamily="34" charset="-120"/>
              </a:rPr>
              <a:t>Insurance's slots fall from 2 to 1 — its per-slot return doubles</a:t>
            </a:r>
            <a:endParaRPr lang="en-US" sz="1200" dirty="0"/>
          </a:p>
        </p:txBody>
      </p:sp>
      <p:sp>
        <p:nvSpPr>
          <p:cNvPr id="16" name="Shape 14"/>
          <p:cNvSpPr/>
          <p:nvPr/>
        </p:nvSpPr>
        <p:spPr>
          <a:xfrm>
            <a:off x="566928" y="4718304"/>
            <a:ext cx="11027664" cy="896112"/>
          </a:xfrm>
          <a:prstGeom prst="roundRect">
            <a:avLst>
              <a:gd name="adj" fmla="val 10204"/>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7" name="Text 15"/>
          <p:cNvSpPr/>
          <p:nvPr/>
        </p:nvSpPr>
        <p:spPr>
          <a:xfrm>
            <a:off x="950976" y="4818888"/>
            <a:ext cx="2926080" cy="694944"/>
          </a:xfrm>
          <a:prstGeom prst="rect">
            <a:avLst/>
          </a:prstGeom>
          <a:noFill/>
          <a:ln/>
        </p:spPr>
        <p:txBody>
          <a:bodyPr wrap="square" lIns="0" tIns="0" rIns="0" bIns="0" rtlCol="0" anchor="ctr"/>
          <a:lstStyle/>
          <a:p>
            <a:pPr indent="0" marL="0">
              <a:buNone/>
            </a:pPr>
            <a:r>
              <a:rPr lang="en-US" sz="1350" b="1" dirty="0">
                <a:solidFill>
                  <a:srgbClr val="00395D"/>
                </a:solidFill>
                <a:latin typeface="Expert Sans" pitchFamily="34" charset="0"/>
                <a:ea typeface="Expert Sans" pitchFamily="34" charset="-122"/>
                <a:cs typeface="Expert Sans" pitchFamily="34" charset="-120"/>
              </a:rPr>
              <a:t>A slot frees up</a:t>
            </a:r>
            <a:endParaRPr lang="en-US" sz="1350" dirty="0"/>
          </a:p>
        </p:txBody>
      </p:sp>
      <p:sp>
        <p:nvSpPr>
          <p:cNvPr id="18" name="Text 16"/>
          <p:cNvSpPr/>
          <p:nvPr/>
        </p:nvSpPr>
        <p:spPr>
          <a:xfrm>
            <a:off x="4133088" y="4818888"/>
            <a:ext cx="4023360" cy="694944"/>
          </a:xfrm>
          <a:prstGeom prst="rect">
            <a:avLst/>
          </a:prstGeom>
          <a:noFill/>
          <a:ln/>
        </p:spPr>
        <p:txBody>
          <a:bodyPr wrap="square" lIns="0" tIns="0" rIns="0" bIns="0" rtlCol="0" anchor="ctr"/>
          <a:lstStyle/>
          <a:p>
            <a:pPr indent="0" marL="0">
              <a:lnSpc>
                <a:spcPts val="1600"/>
              </a:lnSpc>
              <a:buNone/>
            </a:pPr>
            <a:r>
              <a:rPr lang="en-US" sz="1200" dirty="0">
                <a:solidFill>
                  <a:srgbClr val="3F5563"/>
                </a:solidFill>
                <a:latin typeface="Expert Sans" pitchFamily="34" charset="0"/>
                <a:ea typeface="Expert Sans" pitchFamily="34" charset="-122"/>
                <a:cs typeface="Expert Sans" pitchFamily="34" charset="-120"/>
              </a:rPr>
              <a:t>A build finishes early or a partner accelerates</a:t>
            </a:r>
            <a:endParaRPr lang="en-US" sz="1200" dirty="0"/>
          </a:p>
        </p:txBody>
      </p:sp>
      <p:sp>
        <p:nvSpPr>
          <p:cNvPr id="19" name="Text 17"/>
          <p:cNvSpPr/>
          <p:nvPr/>
        </p:nvSpPr>
        <p:spPr>
          <a:xfrm>
            <a:off x="8339328" y="4818888"/>
            <a:ext cx="2798064" cy="694944"/>
          </a:xfrm>
          <a:prstGeom prst="rect">
            <a:avLst/>
          </a:prstGeom>
          <a:noFill/>
          <a:ln/>
        </p:spPr>
        <p:txBody>
          <a:bodyPr wrap="square" lIns="0" tIns="0" rIns="0" bIns="0" rtlCol="0" anchor="ctr"/>
          <a:lstStyle/>
          <a:p>
            <a:pPr indent="0" marL="0">
              <a:lnSpc>
                <a:spcPts val="1600"/>
              </a:lnSpc>
              <a:buNone/>
            </a:pPr>
            <a:r>
              <a:rPr lang="en-US" sz="1200" dirty="0">
                <a:solidFill>
                  <a:srgbClr val="3F5563"/>
                </a:solidFill>
                <a:latin typeface="Expert Sans" pitchFamily="34" charset="0"/>
                <a:ea typeface="Expert Sans" pitchFamily="34" charset="-122"/>
                <a:cs typeface="Expert Sans" pitchFamily="34" charset="-120"/>
              </a:rPr>
              <a:t>The cut-line moves down the sorted list — no new argument needed</a:t>
            </a:r>
            <a:endParaRPr lang="en-US" sz="1200" dirty="0"/>
          </a:p>
        </p:txBody>
      </p:sp>
      <p:sp>
        <p:nvSpPr>
          <p:cNvPr id="20" name="Text 18"/>
          <p:cNvSpPr/>
          <p:nvPr/>
        </p:nvSpPr>
        <p:spPr>
          <a:xfrm>
            <a:off x="566928" y="5852160"/>
            <a:ext cx="11027664" cy="457200"/>
          </a:xfrm>
          <a:prstGeom prst="rect">
            <a:avLst/>
          </a:prstGeom>
          <a:noFill/>
          <a:ln/>
        </p:spPr>
        <p:txBody>
          <a:bodyPr wrap="square" lIns="0" tIns="0" rIns="0" bIns="0" rtlCol="0" anchor="ctr"/>
          <a:lstStyle/>
          <a:p>
            <a:pPr indent="0" marL="0">
              <a:buNone/>
            </a:pPr>
            <a:r>
              <a:rPr lang="en-US" sz="1350" i="1" dirty="0">
                <a:solidFill>
                  <a:srgbClr val="6E7F8D"/>
                </a:solidFill>
                <a:latin typeface="Expert Sans" pitchFamily="34" charset="0"/>
                <a:ea typeface="Expert Sans" pitchFamily="34" charset="-122"/>
                <a:cs typeface="Expert Sans" pitchFamily="34" charset="-120"/>
              </a:rPr>
              <a:t>This is what the client is really approving: not this quarter's list, but the machine that keeps the list honest.</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28016"/>
          </a:xfrm>
          <a:prstGeom prst="rect">
            <a:avLst/>
          </a:prstGeom>
          <a:solidFill>
            <a:srgbClr val="00AEEF"/>
          </a:solidFill>
          <a:ln w="12700">
            <a:solidFill>
              <a:srgbClr val="00AEEF"/>
            </a:solidFill>
            <a:prstDash val="solid"/>
          </a:ln>
        </p:spPr>
      </p:sp>
      <p:sp>
        <p:nvSpPr>
          <p:cNvPr id="3" name="Text 1"/>
          <p:cNvSpPr/>
          <p:nvPr/>
        </p:nvSpPr>
        <p:spPr>
          <a:xfrm>
            <a:off x="566928" y="1874520"/>
            <a:ext cx="2377440" cy="1463040"/>
          </a:xfrm>
          <a:prstGeom prst="rect">
            <a:avLst/>
          </a:prstGeom>
          <a:noFill/>
          <a:ln/>
        </p:spPr>
        <p:txBody>
          <a:bodyPr wrap="square" lIns="0" tIns="0" rIns="0" bIns="0" rtlCol="0" anchor="ctr"/>
          <a:lstStyle/>
          <a:p>
            <a:pPr indent="0" marL="0">
              <a:buNone/>
            </a:pPr>
            <a:r>
              <a:rPr lang="en-US" sz="8800" b="1" dirty="0">
                <a:solidFill>
                  <a:srgbClr val="BFE4F7"/>
                </a:solidFill>
                <a:latin typeface="Expert Sans" pitchFamily="34" charset="0"/>
                <a:ea typeface="Expert Sans" pitchFamily="34" charset="-122"/>
                <a:cs typeface="Expert Sans" pitchFamily="34" charset="-120"/>
              </a:rPr>
              <a:t>03</a:t>
            </a:r>
            <a:endParaRPr lang="en-US" sz="8800" dirty="0"/>
          </a:p>
        </p:txBody>
      </p:sp>
      <p:sp>
        <p:nvSpPr>
          <p:cNvPr id="4" name="Text 2"/>
          <p:cNvSpPr/>
          <p:nvPr/>
        </p:nvSpPr>
        <p:spPr>
          <a:xfrm>
            <a:off x="2898648" y="2029968"/>
            <a:ext cx="8595360" cy="365760"/>
          </a:xfrm>
          <a:prstGeom prst="rect">
            <a:avLst/>
          </a:prstGeom>
          <a:noFill/>
          <a:ln/>
        </p:spPr>
        <p:txBody>
          <a:bodyPr wrap="square" lIns="0" tIns="0" rIns="0" bIns="0" rtlCol="0" anchor="ctr"/>
          <a:lstStyle/>
          <a:p>
            <a:pPr indent="0" marL="0">
              <a:buNone/>
            </a:pPr>
            <a:r>
              <a:rPr lang="en-US" sz="1200" b="1" spc="260" kern="0" dirty="0">
                <a:solidFill>
                  <a:srgbClr val="0083C5"/>
                </a:solidFill>
                <a:latin typeface="Expert Sans" pitchFamily="34" charset="0"/>
                <a:ea typeface="Expert Sans" pitchFamily="34" charset="-122"/>
                <a:cs typeface="Expert Sans" pitchFamily="34" charset="-120"/>
              </a:rPr>
              <a:t>CAPACITY CUTS</a:t>
            </a:r>
            <a:endParaRPr lang="en-US" sz="1200" dirty="0"/>
          </a:p>
        </p:txBody>
      </p:sp>
      <p:sp>
        <p:nvSpPr>
          <p:cNvPr id="5" name="Text 3"/>
          <p:cNvSpPr/>
          <p:nvPr/>
        </p:nvSpPr>
        <p:spPr>
          <a:xfrm>
            <a:off x="2898648" y="2395728"/>
            <a:ext cx="8595360" cy="914400"/>
          </a:xfrm>
          <a:prstGeom prst="rect">
            <a:avLst/>
          </a:prstGeom>
          <a:noFill/>
          <a:ln/>
        </p:spPr>
        <p:txBody>
          <a:bodyPr wrap="square" lIns="0" tIns="0" rIns="0" bIns="0" rtlCol="0" anchor="ctr"/>
          <a:lstStyle/>
          <a:p>
            <a:pPr indent="0" marL="0">
              <a:buNone/>
            </a:pPr>
            <a:r>
              <a:rPr lang="en-US" sz="3400" dirty="0">
                <a:solidFill>
                  <a:srgbClr val="00395D"/>
                </a:solidFill>
                <a:latin typeface="Expert Sans" pitchFamily="34" charset="0"/>
                <a:ea typeface="Expert Sans" pitchFamily="34" charset="-122"/>
                <a:cs typeface="Expert Sans" pitchFamily="34" charset="-120"/>
              </a:rPr>
              <a:t>What ships this cycle — and how?</a:t>
            </a:r>
            <a:endParaRPr lang="en-US" sz="3400" dirty="0"/>
          </a:p>
        </p:txBody>
      </p:sp>
      <p:sp>
        <p:nvSpPr>
          <p:cNvPr id="6" name="Text 4"/>
          <p:cNvSpPr/>
          <p:nvPr/>
        </p:nvSpPr>
        <p:spPr>
          <a:xfrm>
            <a:off x="2898648" y="3346704"/>
            <a:ext cx="8412480" cy="640080"/>
          </a:xfrm>
          <a:prstGeom prst="rect">
            <a:avLst/>
          </a:prstGeom>
          <a:noFill/>
          <a:ln/>
        </p:spPr>
        <p:txBody>
          <a:bodyPr wrap="square" lIns="0" tIns="0" rIns="0" bIns="0" rtlCol="0" anchor="t"/>
          <a:lstStyle/>
          <a:p>
            <a:pPr indent="0" marL="0">
              <a:lnSpc>
                <a:spcPts val="2100"/>
              </a:lnSpc>
              <a:buNone/>
            </a:pPr>
            <a:r>
              <a:rPr lang="en-US" sz="1400" dirty="0">
                <a:solidFill>
                  <a:srgbClr val="3F5563"/>
                </a:solidFill>
                <a:latin typeface="Expert Sans" pitchFamily="34" charset="0"/>
                <a:ea typeface="Expert Sans" pitchFamily="34" charset="-122"/>
                <a:cs typeface="Expert Sans" pitchFamily="34" charset="-120"/>
              </a:rPr>
              <a:t>Two build slots. Routes chosen per feature, priced for time and margin, bounded for defensibility.</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0083C5"/>
                </a:solidFill>
                <a:latin typeface="Expert Sans" pitchFamily="34" charset="0"/>
                <a:ea typeface="Expert Sans" pitchFamily="34" charset="-122"/>
                <a:cs typeface="Expert Sans" pitchFamily="34" charset="-120"/>
              </a:rPr>
              <a:t>CAPACITY CUTS  ·  03</a:t>
            </a:r>
            <a:endParaRPr lang="en-US" sz="1100" dirty="0"/>
          </a:p>
        </p:txBody>
      </p:sp>
      <p:sp>
        <p:nvSpPr>
          <p:cNvPr id="3" name="Text 1"/>
          <p:cNvSpPr/>
          <p:nvPr/>
        </p:nvSpPr>
        <p:spPr>
          <a:xfrm>
            <a:off x="566928" y="548640"/>
            <a:ext cx="9564624" cy="969264"/>
          </a:xfrm>
          <a:prstGeom prst="rect">
            <a:avLst/>
          </a:prstGeom>
          <a:noFill/>
          <a:ln/>
        </p:spPr>
        <p:txBody>
          <a:bodyPr wrap="square" lIns="0" tIns="0" rIns="0" bIns="0" rtlCol="0" anchor="t"/>
          <a:lstStyle/>
          <a:p>
            <a:pPr algn="l" indent="0" marL="0">
              <a:lnSpc>
                <a:spcPts val="3000"/>
              </a:lnSpc>
              <a:buNone/>
            </a:pPr>
            <a:r>
              <a:rPr lang="en-US" sz="2500" dirty="0">
                <a:solidFill>
                  <a:srgbClr val="00AEEF"/>
                </a:solidFill>
                <a:latin typeface="Expert Sans" pitchFamily="34" charset="0"/>
                <a:ea typeface="Expert Sans" pitchFamily="34" charset="-122"/>
                <a:cs typeface="Expert Sans" pitchFamily="34" charset="-120"/>
              </a:rPr>
              <a:t>Two slots: build FX on our core; partner invoice finance for speed</a:t>
            </a:r>
            <a:endParaRPr lang="en-US" sz="2500" dirty="0"/>
          </a:p>
        </p:txBody>
      </p:sp>
      <p:sp>
        <p:nvSpPr>
          <p:cNvPr id="4" name="Shape 2"/>
          <p:cNvSpPr/>
          <p:nvPr/>
        </p:nvSpPr>
        <p:spPr>
          <a:xfrm>
            <a:off x="566928" y="1645920"/>
            <a:ext cx="5353812" cy="3291840"/>
          </a:xfrm>
          <a:prstGeom prst="roundRect">
            <a:avLst>
              <a:gd name="adj" fmla="val 2778"/>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5" name="Text 3"/>
          <p:cNvSpPr/>
          <p:nvPr/>
        </p:nvSpPr>
        <p:spPr>
          <a:xfrm>
            <a:off x="932688" y="1847088"/>
            <a:ext cx="3890772" cy="457200"/>
          </a:xfrm>
          <a:prstGeom prst="rect">
            <a:avLst/>
          </a:prstGeom>
          <a:noFill/>
          <a:ln/>
        </p:spPr>
        <p:txBody>
          <a:bodyPr wrap="square" lIns="0" tIns="0" rIns="0" bIns="0" rtlCol="0" anchor="ctr"/>
          <a:lstStyle/>
          <a:p>
            <a:pPr indent="0" marL="0">
              <a:buNone/>
            </a:pPr>
            <a:r>
              <a:rPr lang="en-US" sz="1900" b="1" dirty="0">
                <a:solidFill>
                  <a:srgbClr val="00395D"/>
                </a:solidFill>
                <a:latin typeface="Expert Sans" pitchFamily="34" charset="0"/>
                <a:ea typeface="Expert Sans" pitchFamily="34" charset="-122"/>
                <a:cs typeface="Expert Sans" pitchFamily="34" charset="-120"/>
              </a:rPr>
              <a:t>FX payments — BUILD</a:t>
            </a:r>
            <a:endParaRPr lang="en-US" sz="1900" dirty="0"/>
          </a:p>
        </p:txBody>
      </p:sp>
      <p:sp>
        <p:nvSpPr>
          <p:cNvPr id="6" name="Text 4"/>
          <p:cNvSpPr/>
          <p:nvPr/>
        </p:nvSpPr>
        <p:spPr>
          <a:xfrm>
            <a:off x="4823460" y="1847088"/>
            <a:ext cx="777240" cy="457200"/>
          </a:xfrm>
          <a:prstGeom prst="rect">
            <a:avLst/>
          </a:prstGeom>
          <a:noFill/>
          <a:ln/>
        </p:spPr>
        <p:txBody>
          <a:bodyPr wrap="square" lIns="0" tIns="0" rIns="0" bIns="0" rtlCol="0" anchor="ctr"/>
          <a:lstStyle/>
          <a:p>
            <a:pPr algn="r" indent="0" marL="0">
              <a:buNone/>
            </a:pPr>
            <a:r>
              <a:rPr lang="en-US" sz="1200" b="1" dirty="0">
                <a:solidFill>
                  <a:srgbClr val="0083C5"/>
                </a:solidFill>
                <a:latin typeface="Expert Sans" pitchFamily="34" charset="0"/>
                <a:ea typeface="Expert Sans" pitchFamily="34" charset="-122"/>
                <a:cs typeface="Expert Sans" pitchFamily="34" charset="-120"/>
              </a:rPr>
              <a:t>Slot 1</a:t>
            </a:r>
            <a:endParaRPr lang="en-US" sz="1200" dirty="0"/>
          </a:p>
        </p:txBody>
      </p:sp>
      <p:sp>
        <p:nvSpPr>
          <p:cNvPr id="7" name="Shape 5"/>
          <p:cNvSpPr/>
          <p:nvPr/>
        </p:nvSpPr>
        <p:spPr>
          <a:xfrm>
            <a:off x="932688" y="2395728"/>
            <a:ext cx="4622292" cy="0"/>
          </a:xfrm>
          <a:prstGeom prst="line">
            <a:avLst/>
          </a:prstGeom>
          <a:noFill/>
          <a:ln w="12700">
            <a:solidFill>
              <a:srgbClr val="C9DDE8"/>
            </a:solidFill>
            <a:prstDash val="solid"/>
          </a:ln>
        </p:spPr>
      </p:sp>
      <p:sp>
        <p:nvSpPr>
          <p:cNvPr id="8" name="Text 6"/>
          <p:cNvSpPr/>
          <p:nvPr/>
        </p:nvSpPr>
        <p:spPr>
          <a:xfrm>
            <a:off x="932688" y="2578608"/>
            <a:ext cx="4622292" cy="2194560"/>
          </a:xfrm>
          <a:prstGeom prst="rect">
            <a:avLst/>
          </a:prstGeom>
          <a:noFill/>
          <a:ln/>
        </p:spPr>
        <p:txBody>
          <a:bodyPr wrap="square" lIns="0" tIns="0" rIns="0" bIns="0" rtlCol="0" anchor="t"/>
          <a:lstStyle/>
          <a:p>
            <a:pPr marL="342900" indent="-342900">
              <a:lnSpc>
                <a:spcPts val="1800"/>
              </a:lnSpc>
              <a:spcAft>
                <a:spcPts val="700"/>
              </a:spcAft>
              <a:buSzPct val="100000"/>
              <a:buChar char="•"/>
            </a:pPr>
            <a:r>
              <a:rPr lang="en-US" sz="1250" dirty="0">
                <a:solidFill>
                  <a:srgbClr val="3F5563"/>
                </a:solidFill>
                <a:latin typeface="Expert Sans" pitchFamily="34" charset="0"/>
                <a:ea typeface="Expert Sans" pitchFamily="34" charset="-122"/>
                <a:cs typeface="Expert Sans" pitchFamily="34" charset="-120"/>
              </a:rPr>
              <a:t>Deepens the payments platform we already run — the capability compounds</a:t>
            </a:r>
            <a:endParaRPr lang="en-US" sz="1250" dirty="0"/>
          </a:p>
          <a:p>
            <a:pPr marL="342900" indent="-342900">
              <a:lnSpc>
                <a:spcPts val="1800"/>
              </a:lnSpc>
              <a:spcAft>
                <a:spcPts val="700"/>
              </a:spcAft>
              <a:buSzPct val="100000"/>
              <a:buChar char="•"/>
            </a:pPr>
            <a:r>
              <a:rPr lang="en-US" sz="1250" dirty="0">
                <a:solidFill>
                  <a:srgbClr val="3F5563"/>
                </a:solidFill>
                <a:latin typeface="Expert Sans" pitchFamily="34" charset="0"/>
                <a:ea typeface="Expert Sans" pitchFamily="34" charset="-122"/>
                <a:cs typeface="Expert Sans" pitchFamily="34" charset="-120"/>
              </a:rPr>
              <a:t>9 months ±1, high confidence: the delivery team owns every dependency</a:t>
            </a:r>
            <a:endParaRPr lang="en-US" sz="1250" dirty="0"/>
          </a:p>
          <a:p>
            <a:pPr marL="342900" indent="-342900">
              <a:lnSpc>
                <a:spcPts val="1800"/>
              </a:lnSpc>
              <a:spcAft>
                <a:spcPts val="700"/>
              </a:spcAft>
              <a:buSzPct val="100000"/>
              <a:buChar char="•"/>
            </a:pPr>
            <a:r>
              <a:rPr lang="en-US" sz="1250" dirty="0">
                <a:solidFill>
                  <a:srgbClr val="3F5563"/>
                </a:solidFill>
                <a:latin typeface="Expert Sans" pitchFamily="34" charset="0"/>
                <a:ea typeface="Expert Sans" pitchFamily="34" charset="-122"/>
                <a:cs typeface="Expert Sans" pitchFamily="34" charset="-120"/>
              </a:rPr>
              <a:t>Full margin kept; no third party in the flow</a:t>
            </a:r>
            <a:endParaRPr lang="en-US" sz="1250" dirty="0"/>
          </a:p>
        </p:txBody>
      </p:sp>
      <p:sp>
        <p:nvSpPr>
          <p:cNvPr id="9" name="Shape 7"/>
          <p:cNvSpPr/>
          <p:nvPr/>
        </p:nvSpPr>
        <p:spPr>
          <a:xfrm>
            <a:off x="6240780" y="1645920"/>
            <a:ext cx="5353812" cy="3291840"/>
          </a:xfrm>
          <a:prstGeom prst="roundRect">
            <a:avLst>
              <a:gd name="adj" fmla="val 2778"/>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0" name="Text 8"/>
          <p:cNvSpPr/>
          <p:nvPr/>
        </p:nvSpPr>
        <p:spPr>
          <a:xfrm>
            <a:off x="6606540" y="1847088"/>
            <a:ext cx="3890772" cy="457200"/>
          </a:xfrm>
          <a:prstGeom prst="rect">
            <a:avLst/>
          </a:prstGeom>
          <a:noFill/>
          <a:ln/>
        </p:spPr>
        <p:txBody>
          <a:bodyPr wrap="square" lIns="0" tIns="0" rIns="0" bIns="0" rtlCol="0" anchor="ctr"/>
          <a:lstStyle/>
          <a:p>
            <a:pPr indent="0" marL="0">
              <a:buNone/>
            </a:pPr>
            <a:r>
              <a:rPr lang="en-US" sz="1900" b="1" dirty="0">
                <a:solidFill>
                  <a:srgbClr val="00395D"/>
                </a:solidFill>
                <a:latin typeface="Expert Sans" pitchFamily="34" charset="0"/>
                <a:ea typeface="Expert Sans" pitchFamily="34" charset="-122"/>
                <a:cs typeface="Expert Sans" pitchFamily="34" charset="-120"/>
              </a:rPr>
              <a:t>Invoice finance — PARTNER</a:t>
            </a:r>
            <a:endParaRPr lang="en-US" sz="1900" dirty="0"/>
          </a:p>
        </p:txBody>
      </p:sp>
      <p:sp>
        <p:nvSpPr>
          <p:cNvPr id="11" name="Text 9"/>
          <p:cNvSpPr/>
          <p:nvPr/>
        </p:nvSpPr>
        <p:spPr>
          <a:xfrm>
            <a:off x="10497312" y="1847088"/>
            <a:ext cx="777240" cy="457200"/>
          </a:xfrm>
          <a:prstGeom prst="rect">
            <a:avLst/>
          </a:prstGeom>
          <a:noFill/>
          <a:ln/>
        </p:spPr>
        <p:txBody>
          <a:bodyPr wrap="square" lIns="0" tIns="0" rIns="0" bIns="0" rtlCol="0" anchor="ctr"/>
          <a:lstStyle/>
          <a:p>
            <a:pPr algn="r" indent="0" marL="0">
              <a:buNone/>
            </a:pPr>
            <a:r>
              <a:rPr lang="en-US" sz="1200" b="1" dirty="0">
                <a:solidFill>
                  <a:srgbClr val="0083C5"/>
                </a:solidFill>
                <a:latin typeface="Expert Sans" pitchFamily="34" charset="0"/>
                <a:ea typeface="Expert Sans" pitchFamily="34" charset="-122"/>
                <a:cs typeface="Expert Sans" pitchFamily="34" charset="-120"/>
              </a:rPr>
              <a:t>Slot 2</a:t>
            </a:r>
            <a:endParaRPr lang="en-US" sz="1200" dirty="0"/>
          </a:p>
        </p:txBody>
      </p:sp>
      <p:sp>
        <p:nvSpPr>
          <p:cNvPr id="12" name="Shape 10"/>
          <p:cNvSpPr/>
          <p:nvPr/>
        </p:nvSpPr>
        <p:spPr>
          <a:xfrm>
            <a:off x="6606540" y="2395728"/>
            <a:ext cx="4622292" cy="0"/>
          </a:xfrm>
          <a:prstGeom prst="line">
            <a:avLst/>
          </a:prstGeom>
          <a:noFill/>
          <a:ln w="12700">
            <a:solidFill>
              <a:srgbClr val="C9DDE8"/>
            </a:solidFill>
            <a:prstDash val="solid"/>
          </a:ln>
        </p:spPr>
      </p:sp>
      <p:sp>
        <p:nvSpPr>
          <p:cNvPr id="13" name="Text 11"/>
          <p:cNvSpPr/>
          <p:nvPr/>
        </p:nvSpPr>
        <p:spPr>
          <a:xfrm>
            <a:off x="6606540" y="2578608"/>
            <a:ext cx="4622292" cy="2194560"/>
          </a:xfrm>
          <a:prstGeom prst="rect">
            <a:avLst/>
          </a:prstGeom>
          <a:noFill/>
          <a:ln/>
        </p:spPr>
        <p:txBody>
          <a:bodyPr wrap="square" lIns="0" tIns="0" rIns="0" bIns="0" rtlCol="0" anchor="t"/>
          <a:lstStyle/>
          <a:p>
            <a:pPr marL="342900" indent="-342900">
              <a:lnSpc>
                <a:spcPts val="1800"/>
              </a:lnSpc>
              <a:spcAft>
                <a:spcPts val="700"/>
              </a:spcAft>
              <a:buSzPct val="100000"/>
              <a:buChar char="•"/>
            </a:pPr>
            <a:r>
              <a:rPr lang="en-US" sz="1250" dirty="0">
                <a:solidFill>
                  <a:srgbClr val="3F5563"/>
                </a:solidFill>
                <a:latin typeface="Expert Sans" pitchFamily="34" charset="0"/>
                <a:ea typeface="Expert Sans" pitchFamily="34" charset="-122"/>
                <a:cs typeface="Expert Sans" pitchFamily="34" charset="-120"/>
              </a:rPr>
              <a:t>Live in 5 months instead of 18 — the difference between second place and missing the cycle</a:t>
            </a:r>
            <a:endParaRPr lang="en-US" sz="1250" dirty="0"/>
          </a:p>
          <a:p>
            <a:pPr marL="342900" indent="-342900">
              <a:lnSpc>
                <a:spcPts val="1800"/>
              </a:lnSpc>
              <a:spcAft>
                <a:spcPts val="700"/>
              </a:spcAft>
              <a:buSzPct val="100000"/>
              <a:buChar char="•"/>
            </a:pPr>
            <a:r>
              <a:rPr lang="en-US" sz="1250" dirty="0">
                <a:solidFill>
                  <a:srgbClr val="3F5563"/>
                </a:solidFill>
                <a:latin typeface="Expert Sans" pitchFamily="34" charset="0"/>
                <a:ea typeface="Expert Sans" pitchFamily="34" charset="-122"/>
                <a:cs typeface="Expert Sans" pitchFamily="34" charset="-120"/>
              </a:rPr>
              <a:t>Partner: [specialist lender], revenue share 25%</a:t>
            </a:r>
            <a:endParaRPr lang="en-US" sz="1250" dirty="0"/>
          </a:p>
          <a:p>
            <a:pPr marL="342900" indent="-342900">
              <a:lnSpc>
                <a:spcPts val="1800"/>
              </a:lnSpc>
              <a:spcAft>
                <a:spcPts val="700"/>
              </a:spcAft>
              <a:buSzPct val="100000"/>
              <a:buChar char="•"/>
            </a:pPr>
            <a:r>
              <a:rPr lang="en-US" sz="1250" dirty="0">
                <a:solidFill>
                  <a:srgbClr val="3F5563"/>
                </a:solidFill>
                <a:latin typeface="Expert Sans" pitchFamily="34" charset="0"/>
                <a:ea typeface="Expert Sans" pitchFamily="34" charset="-122"/>
                <a:cs typeface="Expert Sans" pitchFamily="34" charset="-120"/>
              </a:rPr>
              <a:t>We keep the customer, the data and the pricing; they run the credit engine</a:t>
            </a:r>
            <a:endParaRPr lang="en-US" sz="1250" dirty="0"/>
          </a:p>
        </p:txBody>
      </p:sp>
      <p:sp>
        <p:nvSpPr>
          <p:cNvPr id="14" name="Text 12"/>
          <p:cNvSpPr/>
          <p:nvPr/>
        </p:nvSpPr>
        <p:spPr>
          <a:xfrm>
            <a:off x="566928" y="5138928"/>
            <a:ext cx="11027664" cy="457200"/>
          </a:xfrm>
          <a:prstGeom prst="rect">
            <a:avLst/>
          </a:prstGeom>
          <a:noFill/>
          <a:ln/>
        </p:spPr>
        <p:txBody>
          <a:bodyPr wrap="square" lIns="0" tIns="0" rIns="0" bIns="0" rtlCol="0" anchor="ctr"/>
          <a:lstStyle/>
          <a:p>
            <a:pPr indent="0" marL="0">
              <a:buNone/>
            </a:pPr>
            <a:r>
              <a:rPr lang="en-US" sz="1300" i="1" dirty="0">
                <a:solidFill>
                  <a:srgbClr val="6E7F8D"/>
                </a:solidFill>
                <a:latin typeface="Expert Sans" pitchFamily="34" charset="0"/>
                <a:ea typeface="Expert Sans" pitchFamily="34" charset="-122"/>
                <a:cs typeface="Expert Sans" pitchFamily="34" charset="-120"/>
              </a:rPr>
              <a:t>Insurance waits: it needs the claims capability, which is itself a build. When that lands, its slot cost halves and the re-score promotes it.</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0083C5"/>
                </a:solidFill>
                <a:latin typeface="Expert Sans" pitchFamily="34" charset="0"/>
                <a:ea typeface="Expert Sans" pitchFamily="34" charset="-122"/>
                <a:cs typeface="Expert Sans" pitchFamily="34" charset="-120"/>
              </a:rPr>
              <a:t>CAPACITY CUTS  ·  03</a:t>
            </a:r>
            <a:endParaRPr lang="en-US" sz="1100" dirty="0"/>
          </a:p>
        </p:txBody>
      </p:sp>
      <p:sp>
        <p:nvSpPr>
          <p:cNvPr id="3" name="Text 1"/>
          <p:cNvSpPr/>
          <p:nvPr/>
        </p:nvSpPr>
        <p:spPr>
          <a:xfrm>
            <a:off x="566928" y="548640"/>
            <a:ext cx="9564624" cy="969264"/>
          </a:xfrm>
          <a:prstGeom prst="rect">
            <a:avLst/>
          </a:prstGeom>
          <a:noFill/>
          <a:ln/>
        </p:spPr>
        <p:txBody>
          <a:bodyPr wrap="square" lIns="0" tIns="0" rIns="0" bIns="0" rtlCol="0" anchor="t"/>
          <a:lstStyle/>
          <a:p>
            <a:pPr algn="l" indent="0" marL="0">
              <a:lnSpc>
                <a:spcPts val="3000"/>
              </a:lnSpc>
              <a:buNone/>
            </a:pPr>
            <a:r>
              <a:rPr lang="en-US" sz="2500" dirty="0">
                <a:solidFill>
                  <a:srgbClr val="00AEEF"/>
                </a:solidFill>
                <a:latin typeface="Expert Sans" pitchFamily="34" charset="0"/>
                <a:ea typeface="Expert Sans" pitchFamily="34" charset="-122"/>
                <a:cs typeface="Expert Sans" pitchFamily="34" charset="-120"/>
              </a:rPr>
              <a:t>The partner deal is bounded — the advantage stays ours</a:t>
            </a:r>
            <a:endParaRPr lang="en-US" sz="2500" dirty="0"/>
          </a:p>
        </p:txBody>
      </p:sp>
      <p:sp>
        <p:nvSpPr>
          <p:cNvPr id="4" name="Shape 2"/>
          <p:cNvSpPr/>
          <p:nvPr/>
        </p:nvSpPr>
        <p:spPr>
          <a:xfrm>
            <a:off x="566928" y="1645920"/>
            <a:ext cx="11027664" cy="896112"/>
          </a:xfrm>
          <a:prstGeom prst="roundRect">
            <a:avLst>
              <a:gd name="adj" fmla="val 10204"/>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5" name="Text 3"/>
          <p:cNvSpPr/>
          <p:nvPr/>
        </p:nvSpPr>
        <p:spPr>
          <a:xfrm>
            <a:off x="950976" y="1746504"/>
            <a:ext cx="3291840" cy="694944"/>
          </a:xfrm>
          <a:prstGeom prst="rect">
            <a:avLst/>
          </a:prstGeom>
          <a:noFill/>
          <a:ln/>
        </p:spPr>
        <p:txBody>
          <a:bodyPr wrap="square" lIns="0" tIns="0" rIns="0" bIns="0" rtlCol="0" anchor="ctr"/>
          <a:lstStyle/>
          <a:p>
            <a:pPr indent="0" marL="0">
              <a:buNone/>
            </a:pPr>
            <a:r>
              <a:rPr lang="en-US" sz="1400" b="1" dirty="0">
                <a:solidFill>
                  <a:srgbClr val="00395D"/>
                </a:solidFill>
                <a:latin typeface="Expert Sans" pitchFamily="34" charset="0"/>
                <a:ea typeface="Expert Sans" pitchFamily="34" charset="-122"/>
                <a:cs typeface="Expert Sans" pitchFamily="34" charset="-120"/>
              </a:rPr>
              <a:t>What the partner holds</a:t>
            </a:r>
            <a:endParaRPr lang="en-US" sz="1400" dirty="0"/>
          </a:p>
        </p:txBody>
      </p:sp>
      <p:sp>
        <p:nvSpPr>
          <p:cNvPr id="6" name="Text 4"/>
          <p:cNvSpPr/>
          <p:nvPr/>
        </p:nvSpPr>
        <p:spPr>
          <a:xfrm>
            <a:off x="4498848" y="1746504"/>
            <a:ext cx="6638544" cy="694944"/>
          </a:xfrm>
          <a:prstGeom prst="rect">
            <a:avLst/>
          </a:prstGeom>
          <a:noFill/>
          <a:ln/>
        </p:spPr>
        <p:txBody>
          <a:bodyPr wrap="square" lIns="0" tIns="0" rIns="0" bIns="0" rtlCol="0" anchor="ctr"/>
          <a:lstStyle/>
          <a:p>
            <a:pPr indent="0" marL="0">
              <a:lnSpc>
                <a:spcPts val="1700"/>
              </a:lnSpc>
              <a:buNone/>
            </a:pPr>
            <a:r>
              <a:rPr lang="en-US" sz="1250" dirty="0">
                <a:solidFill>
                  <a:srgbClr val="3F5563"/>
                </a:solidFill>
                <a:latin typeface="Expert Sans" pitchFamily="34" charset="0"/>
                <a:ea typeface="Expert Sans" pitchFamily="34" charset="-122"/>
                <a:cs typeface="Expert Sans" pitchFamily="34" charset="-120"/>
              </a:rPr>
              <a:t>The credit decisioning engine and the capital. Their capability, their balance sheet risk.</a:t>
            </a:r>
            <a:endParaRPr lang="en-US" sz="1250" dirty="0"/>
          </a:p>
        </p:txBody>
      </p:sp>
      <p:sp>
        <p:nvSpPr>
          <p:cNvPr id="7" name="Shape 5"/>
          <p:cNvSpPr/>
          <p:nvPr/>
        </p:nvSpPr>
        <p:spPr>
          <a:xfrm>
            <a:off x="566928" y="2670048"/>
            <a:ext cx="11027664" cy="896112"/>
          </a:xfrm>
          <a:prstGeom prst="roundRect">
            <a:avLst>
              <a:gd name="adj" fmla="val 10204"/>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8" name="Text 6"/>
          <p:cNvSpPr/>
          <p:nvPr/>
        </p:nvSpPr>
        <p:spPr>
          <a:xfrm>
            <a:off x="950976" y="2770632"/>
            <a:ext cx="3291840" cy="694944"/>
          </a:xfrm>
          <a:prstGeom prst="rect">
            <a:avLst/>
          </a:prstGeom>
          <a:noFill/>
          <a:ln/>
        </p:spPr>
        <p:txBody>
          <a:bodyPr wrap="square" lIns="0" tIns="0" rIns="0" bIns="0" rtlCol="0" anchor="ctr"/>
          <a:lstStyle/>
          <a:p>
            <a:pPr indent="0" marL="0">
              <a:buNone/>
            </a:pPr>
            <a:r>
              <a:rPr lang="en-US" sz="1400" b="1" dirty="0">
                <a:solidFill>
                  <a:srgbClr val="00395D"/>
                </a:solidFill>
                <a:latin typeface="Expert Sans" pitchFamily="34" charset="0"/>
                <a:ea typeface="Expert Sans" pitchFamily="34" charset="-122"/>
                <a:cs typeface="Expert Sans" pitchFamily="34" charset="-120"/>
              </a:rPr>
              <a:t>What we keep</a:t>
            </a:r>
            <a:endParaRPr lang="en-US" sz="1400" dirty="0"/>
          </a:p>
        </p:txBody>
      </p:sp>
      <p:sp>
        <p:nvSpPr>
          <p:cNvPr id="9" name="Text 7"/>
          <p:cNvSpPr/>
          <p:nvPr/>
        </p:nvSpPr>
        <p:spPr>
          <a:xfrm>
            <a:off x="4498848" y="2770632"/>
            <a:ext cx="6638544" cy="694944"/>
          </a:xfrm>
          <a:prstGeom prst="rect">
            <a:avLst/>
          </a:prstGeom>
          <a:noFill/>
          <a:ln/>
        </p:spPr>
        <p:txBody>
          <a:bodyPr wrap="square" lIns="0" tIns="0" rIns="0" bIns="0" rtlCol="0" anchor="ctr"/>
          <a:lstStyle/>
          <a:p>
            <a:pPr indent="0" marL="0">
              <a:lnSpc>
                <a:spcPts val="1700"/>
              </a:lnSpc>
              <a:buNone/>
            </a:pPr>
            <a:r>
              <a:rPr lang="en-US" sz="1250" dirty="0">
                <a:solidFill>
                  <a:srgbClr val="3F5563"/>
                </a:solidFill>
                <a:latin typeface="Expert Sans" pitchFamily="34" charset="0"/>
                <a:ea typeface="Expert Sans" pitchFamily="34" charset="-122"/>
                <a:cs typeface="Expert Sans" pitchFamily="34" charset="-120"/>
              </a:rPr>
              <a:t>The customer relationship, the transaction data, the pricing decision, and the 'Trade Ready' brand over the top.</a:t>
            </a:r>
            <a:endParaRPr lang="en-US" sz="1250" dirty="0"/>
          </a:p>
        </p:txBody>
      </p:sp>
      <p:sp>
        <p:nvSpPr>
          <p:cNvPr id="10" name="Shape 8"/>
          <p:cNvSpPr/>
          <p:nvPr/>
        </p:nvSpPr>
        <p:spPr>
          <a:xfrm>
            <a:off x="566928" y="3694176"/>
            <a:ext cx="11027664" cy="896112"/>
          </a:xfrm>
          <a:prstGeom prst="roundRect">
            <a:avLst>
              <a:gd name="adj" fmla="val 10204"/>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1" name="Text 9"/>
          <p:cNvSpPr/>
          <p:nvPr/>
        </p:nvSpPr>
        <p:spPr>
          <a:xfrm>
            <a:off x="950976" y="3794760"/>
            <a:ext cx="3291840" cy="694944"/>
          </a:xfrm>
          <a:prstGeom prst="rect">
            <a:avLst/>
          </a:prstGeom>
          <a:noFill/>
          <a:ln/>
        </p:spPr>
        <p:txBody>
          <a:bodyPr wrap="square" lIns="0" tIns="0" rIns="0" bIns="0" rtlCol="0" anchor="ctr"/>
          <a:lstStyle/>
          <a:p>
            <a:pPr indent="0" marL="0">
              <a:buNone/>
            </a:pPr>
            <a:r>
              <a:rPr lang="en-US" sz="1400" b="1" dirty="0">
                <a:solidFill>
                  <a:srgbClr val="00395D"/>
                </a:solidFill>
                <a:latin typeface="Expert Sans" pitchFamily="34" charset="0"/>
                <a:ea typeface="Expert Sans" pitchFamily="34" charset="-122"/>
                <a:cs typeface="Expert Sans" pitchFamily="34" charset="-120"/>
              </a:rPr>
              <a:t>Contract bounds</a:t>
            </a:r>
            <a:endParaRPr lang="en-US" sz="1400" dirty="0"/>
          </a:p>
        </p:txBody>
      </p:sp>
      <p:sp>
        <p:nvSpPr>
          <p:cNvPr id="12" name="Text 10"/>
          <p:cNvSpPr/>
          <p:nvPr/>
        </p:nvSpPr>
        <p:spPr>
          <a:xfrm>
            <a:off x="4498848" y="3794760"/>
            <a:ext cx="6638544" cy="694944"/>
          </a:xfrm>
          <a:prstGeom prst="rect">
            <a:avLst/>
          </a:prstGeom>
          <a:noFill/>
          <a:ln/>
        </p:spPr>
        <p:txBody>
          <a:bodyPr wrap="square" lIns="0" tIns="0" rIns="0" bIns="0" rtlCol="0" anchor="ctr"/>
          <a:lstStyle/>
          <a:p>
            <a:pPr indent="0" marL="0">
              <a:lnSpc>
                <a:spcPts val="1700"/>
              </a:lnSpc>
              <a:buNone/>
            </a:pPr>
            <a:r>
              <a:rPr lang="en-US" sz="1250" dirty="0">
                <a:solidFill>
                  <a:srgbClr val="3F5563"/>
                </a:solidFill>
                <a:latin typeface="Expert Sans" pitchFamily="34" charset="0"/>
                <a:ea typeface="Expert Sans" pitchFamily="34" charset="-122"/>
                <a:cs typeface="Expert Sans" pitchFamily="34" charset="-120"/>
              </a:rPr>
              <a:t>Exclusivity in the exporting-SME segment · our data stays ours on exit · 90-day portability · price re-opener at 12 months.</a:t>
            </a:r>
            <a:endParaRPr lang="en-US" sz="1250" dirty="0"/>
          </a:p>
        </p:txBody>
      </p:sp>
      <p:sp>
        <p:nvSpPr>
          <p:cNvPr id="13" name="Shape 11"/>
          <p:cNvSpPr/>
          <p:nvPr/>
        </p:nvSpPr>
        <p:spPr>
          <a:xfrm>
            <a:off x="566928" y="4718304"/>
            <a:ext cx="11027664" cy="896112"/>
          </a:xfrm>
          <a:prstGeom prst="roundRect">
            <a:avLst>
              <a:gd name="adj" fmla="val 10204"/>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4" name="Text 12"/>
          <p:cNvSpPr/>
          <p:nvPr/>
        </p:nvSpPr>
        <p:spPr>
          <a:xfrm>
            <a:off x="950976" y="4818888"/>
            <a:ext cx="3291840" cy="694944"/>
          </a:xfrm>
          <a:prstGeom prst="rect">
            <a:avLst/>
          </a:prstGeom>
          <a:noFill/>
          <a:ln/>
        </p:spPr>
        <p:txBody>
          <a:bodyPr wrap="square" lIns="0" tIns="0" rIns="0" bIns="0" rtlCol="0" anchor="ctr"/>
          <a:lstStyle/>
          <a:p>
            <a:pPr indent="0" marL="0">
              <a:buNone/>
            </a:pPr>
            <a:r>
              <a:rPr lang="en-US" sz="1400" b="1" dirty="0">
                <a:solidFill>
                  <a:srgbClr val="00395D"/>
                </a:solidFill>
                <a:latin typeface="Expert Sans" pitchFamily="34" charset="0"/>
                <a:ea typeface="Expert Sans" pitchFamily="34" charset="-122"/>
                <a:cs typeface="Expert Sans" pitchFamily="34" charset="-120"/>
              </a:rPr>
              <a:t>Re-internalise trigger</a:t>
            </a:r>
            <a:endParaRPr lang="en-US" sz="1400" dirty="0"/>
          </a:p>
        </p:txBody>
      </p:sp>
      <p:sp>
        <p:nvSpPr>
          <p:cNvPr id="15" name="Text 13"/>
          <p:cNvSpPr/>
          <p:nvPr/>
        </p:nvSpPr>
        <p:spPr>
          <a:xfrm>
            <a:off x="4498848" y="4818888"/>
            <a:ext cx="6638544" cy="694944"/>
          </a:xfrm>
          <a:prstGeom prst="rect">
            <a:avLst/>
          </a:prstGeom>
          <a:noFill/>
          <a:ln/>
        </p:spPr>
        <p:txBody>
          <a:bodyPr wrap="square" lIns="0" tIns="0" rIns="0" bIns="0" rtlCol="0" anchor="ctr"/>
          <a:lstStyle/>
          <a:p>
            <a:pPr indent="0" marL="0">
              <a:lnSpc>
                <a:spcPts val="1700"/>
              </a:lnSpc>
              <a:buNone/>
            </a:pPr>
            <a:r>
              <a:rPr lang="en-US" sz="1250" dirty="0">
                <a:solidFill>
                  <a:srgbClr val="3F5563"/>
                </a:solidFill>
                <a:latin typeface="Expert Sans" pitchFamily="34" charset="0"/>
                <a:ea typeface="Expert Sans" pitchFamily="34" charset="-122"/>
                <a:cs typeface="Expert Sans" pitchFamily="34" charset="-120"/>
              </a:rPr>
              <a:t>At 5,000 active users, building in-house pays back in under 3 years — reviewed at each quarterly re-score.</a:t>
            </a:r>
            <a:endParaRPr lang="en-US" sz="1250" dirty="0"/>
          </a:p>
        </p:txBody>
      </p:sp>
      <p:sp>
        <p:nvSpPr>
          <p:cNvPr id="16" name="Text 14"/>
          <p:cNvSpPr/>
          <p:nvPr/>
        </p:nvSpPr>
        <p:spPr>
          <a:xfrm>
            <a:off x="566928" y="5852160"/>
            <a:ext cx="11027664" cy="502920"/>
          </a:xfrm>
          <a:prstGeom prst="rect">
            <a:avLst/>
          </a:prstGeom>
          <a:noFill/>
          <a:ln/>
        </p:spPr>
        <p:txBody>
          <a:bodyPr wrap="square" lIns="0" tIns="0" rIns="0" bIns="0" rtlCol="0" anchor="ctr"/>
          <a:lstStyle/>
          <a:p>
            <a:pPr indent="0" marL="0">
              <a:buNone/>
            </a:pPr>
            <a:r>
              <a:rPr lang="en-US" sz="1350" i="1" dirty="0">
                <a:solidFill>
                  <a:srgbClr val="6E7F8D"/>
                </a:solidFill>
                <a:latin typeface="Expert Sans" pitchFamily="34" charset="0"/>
                <a:ea typeface="Expert Sans" pitchFamily="34" charset="-122"/>
                <a:cs typeface="Expert Sans" pitchFamily="34" charset="-120"/>
              </a:rPr>
              <a:t>Shipping fast is the partner's job. Staying hard to beat is the contract's job. The two are different questions, and both must pass.</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0083C5"/>
                </a:solidFill>
                <a:latin typeface="Expert Sans" pitchFamily="34" charset="0"/>
                <a:ea typeface="Expert Sans" pitchFamily="34" charset="-122"/>
                <a:cs typeface="Expert Sans" pitchFamily="34" charset="-120"/>
              </a:rPr>
              <a:t>ACROSS THE SYSTEM</a:t>
            </a:r>
            <a:endParaRPr lang="en-US" sz="1100" dirty="0"/>
          </a:p>
        </p:txBody>
      </p:sp>
      <p:sp>
        <p:nvSpPr>
          <p:cNvPr id="3" name="Text 1"/>
          <p:cNvSpPr/>
          <p:nvPr/>
        </p:nvSpPr>
        <p:spPr>
          <a:xfrm>
            <a:off x="566928" y="548640"/>
            <a:ext cx="9564624" cy="969264"/>
          </a:xfrm>
          <a:prstGeom prst="rect">
            <a:avLst/>
          </a:prstGeom>
          <a:noFill/>
          <a:ln/>
        </p:spPr>
        <p:txBody>
          <a:bodyPr wrap="square" lIns="0" tIns="0" rIns="0" bIns="0" rtlCol="0" anchor="t"/>
          <a:lstStyle/>
          <a:p>
            <a:pPr algn="l" indent="0" marL="0">
              <a:lnSpc>
                <a:spcPts val="3000"/>
              </a:lnSpc>
              <a:buNone/>
            </a:pPr>
            <a:r>
              <a:rPr lang="en-US" sz="2500" dirty="0">
                <a:solidFill>
                  <a:srgbClr val="00AEEF"/>
                </a:solidFill>
                <a:latin typeface="Expert Sans" pitchFamily="34" charset="0"/>
                <a:ea typeface="Expert Sans" pitchFamily="34" charset="-122"/>
                <a:cs typeface="Expert Sans" pitchFamily="34" charset="-120"/>
              </a:rPr>
              <a:t>What would have to be true for this to be the wrong call</a:t>
            </a:r>
            <a:endParaRPr lang="en-US" sz="2500" dirty="0"/>
          </a:p>
        </p:txBody>
      </p:sp>
      <p:sp>
        <p:nvSpPr>
          <p:cNvPr id="4" name="Text 2"/>
          <p:cNvSpPr/>
          <p:nvPr/>
        </p:nvSpPr>
        <p:spPr>
          <a:xfrm>
            <a:off x="877824" y="1664208"/>
            <a:ext cx="4023360" cy="365760"/>
          </a:xfrm>
          <a:prstGeom prst="rect">
            <a:avLst/>
          </a:prstGeom>
          <a:noFill/>
          <a:ln/>
        </p:spPr>
        <p:txBody>
          <a:bodyPr wrap="square" lIns="0" tIns="0" rIns="0" bIns="0" rtlCol="0" anchor="b"/>
          <a:lstStyle/>
          <a:p>
            <a:pPr indent="0" marL="0">
              <a:buNone/>
            </a:pPr>
            <a:r>
              <a:rPr lang="en-US" sz="1150" b="1" dirty="0">
                <a:solidFill>
                  <a:srgbClr val="0083C5"/>
                </a:solidFill>
                <a:latin typeface="Expert Sans" pitchFamily="34" charset="0"/>
                <a:ea typeface="Expert Sans" pitchFamily="34" charset="-122"/>
                <a:cs typeface="Expert Sans" pitchFamily="34" charset="-120"/>
              </a:rPr>
              <a:t>If this turns out to be true…</a:t>
            </a:r>
            <a:endParaRPr lang="en-US" sz="1150" dirty="0"/>
          </a:p>
        </p:txBody>
      </p:sp>
      <p:sp>
        <p:nvSpPr>
          <p:cNvPr id="5" name="Text 3"/>
          <p:cNvSpPr/>
          <p:nvPr/>
        </p:nvSpPr>
        <p:spPr>
          <a:xfrm>
            <a:off x="4773168" y="1664208"/>
            <a:ext cx="3383280" cy="365760"/>
          </a:xfrm>
          <a:prstGeom prst="rect">
            <a:avLst/>
          </a:prstGeom>
          <a:noFill/>
          <a:ln/>
        </p:spPr>
        <p:txBody>
          <a:bodyPr wrap="square" lIns="0" tIns="0" rIns="0" bIns="0" rtlCol="0" anchor="b"/>
          <a:lstStyle/>
          <a:p>
            <a:pPr indent="0" marL="0">
              <a:buNone/>
            </a:pPr>
            <a:r>
              <a:rPr lang="en-US" sz="1150" b="1" dirty="0">
                <a:solidFill>
                  <a:srgbClr val="0083C5"/>
                </a:solidFill>
                <a:latin typeface="Expert Sans" pitchFamily="34" charset="0"/>
                <a:ea typeface="Expert Sans" pitchFamily="34" charset="-122"/>
                <a:cs typeface="Expert Sans" pitchFamily="34" charset="-120"/>
              </a:rPr>
              <a:t>…then this changes</a:t>
            </a:r>
            <a:endParaRPr lang="en-US" sz="1150" dirty="0"/>
          </a:p>
        </p:txBody>
      </p:sp>
      <p:sp>
        <p:nvSpPr>
          <p:cNvPr id="6" name="Text 4"/>
          <p:cNvSpPr/>
          <p:nvPr/>
        </p:nvSpPr>
        <p:spPr>
          <a:xfrm>
            <a:off x="8339328" y="1664208"/>
            <a:ext cx="3108960" cy="365760"/>
          </a:xfrm>
          <a:prstGeom prst="rect">
            <a:avLst/>
          </a:prstGeom>
          <a:noFill/>
          <a:ln/>
        </p:spPr>
        <p:txBody>
          <a:bodyPr wrap="square" lIns="0" tIns="0" rIns="0" bIns="0" rtlCol="0" anchor="b"/>
          <a:lstStyle/>
          <a:p>
            <a:pPr indent="0" marL="0">
              <a:buNone/>
            </a:pPr>
            <a:r>
              <a:rPr lang="en-US" sz="1150" b="1" dirty="0">
                <a:solidFill>
                  <a:srgbClr val="0083C5"/>
                </a:solidFill>
                <a:latin typeface="Expert Sans" pitchFamily="34" charset="0"/>
                <a:ea typeface="Expert Sans" pitchFamily="34" charset="-122"/>
                <a:cs typeface="Expert Sans" pitchFamily="34" charset="-120"/>
              </a:rPr>
              <a:t>…and how we would know early</a:t>
            </a:r>
            <a:endParaRPr lang="en-US" sz="1150" dirty="0"/>
          </a:p>
        </p:txBody>
      </p:sp>
      <p:sp>
        <p:nvSpPr>
          <p:cNvPr id="7" name="Shape 5"/>
          <p:cNvSpPr/>
          <p:nvPr/>
        </p:nvSpPr>
        <p:spPr>
          <a:xfrm>
            <a:off x="566928" y="2121408"/>
            <a:ext cx="11027664" cy="868680"/>
          </a:xfrm>
          <a:prstGeom prst="roundRect">
            <a:avLst>
              <a:gd name="adj" fmla="val 10526"/>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8" name="Text 6"/>
          <p:cNvSpPr/>
          <p:nvPr/>
        </p:nvSpPr>
        <p:spPr>
          <a:xfrm>
            <a:off x="877824" y="2221992"/>
            <a:ext cx="3657600" cy="676656"/>
          </a:xfrm>
          <a:prstGeom prst="rect">
            <a:avLst/>
          </a:prstGeom>
          <a:noFill/>
          <a:ln/>
        </p:spPr>
        <p:txBody>
          <a:bodyPr wrap="square" lIns="0" tIns="0" rIns="0" bIns="0" rtlCol="0" anchor="ctr"/>
          <a:lstStyle/>
          <a:p>
            <a:pPr indent="0" marL="0">
              <a:lnSpc>
                <a:spcPts val="1600"/>
              </a:lnSpc>
              <a:buNone/>
            </a:pPr>
            <a:r>
              <a:rPr lang="en-US" sz="1250" b="1" dirty="0">
                <a:solidFill>
                  <a:srgbClr val="00395D"/>
                </a:solidFill>
                <a:latin typeface="Expert Sans" pitchFamily="34" charset="0"/>
                <a:ea typeface="Expert Sans" pitchFamily="34" charset="-122"/>
                <a:cs typeface="Expert Sans" pitchFamily="34" charset="-120"/>
              </a:rPr>
              <a:t>Demand scores overstate uptake by a third</a:t>
            </a:r>
            <a:endParaRPr lang="en-US" sz="1250" dirty="0"/>
          </a:p>
        </p:txBody>
      </p:sp>
      <p:sp>
        <p:nvSpPr>
          <p:cNvPr id="9" name="Text 7"/>
          <p:cNvSpPr/>
          <p:nvPr/>
        </p:nvSpPr>
        <p:spPr>
          <a:xfrm>
            <a:off x="4773168" y="2221992"/>
            <a:ext cx="3291840" cy="676656"/>
          </a:xfrm>
          <a:prstGeom prst="rect">
            <a:avLst/>
          </a:prstGeom>
          <a:noFill/>
          <a:ln/>
        </p:spPr>
        <p:txBody>
          <a:bodyPr wrap="square" lIns="0" tIns="0" rIns="0" bIns="0" rtlCol="0" anchor="ctr"/>
          <a:lstStyle/>
          <a:p>
            <a:pPr indent="0" marL="0">
              <a:lnSpc>
                <a:spcPts val="1600"/>
              </a:lnSpc>
              <a:buNone/>
            </a:pPr>
            <a:r>
              <a:rPr lang="en-US" sz="1200" dirty="0">
                <a:solidFill>
                  <a:srgbClr val="3F5563"/>
                </a:solidFill>
                <a:latin typeface="Expert Sans" pitchFamily="34" charset="0"/>
                <a:ea typeface="Expert Sans" pitchFamily="34" charset="-122"/>
                <a:cs typeface="Expert Sans" pitchFamily="34" charset="-120"/>
              </a:rPr>
              <a:t>FX still clears; invoice finance drops to the hurdle</a:t>
            </a:r>
            <a:endParaRPr lang="en-US" sz="1200" dirty="0"/>
          </a:p>
        </p:txBody>
      </p:sp>
      <p:sp>
        <p:nvSpPr>
          <p:cNvPr id="10" name="Text 8"/>
          <p:cNvSpPr/>
          <p:nvPr/>
        </p:nvSpPr>
        <p:spPr>
          <a:xfrm>
            <a:off x="8339328" y="2221992"/>
            <a:ext cx="3017520" cy="676656"/>
          </a:xfrm>
          <a:prstGeom prst="rect">
            <a:avLst/>
          </a:prstGeom>
          <a:noFill/>
          <a:ln/>
        </p:spPr>
        <p:txBody>
          <a:bodyPr wrap="square" lIns="0" tIns="0" rIns="0" bIns="0" rtlCol="0" anchor="ctr"/>
          <a:lstStyle/>
          <a:p>
            <a:pPr indent="0" marL="0">
              <a:lnSpc>
                <a:spcPts val="1600"/>
              </a:lnSpc>
              <a:buNone/>
            </a:pPr>
            <a:r>
              <a:rPr lang="en-US" sz="1200" dirty="0">
                <a:solidFill>
                  <a:srgbClr val="3F5563"/>
                </a:solidFill>
                <a:latin typeface="Expert Sans" pitchFamily="34" charset="0"/>
                <a:ea typeface="Expert Sans" pitchFamily="34" charset="-122"/>
                <a:cs typeface="Expert Sans" pitchFamily="34" charset="-120"/>
              </a:rPr>
              <a:t>Activation rate at month 3 vs the model</a:t>
            </a:r>
            <a:endParaRPr lang="en-US" sz="1200" dirty="0"/>
          </a:p>
        </p:txBody>
      </p:sp>
      <p:sp>
        <p:nvSpPr>
          <p:cNvPr id="11" name="Shape 9"/>
          <p:cNvSpPr/>
          <p:nvPr/>
        </p:nvSpPr>
        <p:spPr>
          <a:xfrm>
            <a:off x="566928" y="3108960"/>
            <a:ext cx="11027664" cy="868680"/>
          </a:xfrm>
          <a:prstGeom prst="roundRect">
            <a:avLst>
              <a:gd name="adj" fmla="val 10526"/>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2" name="Text 10"/>
          <p:cNvSpPr/>
          <p:nvPr/>
        </p:nvSpPr>
        <p:spPr>
          <a:xfrm>
            <a:off x="877824" y="3209544"/>
            <a:ext cx="3657600" cy="676656"/>
          </a:xfrm>
          <a:prstGeom prst="rect">
            <a:avLst/>
          </a:prstGeom>
          <a:noFill/>
          <a:ln/>
        </p:spPr>
        <p:txBody>
          <a:bodyPr wrap="square" lIns="0" tIns="0" rIns="0" bIns="0" rtlCol="0" anchor="ctr"/>
          <a:lstStyle/>
          <a:p>
            <a:pPr indent="0" marL="0">
              <a:lnSpc>
                <a:spcPts val="1600"/>
              </a:lnSpc>
              <a:buNone/>
            </a:pPr>
            <a:r>
              <a:rPr lang="en-US" sz="1250" b="1" dirty="0">
                <a:solidFill>
                  <a:srgbClr val="00395D"/>
                </a:solidFill>
                <a:latin typeface="Expert Sans" pitchFamily="34" charset="0"/>
                <a:ea typeface="Expert Sans" pitchFamily="34" charset="-122"/>
                <a:cs typeface="Expert Sans" pitchFamily="34" charset="-120"/>
              </a:rPr>
              <a:t>Incentive dead-weight passes 50%</a:t>
            </a:r>
            <a:endParaRPr lang="en-US" sz="1250" dirty="0"/>
          </a:p>
        </p:txBody>
      </p:sp>
      <p:sp>
        <p:nvSpPr>
          <p:cNvPr id="13" name="Text 11"/>
          <p:cNvSpPr/>
          <p:nvPr/>
        </p:nvSpPr>
        <p:spPr>
          <a:xfrm>
            <a:off x="4773168" y="3209544"/>
            <a:ext cx="3291840" cy="676656"/>
          </a:xfrm>
          <a:prstGeom prst="rect">
            <a:avLst/>
          </a:prstGeom>
          <a:noFill/>
          <a:ln/>
        </p:spPr>
        <p:txBody>
          <a:bodyPr wrap="square" lIns="0" tIns="0" rIns="0" bIns="0" rtlCol="0" anchor="ctr"/>
          <a:lstStyle/>
          <a:p>
            <a:pPr indent="0" marL="0">
              <a:lnSpc>
                <a:spcPts val="1600"/>
              </a:lnSpc>
              <a:buNone/>
            </a:pPr>
            <a:r>
              <a:rPr lang="en-US" sz="1200" dirty="0">
                <a:solidFill>
                  <a:srgbClr val="3F5563"/>
                </a:solidFill>
                <a:latin typeface="Expert Sans" pitchFamily="34" charset="0"/>
                <a:ea typeface="Expert Sans" pitchFamily="34" charset="-122"/>
                <a:cs typeface="Expert Sans" pitchFamily="34" charset="-120"/>
              </a:rPr>
              <a:t>The −0.7 doubles; the incentive is switched off</a:t>
            </a:r>
            <a:endParaRPr lang="en-US" sz="1200" dirty="0"/>
          </a:p>
        </p:txBody>
      </p:sp>
      <p:sp>
        <p:nvSpPr>
          <p:cNvPr id="14" name="Text 12"/>
          <p:cNvSpPr/>
          <p:nvPr/>
        </p:nvSpPr>
        <p:spPr>
          <a:xfrm>
            <a:off x="8339328" y="3209544"/>
            <a:ext cx="3017520" cy="676656"/>
          </a:xfrm>
          <a:prstGeom prst="rect">
            <a:avLst/>
          </a:prstGeom>
          <a:noFill/>
          <a:ln/>
        </p:spPr>
        <p:txBody>
          <a:bodyPr wrap="square" lIns="0" tIns="0" rIns="0" bIns="0" rtlCol="0" anchor="ctr"/>
          <a:lstStyle/>
          <a:p>
            <a:pPr indent="0" marL="0">
              <a:lnSpc>
                <a:spcPts val="1600"/>
              </a:lnSpc>
              <a:buNone/>
            </a:pPr>
            <a:r>
              <a:rPr lang="en-US" sz="1200" dirty="0">
                <a:solidFill>
                  <a:srgbClr val="3F5563"/>
                </a:solidFill>
                <a:latin typeface="Expert Sans" pitchFamily="34" charset="0"/>
                <a:ea typeface="Expert Sans" pitchFamily="34" charset="-122"/>
                <a:cs typeface="Expert Sans" pitchFamily="34" charset="-120"/>
              </a:rPr>
              <a:t>Redemption vs new-to-feature mix, monthly</a:t>
            </a:r>
            <a:endParaRPr lang="en-US" sz="1200" dirty="0"/>
          </a:p>
        </p:txBody>
      </p:sp>
      <p:sp>
        <p:nvSpPr>
          <p:cNvPr id="15" name="Shape 13"/>
          <p:cNvSpPr/>
          <p:nvPr/>
        </p:nvSpPr>
        <p:spPr>
          <a:xfrm>
            <a:off x="566928" y="4096512"/>
            <a:ext cx="11027664" cy="868680"/>
          </a:xfrm>
          <a:prstGeom prst="roundRect">
            <a:avLst>
              <a:gd name="adj" fmla="val 10526"/>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6" name="Text 14"/>
          <p:cNvSpPr/>
          <p:nvPr/>
        </p:nvSpPr>
        <p:spPr>
          <a:xfrm>
            <a:off x="877824" y="4197096"/>
            <a:ext cx="3657600" cy="676656"/>
          </a:xfrm>
          <a:prstGeom prst="rect">
            <a:avLst/>
          </a:prstGeom>
          <a:noFill/>
          <a:ln/>
        </p:spPr>
        <p:txBody>
          <a:bodyPr wrap="square" lIns="0" tIns="0" rIns="0" bIns="0" rtlCol="0" anchor="ctr"/>
          <a:lstStyle/>
          <a:p>
            <a:pPr indent="0" marL="0">
              <a:lnSpc>
                <a:spcPts val="1600"/>
              </a:lnSpc>
              <a:buNone/>
            </a:pPr>
            <a:r>
              <a:rPr lang="en-US" sz="1250" b="1" dirty="0">
                <a:solidFill>
                  <a:srgbClr val="00395D"/>
                </a:solidFill>
                <a:latin typeface="Expert Sans" pitchFamily="34" charset="0"/>
                <a:ea typeface="Expert Sans" pitchFamily="34" charset="-122"/>
                <a:cs typeface="Expert Sans" pitchFamily="34" charset="-120"/>
              </a:rPr>
              <a:t>'Trade Ready' recall does not lift by month 6</a:t>
            </a:r>
            <a:endParaRPr lang="en-US" sz="1250" dirty="0"/>
          </a:p>
        </p:txBody>
      </p:sp>
      <p:sp>
        <p:nvSpPr>
          <p:cNvPr id="17" name="Text 15"/>
          <p:cNvSpPr/>
          <p:nvPr/>
        </p:nvSpPr>
        <p:spPr>
          <a:xfrm>
            <a:off x="4773168" y="4197096"/>
            <a:ext cx="3291840" cy="676656"/>
          </a:xfrm>
          <a:prstGeom prst="rect">
            <a:avLst/>
          </a:prstGeom>
          <a:noFill/>
          <a:ln/>
        </p:spPr>
        <p:txBody>
          <a:bodyPr wrap="square" lIns="0" tIns="0" rIns="0" bIns="0" rtlCol="0" anchor="ctr"/>
          <a:lstStyle/>
          <a:p>
            <a:pPr indent="0" marL="0">
              <a:lnSpc>
                <a:spcPts val="1600"/>
              </a:lnSpc>
              <a:buNone/>
            </a:pPr>
            <a:r>
              <a:rPr lang="en-US" sz="1200" dirty="0">
                <a:solidFill>
                  <a:srgbClr val="3F5563"/>
                </a:solidFill>
                <a:latin typeface="Expert Sans" pitchFamily="34" charset="0"/>
                <a:ea typeface="Expert Sans" pitchFamily="34" charset="-122"/>
                <a:cs typeface="Expert Sans" pitchFamily="34" charset="-120"/>
              </a:rPr>
              <a:t>The £0.8m stops; comms revert to product level</a:t>
            </a:r>
            <a:endParaRPr lang="en-US" sz="1200" dirty="0"/>
          </a:p>
        </p:txBody>
      </p:sp>
      <p:sp>
        <p:nvSpPr>
          <p:cNvPr id="18" name="Text 16"/>
          <p:cNvSpPr/>
          <p:nvPr/>
        </p:nvSpPr>
        <p:spPr>
          <a:xfrm>
            <a:off x="8339328" y="4197096"/>
            <a:ext cx="3017520" cy="676656"/>
          </a:xfrm>
          <a:prstGeom prst="rect">
            <a:avLst/>
          </a:prstGeom>
          <a:noFill/>
          <a:ln/>
        </p:spPr>
        <p:txBody>
          <a:bodyPr wrap="square" lIns="0" tIns="0" rIns="0" bIns="0" rtlCol="0" anchor="ctr"/>
          <a:lstStyle/>
          <a:p>
            <a:pPr indent="0" marL="0">
              <a:lnSpc>
                <a:spcPts val="1600"/>
              </a:lnSpc>
              <a:buNone/>
            </a:pPr>
            <a:r>
              <a:rPr lang="en-US" sz="1200" dirty="0">
                <a:solidFill>
                  <a:srgbClr val="3F5563"/>
                </a:solidFill>
                <a:latin typeface="Expert Sans" pitchFamily="34" charset="0"/>
                <a:ea typeface="Expert Sans" pitchFamily="34" charset="-122"/>
                <a:cs typeface="Expert Sans" pitchFamily="34" charset="-120"/>
              </a:rPr>
              <a:t>Entry-point recall tracking, quarterly</a:t>
            </a:r>
            <a:endParaRPr lang="en-US" sz="1200" dirty="0"/>
          </a:p>
        </p:txBody>
      </p:sp>
      <p:sp>
        <p:nvSpPr>
          <p:cNvPr id="19" name="Shape 17"/>
          <p:cNvSpPr/>
          <p:nvPr/>
        </p:nvSpPr>
        <p:spPr>
          <a:xfrm>
            <a:off x="566928" y="5084064"/>
            <a:ext cx="11027664" cy="868680"/>
          </a:xfrm>
          <a:prstGeom prst="roundRect">
            <a:avLst>
              <a:gd name="adj" fmla="val 10526"/>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20" name="Text 18"/>
          <p:cNvSpPr/>
          <p:nvPr/>
        </p:nvSpPr>
        <p:spPr>
          <a:xfrm>
            <a:off x="877824" y="5184648"/>
            <a:ext cx="3657600" cy="676656"/>
          </a:xfrm>
          <a:prstGeom prst="rect">
            <a:avLst/>
          </a:prstGeom>
          <a:noFill/>
          <a:ln/>
        </p:spPr>
        <p:txBody>
          <a:bodyPr wrap="square" lIns="0" tIns="0" rIns="0" bIns="0" rtlCol="0" anchor="ctr"/>
          <a:lstStyle/>
          <a:p>
            <a:pPr indent="0" marL="0">
              <a:lnSpc>
                <a:spcPts val="1600"/>
              </a:lnSpc>
              <a:buNone/>
            </a:pPr>
            <a:r>
              <a:rPr lang="en-US" sz="1250" b="1" dirty="0">
                <a:solidFill>
                  <a:srgbClr val="00395D"/>
                </a:solidFill>
                <a:latin typeface="Expert Sans" pitchFamily="34" charset="0"/>
                <a:ea typeface="Expert Sans" pitchFamily="34" charset="-122"/>
                <a:cs typeface="Expert Sans" pitchFamily="34" charset="-120"/>
              </a:rPr>
              <a:t>The partner slips or captures the relationship</a:t>
            </a:r>
            <a:endParaRPr lang="en-US" sz="1250" dirty="0"/>
          </a:p>
        </p:txBody>
      </p:sp>
      <p:sp>
        <p:nvSpPr>
          <p:cNvPr id="21" name="Text 19"/>
          <p:cNvSpPr/>
          <p:nvPr/>
        </p:nvSpPr>
        <p:spPr>
          <a:xfrm>
            <a:off x="4773168" y="5184648"/>
            <a:ext cx="3291840" cy="676656"/>
          </a:xfrm>
          <a:prstGeom prst="rect">
            <a:avLst/>
          </a:prstGeom>
          <a:noFill/>
          <a:ln/>
        </p:spPr>
        <p:txBody>
          <a:bodyPr wrap="square" lIns="0" tIns="0" rIns="0" bIns="0" rtlCol="0" anchor="ctr"/>
          <a:lstStyle/>
          <a:p>
            <a:pPr indent="0" marL="0">
              <a:lnSpc>
                <a:spcPts val="1600"/>
              </a:lnSpc>
              <a:buNone/>
            </a:pPr>
            <a:r>
              <a:rPr lang="en-US" sz="1200" dirty="0">
                <a:solidFill>
                  <a:srgbClr val="3F5563"/>
                </a:solidFill>
                <a:latin typeface="Expert Sans" pitchFamily="34" charset="0"/>
                <a:ea typeface="Expert Sans" pitchFamily="34" charset="-122"/>
                <a:cs typeface="Expert Sans" pitchFamily="34" charset="-120"/>
              </a:rPr>
              <a:t>Invoice finance misses the cycle; moat erodes</a:t>
            </a:r>
            <a:endParaRPr lang="en-US" sz="1200" dirty="0"/>
          </a:p>
        </p:txBody>
      </p:sp>
      <p:sp>
        <p:nvSpPr>
          <p:cNvPr id="22" name="Text 20"/>
          <p:cNvSpPr/>
          <p:nvPr/>
        </p:nvSpPr>
        <p:spPr>
          <a:xfrm>
            <a:off x="8339328" y="5184648"/>
            <a:ext cx="3017520" cy="676656"/>
          </a:xfrm>
          <a:prstGeom prst="rect">
            <a:avLst/>
          </a:prstGeom>
          <a:noFill/>
          <a:ln/>
        </p:spPr>
        <p:txBody>
          <a:bodyPr wrap="square" lIns="0" tIns="0" rIns="0" bIns="0" rtlCol="0" anchor="ctr"/>
          <a:lstStyle/>
          <a:p>
            <a:pPr indent="0" marL="0">
              <a:lnSpc>
                <a:spcPts val="1600"/>
              </a:lnSpc>
              <a:buNone/>
            </a:pPr>
            <a:r>
              <a:rPr lang="en-US" sz="1200" dirty="0">
                <a:solidFill>
                  <a:srgbClr val="3F5563"/>
                </a:solidFill>
                <a:latin typeface="Expert Sans" pitchFamily="34" charset="0"/>
                <a:ea typeface="Expert Sans" pitchFamily="34" charset="-122"/>
                <a:cs typeface="Expert Sans" pitchFamily="34" charset="-120"/>
              </a:rPr>
              <a:t>Contract milestones + data-flow audit, month 2</a:t>
            </a:r>
            <a:endParaRPr lang="en-US" sz="1200" dirty="0"/>
          </a:p>
        </p:txBody>
      </p:sp>
      <p:sp>
        <p:nvSpPr>
          <p:cNvPr id="23" name="Text 21"/>
          <p:cNvSpPr/>
          <p:nvPr/>
        </p:nvSpPr>
        <p:spPr>
          <a:xfrm>
            <a:off x="566928" y="6163056"/>
            <a:ext cx="11027664" cy="457200"/>
          </a:xfrm>
          <a:prstGeom prst="rect">
            <a:avLst/>
          </a:prstGeom>
          <a:noFill/>
          <a:ln/>
        </p:spPr>
        <p:txBody>
          <a:bodyPr wrap="square" lIns="0" tIns="0" rIns="0" bIns="0" rtlCol="0" anchor="ctr"/>
          <a:lstStyle/>
          <a:p>
            <a:pPr indent="0" marL="0">
              <a:buNone/>
            </a:pPr>
            <a:r>
              <a:rPr lang="en-US" sz="1300" i="1" dirty="0">
                <a:solidFill>
                  <a:srgbClr val="6E7F8D"/>
                </a:solidFill>
                <a:latin typeface="Expert Sans" pitchFamily="34" charset="0"/>
                <a:ea typeface="Expert Sans" pitchFamily="34" charset="-122"/>
                <a:cs typeface="Expert Sans" pitchFamily="34" charset="-120"/>
              </a:rPr>
              <a:t>Every row ends in the re-score, not in a crisis meeting: the trigger fires, the score changes, the order moves.</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0083C5"/>
                </a:solidFill>
                <a:latin typeface="Expert Sans" pitchFamily="34" charset="0"/>
                <a:ea typeface="Expert Sans" pitchFamily="34" charset="-122"/>
                <a:cs typeface="Expert Sans" pitchFamily="34" charset="-120"/>
              </a:rPr>
              <a:t>SO WHAT</a:t>
            </a:r>
            <a:endParaRPr lang="en-US" sz="1100" dirty="0"/>
          </a:p>
        </p:txBody>
      </p:sp>
      <p:sp>
        <p:nvSpPr>
          <p:cNvPr id="3" name="Text 1"/>
          <p:cNvSpPr/>
          <p:nvPr/>
        </p:nvSpPr>
        <p:spPr>
          <a:xfrm>
            <a:off x="9235440" y="256032"/>
            <a:ext cx="2377440" cy="274320"/>
          </a:xfrm>
          <a:prstGeom prst="rect">
            <a:avLst/>
          </a:prstGeom>
          <a:noFill/>
          <a:ln/>
        </p:spPr>
        <p:txBody>
          <a:bodyPr wrap="square" lIns="0" tIns="0" rIns="0" bIns="0" rtlCol="0" anchor="ctr"/>
          <a:lstStyle/>
          <a:p>
            <a:pPr algn="r" indent="0" marL="0">
              <a:buNone/>
            </a:pPr>
            <a:r>
              <a:rPr lang="en-US" sz="850" dirty="0">
                <a:solidFill>
                  <a:srgbClr val="6E7F8D"/>
                </a:solidFill>
                <a:latin typeface="Expert Sans" pitchFamily="34" charset="0"/>
                <a:ea typeface="Expert Sans" pitchFamily="34" charset="-122"/>
                <a:cs typeface="Expert Sans" pitchFamily="34" charset="-120"/>
              </a:rPr>
              <a:t>Proposition backlog  |  [Month Year]  </a:t>
            </a:r>
            <a:pPr algn="r" indent="0" marL="0">
              <a:buNone/>
            </a:pPr>
            <a:r>
              <a:rPr lang="en-US" sz="850" dirty="0">
                <a:solidFill>
                  <a:srgbClr val="6E7F8D"/>
                </a:solidFill>
                <a:latin typeface="Expert Sans" pitchFamily="34" charset="0"/>
                <a:ea typeface="Expert Sans" pitchFamily="34" charset="-122"/>
                <a:cs typeface="Expert Sans" pitchFamily="34" charset="-120"/>
              </a:rPr>
              <a:t>|  21</a:t>
            </a:r>
            <a:endParaRPr lang="en-US" sz="850" dirty="0"/>
          </a:p>
        </p:txBody>
      </p:sp>
      <p:sp>
        <p:nvSpPr>
          <p:cNvPr id="4" name="Text 2"/>
          <p:cNvSpPr/>
          <p:nvPr/>
        </p:nvSpPr>
        <p:spPr>
          <a:xfrm>
            <a:off x="566928" y="548640"/>
            <a:ext cx="9564624" cy="969264"/>
          </a:xfrm>
          <a:prstGeom prst="rect">
            <a:avLst/>
          </a:prstGeom>
          <a:noFill/>
          <a:ln/>
        </p:spPr>
        <p:txBody>
          <a:bodyPr wrap="square" lIns="0" tIns="0" rIns="0" bIns="0" rtlCol="0" anchor="t"/>
          <a:lstStyle/>
          <a:p>
            <a:pPr algn="l" indent="0" marL="0">
              <a:lnSpc>
                <a:spcPts val="3000"/>
              </a:lnSpc>
              <a:buNone/>
            </a:pPr>
            <a:r>
              <a:rPr lang="en-US" sz="2600" dirty="0">
                <a:solidFill>
                  <a:srgbClr val="00AEEF"/>
                </a:solidFill>
                <a:latin typeface="Expert Sans" pitchFamily="34" charset="0"/>
                <a:ea typeface="Expert Sans" pitchFamily="34" charset="-122"/>
                <a:cs typeface="Expert Sans" pitchFamily="34" charset="-120"/>
              </a:rPr>
              <a:t>What we need from you this week</a:t>
            </a:r>
            <a:endParaRPr lang="en-US" sz="2600" dirty="0"/>
          </a:p>
        </p:txBody>
      </p:sp>
      <p:sp>
        <p:nvSpPr>
          <p:cNvPr id="5" name="Shape 3"/>
          <p:cNvSpPr/>
          <p:nvPr/>
        </p:nvSpPr>
        <p:spPr>
          <a:xfrm>
            <a:off x="566928" y="1691640"/>
            <a:ext cx="11027664" cy="841248"/>
          </a:xfrm>
          <a:prstGeom prst="roundRect">
            <a:avLst>
              <a:gd name="adj" fmla="val 10870"/>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6" name="Shape 4"/>
          <p:cNvSpPr/>
          <p:nvPr/>
        </p:nvSpPr>
        <p:spPr>
          <a:xfrm>
            <a:off x="877824" y="1901952"/>
            <a:ext cx="420624" cy="420624"/>
          </a:xfrm>
          <a:prstGeom prst="ellipse">
            <a:avLst/>
          </a:prstGeom>
          <a:solidFill>
            <a:srgbClr val="00AEEF"/>
          </a:solidFill>
          <a:ln w="12700">
            <a:solidFill>
              <a:srgbClr val="00AEEF"/>
            </a:solidFill>
            <a:prstDash val="solid"/>
          </a:ln>
        </p:spPr>
      </p:sp>
      <p:sp>
        <p:nvSpPr>
          <p:cNvPr id="7" name="Text 5"/>
          <p:cNvSpPr/>
          <p:nvPr/>
        </p:nvSpPr>
        <p:spPr>
          <a:xfrm>
            <a:off x="877824" y="1901952"/>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Expert Sans" pitchFamily="34" charset="0"/>
                <a:ea typeface="Expert Sans" pitchFamily="34" charset="-122"/>
                <a:cs typeface="Expert Sans" pitchFamily="34" charset="-120"/>
              </a:rPr>
              <a:t>1</a:t>
            </a:r>
            <a:endParaRPr lang="en-US" sz="1600" dirty="0"/>
          </a:p>
        </p:txBody>
      </p:sp>
      <p:sp>
        <p:nvSpPr>
          <p:cNvPr id="8" name="Text 6"/>
          <p:cNvSpPr/>
          <p:nvPr/>
        </p:nvSpPr>
        <p:spPr>
          <a:xfrm>
            <a:off x="1527048" y="1691640"/>
            <a:ext cx="1463040" cy="841248"/>
          </a:xfrm>
          <a:prstGeom prst="rect">
            <a:avLst/>
          </a:prstGeom>
          <a:noFill/>
          <a:ln/>
        </p:spPr>
        <p:txBody>
          <a:bodyPr wrap="square" lIns="0" tIns="0" rIns="0" bIns="0" rtlCol="0" anchor="ctr"/>
          <a:lstStyle/>
          <a:p>
            <a:pPr indent="0" marL="0">
              <a:buNone/>
            </a:pPr>
            <a:r>
              <a:rPr lang="en-US" sz="1800" dirty="0">
                <a:solidFill>
                  <a:srgbClr val="00AEEF"/>
                </a:solidFill>
                <a:latin typeface="Expert Sans" pitchFamily="34" charset="0"/>
                <a:ea typeface="Expert Sans" pitchFamily="34" charset="-122"/>
                <a:cs typeface="Expert Sans" pitchFamily="34" charset="-120"/>
              </a:rPr>
              <a:t>Adopt</a:t>
            </a:r>
            <a:endParaRPr lang="en-US" sz="1800" dirty="0"/>
          </a:p>
        </p:txBody>
      </p:sp>
      <p:sp>
        <p:nvSpPr>
          <p:cNvPr id="9" name="Text 7"/>
          <p:cNvSpPr/>
          <p:nvPr/>
        </p:nvSpPr>
        <p:spPr>
          <a:xfrm>
            <a:off x="3035808" y="1691640"/>
            <a:ext cx="5852160" cy="841248"/>
          </a:xfrm>
          <a:prstGeom prst="rect">
            <a:avLst/>
          </a:prstGeom>
          <a:noFill/>
          <a:ln/>
        </p:spPr>
        <p:txBody>
          <a:bodyPr wrap="square" lIns="0" tIns="0" rIns="0" bIns="0" rtlCol="0" anchor="ctr"/>
          <a:lstStyle/>
          <a:p>
            <a:pPr indent="0" marL="0">
              <a:lnSpc>
                <a:spcPts val="1700"/>
              </a:lnSpc>
              <a:buNone/>
            </a:pPr>
            <a:r>
              <a:rPr lang="en-US" sz="1350" dirty="0">
                <a:solidFill>
                  <a:srgbClr val="00395D"/>
                </a:solidFill>
                <a:latin typeface="Expert Sans" pitchFamily="34" charset="0"/>
                <a:ea typeface="Expert Sans" pitchFamily="34" charset="-122"/>
                <a:cs typeface="Expert Sans" pitchFamily="34" charset="-120"/>
              </a:rPr>
              <a:t>The sorting rule: demand admits, per-slot return sorts, capacity cuts</a:t>
            </a:r>
            <a:endParaRPr lang="en-US" sz="1350" dirty="0"/>
          </a:p>
        </p:txBody>
      </p:sp>
      <p:sp>
        <p:nvSpPr>
          <p:cNvPr id="10" name="Text 8"/>
          <p:cNvSpPr/>
          <p:nvPr/>
        </p:nvSpPr>
        <p:spPr>
          <a:xfrm>
            <a:off x="8979408" y="1691640"/>
            <a:ext cx="1463040" cy="841248"/>
          </a:xfrm>
          <a:prstGeom prst="rect">
            <a:avLst/>
          </a:prstGeom>
          <a:noFill/>
          <a:ln/>
        </p:spPr>
        <p:txBody>
          <a:bodyPr wrap="square" lIns="0" tIns="0" rIns="0" bIns="0" rtlCol="0" anchor="ctr"/>
          <a:lstStyle/>
          <a:p>
            <a:pPr indent="0" marL="0">
              <a:buNone/>
            </a:pPr>
            <a:r>
              <a:rPr lang="en-US" sz="1200" dirty="0">
                <a:solidFill>
                  <a:srgbClr val="3F5563"/>
                </a:solidFill>
                <a:latin typeface="Expert Sans" pitchFamily="34" charset="0"/>
                <a:ea typeface="Expert Sans" pitchFamily="34" charset="-122"/>
                <a:cs typeface="Expert Sans" pitchFamily="34" charset="-120"/>
              </a:rPr>
              <a:t>[Owner]</a:t>
            </a:r>
            <a:endParaRPr lang="en-US" sz="1200" dirty="0"/>
          </a:p>
        </p:txBody>
      </p:sp>
      <p:sp>
        <p:nvSpPr>
          <p:cNvPr id="11" name="Text 9"/>
          <p:cNvSpPr/>
          <p:nvPr/>
        </p:nvSpPr>
        <p:spPr>
          <a:xfrm>
            <a:off x="10533888" y="1691640"/>
            <a:ext cx="914400" cy="841248"/>
          </a:xfrm>
          <a:prstGeom prst="rect">
            <a:avLst/>
          </a:prstGeom>
          <a:noFill/>
          <a:ln/>
        </p:spPr>
        <p:txBody>
          <a:bodyPr wrap="square" lIns="0" tIns="0" rIns="0" bIns="0" rtlCol="0" anchor="ctr"/>
          <a:lstStyle/>
          <a:p>
            <a:pPr algn="r" indent="0" marL="0">
              <a:buNone/>
            </a:pPr>
            <a:r>
              <a:rPr lang="en-US" sz="1200" dirty="0">
                <a:solidFill>
                  <a:srgbClr val="3F5563"/>
                </a:solidFill>
                <a:latin typeface="Expert Sans" pitchFamily="34" charset="0"/>
                <a:ea typeface="Expert Sans" pitchFamily="34" charset="-122"/>
                <a:cs typeface="Expert Sans" pitchFamily="34" charset="-120"/>
              </a:rPr>
              <a:t>[Date]</a:t>
            </a:r>
            <a:endParaRPr lang="en-US" sz="1200" dirty="0"/>
          </a:p>
        </p:txBody>
      </p:sp>
      <p:sp>
        <p:nvSpPr>
          <p:cNvPr id="12" name="Shape 10"/>
          <p:cNvSpPr/>
          <p:nvPr/>
        </p:nvSpPr>
        <p:spPr>
          <a:xfrm>
            <a:off x="566928" y="2679192"/>
            <a:ext cx="11027664" cy="841248"/>
          </a:xfrm>
          <a:prstGeom prst="roundRect">
            <a:avLst>
              <a:gd name="adj" fmla="val 10870"/>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3" name="Shape 11"/>
          <p:cNvSpPr/>
          <p:nvPr/>
        </p:nvSpPr>
        <p:spPr>
          <a:xfrm>
            <a:off x="877824" y="2889504"/>
            <a:ext cx="420624" cy="420624"/>
          </a:xfrm>
          <a:prstGeom prst="ellipse">
            <a:avLst/>
          </a:prstGeom>
          <a:solidFill>
            <a:srgbClr val="00AEEF"/>
          </a:solidFill>
          <a:ln w="12700">
            <a:solidFill>
              <a:srgbClr val="00AEEF"/>
            </a:solidFill>
            <a:prstDash val="solid"/>
          </a:ln>
        </p:spPr>
      </p:sp>
      <p:sp>
        <p:nvSpPr>
          <p:cNvPr id="14" name="Text 12"/>
          <p:cNvSpPr/>
          <p:nvPr/>
        </p:nvSpPr>
        <p:spPr>
          <a:xfrm>
            <a:off x="877824" y="2889504"/>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Expert Sans" pitchFamily="34" charset="0"/>
                <a:ea typeface="Expert Sans" pitchFamily="34" charset="-122"/>
                <a:cs typeface="Expert Sans" pitchFamily="34" charset="-120"/>
              </a:rPr>
              <a:t>2</a:t>
            </a:r>
            <a:endParaRPr lang="en-US" sz="1600" dirty="0"/>
          </a:p>
        </p:txBody>
      </p:sp>
      <p:sp>
        <p:nvSpPr>
          <p:cNvPr id="15" name="Text 13"/>
          <p:cNvSpPr/>
          <p:nvPr/>
        </p:nvSpPr>
        <p:spPr>
          <a:xfrm>
            <a:off x="1527048" y="2679192"/>
            <a:ext cx="1463040" cy="841248"/>
          </a:xfrm>
          <a:prstGeom prst="rect">
            <a:avLst/>
          </a:prstGeom>
          <a:noFill/>
          <a:ln/>
        </p:spPr>
        <p:txBody>
          <a:bodyPr wrap="square" lIns="0" tIns="0" rIns="0" bIns="0" rtlCol="0" anchor="ctr"/>
          <a:lstStyle/>
          <a:p>
            <a:pPr indent="0" marL="0">
              <a:buNone/>
            </a:pPr>
            <a:r>
              <a:rPr lang="en-US" sz="1800" dirty="0">
                <a:solidFill>
                  <a:srgbClr val="00AEEF"/>
                </a:solidFill>
                <a:latin typeface="Expert Sans" pitchFamily="34" charset="0"/>
                <a:ea typeface="Expert Sans" pitchFamily="34" charset="-122"/>
                <a:cs typeface="Expert Sans" pitchFamily="34" charset="-120"/>
              </a:rPr>
              <a:t>Approve</a:t>
            </a:r>
            <a:endParaRPr lang="en-US" sz="1800" dirty="0"/>
          </a:p>
        </p:txBody>
      </p:sp>
      <p:sp>
        <p:nvSpPr>
          <p:cNvPr id="16" name="Text 14"/>
          <p:cNvSpPr/>
          <p:nvPr/>
        </p:nvSpPr>
        <p:spPr>
          <a:xfrm>
            <a:off x="3035808" y="2679192"/>
            <a:ext cx="5852160" cy="841248"/>
          </a:xfrm>
          <a:prstGeom prst="rect">
            <a:avLst/>
          </a:prstGeom>
          <a:noFill/>
          <a:ln/>
        </p:spPr>
        <p:txBody>
          <a:bodyPr wrap="square" lIns="0" tIns="0" rIns="0" bIns="0" rtlCol="0" anchor="ctr"/>
          <a:lstStyle/>
          <a:p>
            <a:pPr indent="0" marL="0">
              <a:lnSpc>
                <a:spcPts val="1700"/>
              </a:lnSpc>
              <a:buNone/>
            </a:pPr>
            <a:r>
              <a:rPr lang="en-US" sz="1350" dirty="0">
                <a:solidFill>
                  <a:srgbClr val="00395D"/>
                </a:solidFill>
                <a:latin typeface="Expert Sans" pitchFamily="34" charset="0"/>
                <a:ea typeface="Expert Sans" pitchFamily="34" charset="-122"/>
                <a:cs typeface="Expert Sans" pitchFamily="34" charset="-120"/>
              </a:rPr>
              <a:t>This cycle's slate: build FX, partner invoice finance</a:t>
            </a:r>
            <a:endParaRPr lang="en-US" sz="1350" dirty="0"/>
          </a:p>
        </p:txBody>
      </p:sp>
      <p:sp>
        <p:nvSpPr>
          <p:cNvPr id="17" name="Text 15"/>
          <p:cNvSpPr/>
          <p:nvPr/>
        </p:nvSpPr>
        <p:spPr>
          <a:xfrm>
            <a:off x="8979408" y="2679192"/>
            <a:ext cx="1463040" cy="841248"/>
          </a:xfrm>
          <a:prstGeom prst="rect">
            <a:avLst/>
          </a:prstGeom>
          <a:noFill/>
          <a:ln/>
        </p:spPr>
        <p:txBody>
          <a:bodyPr wrap="square" lIns="0" tIns="0" rIns="0" bIns="0" rtlCol="0" anchor="ctr"/>
          <a:lstStyle/>
          <a:p>
            <a:pPr indent="0" marL="0">
              <a:buNone/>
            </a:pPr>
            <a:r>
              <a:rPr lang="en-US" sz="1200" dirty="0">
                <a:solidFill>
                  <a:srgbClr val="3F5563"/>
                </a:solidFill>
                <a:latin typeface="Expert Sans" pitchFamily="34" charset="0"/>
                <a:ea typeface="Expert Sans" pitchFamily="34" charset="-122"/>
                <a:cs typeface="Expert Sans" pitchFamily="34" charset="-120"/>
              </a:rPr>
              <a:t>[Owner]</a:t>
            </a:r>
            <a:endParaRPr lang="en-US" sz="1200" dirty="0"/>
          </a:p>
        </p:txBody>
      </p:sp>
      <p:sp>
        <p:nvSpPr>
          <p:cNvPr id="18" name="Text 16"/>
          <p:cNvSpPr/>
          <p:nvPr/>
        </p:nvSpPr>
        <p:spPr>
          <a:xfrm>
            <a:off x="10533888" y="2679192"/>
            <a:ext cx="914400" cy="841248"/>
          </a:xfrm>
          <a:prstGeom prst="rect">
            <a:avLst/>
          </a:prstGeom>
          <a:noFill/>
          <a:ln/>
        </p:spPr>
        <p:txBody>
          <a:bodyPr wrap="square" lIns="0" tIns="0" rIns="0" bIns="0" rtlCol="0" anchor="ctr"/>
          <a:lstStyle/>
          <a:p>
            <a:pPr algn="r" indent="0" marL="0">
              <a:buNone/>
            </a:pPr>
            <a:r>
              <a:rPr lang="en-US" sz="1200" dirty="0">
                <a:solidFill>
                  <a:srgbClr val="3F5563"/>
                </a:solidFill>
                <a:latin typeface="Expert Sans" pitchFamily="34" charset="0"/>
                <a:ea typeface="Expert Sans" pitchFamily="34" charset="-122"/>
                <a:cs typeface="Expert Sans" pitchFamily="34" charset="-120"/>
              </a:rPr>
              <a:t>[Date]</a:t>
            </a:r>
            <a:endParaRPr lang="en-US" sz="1200" dirty="0"/>
          </a:p>
        </p:txBody>
      </p:sp>
      <p:sp>
        <p:nvSpPr>
          <p:cNvPr id="19" name="Shape 17"/>
          <p:cNvSpPr/>
          <p:nvPr/>
        </p:nvSpPr>
        <p:spPr>
          <a:xfrm>
            <a:off x="566928" y="3666744"/>
            <a:ext cx="11027664" cy="841248"/>
          </a:xfrm>
          <a:prstGeom prst="roundRect">
            <a:avLst>
              <a:gd name="adj" fmla="val 10870"/>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20" name="Shape 18"/>
          <p:cNvSpPr/>
          <p:nvPr/>
        </p:nvSpPr>
        <p:spPr>
          <a:xfrm>
            <a:off x="877824" y="3877056"/>
            <a:ext cx="420624" cy="420624"/>
          </a:xfrm>
          <a:prstGeom prst="ellipse">
            <a:avLst/>
          </a:prstGeom>
          <a:solidFill>
            <a:srgbClr val="00AEEF"/>
          </a:solidFill>
          <a:ln w="12700">
            <a:solidFill>
              <a:srgbClr val="00AEEF"/>
            </a:solidFill>
            <a:prstDash val="solid"/>
          </a:ln>
        </p:spPr>
      </p:sp>
      <p:sp>
        <p:nvSpPr>
          <p:cNvPr id="21" name="Text 19"/>
          <p:cNvSpPr/>
          <p:nvPr/>
        </p:nvSpPr>
        <p:spPr>
          <a:xfrm>
            <a:off x="877824" y="3877056"/>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Expert Sans" pitchFamily="34" charset="0"/>
                <a:ea typeface="Expert Sans" pitchFamily="34" charset="-122"/>
                <a:cs typeface="Expert Sans" pitchFamily="34" charset="-120"/>
              </a:rPr>
              <a:t>3</a:t>
            </a:r>
            <a:endParaRPr lang="en-US" sz="1600" dirty="0"/>
          </a:p>
        </p:txBody>
      </p:sp>
      <p:sp>
        <p:nvSpPr>
          <p:cNvPr id="22" name="Text 20"/>
          <p:cNvSpPr/>
          <p:nvPr/>
        </p:nvSpPr>
        <p:spPr>
          <a:xfrm>
            <a:off x="1527048" y="3666744"/>
            <a:ext cx="1463040" cy="841248"/>
          </a:xfrm>
          <a:prstGeom prst="rect">
            <a:avLst/>
          </a:prstGeom>
          <a:noFill/>
          <a:ln/>
        </p:spPr>
        <p:txBody>
          <a:bodyPr wrap="square" lIns="0" tIns="0" rIns="0" bIns="0" rtlCol="0" anchor="ctr"/>
          <a:lstStyle/>
          <a:p>
            <a:pPr indent="0" marL="0">
              <a:buNone/>
            </a:pPr>
            <a:r>
              <a:rPr lang="en-US" sz="1800" dirty="0">
                <a:solidFill>
                  <a:srgbClr val="00AEEF"/>
                </a:solidFill>
                <a:latin typeface="Expert Sans" pitchFamily="34" charset="0"/>
                <a:ea typeface="Expert Sans" pitchFamily="34" charset="-122"/>
                <a:cs typeface="Expert Sans" pitchFamily="34" charset="-120"/>
              </a:rPr>
              <a:t>Sign</a:t>
            </a:r>
            <a:endParaRPr lang="en-US" sz="1800" dirty="0"/>
          </a:p>
        </p:txBody>
      </p:sp>
      <p:sp>
        <p:nvSpPr>
          <p:cNvPr id="23" name="Text 21"/>
          <p:cNvSpPr/>
          <p:nvPr/>
        </p:nvSpPr>
        <p:spPr>
          <a:xfrm>
            <a:off x="3035808" y="3666744"/>
            <a:ext cx="5852160" cy="841248"/>
          </a:xfrm>
          <a:prstGeom prst="rect">
            <a:avLst/>
          </a:prstGeom>
          <a:noFill/>
          <a:ln/>
        </p:spPr>
        <p:txBody>
          <a:bodyPr wrap="square" lIns="0" tIns="0" rIns="0" bIns="0" rtlCol="0" anchor="ctr"/>
          <a:lstStyle/>
          <a:p>
            <a:pPr indent="0" marL="0">
              <a:lnSpc>
                <a:spcPts val="1700"/>
              </a:lnSpc>
              <a:buNone/>
            </a:pPr>
            <a:r>
              <a:rPr lang="en-US" sz="1350" dirty="0">
                <a:solidFill>
                  <a:srgbClr val="00395D"/>
                </a:solidFill>
                <a:latin typeface="Expert Sans" pitchFamily="34" charset="0"/>
                <a:ea typeface="Expert Sans" pitchFamily="34" charset="-122"/>
                <a:cs typeface="Expert Sans" pitchFamily="34" charset="-120"/>
              </a:rPr>
              <a:t>Partner heads of terms — exclusivity, data, exit, re-opener (slide 19)</a:t>
            </a:r>
            <a:endParaRPr lang="en-US" sz="1350" dirty="0"/>
          </a:p>
        </p:txBody>
      </p:sp>
      <p:sp>
        <p:nvSpPr>
          <p:cNvPr id="24" name="Text 22"/>
          <p:cNvSpPr/>
          <p:nvPr/>
        </p:nvSpPr>
        <p:spPr>
          <a:xfrm>
            <a:off x="8979408" y="3666744"/>
            <a:ext cx="1463040" cy="841248"/>
          </a:xfrm>
          <a:prstGeom prst="rect">
            <a:avLst/>
          </a:prstGeom>
          <a:noFill/>
          <a:ln/>
        </p:spPr>
        <p:txBody>
          <a:bodyPr wrap="square" lIns="0" tIns="0" rIns="0" bIns="0" rtlCol="0" anchor="ctr"/>
          <a:lstStyle/>
          <a:p>
            <a:pPr indent="0" marL="0">
              <a:buNone/>
            </a:pPr>
            <a:r>
              <a:rPr lang="en-US" sz="1200" dirty="0">
                <a:solidFill>
                  <a:srgbClr val="3F5563"/>
                </a:solidFill>
                <a:latin typeface="Expert Sans" pitchFamily="34" charset="0"/>
                <a:ea typeface="Expert Sans" pitchFamily="34" charset="-122"/>
                <a:cs typeface="Expert Sans" pitchFamily="34" charset="-120"/>
              </a:rPr>
              <a:t>[Owner]</a:t>
            </a:r>
            <a:endParaRPr lang="en-US" sz="1200" dirty="0"/>
          </a:p>
        </p:txBody>
      </p:sp>
      <p:sp>
        <p:nvSpPr>
          <p:cNvPr id="25" name="Text 23"/>
          <p:cNvSpPr/>
          <p:nvPr/>
        </p:nvSpPr>
        <p:spPr>
          <a:xfrm>
            <a:off x="10533888" y="3666744"/>
            <a:ext cx="914400" cy="841248"/>
          </a:xfrm>
          <a:prstGeom prst="rect">
            <a:avLst/>
          </a:prstGeom>
          <a:noFill/>
          <a:ln/>
        </p:spPr>
        <p:txBody>
          <a:bodyPr wrap="square" lIns="0" tIns="0" rIns="0" bIns="0" rtlCol="0" anchor="ctr"/>
          <a:lstStyle/>
          <a:p>
            <a:pPr algn="r" indent="0" marL="0">
              <a:buNone/>
            </a:pPr>
            <a:r>
              <a:rPr lang="en-US" sz="1200" dirty="0">
                <a:solidFill>
                  <a:srgbClr val="3F5563"/>
                </a:solidFill>
                <a:latin typeface="Expert Sans" pitchFamily="34" charset="0"/>
                <a:ea typeface="Expert Sans" pitchFamily="34" charset="-122"/>
                <a:cs typeface="Expert Sans" pitchFamily="34" charset="-120"/>
              </a:rPr>
              <a:t>[Date]</a:t>
            </a:r>
            <a:endParaRPr lang="en-US" sz="1200" dirty="0"/>
          </a:p>
        </p:txBody>
      </p:sp>
      <p:sp>
        <p:nvSpPr>
          <p:cNvPr id="26" name="Shape 24"/>
          <p:cNvSpPr/>
          <p:nvPr/>
        </p:nvSpPr>
        <p:spPr>
          <a:xfrm>
            <a:off x="566928" y="4654296"/>
            <a:ext cx="11027664" cy="841248"/>
          </a:xfrm>
          <a:prstGeom prst="roundRect">
            <a:avLst>
              <a:gd name="adj" fmla="val 10870"/>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27" name="Shape 25"/>
          <p:cNvSpPr/>
          <p:nvPr/>
        </p:nvSpPr>
        <p:spPr>
          <a:xfrm>
            <a:off x="877824" y="4864608"/>
            <a:ext cx="420624" cy="420624"/>
          </a:xfrm>
          <a:prstGeom prst="ellipse">
            <a:avLst/>
          </a:prstGeom>
          <a:solidFill>
            <a:srgbClr val="00AEEF"/>
          </a:solidFill>
          <a:ln w="12700">
            <a:solidFill>
              <a:srgbClr val="00AEEF"/>
            </a:solidFill>
            <a:prstDash val="solid"/>
          </a:ln>
        </p:spPr>
      </p:sp>
      <p:sp>
        <p:nvSpPr>
          <p:cNvPr id="28" name="Text 26"/>
          <p:cNvSpPr/>
          <p:nvPr/>
        </p:nvSpPr>
        <p:spPr>
          <a:xfrm>
            <a:off x="877824" y="486460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Expert Sans" pitchFamily="34" charset="0"/>
                <a:ea typeface="Expert Sans" pitchFamily="34" charset="-122"/>
                <a:cs typeface="Expert Sans" pitchFamily="34" charset="-120"/>
              </a:rPr>
              <a:t>4</a:t>
            </a:r>
            <a:endParaRPr lang="en-US" sz="1600" dirty="0"/>
          </a:p>
        </p:txBody>
      </p:sp>
      <p:sp>
        <p:nvSpPr>
          <p:cNvPr id="29" name="Text 27"/>
          <p:cNvSpPr/>
          <p:nvPr/>
        </p:nvSpPr>
        <p:spPr>
          <a:xfrm>
            <a:off x="1527048" y="4654296"/>
            <a:ext cx="1463040" cy="841248"/>
          </a:xfrm>
          <a:prstGeom prst="rect">
            <a:avLst/>
          </a:prstGeom>
          <a:noFill/>
          <a:ln/>
        </p:spPr>
        <p:txBody>
          <a:bodyPr wrap="square" lIns="0" tIns="0" rIns="0" bIns="0" rtlCol="0" anchor="ctr"/>
          <a:lstStyle/>
          <a:p>
            <a:pPr indent="0" marL="0">
              <a:buNone/>
            </a:pPr>
            <a:r>
              <a:rPr lang="en-US" sz="1800" dirty="0">
                <a:solidFill>
                  <a:srgbClr val="00AEEF"/>
                </a:solidFill>
                <a:latin typeface="Expert Sans" pitchFamily="34" charset="0"/>
                <a:ea typeface="Expert Sans" pitchFamily="34" charset="-122"/>
                <a:cs typeface="Expert Sans" pitchFamily="34" charset="-120"/>
              </a:rPr>
              <a:t>Stop</a:t>
            </a:r>
            <a:endParaRPr lang="en-US" sz="1800" dirty="0"/>
          </a:p>
        </p:txBody>
      </p:sp>
      <p:sp>
        <p:nvSpPr>
          <p:cNvPr id="30" name="Text 28"/>
          <p:cNvSpPr/>
          <p:nvPr/>
        </p:nvSpPr>
        <p:spPr>
          <a:xfrm>
            <a:off x="3035808" y="4654296"/>
            <a:ext cx="5852160" cy="841248"/>
          </a:xfrm>
          <a:prstGeom prst="rect">
            <a:avLst/>
          </a:prstGeom>
          <a:noFill/>
          <a:ln/>
        </p:spPr>
        <p:txBody>
          <a:bodyPr wrap="square" lIns="0" tIns="0" rIns="0" bIns="0" rtlCol="0" anchor="ctr"/>
          <a:lstStyle/>
          <a:p>
            <a:pPr indent="0" marL="0">
              <a:lnSpc>
                <a:spcPts val="1700"/>
              </a:lnSpc>
              <a:buNone/>
            </a:pPr>
            <a:r>
              <a:rPr lang="en-US" sz="1350" dirty="0">
                <a:solidFill>
                  <a:srgbClr val="00395D"/>
                </a:solidFill>
                <a:latin typeface="Expert Sans" pitchFamily="34" charset="0"/>
                <a:ea typeface="Expert Sans" pitchFamily="34" charset="-122"/>
                <a:cs typeface="Expert Sans" pitchFamily="34" charset="-120"/>
              </a:rPr>
              <a:t>Crypto and rewards — off the list until new demand evidence</a:t>
            </a:r>
            <a:endParaRPr lang="en-US" sz="1350" dirty="0"/>
          </a:p>
        </p:txBody>
      </p:sp>
      <p:sp>
        <p:nvSpPr>
          <p:cNvPr id="31" name="Text 29"/>
          <p:cNvSpPr/>
          <p:nvPr/>
        </p:nvSpPr>
        <p:spPr>
          <a:xfrm>
            <a:off x="8979408" y="4654296"/>
            <a:ext cx="1463040" cy="841248"/>
          </a:xfrm>
          <a:prstGeom prst="rect">
            <a:avLst/>
          </a:prstGeom>
          <a:noFill/>
          <a:ln/>
        </p:spPr>
        <p:txBody>
          <a:bodyPr wrap="square" lIns="0" tIns="0" rIns="0" bIns="0" rtlCol="0" anchor="ctr"/>
          <a:lstStyle/>
          <a:p>
            <a:pPr indent="0" marL="0">
              <a:buNone/>
            </a:pPr>
            <a:r>
              <a:rPr lang="en-US" sz="1200" dirty="0">
                <a:solidFill>
                  <a:srgbClr val="3F5563"/>
                </a:solidFill>
                <a:latin typeface="Expert Sans" pitchFamily="34" charset="0"/>
                <a:ea typeface="Expert Sans" pitchFamily="34" charset="-122"/>
                <a:cs typeface="Expert Sans" pitchFamily="34" charset="-120"/>
              </a:rPr>
              <a:t>[Owner]</a:t>
            </a:r>
            <a:endParaRPr lang="en-US" sz="1200" dirty="0"/>
          </a:p>
        </p:txBody>
      </p:sp>
      <p:sp>
        <p:nvSpPr>
          <p:cNvPr id="32" name="Text 30"/>
          <p:cNvSpPr/>
          <p:nvPr/>
        </p:nvSpPr>
        <p:spPr>
          <a:xfrm>
            <a:off x="10533888" y="4654296"/>
            <a:ext cx="914400" cy="841248"/>
          </a:xfrm>
          <a:prstGeom prst="rect">
            <a:avLst/>
          </a:prstGeom>
          <a:noFill/>
          <a:ln/>
        </p:spPr>
        <p:txBody>
          <a:bodyPr wrap="square" lIns="0" tIns="0" rIns="0" bIns="0" rtlCol="0" anchor="ctr"/>
          <a:lstStyle/>
          <a:p>
            <a:pPr algn="r" indent="0" marL="0">
              <a:buNone/>
            </a:pPr>
            <a:r>
              <a:rPr lang="en-US" sz="1200" dirty="0">
                <a:solidFill>
                  <a:srgbClr val="3F5563"/>
                </a:solidFill>
                <a:latin typeface="Expert Sans" pitchFamily="34" charset="0"/>
                <a:ea typeface="Expert Sans" pitchFamily="34" charset="-122"/>
                <a:cs typeface="Expert Sans" pitchFamily="34" charset="-120"/>
              </a:rPr>
              <a:t>[Date]</a:t>
            </a:r>
            <a:endParaRPr lang="en-US" sz="1200" dirty="0"/>
          </a:p>
        </p:txBody>
      </p:sp>
      <p:sp>
        <p:nvSpPr>
          <p:cNvPr id="33" name="Text 31"/>
          <p:cNvSpPr/>
          <p:nvPr/>
        </p:nvSpPr>
        <p:spPr>
          <a:xfrm>
            <a:off x="566928" y="5806440"/>
            <a:ext cx="11027664" cy="457200"/>
          </a:xfrm>
          <a:prstGeom prst="rect">
            <a:avLst/>
          </a:prstGeom>
          <a:noFill/>
          <a:ln/>
        </p:spPr>
        <p:txBody>
          <a:bodyPr wrap="square" lIns="0" tIns="0" rIns="0" bIns="0" rtlCol="0" anchor="ctr"/>
          <a:lstStyle/>
          <a:p>
            <a:pPr indent="0" marL="0">
              <a:buNone/>
            </a:pPr>
            <a:r>
              <a:rPr lang="en-US" sz="1300" i="1" dirty="0">
                <a:solidFill>
                  <a:srgbClr val="6E7F8D"/>
                </a:solidFill>
                <a:latin typeface="Expert Sans" pitchFamily="34" charset="0"/>
                <a:ea typeface="Expert Sans" pitchFamily="34" charset="-122"/>
                <a:cs typeface="Expert Sans" pitchFamily="34" charset="-120"/>
              </a:rPr>
              <a:t>First re-score lands in [month]. From then on the backlog is a standing agenda item, not a new deck.</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0083C5"/>
                </a:solidFill>
                <a:latin typeface="Expert Sans" pitchFamily="34" charset="0"/>
                <a:ea typeface="Expert Sans" pitchFamily="34" charset="-122"/>
                <a:cs typeface="Expert Sans" pitchFamily="34" charset="-120"/>
              </a:rPr>
              <a:t>APPENDIX</a:t>
            </a:r>
            <a:endParaRPr lang="en-US" sz="1100" dirty="0"/>
          </a:p>
        </p:txBody>
      </p:sp>
      <p:sp>
        <p:nvSpPr>
          <p:cNvPr id="3" name="Text 1"/>
          <p:cNvSpPr/>
          <p:nvPr/>
        </p:nvSpPr>
        <p:spPr>
          <a:xfrm>
            <a:off x="566928" y="548640"/>
            <a:ext cx="9564624" cy="969264"/>
          </a:xfrm>
          <a:prstGeom prst="rect">
            <a:avLst/>
          </a:prstGeom>
          <a:noFill/>
          <a:ln/>
        </p:spPr>
        <p:txBody>
          <a:bodyPr wrap="square" lIns="0" tIns="0" rIns="0" bIns="0" rtlCol="0" anchor="t"/>
          <a:lstStyle/>
          <a:p>
            <a:pPr algn="l" indent="0" marL="0">
              <a:lnSpc>
                <a:spcPts val="3000"/>
              </a:lnSpc>
              <a:buNone/>
            </a:pPr>
            <a:r>
              <a:rPr lang="en-US" sz="2500" dirty="0">
                <a:solidFill>
                  <a:srgbClr val="00AEEF"/>
                </a:solidFill>
                <a:latin typeface="Expert Sans" pitchFamily="34" charset="0"/>
                <a:ea typeface="Expert Sans" pitchFamily="34" charset="-122"/>
                <a:cs typeface="Expert Sans" pitchFamily="34" charset="-120"/>
              </a:rPr>
              <a:t>Supporting detail — and how each analysis was run</a:t>
            </a:r>
            <a:endParaRPr lang="en-US" sz="2500" dirty="0"/>
          </a:p>
        </p:txBody>
      </p:sp>
      <p:sp>
        <p:nvSpPr>
          <p:cNvPr id="4" name="Shape 2"/>
          <p:cNvSpPr/>
          <p:nvPr/>
        </p:nvSpPr>
        <p:spPr>
          <a:xfrm>
            <a:off x="566928" y="1691640"/>
            <a:ext cx="5353812" cy="1005840"/>
          </a:xfrm>
          <a:prstGeom prst="roundRect">
            <a:avLst>
              <a:gd name="adj" fmla="val 9091"/>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5" name="Text 3"/>
          <p:cNvSpPr/>
          <p:nvPr/>
        </p:nvSpPr>
        <p:spPr>
          <a:xfrm>
            <a:off x="932688" y="1837944"/>
            <a:ext cx="4622292" cy="365760"/>
          </a:xfrm>
          <a:prstGeom prst="rect">
            <a:avLst/>
          </a:prstGeom>
          <a:noFill/>
          <a:ln/>
        </p:spPr>
        <p:txBody>
          <a:bodyPr wrap="square" lIns="0" tIns="0" rIns="0" bIns="0" rtlCol="0" anchor="ctr"/>
          <a:lstStyle/>
          <a:p>
            <a:pPr indent="0" marL="0">
              <a:buNone/>
            </a:pPr>
            <a:r>
              <a:rPr lang="en-US" sz="1450" b="1" dirty="0">
                <a:solidFill>
                  <a:srgbClr val="00395D"/>
                </a:solidFill>
                <a:latin typeface="Expert Sans" pitchFamily="34" charset="0"/>
                <a:ea typeface="Expert Sans" pitchFamily="34" charset="-122"/>
                <a:cs typeface="Expert Sans" pitchFamily="34" charset="-120"/>
              </a:rPr>
              <a:t>OCV methodology + research findings</a:t>
            </a:r>
            <a:endParaRPr lang="en-US" sz="1450" dirty="0"/>
          </a:p>
        </p:txBody>
      </p:sp>
      <p:sp>
        <p:nvSpPr>
          <p:cNvPr id="6" name="Text 4"/>
          <p:cNvSpPr/>
          <p:nvPr/>
        </p:nvSpPr>
        <p:spPr>
          <a:xfrm>
            <a:off x="932688" y="2203704"/>
            <a:ext cx="4622292" cy="384048"/>
          </a:xfrm>
          <a:prstGeom prst="rect">
            <a:avLst/>
          </a:prstGeom>
          <a:noFill/>
          <a:ln/>
        </p:spPr>
        <p:txBody>
          <a:bodyPr wrap="square" lIns="0" tIns="0" rIns="0" bIns="0" rtlCol="0" anchor="t"/>
          <a:lstStyle/>
          <a:p>
            <a:pPr indent="0" marL="0">
              <a:buNone/>
            </a:pPr>
            <a:r>
              <a:rPr lang="en-US" sz="1200" dirty="0">
                <a:solidFill>
                  <a:srgbClr val="3F5563"/>
                </a:solidFill>
                <a:latin typeface="Expert Sans" pitchFamily="34" charset="0"/>
                <a:ea typeface="Expert Sans" pitchFamily="34" charset="-122"/>
                <a:cs typeface="Expert Sans" pitchFamily="34" charset="-120"/>
              </a:rPr>
              <a:t>Metric construction, calibration, the 320-interview base</a:t>
            </a:r>
            <a:endParaRPr lang="en-US" sz="1200" dirty="0"/>
          </a:p>
        </p:txBody>
      </p:sp>
      <p:sp>
        <p:nvSpPr>
          <p:cNvPr id="7" name="Shape 5"/>
          <p:cNvSpPr/>
          <p:nvPr/>
        </p:nvSpPr>
        <p:spPr>
          <a:xfrm>
            <a:off x="6240780" y="1691640"/>
            <a:ext cx="5353812" cy="1005840"/>
          </a:xfrm>
          <a:prstGeom prst="roundRect">
            <a:avLst>
              <a:gd name="adj" fmla="val 9091"/>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8" name="Text 6"/>
          <p:cNvSpPr/>
          <p:nvPr/>
        </p:nvSpPr>
        <p:spPr>
          <a:xfrm>
            <a:off x="6606540" y="1837944"/>
            <a:ext cx="4622292" cy="365760"/>
          </a:xfrm>
          <a:prstGeom prst="rect">
            <a:avLst/>
          </a:prstGeom>
          <a:noFill/>
          <a:ln/>
        </p:spPr>
        <p:txBody>
          <a:bodyPr wrap="square" lIns="0" tIns="0" rIns="0" bIns="0" rtlCol="0" anchor="ctr"/>
          <a:lstStyle/>
          <a:p>
            <a:pPr indent="0" marL="0">
              <a:buNone/>
            </a:pPr>
            <a:r>
              <a:rPr lang="en-US" sz="1450" b="1" dirty="0">
                <a:solidFill>
                  <a:srgbClr val="00395D"/>
                </a:solidFill>
                <a:latin typeface="Expert Sans" pitchFamily="34" charset="0"/>
                <a:ea typeface="Expert Sans" pitchFamily="34" charset="-122"/>
                <a:cs typeface="Expert Sans" pitchFamily="34" charset="-120"/>
              </a:rPr>
              <a:t>Pricing and incentive model</a:t>
            </a:r>
            <a:endParaRPr lang="en-US" sz="1450" dirty="0"/>
          </a:p>
        </p:txBody>
      </p:sp>
      <p:sp>
        <p:nvSpPr>
          <p:cNvPr id="9" name="Text 7"/>
          <p:cNvSpPr/>
          <p:nvPr/>
        </p:nvSpPr>
        <p:spPr>
          <a:xfrm>
            <a:off x="6606540" y="2203704"/>
            <a:ext cx="4622292" cy="384048"/>
          </a:xfrm>
          <a:prstGeom prst="rect">
            <a:avLst/>
          </a:prstGeom>
          <a:noFill/>
          <a:ln/>
        </p:spPr>
        <p:txBody>
          <a:bodyPr wrap="square" lIns="0" tIns="0" rIns="0" bIns="0" rtlCol="0" anchor="t"/>
          <a:lstStyle/>
          <a:p>
            <a:pPr indent="0" marL="0">
              <a:buNone/>
            </a:pPr>
            <a:r>
              <a:rPr lang="en-US" sz="1200" dirty="0">
                <a:solidFill>
                  <a:srgbClr val="3F5563"/>
                </a:solidFill>
                <a:latin typeface="Expert Sans" pitchFamily="34" charset="0"/>
                <a:ea typeface="Expert Sans" pitchFamily="34" charset="-122"/>
                <a:cs typeface="Expert Sans" pitchFamily="34" charset="-120"/>
              </a:rPr>
              <a:t>Lever assumptions, dead-weight estimates, clawback terms</a:t>
            </a:r>
            <a:endParaRPr lang="en-US" sz="1200" dirty="0"/>
          </a:p>
        </p:txBody>
      </p:sp>
      <p:sp>
        <p:nvSpPr>
          <p:cNvPr id="10" name="Shape 8"/>
          <p:cNvSpPr/>
          <p:nvPr/>
        </p:nvSpPr>
        <p:spPr>
          <a:xfrm>
            <a:off x="566928" y="2862072"/>
            <a:ext cx="5353812" cy="1005840"/>
          </a:xfrm>
          <a:prstGeom prst="roundRect">
            <a:avLst>
              <a:gd name="adj" fmla="val 9091"/>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1" name="Text 9"/>
          <p:cNvSpPr/>
          <p:nvPr/>
        </p:nvSpPr>
        <p:spPr>
          <a:xfrm>
            <a:off x="932688" y="3008376"/>
            <a:ext cx="4622292" cy="365760"/>
          </a:xfrm>
          <a:prstGeom prst="rect">
            <a:avLst/>
          </a:prstGeom>
          <a:noFill/>
          <a:ln/>
        </p:spPr>
        <p:txBody>
          <a:bodyPr wrap="square" lIns="0" tIns="0" rIns="0" bIns="0" rtlCol="0" anchor="ctr"/>
          <a:lstStyle/>
          <a:p>
            <a:pPr indent="0" marL="0">
              <a:buNone/>
            </a:pPr>
            <a:r>
              <a:rPr lang="en-US" sz="1450" b="1" dirty="0">
                <a:solidFill>
                  <a:srgbClr val="00395D"/>
                </a:solidFill>
                <a:latin typeface="Expert Sans" pitchFamily="34" charset="0"/>
                <a:ea typeface="Expert Sans" pitchFamily="34" charset="-122"/>
                <a:cs typeface="Expert Sans" pitchFamily="34" charset="-120"/>
              </a:rPr>
              <a:t>Wrapper / recall study</a:t>
            </a:r>
            <a:endParaRPr lang="en-US" sz="1450" dirty="0"/>
          </a:p>
        </p:txBody>
      </p:sp>
      <p:sp>
        <p:nvSpPr>
          <p:cNvPr id="12" name="Text 10"/>
          <p:cNvSpPr/>
          <p:nvPr/>
        </p:nvSpPr>
        <p:spPr>
          <a:xfrm>
            <a:off x="932688" y="3374136"/>
            <a:ext cx="4622292" cy="384048"/>
          </a:xfrm>
          <a:prstGeom prst="rect">
            <a:avLst/>
          </a:prstGeom>
          <a:noFill/>
          <a:ln/>
        </p:spPr>
        <p:txBody>
          <a:bodyPr wrap="square" lIns="0" tIns="0" rIns="0" bIns="0" rtlCol="0" anchor="t"/>
          <a:lstStyle/>
          <a:p>
            <a:pPr indent="0" marL="0">
              <a:buNone/>
            </a:pPr>
            <a:r>
              <a:rPr lang="en-US" sz="1200" dirty="0">
                <a:solidFill>
                  <a:srgbClr val="3F5563"/>
                </a:solidFill>
                <a:latin typeface="Expert Sans" pitchFamily="34" charset="0"/>
                <a:ea typeface="Expert Sans" pitchFamily="34" charset="-122"/>
                <a:cs typeface="Expert Sans" pitchFamily="34" charset="-120"/>
              </a:rPr>
              <a:t>Entry-point research, recall tracking, break-even</a:t>
            </a:r>
            <a:endParaRPr lang="en-US" sz="1200" dirty="0"/>
          </a:p>
        </p:txBody>
      </p:sp>
      <p:sp>
        <p:nvSpPr>
          <p:cNvPr id="13" name="Shape 11"/>
          <p:cNvSpPr/>
          <p:nvPr/>
        </p:nvSpPr>
        <p:spPr>
          <a:xfrm>
            <a:off x="6240780" y="2862072"/>
            <a:ext cx="5353812" cy="1005840"/>
          </a:xfrm>
          <a:prstGeom prst="roundRect">
            <a:avLst>
              <a:gd name="adj" fmla="val 9091"/>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4" name="Text 12"/>
          <p:cNvSpPr/>
          <p:nvPr/>
        </p:nvSpPr>
        <p:spPr>
          <a:xfrm>
            <a:off x="6606540" y="3008376"/>
            <a:ext cx="4622292" cy="365760"/>
          </a:xfrm>
          <a:prstGeom prst="rect">
            <a:avLst/>
          </a:prstGeom>
          <a:noFill/>
          <a:ln/>
        </p:spPr>
        <p:txBody>
          <a:bodyPr wrap="square" lIns="0" tIns="0" rIns="0" bIns="0" rtlCol="0" anchor="ctr"/>
          <a:lstStyle/>
          <a:p>
            <a:pPr indent="0" marL="0">
              <a:buNone/>
            </a:pPr>
            <a:r>
              <a:rPr lang="en-US" sz="1450" b="1" dirty="0">
                <a:solidFill>
                  <a:srgbClr val="00395D"/>
                </a:solidFill>
                <a:latin typeface="Expert Sans" pitchFamily="34" charset="0"/>
                <a:ea typeface="Expert Sans" pitchFamily="34" charset="-122"/>
                <a:cs typeface="Expert Sans" pitchFamily="34" charset="-120"/>
              </a:rPr>
              <a:t>Partner due diligence + route model</a:t>
            </a:r>
            <a:endParaRPr lang="en-US" sz="1450" dirty="0"/>
          </a:p>
        </p:txBody>
      </p:sp>
      <p:sp>
        <p:nvSpPr>
          <p:cNvPr id="15" name="Text 13"/>
          <p:cNvSpPr/>
          <p:nvPr/>
        </p:nvSpPr>
        <p:spPr>
          <a:xfrm>
            <a:off x="6606540" y="3374136"/>
            <a:ext cx="4622292" cy="384048"/>
          </a:xfrm>
          <a:prstGeom prst="rect">
            <a:avLst/>
          </a:prstGeom>
          <a:noFill/>
          <a:ln/>
        </p:spPr>
        <p:txBody>
          <a:bodyPr wrap="square" lIns="0" tIns="0" rIns="0" bIns="0" rtlCol="0" anchor="t"/>
          <a:lstStyle/>
          <a:p>
            <a:pPr indent="0" marL="0">
              <a:buNone/>
            </a:pPr>
            <a:r>
              <a:rPr lang="en-US" sz="1200" dirty="0">
                <a:solidFill>
                  <a:srgbClr val="3F5563"/>
                </a:solidFill>
                <a:latin typeface="Expert Sans" pitchFamily="34" charset="0"/>
                <a:ea typeface="Expert Sans" pitchFamily="34" charset="-122"/>
                <a:cs typeface="Expert Sans" pitchFamily="34" charset="-120"/>
              </a:rPr>
              <a:t>Counterparty assessment, terms, route economics</a:t>
            </a:r>
            <a:endParaRPr lang="en-US" sz="1200" dirty="0"/>
          </a:p>
        </p:txBody>
      </p:sp>
      <p:sp>
        <p:nvSpPr>
          <p:cNvPr id="16" name="Shape 14"/>
          <p:cNvSpPr/>
          <p:nvPr/>
        </p:nvSpPr>
        <p:spPr>
          <a:xfrm>
            <a:off x="566928" y="4032504"/>
            <a:ext cx="5353812" cy="1005840"/>
          </a:xfrm>
          <a:prstGeom prst="roundRect">
            <a:avLst>
              <a:gd name="adj" fmla="val 9091"/>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17" name="Text 15"/>
          <p:cNvSpPr/>
          <p:nvPr/>
        </p:nvSpPr>
        <p:spPr>
          <a:xfrm>
            <a:off x="932688" y="4178808"/>
            <a:ext cx="4622292" cy="365760"/>
          </a:xfrm>
          <a:prstGeom prst="rect">
            <a:avLst/>
          </a:prstGeom>
          <a:noFill/>
          <a:ln/>
        </p:spPr>
        <p:txBody>
          <a:bodyPr wrap="square" lIns="0" tIns="0" rIns="0" bIns="0" rtlCol="0" anchor="ctr"/>
          <a:lstStyle/>
          <a:p>
            <a:pPr indent="0" marL="0">
              <a:buNone/>
            </a:pPr>
            <a:r>
              <a:rPr lang="en-US" sz="1450" b="1" dirty="0">
                <a:solidFill>
                  <a:srgbClr val="00395D"/>
                </a:solidFill>
                <a:latin typeface="Expert Sans" pitchFamily="34" charset="0"/>
                <a:ea typeface="Expert Sans" pitchFamily="34" charset="-122"/>
                <a:cs typeface="Expert Sans" pitchFamily="34" charset="-120"/>
              </a:rPr>
              <a:t>Method: the four analyses</a:t>
            </a:r>
            <a:endParaRPr lang="en-US" sz="1450" dirty="0"/>
          </a:p>
        </p:txBody>
      </p:sp>
      <p:sp>
        <p:nvSpPr>
          <p:cNvPr id="18" name="Text 16"/>
          <p:cNvSpPr/>
          <p:nvPr/>
        </p:nvSpPr>
        <p:spPr>
          <a:xfrm>
            <a:off x="932688" y="4544568"/>
            <a:ext cx="4622292" cy="384048"/>
          </a:xfrm>
          <a:prstGeom prst="rect">
            <a:avLst/>
          </a:prstGeom>
          <a:noFill/>
          <a:ln/>
        </p:spPr>
        <p:txBody>
          <a:bodyPr wrap="square" lIns="0" tIns="0" rIns="0" bIns="0" rtlCol="0" anchor="t"/>
          <a:lstStyle/>
          <a:p>
            <a:pPr indent="0" marL="0">
              <a:buNone/>
            </a:pPr>
            <a:r>
              <a:rPr lang="en-US" sz="1200" dirty="0">
                <a:solidFill>
                  <a:srgbClr val="3F5563"/>
                </a:solidFill>
                <a:latin typeface="Expert Sans" pitchFamily="34" charset="0"/>
                <a:ea typeface="Expert Sans" pitchFamily="34" charset="-122"/>
                <a:cs typeface="Expert Sans" pitchFamily="34" charset="-120"/>
              </a:rPr>
              <a:t>Step-by-step, next four pages — reproducible with Copilot</a:t>
            </a:r>
            <a:endParaRPr lang="en-US" sz="1200" dirty="0"/>
          </a:p>
        </p:txBody>
      </p:sp>
      <p:sp>
        <p:nvSpPr>
          <p:cNvPr id="19" name="Shape 17"/>
          <p:cNvSpPr/>
          <p:nvPr/>
        </p:nvSpPr>
        <p:spPr>
          <a:xfrm>
            <a:off x="6240780" y="4032504"/>
            <a:ext cx="5353812" cy="1005840"/>
          </a:xfrm>
          <a:prstGeom prst="roundRect">
            <a:avLst>
              <a:gd name="adj" fmla="val 9091"/>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20" name="Text 18"/>
          <p:cNvSpPr/>
          <p:nvPr/>
        </p:nvSpPr>
        <p:spPr>
          <a:xfrm>
            <a:off x="6606540" y="4178808"/>
            <a:ext cx="4622292" cy="365760"/>
          </a:xfrm>
          <a:prstGeom prst="rect">
            <a:avLst/>
          </a:prstGeom>
          <a:noFill/>
          <a:ln/>
        </p:spPr>
        <p:txBody>
          <a:bodyPr wrap="square" lIns="0" tIns="0" rIns="0" bIns="0" rtlCol="0" anchor="ctr"/>
          <a:lstStyle/>
          <a:p>
            <a:pPr indent="0" marL="0">
              <a:buNone/>
            </a:pPr>
            <a:r>
              <a:rPr lang="en-US" sz="1450" b="1" dirty="0">
                <a:solidFill>
                  <a:srgbClr val="00395D"/>
                </a:solidFill>
                <a:latin typeface="Expert Sans" pitchFamily="34" charset="0"/>
                <a:ea typeface="Expert Sans" pitchFamily="34" charset="-122"/>
                <a:cs typeface="Expert Sans" pitchFamily="34" charset="-120"/>
              </a:rPr>
              <a:t>Features considered and excluded earlier</a:t>
            </a:r>
            <a:endParaRPr lang="en-US" sz="1450" dirty="0"/>
          </a:p>
        </p:txBody>
      </p:sp>
      <p:sp>
        <p:nvSpPr>
          <p:cNvPr id="21" name="Text 19"/>
          <p:cNvSpPr/>
          <p:nvPr/>
        </p:nvSpPr>
        <p:spPr>
          <a:xfrm>
            <a:off x="6606540" y="4544568"/>
            <a:ext cx="4622292" cy="384048"/>
          </a:xfrm>
          <a:prstGeom prst="rect">
            <a:avLst/>
          </a:prstGeom>
          <a:noFill/>
          <a:ln/>
        </p:spPr>
        <p:txBody>
          <a:bodyPr wrap="square" lIns="0" tIns="0" rIns="0" bIns="0" rtlCol="0" anchor="t"/>
          <a:lstStyle/>
          <a:p>
            <a:pPr indent="0" marL="0">
              <a:buNone/>
            </a:pPr>
            <a:r>
              <a:rPr lang="en-US" sz="1200" dirty="0">
                <a:solidFill>
                  <a:srgbClr val="3F5563"/>
                </a:solidFill>
                <a:latin typeface="Expert Sans" pitchFamily="34" charset="0"/>
                <a:ea typeface="Expert Sans" pitchFamily="34" charset="-122"/>
                <a:cs typeface="Expert Sans" pitchFamily="34" charset="-120"/>
              </a:rPr>
              <a:t>Anything cut before the shortlist, and why</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0083C5"/>
                </a:solidFill>
                <a:latin typeface="Expert Sans" pitchFamily="34" charset="0"/>
                <a:ea typeface="Expert Sans" pitchFamily="34" charset="-122"/>
                <a:cs typeface="Expert Sans" pitchFamily="34" charset="-120"/>
              </a:rPr>
              <a:t>APPENDIX  ·  METHOD 1 OF 4</a:t>
            </a:r>
            <a:endParaRPr lang="en-US" sz="1100" dirty="0"/>
          </a:p>
        </p:txBody>
      </p:sp>
      <p:sp>
        <p:nvSpPr>
          <p:cNvPr id="3" name="Text 1"/>
          <p:cNvSpPr/>
          <p:nvPr/>
        </p:nvSpPr>
        <p:spPr>
          <a:xfrm>
            <a:off x="566928" y="548640"/>
            <a:ext cx="9564624" cy="969264"/>
          </a:xfrm>
          <a:prstGeom prst="rect">
            <a:avLst/>
          </a:prstGeom>
          <a:noFill/>
          <a:ln/>
        </p:spPr>
        <p:txBody>
          <a:bodyPr wrap="square" lIns="0" tIns="0" rIns="0" bIns="0" rtlCol="0" anchor="t"/>
          <a:lstStyle/>
          <a:p>
            <a:pPr algn="l" indent="0" marL="0">
              <a:lnSpc>
                <a:spcPts val="3000"/>
              </a:lnSpc>
              <a:buNone/>
            </a:pPr>
            <a:r>
              <a:rPr lang="en-US" sz="2400" dirty="0">
                <a:solidFill>
                  <a:srgbClr val="00AEEF"/>
                </a:solidFill>
                <a:latin typeface="Expert Sans" pitchFamily="34" charset="0"/>
                <a:ea typeface="Expert Sans" pitchFamily="34" charset="-122"/>
                <a:cs typeface="Expert Sans" pitchFamily="34" charset="-120"/>
              </a:rPr>
              <a:t>How the demand scores were built</a:t>
            </a:r>
            <a:endParaRPr lang="en-US" sz="2400" dirty="0"/>
          </a:p>
        </p:txBody>
      </p:sp>
      <p:sp>
        <p:nvSpPr>
          <p:cNvPr id="4" name="Shape 2"/>
          <p:cNvSpPr/>
          <p:nvPr/>
        </p:nvSpPr>
        <p:spPr>
          <a:xfrm>
            <a:off x="566928" y="1572768"/>
            <a:ext cx="3200400" cy="3520440"/>
          </a:xfrm>
          <a:prstGeom prst="roundRect">
            <a:avLst>
              <a:gd name="adj" fmla="val 2857"/>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5" name="Text 3"/>
          <p:cNvSpPr/>
          <p:nvPr/>
        </p:nvSpPr>
        <p:spPr>
          <a:xfrm>
            <a:off x="859536" y="1755648"/>
            <a:ext cx="2651760" cy="310896"/>
          </a:xfrm>
          <a:prstGeom prst="rect">
            <a:avLst/>
          </a:prstGeom>
          <a:noFill/>
          <a:ln/>
        </p:spPr>
        <p:txBody>
          <a:bodyPr wrap="square" lIns="0" tIns="0" rIns="0" bIns="0" rtlCol="0" anchor="ctr"/>
          <a:lstStyle/>
          <a:p>
            <a:pPr indent="0" marL="0">
              <a:buNone/>
            </a:pPr>
            <a:r>
              <a:rPr lang="en-US" sz="1150" b="1" spc="200" kern="0" dirty="0">
                <a:solidFill>
                  <a:srgbClr val="0083C5"/>
                </a:solidFill>
                <a:latin typeface="Expert Sans" pitchFamily="34" charset="0"/>
                <a:ea typeface="Expert Sans" pitchFamily="34" charset="-122"/>
                <a:cs typeface="Expert Sans" pitchFamily="34" charset="-120"/>
              </a:rPr>
              <a:t>Inputs required</a:t>
            </a:r>
            <a:endParaRPr lang="en-US" sz="1150" dirty="0"/>
          </a:p>
        </p:txBody>
      </p:sp>
      <p:sp>
        <p:nvSpPr>
          <p:cNvPr id="6" name="Text 4"/>
          <p:cNvSpPr/>
          <p:nvPr/>
        </p:nvSpPr>
        <p:spPr>
          <a:xfrm>
            <a:off x="859536" y="2121408"/>
            <a:ext cx="2697480" cy="2834640"/>
          </a:xfrm>
          <a:prstGeom prst="rect">
            <a:avLst/>
          </a:prstGeom>
          <a:noFill/>
          <a:ln/>
        </p:spPr>
        <p:txBody>
          <a:bodyPr wrap="square" lIns="0" tIns="0" rIns="0" bIns="0" rtlCol="0" anchor="t"/>
          <a:lstStyle/>
          <a:p>
            <a:pPr marL="342900" indent="-342900">
              <a:lnSpc>
                <a:spcPts val="1600"/>
              </a:lnSpc>
              <a:spcAft>
                <a:spcPts val="700"/>
              </a:spcAft>
              <a:buSzPct val="100000"/>
              <a:buChar char="•"/>
            </a:pPr>
            <a:r>
              <a:rPr lang="en-US" sz="1150" dirty="0">
                <a:solidFill>
                  <a:srgbClr val="3F5563"/>
                </a:solidFill>
                <a:latin typeface="Expert Sans" pitchFamily="34" charset="0"/>
                <a:ea typeface="Expert Sans" pitchFamily="34" charset="-122"/>
                <a:cs typeface="Expert Sans" pitchFamily="34" charset="-120"/>
              </a:rPr>
              <a:t>Segment interviews (n, dates)</a:t>
            </a:r>
            <a:endParaRPr lang="en-US" sz="1150" dirty="0"/>
          </a:p>
          <a:p>
            <a:pPr marL="342900" indent="-342900">
              <a:lnSpc>
                <a:spcPts val="1600"/>
              </a:lnSpc>
              <a:spcAft>
                <a:spcPts val="700"/>
              </a:spcAft>
              <a:buSzPct val="100000"/>
              <a:buChar char="•"/>
            </a:pPr>
            <a:r>
              <a:rPr lang="en-US" sz="1150" dirty="0">
                <a:solidFill>
                  <a:srgbClr val="3F5563"/>
                </a:solidFill>
                <a:latin typeface="Expert Sans" pitchFamily="34" charset="0"/>
                <a:ea typeface="Expert Sans" pitchFamily="34" charset="-122"/>
                <a:cs typeface="Expert Sans" pitchFamily="34" charset="-120"/>
              </a:rPr>
              <a:t>Incumbent solution facts and prices</a:t>
            </a:r>
            <a:endParaRPr lang="en-US" sz="1150" dirty="0"/>
          </a:p>
          <a:p>
            <a:pPr marL="342900" indent="-342900">
              <a:lnSpc>
                <a:spcPts val="1600"/>
              </a:lnSpc>
              <a:spcAft>
                <a:spcPts val="700"/>
              </a:spcAft>
              <a:buSzPct val="100000"/>
              <a:buChar char="•"/>
            </a:pPr>
            <a:r>
              <a:rPr lang="en-US" sz="1150" dirty="0">
                <a:solidFill>
                  <a:srgbClr val="3F5563"/>
                </a:solidFill>
                <a:latin typeface="Expert Sans" pitchFamily="34" charset="0"/>
                <a:ea typeface="Expert Sans" pitchFamily="34" charset="-122"/>
                <a:cs typeface="Expert Sans" pitchFamily="34" charset="-120"/>
              </a:rPr>
              <a:t>Feature specs and price points</a:t>
            </a:r>
            <a:endParaRPr lang="en-US" sz="1150" dirty="0"/>
          </a:p>
          <a:p>
            <a:pPr marL="342900" indent="-342900">
              <a:lnSpc>
                <a:spcPts val="1600"/>
              </a:lnSpc>
              <a:spcAft>
                <a:spcPts val="700"/>
              </a:spcAft>
              <a:buSzPct val="100000"/>
              <a:buChar char="•"/>
            </a:pPr>
            <a:r>
              <a:rPr lang="en-US" sz="1150" dirty="0">
                <a:solidFill>
                  <a:srgbClr val="3F5563"/>
                </a:solidFill>
                <a:latin typeface="Expert Sans" pitchFamily="34" charset="0"/>
                <a:ea typeface="Expert Sans" pitchFamily="34" charset="-122"/>
                <a:cs typeface="Expert Sans" pitchFamily="34" charset="-120"/>
              </a:rPr>
              <a:t>Past-launch calibration data</a:t>
            </a:r>
            <a:endParaRPr lang="en-US" sz="1150" dirty="0"/>
          </a:p>
        </p:txBody>
      </p:sp>
      <p:sp>
        <p:nvSpPr>
          <p:cNvPr id="7" name="Shape 5"/>
          <p:cNvSpPr/>
          <p:nvPr/>
        </p:nvSpPr>
        <p:spPr>
          <a:xfrm>
            <a:off x="4087368" y="1627632"/>
            <a:ext cx="365760" cy="365760"/>
          </a:xfrm>
          <a:prstGeom prst="ellipse">
            <a:avLst/>
          </a:prstGeom>
          <a:solidFill>
            <a:srgbClr val="00AEEF"/>
          </a:solidFill>
          <a:ln w="12700">
            <a:solidFill>
              <a:srgbClr val="00AEEF"/>
            </a:solidFill>
            <a:prstDash val="solid"/>
          </a:ln>
        </p:spPr>
      </p:sp>
      <p:sp>
        <p:nvSpPr>
          <p:cNvPr id="8" name="Text 6"/>
          <p:cNvSpPr/>
          <p:nvPr/>
        </p:nvSpPr>
        <p:spPr>
          <a:xfrm>
            <a:off x="4087368" y="1627632"/>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Expert Sans" pitchFamily="34" charset="0"/>
                <a:ea typeface="Expert Sans" pitchFamily="34" charset="-122"/>
                <a:cs typeface="Expert Sans" pitchFamily="34" charset="-120"/>
              </a:rPr>
              <a:t>1</a:t>
            </a:r>
            <a:endParaRPr lang="en-US" sz="1600" dirty="0"/>
          </a:p>
        </p:txBody>
      </p:sp>
      <p:sp>
        <p:nvSpPr>
          <p:cNvPr id="9" name="Text 7"/>
          <p:cNvSpPr/>
          <p:nvPr/>
        </p:nvSpPr>
        <p:spPr>
          <a:xfrm>
            <a:off x="4608576" y="1572768"/>
            <a:ext cx="6867144" cy="658368"/>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Expert Sans" pitchFamily="34" charset="0"/>
                <a:ea typeface="Expert Sans" pitchFamily="34" charset="-122"/>
                <a:cs typeface="Expert Sans" pitchFamily="34" charset="-120"/>
              </a:rPr>
              <a:t>Derive the segment's outcomes: build the outcome ladder for the job; keep the minimal covering set (OCV standard, step 1a).</a:t>
            </a:r>
            <a:endParaRPr lang="en-US" sz="1200" dirty="0"/>
          </a:p>
        </p:txBody>
      </p:sp>
      <p:sp>
        <p:nvSpPr>
          <p:cNvPr id="10" name="Shape 8"/>
          <p:cNvSpPr/>
          <p:nvPr/>
        </p:nvSpPr>
        <p:spPr>
          <a:xfrm>
            <a:off x="4087368" y="2340864"/>
            <a:ext cx="365760" cy="365760"/>
          </a:xfrm>
          <a:prstGeom prst="ellipse">
            <a:avLst/>
          </a:prstGeom>
          <a:solidFill>
            <a:srgbClr val="00AEEF"/>
          </a:solidFill>
          <a:ln w="12700">
            <a:solidFill>
              <a:srgbClr val="00AEEF"/>
            </a:solidFill>
            <a:prstDash val="solid"/>
          </a:ln>
        </p:spPr>
      </p:sp>
      <p:sp>
        <p:nvSpPr>
          <p:cNvPr id="11" name="Text 9"/>
          <p:cNvSpPr/>
          <p:nvPr/>
        </p:nvSpPr>
        <p:spPr>
          <a:xfrm>
            <a:off x="4087368" y="2340864"/>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Expert Sans" pitchFamily="34" charset="0"/>
                <a:ea typeface="Expert Sans" pitchFamily="34" charset="-122"/>
                <a:cs typeface="Expert Sans" pitchFamily="34" charset="-120"/>
              </a:rPr>
              <a:t>2</a:t>
            </a:r>
            <a:endParaRPr lang="en-US" sz="1600" dirty="0"/>
          </a:p>
        </p:txBody>
      </p:sp>
      <p:sp>
        <p:nvSpPr>
          <p:cNvPr id="12" name="Text 10"/>
          <p:cNvSpPr/>
          <p:nvPr/>
        </p:nvSpPr>
        <p:spPr>
          <a:xfrm>
            <a:off x="4608576" y="2286000"/>
            <a:ext cx="6867144" cy="658368"/>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Expert Sans" pitchFamily="34" charset="0"/>
                <a:ea typeface="Expert Sans" pitchFamily="34" charset="-122"/>
                <a:cs typeface="Expert Sans" pitchFamily="34" charset="-120"/>
              </a:rPr>
              <a:t>Score each feature against the incumbent per component: financial, time and stress deltas, time priced at the standard's conventions.</a:t>
            </a:r>
            <a:endParaRPr lang="en-US" sz="1200" dirty="0"/>
          </a:p>
        </p:txBody>
      </p:sp>
      <p:sp>
        <p:nvSpPr>
          <p:cNvPr id="13" name="Shape 11"/>
          <p:cNvSpPr/>
          <p:nvPr/>
        </p:nvSpPr>
        <p:spPr>
          <a:xfrm>
            <a:off x="4087368" y="3054096"/>
            <a:ext cx="365760" cy="365760"/>
          </a:xfrm>
          <a:prstGeom prst="ellipse">
            <a:avLst/>
          </a:prstGeom>
          <a:solidFill>
            <a:srgbClr val="00AEEF"/>
          </a:solidFill>
          <a:ln w="12700">
            <a:solidFill>
              <a:srgbClr val="00AEEF"/>
            </a:solidFill>
            <a:prstDash val="solid"/>
          </a:ln>
        </p:spPr>
      </p:sp>
      <p:sp>
        <p:nvSpPr>
          <p:cNvPr id="14" name="Text 12"/>
          <p:cNvSpPr/>
          <p:nvPr/>
        </p:nvSpPr>
        <p:spPr>
          <a:xfrm>
            <a:off x="4087368" y="3054096"/>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Expert Sans" pitchFamily="34" charset="0"/>
                <a:ea typeface="Expert Sans" pitchFamily="34" charset="-122"/>
                <a:cs typeface="Expert Sans" pitchFamily="34" charset="-120"/>
              </a:rPr>
              <a:t>3</a:t>
            </a:r>
            <a:endParaRPr lang="en-US" sz="1600" dirty="0"/>
          </a:p>
        </p:txBody>
      </p:sp>
      <p:sp>
        <p:nvSpPr>
          <p:cNvPr id="15" name="Text 13"/>
          <p:cNvSpPr/>
          <p:nvPr/>
        </p:nvSpPr>
        <p:spPr>
          <a:xfrm>
            <a:off x="4608576" y="2999232"/>
            <a:ext cx="6867144" cy="658368"/>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Expert Sans" pitchFamily="34" charset="0"/>
                <a:ea typeface="Expert Sans" pitchFamily="34" charset="-122"/>
                <a:cs typeface="Expert Sans" pitchFamily="34" charset="-120"/>
              </a:rPr>
              <a:t>Subtract switching costs (the standard's taxonomy). Adjust each component for visibility and credibility — contractual anchors beat claimed ones.</a:t>
            </a:r>
            <a:endParaRPr lang="en-US" sz="1200" dirty="0"/>
          </a:p>
        </p:txBody>
      </p:sp>
      <p:sp>
        <p:nvSpPr>
          <p:cNvPr id="16" name="Shape 14"/>
          <p:cNvSpPr/>
          <p:nvPr/>
        </p:nvSpPr>
        <p:spPr>
          <a:xfrm>
            <a:off x="4087368" y="3767328"/>
            <a:ext cx="365760" cy="365760"/>
          </a:xfrm>
          <a:prstGeom prst="ellipse">
            <a:avLst/>
          </a:prstGeom>
          <a:solidFill>
            <a:srgbClr val="00AEEF"/>
          </a:solidFill>
          <a:ln w="12700">
            <a:solidFill>
              <a:srgbClr val="00AEEF"/>
            </a:solidFill>
            <a:prstDash val="solid"/>
          </a:ln>
        </p:spPr>
      </p:sp>
      <p:sp>
        <p:nvSpPr>
          <p:cNvPr id="17" name="Text 15"/>
          <p:cNvSpPr/>
          <p:nvPr/>
        </p:nvSpPr>
        <p:spPr>
          <a:xfrm>
            <a:off x="4087368" y="3767328"/>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Expert Sans" pitchFamily="34" charset="0"/>
                <a:ea typeface="Expert Sans" pitchFamily="34" charset="-122"/>
                <a:cs typeface="Expert Sans" pitchFamily="34" charset="-120"/>
              </a:rPr>
              <a:t>4</a:t>
            </a:r>
            <a:endParaRPr lang="en-US" sz="1600" dirty="0"/>
          </a:p>
        </p:txBody>
      </p:sp>
      <p:sp>
        <p:nvSpPr>
          <p:cNvPr id="18" name="Text 16"/>
          <p:cNvSpPr/>
          <p:nvPr/>
        </p:nvSpPr>
        <p:spPr>
          <a:xfrm>
            <a:off x="4608576" y="3712464"/>
            <a:ext cx="6867144" cy="658368"/>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Expert Sans" pitchFamily="34" charset="0"/>
                <a:ea typeface="Expert Sans" pitchFamily="34" charset="-122"/>
                <a:cs typeface="Expert Sans" pitchFamily="34" charset="-120"/>
              </a:rPr>
              <a:t>Sum to the OCV score. Map to predicted uptake with the calibration table; set the gate from past launches, not from the answer you want.</a:t>
            </a:r>
            <a:endParaRPr lang="en-US" sz="1200" dirty="0"/>
          </a:p>
        </p:txBody>
      </p:sp>
      <p:sp>
        <p:nvSpPr>
          <p:cNvPr id="19" name="Shape 17"/>
          <p:cNvSpPr/>
          <p:nvPr/>
        </p:nvSpPr>
        <p:spPr>
          <a:xfrm>
            <a:off x="4087368" y="4480560"/>
            <a:ext cx="365760" cy="365760"/>
          </a:xfrm>
          <a:prstGeom prst="ellipse">
            <a:avLst/>
          </a:prstGeom>
          <a:solidFill>
            <a:srgbClr val="00AEEF"/>
          </a:solidFill>
          <a:ln w="12700">
            <a:solidFill>
              <a:srgbClr val="00AEEF"/>
            </a:solidFill>
            <a:prstDash val="solid"/>
          </a:ln>
        </p:spPr>
      </p:sp>
      <p:sp>
        <p:nvSpPr>
          <p:cNvPr id="20" name="Text 18"/>
          <p:cNvSpPr/>
          <p:nvPr/>
        </p:nvSpPr>
        <p:spPr>
          <a:xfrm>
            <a:off x="4087368" y="448056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Expert Sans" pitchFamily="34" charset="0"/>
                <a:ea typeface="Expert Sans" pitchFamily="34" charset="-122"/>
                <a:cs typeface="Expert Sans" pitchFamily="34" charset="-120"/>
              </a:rPr>
              <a:t>5</a:t>
            </a:r>
            <a:endParaRPr lang="en-US" sz="1600" dirty="0"/>
          </a:p>
        </p:txBody>
      </p:sp>
      <p:sp>
        <p:nvSpPr>
          <p:cNvPr id="21" name="Text 19"/>
          <p:cNvSpPr/>
          <p:nvPr/>
        </p:nvSpPr>
        <p:spPr>
          <a:xfrm>
            <a:off x="4608576" y="4425696"/>
            <a:ext cx="6867144" cy="658368"/>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Expert Sans" pitchFamily="34" charset="0"/>
                <a:ea typeface="Expert Sans" pitchFamily="34" charset="-122"/>
                <a:cs typeface="Expert Sans" pitchFamily="34" charset="-120"/>
              </a:rPr>
              <a:t>Rank the features. Record every input in the evidence register with source and date — the register is what the quarterly re-score re-runs.</a:t>
            </a:r>
            <a:endParaRPr lang="en-US" sz="1200" dirty="0"/>
          </a:p>
        </p:txBody>
      </p:sp>
      <p:sp>
        <p:nvSpPr>
          <p:cNvPr id="22" name="Shape 20"/>
          <p:cNvSpPr/>
          <p:nvPr/>
        </p:nvSpPr>
        <p:spPr>
          <a:xfrm>
            <a:off x="566928" y="5285232"/>
            <a:ext cx="11027664" cy="914400"/>
          </a:xfrm>
          <a:prstGeom prst="roundRect">
            <a:avLst>
              <a:gd name="adj" fmla="val 10000"/>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23" name="Text 21"/>
          <p:cNvSpPr/>
          <p:nvPr/>
        </p:nvSpPr>
        <p:spPr>
          <a:xfrm>
            <a:off x="950976" y="5413248"/>
            <a:ext cx="2743200" cy="274320"/>
          </a:xfrm>
          <a:prstGeom prst="rect">
            <a:avLst/>
          </a:prstGeom>
          <a:noFill/>
          <a:ln/>
        </p:spPr>
        <p:txBody>
          <a:bodyPr wrap="square" lIns="0" tIns="0" rIns="0" bIns="0" rtlCol="0" anchor="ctr"/>
          <a:lstStyle/>
          <a:p>
            <a:pPr indent="0" marL="0">
              <a:buNone/>
            </a:pPr>
            <a:r>
              <a:rPr lang="en-US" sz="1100" b="1" spc="200" kern="0" dirty="0">
                <a:solidFill>
                  <a:srgbClr val="0083C5"/>
                </a:solidFill>
                <a:latin typeface="Expert Sans" pitchFamily="34" charset="0"/>
                <a:ea typeface="Expert Sans" pitchFamily="34" charset="-122"/>
                <a:cs typeface="Expert Sans" pitchFamily="34" charset="-120"/>
              </a:rPr>
              <a:t>Run it with Copilot</a:t>
            </a:r>
            <a:endParaRPr lang="en-US" sz="1100" dirty="0"/>
          </a:p>
        </p:txBody>
      </p:sp>
      <p:sp>
        <p:nvSpPr>
          <p:cNvPr id="24" name="Text 22"/>
          <p:cNvSpPr/>
          <p:nvPr/>
        </p:nvSpPr>
        <p:spPr>
          <a:xfrm>
            <a:off x="950976" y="5687568"/>
            <a:ext cx="10113264" cy="457200"/>
          </a:xfrm>
          <a:prstGeom prst="rect">
            <a:avLst/>
          </a:prstGeom>
          <a:noFill/>
          <a:ln/>
        </p:spPr>
        <p:txBody>
          <a:bodyPr wrap="square" lIns="0" tIns="0" rIns="0" bIns="0" rtlCol="0" anchor="t"/>
          <a:lstStyle/>
          <a:p>
            <a:pPr indent="0" marL="0">
              <a:lnSpc>
                <a:spcPts val="1600"/>
              </a:lnSpc>
              <a:buNone/>
            </a:pPr>
            <a:r>
              <a:rPr lang="en-US" sz="1200" dirty="0">
                <a:solidFill>
                  <a:srgbClr val="00395D"/>
                </a:solidFill>
                <a:latin typeface="Expert Sans" pitchFamily="34" charset="0"/>
                <a:ea typeface="Expert Sans" pitchFamily="34" charset="-122"/>
                <a:cs typeface="Expert Sans" pitchFamily="34" charset="-120"/>
              </a:rPr>
              <a:t>Attach objective-customer-value-standard.md (same repository). One chat per feature. Paste the step, the feature spec and the register; require evidence for AND against.   ·   Output feeds: slides 8–9, and the uptake input to the sort</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0083C5"/>
                </a:solidFill>
                <a:latin typeface="Expert Sans" pitchFamily="34" charset="0"/>
                <a:ea typeface="Expert Sans" pitchFamily="34" charset="-122"/>
                <a:cs typeface="Expert Sans" pitchFamily="34" charset="-120"/>
              </a:rPr>
              <a:t>APPENDIX  ·  METHOD 2 OF 4</a:t>
            </a:r>
            <a:endParaRPr lang="en-US" sz="1100" dirty="0"/>
          </a:p>
        </p:txBody>
      </p:sp>
      <p:sp>
        <p:nvSpPr>
          <p:cNvPr id="3" name="Text 1"/>
          <p:cNvSpPr/>
          <p:nvPr/>
        </p:nvSpPr>
        <p:spPr>
          <a:xfrm>
            <a:off x="566928" y="548640"/>
            <a:ext cx="9564624" cy="969264"/>
          </a:xfrm>
          <a:prstGeom prst="rect">
            <a:avLst/>
          </a:prstGeom>
          <a:noFill/>
          <a:ln/>
        </p:spPr>
        <p:txBody>
          <a:bodyPr wrap="square" lIns="0" tIns="0" rIns="0" bIns="0" rtlCol="0" anchor="t"/>
          <a:lstStyle/>
          <a:p>
            <a:pPr algn="l" indent="0" marL="0">
              <a:lnSpc>
                <a:spcPts val="3000"/>
              </a:lnSpc>
              <a:buNone/>
            </a:pPr>
            <a:r>
              <a:rPr lang="en-US" sz="2400" dirty="0">
                <a:solidFill>
                  <a:srgbClr val="00AEEF"/>
                </a:solidFill>
                <a:latin typeface="Expert Sans" pitchFamily="34" charset="0"/>
                <a:ea typeface="Expert Sans" pitchFamily="34" charset="-122"/>
                <a:cs typeface="Expert Sans" pitchFamily="34" charset="-120"/>
              </a:rPr>
              <a:t>How the backlog was sorted</a:t>
            </a:r>
            <a:endParaRPr lang="en-US" sz="2400" dirty="0"/>
          </a:p>
        </p:txBody>
      </p:sp>
      <p:sp>
        <p:nvSpPr>
          <p:cNvPr id="4" name="Shape 2"/>
          <p:cNvSpPr/>
          <p:nvPr/>
        </p:nvSpPr>
        <p:spPr>
          <a:xfrm>
            <a:off x="566928" y="1572768"/>
            <a:ext cx="3200400" cy="3520440"/>
          </a:xfrm>
          <a:prstGeom prst="roundRect">
            <a:avLst>
              <a:gd name="adj" fmla="val 2857"/>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5" name="Text 3"/>
          <p:cNvSpPr/>
          <p:nvPr/>
        </p:nvSpPr>
        <p:spPr>
          <a:xfrm>
            <a:off x="859536" y="1755648"/>
            <a:ext cx="2651760" cy="310896"/>
          </a:xfrm>
          <a:prstGeom prst="rect">
            <a:avLst/>
          </a:prstGeom>
          <a:noFill/>
          <a:ln/>
        </p:spPr>
        <p:txBody>
          <a:bodyPr wrap="square" lIns="0" tIns="0" rIns="0" bIns="0" rtlCol="0" anchor="ctr"/>
          <a:lstStyle/>
          <a:p>
            <a:pPr indent="0" marL="0">
              <a:buNone/>
            </a:pPr>
            <a:r>
              <a:rPr lang="en-US" sz="1150" b="1" spc="200" kern="0" dirty="0">
                <a:solidFill>
                  <a:srgbClr val="0083C5"/>
                </a:solidFill>
                <a:latin typeface="Expert Sans" pitchFamily="34" charset="0"/>
                <a:ea typeface="Expert Sans" pitchFamily="34" charset="-122"/>
                <a:cs typeface="Expert Sans" pitchFamily="34" charset="-120"/>
              </a:rPr>
              <a:t>Inputs required</a:t>
            </a:r>
            <a:endParaRPr lang="en-US" sz="1150" dirty="0"/>
          </a:p>
        </p:txBody>
      </p:sp>
      <p:sp>
        <p:nvSpPr>
          <p:cNvPr id="6" name="Text 4"/>
          <p:cNvSpPr/>
          <p:nvPr/>
        </p:nvSpPr>
        <p:spPr>
          <a:xfrm>
            <a:off x="859536" y="2121408"/>
            <a:ext cx="2697480" cy="2834640"/>
          </a:xfrm>
          <a:prstGeom prst="rect">
            <a:avLst/>
          </a:prstGeom>
          <a:noFill/>
          <a:ln/>
        </p:spPr>
        <p:txBody>
          <a:bodyPr wrap="square" lIns="0" tIns="0" rIns="0" bIns="0" rtlCol="0" anchor="t"/>
          <a:lstStyle/>
          <a:p>
            <a:pPr marL="342900" indent="-342900">
              <a:lnSpc>
                <a:spcPts val="1600"/>
              </a:lnSpc>
              <a:spcAft>
                <a:spcPts val="700"/>
              </a:spcAft>
              <a:buSzPct val="100000"/>
              <a:buChar char="•"/>
            </a:pPr>
            <a:r>
              <a:rPr lang="en-US" sz="1150" dirty="0">
                <a:solidFill>
                  <a:srgbClr val="3F5563"/>
                </a:solidFill>
                <a:latin typeface="Expert Sans" pitchFamily="34" charset="0"/>
                <a:ea typeface="Expert Sans" pitchFamily="34" charset="-122"/>
                <a:cs typeface="Expert Sans" pitchFamily="34" charset="-120"/>
              </a:rPr>
              <a:t>Uptake per feature (from method 1)</a:t>
            </a:r>
            <a:endParaRPr lang="en-US" sz="1150" dirty="0"/>
          </a:p>
          <a:p>
            <a:pPr marL="342900" indent="-342900">
              <a:lnSpc>
                <a:spcPts val="1600"/>
              </a:lnSpc>
              <a:spcAft>
                <a:spcPts val="700"/>
              </a:spcAft>
              <a:buSzPct val="100000"/>
              <a:buChar char="•"/>
            </a:pPr>
            <a:r>
              <a:rPr lang="en-US" sz="1150" dirty="0">
                <a:solidFill>
                  <a:srgbClr val="3F5563"/>
                </a:solidFill>
                <a:latin typeface="Expert Sans" pitchFamily="34" charset="0"/>
                <a:ea typeface="Expert Sans" pitchFamily="34" charset="-122"/>
                <a:cs typeface="Expert Sans" pitchFamily="34" charset="-120"/>
              </a:rPr>
              <a:t>Margin model per feature</a:t>
            </a:r>
            <a:endParaRPr lang="en-US" sz="1150" dirty="0"/>
          </a:p>
          <a:p>
            <a:pPr marL="342900" indent="-342900">
              <a:lnSpc>
                <a:spcPts val="1600"/>
              </a:lnSpc>
              <a:spcAft>
                <a:spcPts val="700"/>
              </a:spcAft>
              <a:buSzPct val="100000"/>
              <a:buChar char="•"/>
            </a:pPr>
            <a:r>
              <a:rPr lang="en-US" sz="1150" dirty="0">
                <a:solidFill>
                  <a:srgbClr val="3F5563"/>
                </a:solidFill>
                <a:latin typeface="Expert Sans" pitchFamily="34" charset="0"/>
                <a:ea typeface="Expert Sans" pitchFamily="34" charset="-122"/>
                <a:cs typeface="Expert Sans" pitchFamily="34" charset="-120"/>
              </a:rPr>
              <a:t>Build-slot estimates per feature</a:t>
            </a:r>
            <a:endParaRPr lang="en-US" sz="1150" dirty="0"/>
          </a:p>
          <a:p>
            <a:pPr marL="342900" indent="-342900">
              <a:lnSpc>
                <a:spcPts val="1600"/>
              </a:lnSpc>
              <a:spcAft>
                <a:spcPts val="700"/>
              </a:spcAft>
              <a:buSzPct val="100000"/>
              <a:buChar char="•"/>
            </a:pPr>
            <a:r>
              <a:rPr lang="en-US" sz="1150" dirty="0">
                <a:solidFill>
                  <a:srgbClr val="3F5563"/>
                </a:solidFill>
                <a:latin typeface="Expert Sans" pitchFamily="34" charset="0"/>
                <a:ea typeface="Expert Sans" pitchFamily="34" charset="-122"/>
                <a:cs typeface="Expert Sans" pitchFamily="34" charset="-120"/>
              </a:rPr>
              <a:t>Past campaign results, by lever</a:t>
            </a:r>
            <a:endParaRPr lang="en-US" sz="1150" dirty="0"/>
          </a:p>
        </p:txBody>
      </p:sp>
      <p:sp>
        <p:nvSpPr>
          <p:cNvPr id="7" name="Shape 5"/>
          <p:cNvSpPr/>
          <p:nvPr/>
        </p:nvSpPr>
        <p:spPr>
          <a:xfrm>
            <a:off x="4087368" y="1627632"/>
            <a:ext cx="365760" cy="365760"/>
          </a:xfrm>
          <a:prstGeom prst="ellipse">
            <a:avLst/>
          </a:prstGeom>
          <a:solidFill>
            <a:srgbClr val="00AEEF"/>
          </a:solidFill>
          <a:ln w="12700">
            <a:solidFill>
              <a:srgbClr val="00AEEF"/>
            </a:solidFill>
            <a:prstDash val="solid"/>
          </a:ln>
        </p:spPr>
      </p:sp>
      <p:sp>
        <p:nvSpPr>
          <p:cNvPr id="8" name="Text 6"/>
          <p:cNvSpPr/>
          <p:nvPr/>
        </p:nvSpPr>
        <p:spPr>
          <a:xfrm>
            <a:off x="4087368" y="1627632"/>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Expert Sans" pitchFamily="34" charset="0"/>
                <a:ea typeface="Expert Sans" pitchFamily="34" charset="-122"/>
                <a:cs typeface="Expert Sans" pitchFamily="34" charset="-120"/>
              </a:rPr>
              <a:t>1</a:t>
            </a:r>
            <a:endParaRPr lang="en-US" sz="1600" dirty="0"/>
          </a:p>
        </p:txBody>
      </p:sp>
      <p:sp>
        <p:nvSpPr>
          <p:cNvPr id="9" name="Text 7"/>
          <p:cNvSpPr/>
          <p:nvPr/>
        </p:nvSpPr>
        <p:spPr>
          <a:xfrm>
            <a:off x="4608576" y="1572768"/>
            <a:ext cx="6867144" cy="658368"/>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Expert Sans" pitchFamily="34" charset="0"/>
                <a:ea typeface="Expert Sans" pitchFamily="34" charset="-122"/>
                <a:cs typeface="Expert Sans" pitchFamily="34" charset="-120"/>
              </a:rPr>
              <a:t>Build the base case per admitted feature: predicted uptake × price × margin, before any lever.</a:t>
            </a:r>
            <a:endParaRPr lang="en-US" sz="1200" dirty="0"/>
          </a:p>
        </p:txBody>
      </p:sp>
      <p:sp>
        <p:nvSpPr>
          <p:cNvPr id="10" name="Shape 8"/>
          <p:cNvSpPr/>
          <p:nvPr/>
        </p:nvSpPr>
        <p:spPr>
          <a:xfrm>
            <a:off x="4087368" y="2340864"/>
            <a:ext cx="365760" cy="365760"/>
          </a:xfrm>
          <a:prstGeom prst="ellipse">
            <a:avLst/>
          </a:prstGeom>
          <a:solidFill>
            <a:srgbClr val="00AEEF"/>
          </a:solidFill>
          <a:ln w="12700">
            <a:solidFill>
              <a:srgbClr val="00AEEF"/>
            </a:solidFill>
            <a:prstDash val="solid"/>
          </a:ln>
        </p:spPr>
      </p:sp>
      <p:sp>
        <p:nvSpPr>
          <p:cNvPr id="11" name="Text 9"/>
          <p:cNvSpPr/>
          <p:nvPr/>
        </p:nvSpPr>
        <p:spPr>
          <a:xfrm>
            <a:off x="4087368" y="2340864"/>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Expert Sans" pitchFamily="34" charset="0"/>
                <a:ea typeface="Expert Sans" pitchFamily="34" charset="-122"/>
                <a:cs typeface="Expert Sans" pitchFamily="34" charset="-120"/>
              </a:rPr>
              <a:t>2</a:t>
            </a:r>
            <a:endParaRPr lang="en-US" sz="1600" dirty="0"/>
          </a:p>
        </p:txBody>
      </p:sp>
      <p:sp>
        <p:nvSpPr>
          <p:cNvPr id="12" name="Text 10"/>
          <p:cNvSpPr/>
          <p:nvPr/>
        </p:nvSpPr>
        <p:spPr>
          <a:xfrm>
            <a:off x="4608576" y="2286000"/>
            <a:ext cx="6867144" cy="658368"/>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Expert Sans" pitchFamily="34" charset="0"/>
                <a:ea typeface="Expert Sans" pitchFamily="34" charset="-122"/>
                <a:cs typeface="Expert Sans" pitchFamily="34" charset="-120"/>
              </a:rPr>
              <a:t>Size the levers with the two-part test: would the behaviour happen anyway, and could a default do it free? Price the dead-weight in.</a:t>
            </a:r>
            <a:endParaRPr lang="en-US" sz="1200" dirty="0"/>
          </a:p>
        </p:txBody>
      </p:sp>
      <p:sp>
        <p:nvSpPr>
          <p:cNvPr id="13" name="Shape 11"/>
          <p:cNvSpPr/>
          <p:nvPr/>
        </p:nvSpPr>
        <p:spPr>
          <a:xfrm>
            <a:off x="4087368" y="3054096"/>
            <a:ext cx="365760" cy="365760"/>
          </a:xfrm>
          <a:prstGeom prst="ellipse">
            <a:avLst/>
          </a:prstGeom>
          <a:solidFill>
            <a:srgbClr val="00AEEF"/>
          </a:solidFill>
          <a:ln w="12700">
            <a:solidFill>
              <a:srgbClr val="00AEEF"/>
            </a:solidFill>
            <a:prstDash val="solid"/>
          </a:ln>
        </p:spPr>
      </p:sp>
      <p:sp>
        <p:nvSpPr>
          <p:cNvPr id="14" name="Text 12"/>
          <p:cNvSpPr/>
          <p:nvPr/>
        </p:nvSpPr>
        <p:spPr>
          <a:xfrm>
            <a:off x="4087368" y="3054096"/>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Expert Sans" pitchFamily="34" charset="0"/>
                <a:ea typeface="Expert Sans" pitchFamily="34" charset="-122"/>
                <a:cs typeface="Expert Sans" pitchFamily="34" charset="-120"/>
              </a:rPr>
              <a:t>3</a:t>
            </a:r>
            <a:endParaRPr lang="en-US" sz="1600" dirty="0"/>
          </a:p>
        </p:txBody>
      </p:sp>
      <p:sp>
        <p:nvSpPr>
          <p:cNvPr id="15" name="Text 13"/>
          <p:cNvSpPr/>
          <p:nvPr/>
        </p:nvSpPr>
        <p:spPr>
          <a:xfrm>
            <a:off x="4608576" y="2999232"/>
            <a:ext cx="6867144" cy="658368"/>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Expert Sans" pitchFamily="34" charset="0"/>
                <a:ea typeface="Expert Sans" pitchFamily="34" charset="-122"/>
                <a:cs typeface="Expert Sans" pitchFamily="34" charset="-120"/>
              </a:rPr>
              <a:t>Discount each feature's configured NPV for its route's timing and confidence (method 4 supplies both).</a:t>
            </a:r>
            <a:endParaRPr lang="en-US" sz="1200" dirty="0"/>
          </a:p>
        </p:txBody>
      </p:sp>
      <p:sp>
        <p:nvSpPr>
          <p:cNvPr id="16" name="Shape 14"/>
          <p:cNvSpPr/>
          <p:nvPr/>
        </p:nvSpPr>
        <p:spPr>
          <a:xfrm>
            <a:off x="4087368" y="3767328"/>
            <a:ext cx="365760" cy="365760"/>
          </a:xfrm>
          <a:prstGeom prst="ellipse">
            <a:avLst/>
          </a:prstGeom>
          <a:solidFill>
            <a:srgbClr val="00AEEF"/>
          </a:solidFill>
          <a:ln w="12700">
            <a:solidFill>
              <a:srgbClr val="00AEEF"/>
            </a:solidFill>
            <a:prstDash val="solid"/>
          </a:ln>
        </p:spPr>
      </p:sp>
      <p:sp>
        <p:nvSpPr>
          <p:cNvPr id="17" name="Text 15"/>
          <p:cNvSpPr/>
          <p:nvPr/>
        </p:nvSpPr>
        <p:spPr>
          <a:xfrm>
            <a:off x="4087368" y="3767328"/>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Expert Sans" pitchFamily="34" charset="0"/>
                <a:ea typeface="Expert Sans" pitchFamily="34" charset="-122"/>
                <a:cs typeface="Expert Sans" pitchFamily="34" charset="-120"/>
              </a:rPr>
              <a:t>4</a:t>
            </a:r>
            <a:endParaRPr lang="en-US" sz="1600" dirty="0"/>
          </a:p>
        </p:txBody>
      </p:sp>
      <p:sp>
        <p:nvSpPr>
          <p:cNvPr id="18" name="Text 16"/>
          <p:cNvSpPr/>
          <p:nvPr/>
        </p:nvSpPr>
        <p:spPr>
          <a:xfrm>
            <a:off x="4608576" y="3712464"/>
            <a:ext cx="6867144" cy="658368"/>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Expert Sans" pitchFamily="34" charset="0"/>
                <a:ea typeface="Expert Sans" pitchFamily="34" charset="-122"/>
                <a:cs typeface="Expert Sans" pitchFamily="34" charset="-120"/>
              </a:rPr>
              <a:t>Divide by build slots consumed: the sort key is risk-adjusted return PER SLOT. Rank. Note where per-slot order differs from raw NPV order.</a:t>
            </a:r>
            <a:endParaRPr lang="en-US" sz="1200" dirty="0"/>
          </a:p>
        </p:txBody>
      </p:sp>
      <p:sp>
        <p:nvSpPr>
          <p:cNvPr id="19" name="Shape 17"/>
          <p:cNvSpPr/>
          <p:nvPr/>
        </p:nvSpPr>
        <p:spPr>
          <a:xfrm>
            <a:off x="4087368" y="4480560"/>
            <a:ext cx="365760" cy="365760"/>
          </a:xfrm>
          <a:prstGeom prst="ellipse">
            <a:avLst/>
          </a:prstGeom>
          <a:solidFill>
            <a:srgbClr val="00AEEF"/>
          </a:solidFill>
          <a:ln w="12700">
            <a:solidFill>
              <a:srgbClr val="00AEEF"/>
            </a:solidFill>
            <a:prstDash val="solid"/>
          </a:ln>
        </p:spPr>
      </p:sp>
      <p:sp>
        <p:nvSpPr>
          <p:cNvPr id="20" name="Text 18"/>
          <p:cNvSpPr/>
          <p:nvPr/>
        </p:nvSpPr>
        <p:spPr>
          <a:xfrm>
            <a:off x="4087368" y="448056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Expert Sans" pitchFamily="34" charset="0"/>
                <a:ea typeface="Expert Sans" pitchFamily="34" charset="-122"/>
                <a:cs typeface="Expert Sans" pitchFamily="34" charset="-120"/>
              </a:rPr>
              <a:t>5</a:t>
            </a:r>
            <a:endParaRPr lang="en-US" sz="1600" dirty="0"/>
          </a:p>
        </p:txBody>
      </p:sp>
      <p:sp>
        <p:nvSpPr>
          <p:cNvPr id="21" name="Text 19"/>
          <p:cNvSpPr/>
          <p:nvPr/>
        </p:nvSpPr>
        <p:spPr>
          <a:xfrm>
            <a:off x="4608576" y="4425696"/>
            <a:ext cx="6867144" cy="658368"/>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Expert Sans" pitchFamily="34" charset="0"/>
                <a:ea typeface="Expert Sans" pitchFamily="34" charset="-122"/>
                <a:cs typeface="Expert Sans" pitchFamily="34" charset="-120"/>
              </a:rPr>
              <a:t>Set the re-score triggers: which input movements change the order, and who watches each one.</a:t>
            </a:r>
            <a:endParaRPr lang="en-US" sz="1200" dirty="0"/>
          </a:p>
        </p:txBody>
      </p:sp>
      <p:sp>
        <p:nvSpPr>
          <p:cNvPr id="22" name="Shape 20"/>
          <p:cNvSpPr/>
          <p:nvPr/>
        </p:nvSpPr>
        <p:spPr>
          <a:xfrm>
            <a:off x="566928" y="5285232"/>
            <a:ext cx="11027664" cy="914400"/>
          </a:xfrm>
          <a:prstGeom prst="roundRect">
            <a:avLst>
              <a:gd name="adj" fmla="val 10000"/>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23" name="Text 21"/>
          <p:cNvSpPr/>
          <p:nvPr/>
        </p:nvSpPr>
        <p:spPr>
          <a:xfrm>
            <a:off x="950976" y="5413248"/>
            <a:ext cx="2743200" cy="274320"/>
          </a:xfrm>
          <a:prstGeom prst="rect">
            <a:avLst/>
          </a:prstGeom>
          <a:noFill/>
          <a:ln/>
        </p:spPr>
        <p:txBody>
          <a:bodyPr wrap="square" lIns="0" tIns="0" rIns="0" bIns="0" rtlCol="0" anchor="ctr"/>
          <a:lstStyle/>
          <a:p>
            <a:pPr indent="0" marL="0">
              <a:buNone/>
            </a:pPr>
            <a:r>
              <a:rPr lang="en-US" sz="1100" b="1" spc="200" kern="0" dirty="0">
                <a:solidFill>
                  <a:srgbClr val="0083C5"/>
                </a:solidFill>
                <a:latin typeface="Expert Sans" pitchFamily="34" charset="0"/>
                <a:ea typeface="Expert Sans" pitchFamily="34" charset="-122"/>
                <a:cs typeface="Expert Sans" pitchFamily="34" charset="-120"/>
              </a:rPr>
              <a:t>Run it with Copilot</a:t>
            </a:r>
            <a:endParaRPr lang="en-US" sz="1100" dirty="0"/>
          </a:p>
        </p:txBody>
      </p:sp>
      <p:sp>
        <p:nvSpPr>
          <p:cNvPr id="24" name="Text 22"/>
          <p:cNvSpPr/>
          <p:nvPr/>
        </p:nvSpPr>
        <p:spPr>
          <a:xfrm>
            <a:off x="950976" y="5687568"/>
            <a:ext cx="10113264" cy="457200"/>
          </a:xfrm>
          <a:prstGeom prst="rect">
            <a:avLst/>
          </a:prstGeom>
          <a:noFill/>
          <a:ln/>
        </p:spPr>
        <p:txBody>
          <a:bodyPr wrap="square" lIns="0" tIns="0" rIns="0" bIns="0" rtlCol="0" anchor="t"/>
          <a:lstStyle/>
          <a:p>
            <a:pPr indent="0" marL="0">
              <a:lnSpc>
                <a:spcPts val="1600"/>
              </a:lnSpc>
              <a:buNone/>
            </a:pPr>
            <a:r>
              <a:rPr lang="en-US" sz="1200" dirty="0">
                <a:solidFill>
                  <a:srgbClr val="00395D"/>
                </a:solidFill>
                <a:latin typeface="Expert Sans" pitchFamily="34" charset="0"/>
                <a:ea typeface="Expert Sans" pitchFamily="34" charset="-122"/>
                <a:cs typeface="Expert Sans" pitchFamily="34" charset="-120"/>
              </a:rPr>
              <a:t>One chat per feature. Paste the base case, lever tests and route discount; require the per-slot arithmetic shown and the trigger list stated.   ·   Output feeds: slides 12–16</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0083C5"/>
                </a:solidFill>
                <a:latin typeface="Expert Sans" pitchFamily="34" charset="0"/>
                <a:ea typeface="Expert Sans" pitchFamily="34" charset="-122"/>
                <a:cs typeface="Expert Sans" pitchFamily="34" charset="-120"/>
              </a:rPr>
              <a:t>APPENDIX  ·  METHOD 3 OF 4</a:t>
            </a:r>
            <a:endParaRPr lang="en-US" sz="1100" dirty="0"/>
          </a:p>
        </p:txBody>
      </p:sp>
      <p:sp>
        <p:nvSpPr>
          <p:cNvPr id="3" name="Text 1"/>
          <p:cNvSpPr/>
          <p:nvPr/>
        </p:nvSpPr>
        <p:spPr>
          <a:xfrm>
            <a:off x="566928" y="548640"/>
            <a:ext cx="9564624" cy="969264"/>
          </a:xfrm>
          <a:prstGeom prst="rect">
            <a:avLst/>
          </a:prstGeom>
          <a:noFill/>
          <a:ln/>
        </p:spPr>
        <p:txBody>
          <a:bodyPr wrap="square" lIns="0" tIns="0" rIns="0" bIns="0" rtlCol="0" anchor="t"/>
          <a:lstStyle/>
          <a:p>
            <a:pPr algn="l" indent="0" marL="0">
              <a:lnSpc>
                <a:spcPts val="3000"/>
              </a:lnSpc>
              <a:buNone/>
            </a:pPr>
            <a:r>
              <a:rPr lang="en-US" sz="2400" dirty="0">
                <a:solidFill>
                  <a:srgbClr val="00AEEF"/>
                </a:solidFill>
                <a:latin typeface="Expert Sans" pitchFamily="34" charset="0"/>
                <a:ea typeface="Expert Sans" pitchFamily="34" charset="-122"/>
                <a:cs typeface="Expert Sans" pitchFamily="34" charset="-120"/>
              </a:rPr>
              <a:t>How the wrapper case was built</a:t>
            </a:r>
            <a:endParaRPr lang="en-US" sz="2400" dirty="0"/>
          </a:p>
        </p:txBody>
      </p:sp>
      <p:sp>
        <p:nvSpPr>
          <p:cNvPr id="4" name="Shape 2"/>
          <p:cNvSpPr/>
          <p:nvPr/>
        </p:nvSpPr>
        <p:spPr>
          <a:xfrm>
            <a:off x="566928" y="1572768"/>
            <a:ext cx="3200400" cy="3520440"/>
          </a:xfrm>
          <a:prstGeom prst="roundRect">
            <a:avLst>
              <a:gd name="adj" fmla="val 2857"/>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5" name="Text 3"/>
          <p:cNvSpPr/>
          <p:nvPr/>
        </p:nvSpPr>
        <p:spPr>
          <a:xfrm>
            <a:off x="859536" y="1755648"/>
            <a:ext cx="2651760" cy="310896"/>
          </a:xfrm>
          <a:prstGeom prst="rect">
            <a:avLst/>
          </a:prstGeom>
          <a:noFill/>
          <a:ln/>
        </p:spPr>
        <p:txBody>
          <a:bodyPr wrap="square" lIns="0" tIns="0" rIns="0" bIns="0" rtlCol="0" anchor="ctr"/>
          <a:lstStyle/>
          <a:p>
            <a:pPr indent="0" marL="0">
              <a:buNone/>
            </a:pPr>
            <a:r>
              <a:rPr lang="en-US" sz="1150" b="1" spc="200" kern="0" dirty="0">
                <a:solidFill>
                  <a:srgbClr val="0083C5"/>
                </a:solidFill>
                <a:latin typeface="Expert Sans" pitchFamily="34" charset="0"/>
                <a:ea typeface="Expert Sans" pitchFamily="34" charset="-122"/>
                <a:cs typeface="Expert Sans" pitchFamily="34" charset="-120"/>
              </a:rPr>
              <a:t>Inputs required</a:t>
            </a:r>
            <a:endParaRPr lang="en-US" sz="1150" dirty="0"/>
          </a:p>
        </p:txBody>
      </p:sp>
      <p:sp>
        <p:nvSpPr>
          <p:cNvPr id="6" name="Text 4"/>
          <p:cNvSpPr/>
          <p:nvPr/>
        </p:nvSpPr>
        <p:spPr>
          <a:xfrm>
            <a:off x="859536" y="2121408"/>
            <a:ext cx="2697480" cy="2834640"/>
          </a:xfrm>
          <a:prstGeom prst="rect">
            <a:avLst/>
          </a:prstGeom>
          <a:noFill/>
          <a:ln/>
        </p:spPr>
        <p:txBody>
          <a:bodyPr wrap="square" lIns="0" tIns="0" rIns="0" bIns="0" rtlCol="0" anchor="t"/>
          <a:lstStyle/>
          <a:p>
            <a:pPr marL="342900" indent="-342900">
              <a:lnSpc>
                <a:spcPts val="1600"/>
              </a:lnSpc>
              <a:spcAft>
                <a:spcPts val="700"/>
              </a:spcAft>
              <a:buSzPct val="100000"/>
              <a:buChar char="•"/>
            </a:pPr>
            <a:r>
              <a:rPr lang="en-US" sz="1150" dirty="0">
                <a:solidFill>
                  <a:srgbClr val="3F5563"/>
                </a:solidFill>
                <a:latin typeface="Expert Sans" pitchFamily="34" charset="0"/>
                <a:ea typeface="Expert Sans" pitchFamily="34" charset="-122"/>
                <a:cs typeface="Expert Sans" pitchFamily="34" charset="-120"/>
              </a:rPr>
              <a:t>Brand tracking data</a:t>
            </a:r>
            <a:endParaRPr lang="en-US" sz="1150" dirty="0"/>
          </a:p>
          <a:p>
            <a:pPr marL="342900" indent="-342900">
              <a:lnSpc>
                <a:spcPts val="1600"/>
              </a:lnSpc>
              <a:spcAft>
                <a:spcPts val="700"/>
              </a:spcAft>
              <a:buSzPct val="100000"/>
              <a:buChar char="•"/>
            </a:pPr>
            <a:r>
              <a:rPr lang="en-US" sz="1150" dirty="0">
                <a:solidFill>
                  <a:srgbClr val="3F5563"/>
                </a:solidFill>
                <a:latin typeface="Expert Sans" pitchFamily="34" charset="0"/>
                <a:ea typeface="Expert Sans" pitchFamily="34" charset="-122"/>
                <a:cs typeface="Expert Sans" pitchFamily="34" charset="-120"/>
              </a:rPr>
              <a:t>Entry-point research: when the job arises, in customer words</a:t>
            </a:r>
            <a:endParaRPr lang="en-US" sz="1150" dirty="0"/>
          </a:p>
          <a:p>
            <a:pPr marL="342900" indent="-342900">
              <a:lnSpc>
                <a:spcPts val="1600"/>
              </a:lnSpc>
              <a:spcAft>
                <a:spcPts val="700"/>
              </a:spcAft>
              <a:buSzPct val="100000"/>
              <a:buChar char="•"/>
            </a:pPr>
            <a:r>
              <a:rPr lang="en-US" sz="1150" dirty="0">
                <a:solidFill>
                  <a:srgbClr val="3F5563"/>
                </a:solidFill>
                <a:latin typeface="Expert Sans" pitchFamily="34" charset="0"/>
                <a:ea typeface="Expert Sans" pitchFamily="34" charset="-122"/>
                <a:cs typeface="Expert Sans" pitchFamily="34" charset="-120"/>
              </a:rPr>
              <a:t>Media / channel cost cards</a:t>
            </a:r>
            <a:endParaRPr lang="en-US" sz="1150" dirty="0"/>
          </a:p>
          <a:p>
            <a:pPr marL="342900" indent="-342900">
              <a:lnSpc>
                <a:spcPts val="1600"/>
              </a:lnSpc>
              <a:spcAft>
                <a:spcPts val="700"/>
              </a:spcAft>
              <a:buSzPct val="100000"/>
              <a:buChar char="•"/>
            </a:pPr>
            <a:r>
              <a:rPr lang="en-US" sz="1150" dirty="0">
                <a:solidFill>
                  <a:srgbClr val="3F5563"/>
                </a:solidFill>
                <a:latin typeface="Expert Sans" pitchFamily="34" charset="0"/>
                <a:ea typeface="Expert Sans" pitchFamily="34" charset="-122"/>
                <a:cs typeface="Expert Sans" pitchFamily="34" charset="-120"/>
              </a:rPr>
              <a:t>Competitor recall benchmarks</a:t>
            </a:r>
            <a:endParaRPr lang="en-US" sz="1150" dirty="0"/>
          </a:p>
        </p:txBody>
      </p:sp>
      <p:sp>
        <p:nvSpPr>
          <p:cNvPr id="7" name="Shape 5"/>
          <p:cNvSpPr/>
          <p:nvPr/>
        </p:nvSpPr>
        <p:spPr>
          <a:xfrm>
            <a:off x="4087368" y="1627632"/>
            <a:ext cx="365760" cy="365760"/>
          </a:xfrm>
          <a:prstGeom prst="ellipse">
            <a:avLst/>
          </a:prstGeom>
          <a:solidFill>
            <a:srgbClr val="00AEEF"/>
          </a:solidFill>
          <a:ln w="12700">
            <a:solidFill>
              <a:srgbClr val="00AEEF"/>
            </a:solidFill>
            <a:prstDash val="solid"/>
          </a:ln>
        </p:spPr>
      </p:sp>
      <p:sp>
        <p:nvSpPr>
          <p:cNvPr id="8" name="Text 6"/>
          <p:cNvSpPr/>
          <p:nvPr/>
        </p:nvSpPr>
        <p:spPr>
          <a:xfrm>
            <a:off x="4087368" y="1627632"/>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Expert Sans" pitchFamily="34" charset="0"/>
                <a:ea typeface="Expert Sans" pitchFamily="34" charset="-122"/>
                <a:cs typeface="Expert Sans" pitchFamily="34" charset="-120"/>
              </a:rPr>
              <a:t>1</a:t>
            </a:r>
            <a:endParaRPr lang="en-US" sz="1600" dirty="0"/>
          </a:p>
        </p:txBody>
      </p:sp>
      <p:sp>
        <p:nvSpPr>
          <p:cNvPr id="9" name="Text 7"/>
          <p:cNvSpPr/>
          <p:nvPr/>
        </p:nvSpPr>
        <p:spPr>
          <a:xfrm>
            <a:off x="4608576" y="1572768"/>
            <a:ext cx="6867144" cy="658368"/>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Expert Sans" pitchFamily="34" charset="0"/>
                <a:ea typeface="Expert Sans" pitchFamily="34" charset="-122"/>
                <a:cs typeface="Expert Sans" pitchFamily="34" charset="-120"/>
              </a:rPr>
              <a:t>Identify the segment's entry points: the moments the job arises, phrased in the customer's words, from research — not from the marketing plan.</a:t>
            </a:r>
            <a:endParaRPr lang="en-US" sz="1200" dirty="0"/>
          </a:p>
        </p:txBody>
      </p:sp>
      <p:sp>
        <p:nvSpPr>
          <p:cNvPr id="10" name="Shape 8"/>
          <p:cNvSpPr/>
          <p:nvPr/>
        </p:nvSpPr>
        <p:spPr>
          <a:xfrm>
            <a:off x="4087368" y="2340864"/>
            <a:ext cx="365760" cy="365760"/>
          </a:xfrm>
          <a:prstGeom prst="ellipse">
            <a:avLst/>
          </a:prstGeom>
          <a:solidFill>
            <a:srgbClr val="00AEEF"/>
          </a:solidFill>
          <a:ln w="12700">
            <a:solidFill>
              <a:srgbClr val="00AEEF"/>
            </a:solidFill>
            <a:prstDash val="solid"/>
          </a:ln>
        </p:spPr>
      </p:sp>
      <p:sp>
        <p:nvSpPr>
          <p:cNvPr id="11" name="Text 9"/>
          <p:cNvSpPr/>
          <p:nvPr/>
        </p:nvSpPr>
        <p:spPr>
          <a:xfrm>
            <a:off x="4087368" y="2340864"/>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Expert Sans" pitchFamily="34" charset="0"/>
                <a:ea typeface="Expert Sans" pitchFamily="34" charset="-122"/>
                <a:cs typeface="Expert Sans" pitchFamily="34" charset="-120"/>
              </a:rPr>
              <a:t>2</a:t>
            </a:r>
            <a:endParaRPr lang="en-US" sz="1600" dirty="0"/>
          </a:p>
        </p:txBody>
      </p:sp>
      <p:sp>
        <p:nvSpPr>
          <p:cNvPr id="12" name="Text 10"/>
          <p:cNvSpPr/>
          <p:nvPr/>
        </p:nvSpPr>
        <p:spPr>
          <a:xfrm>
            <a:off x="4608576" y="2286000"/>
            <a:ext cx="6867144" cy="658368"/>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Expert Sans" pitchFamily="34" charset="0"/>
                <a:ea typeface="Expert Sans" pitchFamily="34" charset="-122"/>
                <a:cs typeface="Expert Sans" pitchFamily="34" charset="-120"/>
              </a:rPr>
              <a:t>Measure current unaided recall at each entry point, for the bank and for competitors. The gap is the wrapper's job description.</a:t>
            </a:r>
            <a:endParaRPr lang="en-US" sz="1200" dirty="0"/>
          </a:p>
        </p:txBody>
      </p:sp>
      <p:sp>
        <p:nvSpPr>
          <p:cNvPr id="13" name="Shape 11"/>
          <p:cNvSpPr/>
          <p:nvPr/>
        </p:nvSpPr>
        <p:spPr>
          <a:xfrm>
            <a:off x="4087368" y="3054096"/>
            <a:ext cx="365760" cy="365760"/>
          </a:xfrm>
          <a:prstGeom prst="ellipse">
            <a:avLst/>
          </a:prstGeom>
          <a:solidFill>
            <a:srgbClr val="00AEEF"/>
          </a:solidFill>
          <a:ln w="12700">
            <a:solidFill>
              <a:srgbClr val="00AEEF"/>
            </a:solidFill>
            <a:prstDash val="solid"/>
          </a:ln>
        </p:spPr>
      </p:sp>
      <p:sp>
        <p:nvSpPr>
          <p:cNvPr id="14" name="Text 12"/>
          <p:cNvSpPr/>
          <p:nvPr/>
        </p:nvSpPr>
        <p:spPr>
          <a:xfrm>
            <a:off x="4087368" y="3054096"/>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Expert Sans" pitchFamily="34" charset="0"/>
                <a:ea typeface="Expert Sans" pitchFamily="34" charset="-122"/>
                <a:cs typeface="Expert Sans" pitchFamily="34" charset="-120"/>
              </a:rPr>
              <a:t>3</a:t>
            </a:r>
            <a:endParaRPr lang="en-US" sz="1600" dirty="0"/>
          </a:p>
        </p:txBody>
      </p:sp>
      <p:sp>
        <p:nvSpPr>
          <p:cNvPr id="15" name="Text 13"/>
          <p:cNvSpPr/>
          <p:nvPr/>
        </p:nvSpPr>
        <p:spPr>
          <a:xfrm>
            <a:off x="4608576" y="2999232"/>
            <a:ext cx="6867144" cy="658368"/>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Expert Sans" pitchFamily="34" charset="0"/>
                <a:ea typeface="Expert Sans" pitchFamily="34" charset="-122"/>
                <a:cs typeface="Expert Sans" pitchFamily="34" charset="-120"/>
              </a:rPr>
              <a:t>Design the wrapper: one name, fixed assets, explicit linkage to the entry points. Span only admitted features — never wrap what failed the gate.</a:t>
            </a:r>
            <a:endParaRPr lang="en-US" sz="1200" dirty="0"/>
          </a:p>
        </p:txBody>
      </p:sp>
      <p:sp>
        <p:nvSpPr>
          <p:cNvPr id="16" name="Shape 14"/>
          <p:cNvSpPr/>
          <p:nvPr/>
        </p:nvSpPr>
        <p:spPr>
          <a:xfrm>
            <a:off x="4087368" y="3767328"/>
            <a:ext cx="365760" cy="365760"/>
          </a:xfrm>
          <a:prstGeom prst="ellipse">
            <a:avLst/>
          </a:prstGeom>
          <a:solidFill>
            <a:srgbClr val="00AEEF"/>
          </a:solidFill>
          <a:ln w="12700">
            <a:solidFill>
              <a:srgbClr val="00AEEF"/>
            </a:solidFill>
            <a:prstDash val="solid"/>
          </a:ln>
        </p:spPr>
      </p:sp>
      <p:sp>
        <p:nvSpPr>
          <p:cNvPr id="17" name="Text 15"/>
          <p:cNvSpPr/>
          <p:nvPr/>
        </p:nvSpPr>
        <p:spPr>
          <a:xfrm>
            <a:off x="4087368" y="3767328"/>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Expert Sans" pitchFamily="34" charset="0"/>
                <a:ea typeface="Expert Sans" pitchFamily="34" charset="-122"/>
                <a:cs typeface="Expert Sans" pitchFamily="34" charset="-120"/>
              </a:rPr>
              <a:t>4</a:t>
            </a:r>
            <a:endParaRPr lang="en-US" sz="1600" dirty="0"/>
          </a:p>
        </p:txBody>
      </p:sp>
      <p:sp>
        <p:nvSpPr>
          <p:cNvPr id="18" name="Text 16"/>
          <p:cNvSpPr/>
          <p:nvPr/>
        </p:nvSpPr>
        <p:spPr>
          <a:xfrm>
            <a:off x="4608576" y="3712464"/>
            <a:ext cx="6867144" cy="658368"/>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Expert Sans" pitchFamily="34" charset="0"/>
                <a:ea typeface="Expert Sans" pitchFamily="34" charset="-122"/>
                <a:cs typeface="Expert Sans" pitchFamily="34" charset="-120"/>
              </a:rPr>
              <a:t>Price it: fixed annual cost against a recall-uplift band. State the break-even in recall points — the honest version of a brand business case.</a:t>
            </a:r>
            <a:endParaRPr lang="en-US" sz="1200" dirty="0"/>
          </a:p>
        </p:txBody>
      </p:sp>
      <p:sp>
        <p:nvSpPr>
          <p:cNvPr id="19" name="Shape 17"/>
          <p:cNvSpPr/>
          <p:nvPr/>
        </p:nvSpPr>
        <p:spPr>
          <a:xfrm>
            <a:off x="4087368" y="4480560"/>
            <a:ext cx="365760" cy="365760"/>
          </a:xfrm>
          <a:prstGeom prst="ellipse">
            <a:avLst/>
          </a:prstGeom>
          <a:solidFill>
            <a:srgbClr val="00AEEF"/>
          </a:solidFill>
          <a:ln w="12700">
            <a:solidFill>
              <a:srgbClr val="00AEEF"/>
            </a:solidFill>
            <a:prstDash val="solid"/>
          </a:ln>
        </p:spPr>
      </p:sp>
      <p:sp>
        <p:nvSpPr>
          <p:cNvPr id="20" name="Text 18"/>
          <p:cNvSpPr/>
          <p:nvPr/>
        </p:nvSpPr>
        <p:spPr>
          <a:xfrm>
            <a:off x="4087368" y="448056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Expert Sans" pitchFamily="34" charset="0"/>
                <a:ea typeface="Expert Sans" pitchFamily="34" charset="-122"/>
                <a:cs typeface="Expert Sans" pitchFamily="34" charset="-120"/>
              </a:rPr>
              <a:t>5</a:t>
            </a:r>
            <a:endParaRPr lang="en-US" sz="1600" dirty="0"/>
          </a:p>
        </p:txBody>
      </p:sp>
      <p:sp>
        <p:nvSpPr>
          <p:cNvPr id="21" name="Text 19"/>
          <p:cNvSpPr/>
          <p:nvPr/>
        </p:nvSpPr>
        <p:spPr>
          <a:xfrm>
            <a:off x="4608576" y="4425696"/>
            <a:ext cx="6867144" cy="658368"/>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Expert Sans" pitchFamily="34" charset="0"/>
                <a:ea typeface="Expert Sans" pitchFamily="34" charset="-122"/>
                <a:cs typeface="Expert Sans" pitchFamily="34" charset="-120"/>
              </a:rPr>
              <a:t>Set the tracking: entry-point recall, quarterly, with the stop rule — the wrapper's row on the sensitivity page.</a:t>
            </a:r>
            <a:endParaRPr lang="en-US" sz="1200" dirty="0"/>
          </a:p>
        </p:txBody>
      </p:sp>
      <p:sp>
        <p:nvSpPr>
          <p:cNvPr id="22" name="Shape 20"/>
          <p:cNvSpPr/>
          <p:nvPr/>
        </p:nvSpPr>
        <p:spPr>
          <a:xfrm>
            <a:off x="566928" y="5285232"/>
            <a:ext cx="11027664" cy="914400"/>
          </a:xfrm>
          <a:prstGeom prst="roundRect">
            <a:avLst>
              <a:gd name="adj" fmla="val 10000"/>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23" name="Text 21"/>
          <p:cNvSpPr/>
          <p:nvPr/>
        </p:nvSpPr>
        <p:spPr>
          <a:xfrm>
            <a:off x="950976" y="5413248"/>
            <a:ext cx="2743200" cy="274320"/>
          </a:xfrm>
          <a:prstGeom prst="rect">
            <a:avLst/>
          </a:prstGeom>
          <a:noFill/>
          <a:ln/>
        </p:spPr>
        <p:txBody>
          <a:bodyPr wrap="square" lIns="0" tIns="0" rIns="0" bIns="0" rtlCol="0" anchor="ctr"/>
          <a:lstStyle/>
          <a:p>
            <a:pPr indent="0" marL="0">
              <a:buNone/>
            </a:pPr>
            <a:r>
              <a:rPr lang="en-US" sz="1100" b="1" spc="200" kern="0" dirty="0">
                <a:solidFill>
                  <a:srgbClr val="0083C5"/>
                </a:solidFill>
                <a:latin typeface="Expert Sans" pitchFamily="34" charset="0"/>
                <a:ea typeface="Expert Sans" pitchFamily="34" charset="-122"/>
                <a:cs typeface="Expert Sans" pitchFamily="34" charset="-120"/>
              </a:rPr>
              <a:t>Run it with Copilot</a:t>
            </a:r>
            <a:endParaRPr lang="en-US" sz="1100" dirty="0"/>
          </a:p>
        </p:txBody>
      </p:sp>
      <p:sp>
        <p:nvSpPr>
          <p:cNvPr id="24" name="Text 22"/>
          <p:cNvSpPr/>
          <p:nvPr/>
        </p:nvSpPr>
        <p:spPr>
          <a:xfrm>
            <a:off x="950976" y="5687568"/>
            <a:ext cx="10113264" cy="457200"/>
          </a:xfrm>
          <a:prstGeom prst="rect">
            <a:avLst/>
          </a:prstGeom>
          <a:noFill/>
          <a:ln/>
        </p:spPr>
        <p:txBody>
          <a:bodyPr wrap="square" lIns="0" tIns="0" rIns="0" bIns="0" rtlCol="0" anchor="t"/>
          <a:lstStyle/>
          <a:p>
            <a:pPr indent="0" marL="0">
              <a:lnSpc>
                <a:spcPts val="1600"/>
              </a:lnSpc>
              <a:buNone/>
            </a:pPr>
            <a:r>
              <a:rPr lang="en-US" sz="1200" dirty="0">
                <a:solidFill>
                  <a:srgbClr val="00395D"/>
                </a:solidFill>
                <a:latin typeface="Expert Sans" pitchFamily="34" charset="0"/>
                <a:ea typeface="Expert Sans" pitchFamily="34" charset="-122"/>
                <a:cs typeface="Expert Sans" pitchFamily="34" charset="-120"/>
              </a:rPr>
              <a:t>Paste the entry-point list and tracking data. Require the break-even arithmetic shown and a stated stop rule — refuse a case that only asserts awareness value.   ·   Output feeds: slide 10, the bridge on slide 13, and the sensitivity page</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27664" cy="274320"/>
          </a:xfrm>
          <a:prstGeom prst="rect">
            <a:avLst/>
          </a:prstGeom>
          <a:noFill/>
          <a:ln/>
        </p:spPr>
        <p:txBody>
          <a:bodyPr wrap="square" lIns="0" tIns="0" rIns="0" bIns="0" rtlCol="0" anchor="ctr"/>
          <a:lstStyle/>
          <a:p>
            <a:pPr indent="0" marL="0">
              <a:buNone/>
            </a:pPr>
            <a:r>
              <a:rPr lang="en-US" sz="1100" b="1" spc="220" kern="0" dirty="0">
                <a:solidFill>
                  <a:srgbClr val="0083C5"/>
                </a:solidFill>
                <a:latin typeface="Expert Sans" pitchFamily="34" charset="0"/>
                <a:ea typeface="Expert Sans" pitchFamily="34" charset="-122"/>
                <a:cs typeface="Expert Sans" pitchFamily="34" charset="-120"/>
              </a:rPr>
              <a:t>APPENDIX  ·  METHOD 4 OF 4</a:t>
            </a:r>
            <a:endParaRPr lang="en-US" sz="1100" dirty="0"/>
          </a:p>
        </p:txBody>
      </p:sp>
      <p:sp>
        <p:nvSpPr>
          <p:cNvPr id="3" name="Text 1"/>
          <p:cNvSpPr/>
          <p:nvPr/>
        </p:nvSpPr>
        <p:spPr>
          <a:xfrm>
            <a:off x="566928" y="548640"/>
            <a:ext cx="9564624" cy="969264"/>
          </a:xfrm>
          <a:prstGeom prst="rect">
            <a:avLst/>
          </a:prstGeom>
          <a:noFill/>
          <a:ln/>
        </p:spPr>
        <p:txBody>
          <a:bodyPr wrap="square" lIns="0" tIns="0" rIns="0" bIns="0" rtlCol="0" anchor="t"/>
          <a:lstStyle/>
          <a:p>
            <a:pPr algn="l" indent="0" marL="0">
              <a:lnSpc>
                <a:spcPts val="3000"/>
              </a:lnSpc>
              <a:buNone/>
            </a:pPr>
            <a:r>
              <a:rPr lang="en-US" sz="2400" dirty="0">
                <a:solidFill>
                  <a:srgbClr val="00AEEF"/>
                </a:solidFill>
                <a:latin typeface="Expert Sans" pitchFamily="34" charset="0"/>
                <a:ea typeface="Expert Sans" pitchFamily="34" charset="-122"/>
                <a:cs typeface="Expert Sans" pitchFamily="34" charset="-120"/>
              </a:rPr>
              <a:t>How the delivery routes were priced</a:t>
            </a:r>
            <a:endParaRPr lang="en-US" sz="2400" dirty="0"/>
          </a:p>
        </p:txBody>
      </p:sp>
      <p:sp>
        <p:nvSpPr>
          <p:cNvPr id="4" name="Shape 2"/>
          <p:cNvSpPr/>
          <p:nvPr/>
        </p:nvSpPr>
        <p:spPr>
          <a:xfrm>
            <a:off x="566928" y="1572768"/>
            <a:ext cx="3200400" cy="3520440"/>
          </a:xfrm>
          <a:prstGeom prst="roundRect">
            <a:avLst>
              <a:gd name="adj" fmla="val 2857"/>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5" name="Text 3"/>
          <p:cNvSpPr/>
          <p:nvPr/>
        </p:nvSpPr>
        <p:spPr>
          <a:xfrm>
            <a:off x="859536" y="1755648"/>
            <a:ext cx="2651760" cy="310896"/>
          </a:xfrm>
          <a:prstGeom prst="rect">
            <a:avLst/>
          </a:prstGeom>
          <a:noFill/>
          <a:ln/>
        </p:spPr>
        <p:txBody>
          <a:bodyPr wrap="square" lIns="0" tIns="0" rIns="0" bIns="0" rtlCol="0" anchor="ctr"/>
          <a:lstStyle/>
          <a:p>
            <a:pPr indent="0" marL="0">
              <a:buNone/>
            </a:pPr>
            <a:r>
              <a:rPr lang="en-US" sz="1150" b="1" spc="200" kern="0" dirty="0">
                <a:solidFill>
                  <a:srgbClr val="0083C5"/>
                </a:solidFill>
                <a:latin typeface="Expert Sans" pitchFamily="34" charset="0"/>
                <a:ea typeface="Expert Sans" pitchFamily="34" charset="-122"/>
                <a:cs typeface="Expert Sans" pitchFamily="34" charset="-120"/>
              </a:rPr>
              <a:t>Inputs required</a:t>
            </a:r>
            <a:endParaRPr lang="en-US" sz="1150" dirty="0"/>
          </a:p>
        </p:txBody>
      </p:sp>
      <p:sp>
        <p:nvSpPr>
          <p:cNvPr id="6" name="Text 4"/>
          <p:cNvSpPr/>
          <p:nvPr/>
        </p:nvSpPr>
        <p:spPr>
          <a:xfrm>
            <a:off x="859536" y="2121408"/>
            <a:ext cx="2697480" cy="2834640"/>
          </a:xfrm>
          <a:prstGeom prst="rect">
            <a:avLst/>
          </a:prstGeom>
          <a:noFill/>
          <a:ln/>
        </p:spPr>
        <p:txBody>
          <a:bodyPr wrap="square" lIns="0" tIns="0" rIns="0" bIns="0" rtlCol="0" anchor="t"/>
          <a:lstStyle/>
          <a:p>
            <a:pPr marL="342900" indent="-342900">
              <a:lnSpc>
                <a:spcPts val="1600"/>
              </a:lnSpc>
              <a:spcAft>
                <a:spcPts val="700"/>
              </a:spcAft>
              <a:buSzPct val="100000"/>
              <a:buChar char="•"/>
            </a:pPr>
            <a:r>
              <a:rPr lang="en-US" sz="1150" dirty="0">
                <a:solidFill>
                  <a:srgbClr val="3F5563"/>
                </a:solidFill>
                <a:latin typeface="Expert Sans" pitchFamily="34" charset="0"/>
                <a:ea typeface="Expert Sans" pitchFamily="34" charset="-122"/>
                <a:cs typeface="Expert Sans" pitchFamily="34" charset="-120"/>
              </a:rPr>
              <a:t>Delivery team estimates, with ranges</a:t>
            </a:r>
            <a:endParaRPr lang="en-US" sz="1150" dirty="0"/>
          </a:p>
          <a:p>
            <a:pPr marL="342900" indent="-342900">
              <a:lnSpc>
                <a:spcPts val="1600"/>
              </a:lnSpc>
              <a:spcAft>
                <a:spcPts val="700"/>
              </a:spcAft>
              <a:buSzPct val="100000"/>
              <a:buChar char="•"/>
            </a:pPr>
            <a:r>
              <a:rPr lang="en-US" sz="1150" dirty="0">
                <a:solidFill>
                  <a:srgbClr val="3F5563"/>
                </a:solidFill>
                <a:latin typeface="Expert Sans" pitchFamily="34" charset="0"/>
                <a:ea typeface="Expert Sans" pitchFamily="34" charset="-122"/>
                <a:cs typeface="Expert Sans" pitchFamily="34" charset="-120"/>
              </a:rPr>
              <a:t>Partner term sheets / indicative terms</a:t>
            </a:r>
            <a:endParaRPr lang="en-US" sz="1150" dirty="0"/>
          </a:p>
          <a:p>
            <a:pPr marL="342900" indent="-342900">
              <a:lnSpc>
                <a:spcPts val="1600"/>
              </a:lnSpc>
              <a:spcAft>
                <a:spcPts val="700"/>
              </a:spcAft>
              <a:buSzPct val="100000"/>
              <a:buChar char="•"/>
            </a:pPr>
            <a:r>
              <a:rPr lang="en-US" sz="1150" dirty="0">
                <a:solidFill>
                  <a:srgbClr val="3F5563"/>
                </a:solidFill>
                <a:latin typeface="Expert Sans" pitchFamily="34" charset="0"/>
                <a:ea typeface="Expert Sans" pitchFamily="34" charset="-122"/>
                <a:cs typeface="Expert Sans" pitchFamily="34" charset="-120"/>
              </a:rPr>
              <a:t>Capability register</a:t>
            </a:r>
            <a:endParaRPr lang="en-US" sz="1150" dirty="0"/>
          </a:p>
          <a:p>
            <a:pPr marL="342900" indent="-342900">
              <a:lnSpc>
                <a:spcPts val="1600"/>
              </a:lnSpc>
              <a:spcAft>
                <a:spcPts val="700"/>
              </a:spcAft>
              <a:buSzPct val="100000"/>
              <a:buChar char="•"/>
            </a:pPr>
            <a:r>
              <a:rPr lang="en-US" sz="1150" dirty="0">
                <a:solidFill>
                  <a:srgbClr val="3F5563"/>
                </a:solidFill>
                <a:latin typeface="Expert Sans" pitchFamily="34" charset="0"/>
                <a:ea typeface="Expert Sans" pitchFamily="34" charset="-122"/>
                <a:cs typeface="Expert Sans" pitchFamily="34" charset="-120"/>
              </a:rPr>
              <a:t>Hurdle rate and horizon</a:t>
            </a:r>
            <a:endParaRPr lang="en-US" sz="1150" dirty="0"/>
          </a:p>
        </p:txBody>
      </p:sp>
      <p:sp>
        <p:nvSpPr>
          <p:cNvPr id="7" name="Shape 5"/>
          <p:cNvSpPr/>
          <p:nvPr/>
        </p:nvSpPr>
        <p:spPr>
          <a:xfrm>
            <a:off x="4087368" y="1627632"/>
            <a:ext cx="365760" cy="365760"/>
          </a:xfrm>
          <a:prstGeom prst="ellipse">
            <a:avLst/>
          </a:prstGeom>
          <a:solidFill>
            <a:srgbClr val="00AEEF"/>
          </a:solidFill>
          <a:ln w="12700">
            <a:solidFill>
              <a:srgbClr val="00AEEF"/>
            </a:solidFill>
            <a:prstDash val="solid"/>
          </a:ln>
        </p:spPr>
      </p:sp>
      <p:sp>
        <p:nvSpPr>
          <p:cNvPr id="8" name="Text 6"/>
          <p:cNvSpPr/>
          <p:nvPr/>
        </p:nvSpPr>
        <p:spPr>
          <a:xfrm>
            <a:off x="4087368" y="1627632"/>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Expert Sans" pitchFamily="34" charset="0"/>
                <a:ea typeface="Expert Sans" pitchFamily="34" charset="-122"/>
                <a:cs typeface="Expert Sans" pitchFamily="34" charset="-120"/>
              </a:rPr>
              <a:t>1</a:t>
            </a:r>
            <a:endParaRPr lang="en-US" sz="1600" dirty="0"/>
          </a:p>
        </p:txBody>
      </p:sp>
      <p:sp>
        <p:nvSpPr>
          <p:cNvPr id="9" name="Text 7"/>
          <p:cNvSpPr/>
          <p:nvPr/>
        </p:nvSpPr>
        <p:spPr>
          <a:xfrm>
            <a:off x="4608576" y="1572768"/>
            <a:ext cx="6867144" cy="658368"/>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Expert Sans" pitchFamily="34" charset="0"/>
                <a:ea typeface="Expert Sans" pitchFamily="34" charset="-122"/>
                <a:cs typeface="Expert Sans" pitchFamily="34" charset="-120"/>
              </a:rPr>
              <a:t>Inventory the capabilities each feature requires — capabilities, not tasks. Keep the same names end to end or the slides will not reconcile.</a:t>
            </a:r>
            <a:endParaRPr lang="en-US" sz="1200" dirty="0"/>
          </a:p>
        </p:txBody>
      </p:sp>
      <p:sp>
        <p:nvSpPr>
          <p:cNvPr id="10" name="Shape 8"/>
          <p:cNvSpPr/>
          <p:nvPr/>
        </p:nvSpPr>
        <p:spPr>
          <a:xfrm>
            <a:off x="4087368" y="2340864"/>
            <a:ext cx="365760" cy="365760"/>
          </a:xfrm>
          <a:prstGeom prst="ellipse">
            <a:avLst/>
          </a:prstGeom>
          <a:solidFill>
            <a:srgbClr val="00AEEF"/>
          </a:solidFill>
          <a:ln w="12700">
            <a:solidFill>
              <a:srgbClr val="00AEEF"/>
            </a:solidFill>
            <a:prstDash val="solid"/>
          </a:ln>
        </p:spPr>
      </p:sp>
      <p:sp>
        <p:nvSpPr>
          <p:cNvPr id="11" name="Text 9"/>
          <p:cNvSpPr/>
          <p:nvPr/>
        </p:nvSpPr>
        <p:spPr>
          <a:xfrm>
            <a:off x="4087368" y="2340864"/>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Expert Sans" pitchFamily="34" charset="0"/>
                <a:ea typeface="Expert Sans" pitchFamily="34" charset="-122"/>
                <a:cs typeface="Expert Sans" pitchFamily="34" charset="-120"/>
              </a:rPr>
              <a:t>2</a:t>
            </a:r>
            <a:endParaRPr lang="en-US" sz="1600" dirty="0"/>
          </a:p>
        </p:txBody>
      </p:sp>
      <p:sp>
        <p:nvSpPr>
          <p:cNvPr id="12" name="Text 10"/>
          <p:cNvSpPr/>
          <p:nvPr/>
        </p:nvSpPr>
        <p:spPr>
          <a:xfrm>
            <a:off x="4608576" y="2286000"/>
            <a:ext cx="6867144" cy="658368"/>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Expert Sans" pitchFamily="34" charset="0"/>
                <a:ea typeface="Expert Sans" pitchFamily="34" charset="-122"/>
                <a:cs typeface="Expert Sans" pitchFamily="34" charset="-120"/>
              </a:rPr>
              <a:t>Classify each capability have / buy / build. Name real partner candidates with indicative terms — an unnamed partner is a build with optimism attached.</a:t>
            </a:r>
            <a:endParaRPr lang="en-US" sz="1200" dirty="0"/>
          </a:p>
        </p:txBody>
      </p:sp>
      <p:sp>
        <p:nvSpPr>
          <p:cNvPr id="13" name="Shape 11"/>
          <p:cNvSpPr/>
          <p:nvPr/>
        </p:nvSpPr>
        <p:spPr>
          <a:xfrm>
            <a:off x="4087368" y="3054096"/>
            <a:ext cx="365760" cy="365760"/>
          </a:xfrm>
          <a:prstGeom prst="ellipse">
            <a:avLst/>
          </a:prstGeom>
          <a:solidFill>
            <a:srgbClr val="00AEEF"/>
          </a:solidFill>
          <a:ln w="12700">
            <a:solidFill>
              <a:srgbClr val="00AEEF"/>
            </a:solidFill>
            <a:prstDash val="solid"/>
          </a:ln>
        </p:spPr>
      </p:sp>
      <p:sp>
        <p:nvSpPr>
          <p:cNvPr id="14" name="Text 12"/>
          <p:cNvSpPr/>
          <p:nvPr/>
        </p:nvSpPr>
        <p:spPr>
          <a:xfrm>
            <a:off x="4087368" y="3054096"/>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Expert Sans" pitchFamily="34" charset="0"/>
                <a:ea typeface="Expert Sans" pitchFamily="34" charset="-122"/>
                <a:cs typeface="Expert Sans" pitchFamily="34" charset="-120"/>
              </a:rPr>
              <a:t>3</a:t>
            </a:r>
            <a:endParaRPr lang="en-US" sz="1600" dirty="0"/>
          </a:p>
        </p:txBody>
      </p:sp>
      <p:sp>
        <p:nvSpPr>
          <p:cNvPr id="15" name="Text 13"/>
          <p:cNvSpPr/>
          <p:nvPr/>
        </p:nvSpPr>
        <p:spPr>
          <a:xfrm>
            <a:off x="4608576" y="2999232"/>
            <a:ext cx="6867144" cy="658368"/>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Expert Sans" pitchFamily="34" charset="0"/>
                <a:ea typeface="Expert Sans" pitchFamily="34" charset="-122"/>
                <a:cs typeface="Expert Sans" pitchFamily="34" charset="-120"/>
              </a:rPr>
              <a:t>Price each route: time to launch, capex, margin share, and a confidence band from the delivery team and the partner's committed dates.</a:t>
            </a:r>
            <a:endParaRPr lang="en-US" sz="1200" dirty="0"/>
          </a:p>
        </p:txBody>
      </p:sp>
      <p:sp>
        <p:nvSpPr>
          <p:cNvPr id="16" name="Shape 14"/>
          <p:cNvSpPr/>
          <p:nvPr/>
        </p:nvSpPr>
        <p:spPr>
          <a:xfrm>
            <a:off x="4087368" y="3767328"/>
            <a:ext cx="365760" cy="365760"/>
          </a:xfrm>
          <a:prstGeom prst="ellipse">
            <a:avLst/>
          </a:prstGeom>
          <a:solidFill>
            <a:srgbClr val="00AEEF"/>
          </a:solidFill>
          <a:ln w="12700">
            <a:solidFill>
              <a:srgbClr val="00AEEF"/>
            </a:solidFill>
            <a:prstDash val="solid"/>
          </a:ln>
        </p:spPr>
      </p:sp>
      <p:sp>
        <p:nvSpPr>
          <p:cNvPr id="17" name="Text 15"/>
          <p:cNvSpPr/>
          <p:nvPr/>
        </p:nvSpPr>
        <p:spPr>
          <a:xfrm>
            <a:off x="4087368" y="3767328"/>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Expert Sans" pitchFamily="34" charset="0"/>
                <a:ea typeface="Expert Sans" pitchFamily="34" charset="-122"/>
                <a:cs typeface="Expert Sans" pitchFamily="34" charset="-120"/>
              </a:rPr>
              <a:t>4</a:t>
            </a:r>
            <a:endParaRPr lang="en-US" sz="1600" dirty="0"/>
          </a:p>
        </p:txBody>
      </p:sp>
      <p:sp>
        <p:nvSpPr>
          <p:cNvPr id="18" name="Text 16"/>
          <p:cNvSpPr/>
          <p:nvPr/>
        </p:nvSpPr>
        <p:spPr>
          <a:xfrm>
            <a:off x="4608576" y="3712464"/>
            <a:ext cx="6867144" cy="658368"/>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Expert Sans" pitchFamily="34" charset="0"/>
                <a:ea typeface="Expert Sans" pitchFamily="34" charset="-122"/>
                <a:cs typeface="Expert Sans" pitchFamily="34" charset="-120"/>
              </a:rPr>
              <a:t>Hand timing and confidence to the sort (method 2). Keep the built-instead counterfactual row — it is what prices the route decision.</a:t>
            </a:r>
            <a:endParaRPr lang="en-US" sz="1200" dirty="0"/>
          </a:p>
        </p:txBody>
      </p:sp>
      <p:sp>
        <p:nvSpPr>
          <p:cNvPr id="19" name="Shape 17"/>
          <p:cNvSpPr/>
          <p:nvPr/>
        </p:nvSpPr>
        <p:spPr>
          <a:xfrm>
            <a:off x="4087368" y="4480560"/>
            <a:ext cx="365760" cy="365760"/>
          </a:xfrm>
          <a:prstGeom prst="ellipse">
            <a:avLst/>
          </a:prstGeom>
          <a:solidFill>
            <a:srgbClr val="00AEEF"/>
          </a:solidFill>
          <a:ln w="12700">
            <a:solidFill>
              <a:srgbClr val="00AEEF"/>
            </a:solidFill>
            <a:prstDash val="solid"/>
          </a:ln>
        </p:spPr>
      </p:sp>
      <p:sp>
        <p:nvSpPr>
          <p:cNvPr id="20" name="Text 18"/>
          <p:cNvSpPr/>
          <p:nvPr/>
        </p:nvSpPr>
        <p:spPr>
          <a:xfrm>
            <a:off x="4087368" y="448056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Expert Sans" pitchFamily="34" charset="0"/>
                <a:ea typeface="Expert Sans" pitchFamily="34" charset="-122"/>
                <a:cs typeface="Expert Sans" pitchFamily="34" charset="-120"/>
              </a:rPr>
              <a:t>5</a:t>
            </a:r>
            <a:endParaRPr lang="en-US" sz="1600" dirty="0"/>
          </a:p>
        </p:txBody>
      </p:sp>
      <p:sp>
        <p:nvSpPr>
          <p:cNvPr id="21" name="Text 19"/>
          <p:cNvSpPr/>
          <p:nvPr/>
        </p:nvSpPr>
        <p:spPr>
          <a:xfrm>
            <a:off x="4608576" y="4425696"/>
            <a:ext cx="6867144" cy="658368"/>
          </a:xfrm>
          <a:prstGeom prst="rect">
            <a:avLst/>
          </a:prstGeom>
          <a:noFill/>
          <a:ln/>
        </p:spPr>
        <p:txBody>
          <a:bodyPr wrap="square" lIns="0" tIns="0" rIns="0" bIns="0" rtlCol="0" anchor="t"/>
          <a:lstStyle/>
          <a:p>
            <a:pPr indent="0" marL="0">
              <a:lnSpc>
                <a:spcPts val="1600"/>
              </a:lnSpc>
              <a:buNone/>
            </a:pPr>
            <a:r>
              <a:rPr lang="en-US" sz="1200" dirty="0">
                <a:solidFill>
                  <a:srgbClr val="3F5563"/>
                </a:solidFill>
                <a:latin typeface="Expert Sans" pitchFamily="34" charset="0"/>
                <a:ea typeface="Expert Sans" pitchFamily="34" charset="-122"/>
                <a:cs typeface="Expert Sans" pitchFamily="34" charset="-120"/>
              </a:rPr>
              <a:t>Bound the partner routes: what they hold, what we keep, contract terms, and the re-internalise trigger with its review date.</a:t>
            </a:r>
            <a:endParaRPr lang="en-US" sz="1200" dirty="0"/>
          </a:p>
        </p:txBody>
      </p:sp>
      <p:sp>
        <p:nvSpPr>
          <p:cNvPr id="22" name="Shape 20"/>
          <p:cNvSpPr/>
          <p:nvPr/>
        </p:nvSpPr>
        <p:spPr>
          <a:xfrm>
            <a:off x="566928" y="5285232"/>
            <a:ext cx="11027664" cy="914400"/>
          </a:xfrm>
          <a:prstGeom prst="roundRect">
            <a:avLst>
              <a:gd name="adj" fmla="val 10000"/>
            </a:avLst>
          </a:prstGeom>
          <a:solidFill>
            <a:srgbClr val="D9EEF9"/>
          </a:solidFill>
          <a:ln w="12700">
            <a:solidFill>
              <a:srgbClr val="FFFFFF"/>
            </a:solidFill>
            <a:prstDash val="solid"/>
          </a:ln>
          <a:effectLst>
            <a:outerShdw sx="100000" sy="100000" kx="0" ky="0" algn="bl" rotWithShape="0" blurRad="127000" dist="25400" dir="5400000">
              <a:srgbClr val="9FB2BC">
                <a:alpha val="28000"/>
              </a:srgbClr>
            </a:outerShdw>
          </a:effectLst>
        </p:spPr>
      </p:sp>
      <p:sp>
        <p:nvSpPr>
          <p:cNvPr id="23" name="Text 21"/>
          <p:cNvSpPr/>
          <p:nvPr/>
        </p:nvSpPr>
        <p:spPr>
          <a:xfrm>
            <a:off x="950976" y="5413248"/>
            <a:ext cx="2743200" cy="274320"/>
          </a:xfrm>
          <a:prstGeom prst="rect">
            <a:avLst/>
          </a:prstGeom>
          <a:noFill/>
          <a:ln/>
        </p:spPr>
        <p:txBody>
          <a:bodyPr wrap="square" lIns="0" tIns="0" rIns="0" bIns="0" rtlCol="0" anchor="ctr"/>
          <a:lstStyle/>
          <a:p>
            <a:pPr indent="0" marL="0">
              <a:buNone/>
            </a:pPr>
            <a:r>
              <a:rPr lang="en-US" sz="1100" b="1" spc="200" kern="0" dirty="0">
                <a:solidFill>
                  <a:srgbClr val="0083C5"/>
                </a:solidFill>
                <a:latin typeface="Expert Sans" pitchFamily="34" charset="0"/>
                <a:ea typeface="Expert Sans" pitchFamily="34" charset="-122"/>
                <a:cs typeface="Expert Sans" pitchFamily="34" charset="-120"/>
              </a:rPr>
              <a:t>Run it with Copilot</a:t>
            </a:r>
            <a:endParaRPr lang="en-US" sz="1100" dirty="0"/>
          </a:p>
        </p:txBody>
      </p:sp>
      <p:sp>
        <p:nvSpPr>
          <p:cNvPr id="24" name="Text 22"/>
          <p:cNvSpPr/>
          <p:nvPr/>
        </p:nvSpPr>
        <p:spPr>
          <a:xfrm>
            <a:off x="950976" y="5687568"/>
            <a:ext cx="10113264" cy="457200"/>
          </a:xfrm>
          <a:prstGeom prst="rect">
            <a:avLst/>
          </a:prstGeom>
          <a:noFill/>
          <a:ln/>
        </p:spPr>
        <p:txBody>
          <a:bodyPr wrap="square" lIns="0" tIns="0" rIns="0" bIns="0" rtlCol="0" anchor="t"/>
          <a:lstStyle/>
          <a:p>
            <a:pPr indent="0" marL="0">
              <a:lnSpc>
                <a:spcPts val="1600"/>
              </a:lnSpc>
              <a:buNone/>
            </a:pPr>
            <a:r>
              <a:rPr lang="en-US" sz="1200" dirty="0">
                <a:solidFill>
                  <a:srgbClr val="00395D"/>
                </a:solidFill>
                <a:latin typeface="Expert Sans" pitchFamily="34" charset="0"/>
                <a:ea typeface="Expert Sans" pitchFamily="34" charset="-122"/>
                <a:cs typeface="Expert Sans" pitchFamily="34" charset="-120"/>
              </a:rPr>
              <a:t>One chat per feature. Paste the capability inventory and terms; require the counterfactual row and the defensibility bounds before accepting a verdict.   ·   Output feeds: slides 15, 18–19</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Proposition Backlog Recommendation — Minto template</dc:title>
  <dc:subject>PptxGenJS Presentation</dc:subject>
  <dc:creator>Proposition backlog template</dc:creator>
  <cp:lastModifiedBy>Proposition backlog template</cp:lastModifiedBy>
  <cp:revision>1</cp:revision>
  <dcterms:created xsi:type="dcterms:W3CDTF">2026-08-19T10:01:42Z</dcterms:created>
  <dcterms:modified xsi:type="dcterms:W3CDTF">2026-08-19T10:01:42Z</dcterms:modified>
</cp:coreProperties>
</file>