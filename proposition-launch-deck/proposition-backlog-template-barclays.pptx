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OCV</c:v>
                </c:pt>
              </c:strCache>
            </c:strRef>
          </c:tx>
          <c:dPt>
            <c:idx val="0"/>
            <c:spPr>
              <a:solidFill>
                <a:srgbClr val="BFBFBF"/>
              </a:solidFill>
            </c:spPr>
          </c:dPt>
          <c:dPt>
            <c:idx val="1"/>
            <c:spPr>
              <a:solidFill>
                <a:srgbClr val="BFBFBF"/>
              </a:solidFill>
            </c:spPr>
          </c:dPt>
          <c:dPt>
            <c:idx val="2"/>
            <c:spPr>
              <a:solidFill>
                <a:srgbClr val="00395D"/>
              </a:solidFill>
            </c:spPr>
          </c:dPt>
          <c:dPt>
            <c:idx val="3"/>
            <c:spPr>
              <a:solidFill>
                <a:srgbClr val="00395D"/>
              </a:solidFill>
            </c:spPr>
          </c:dPt>
          <c:dPt>
            <c:idx val="4"/>
            <c:spPr>
              <a:solidFill>
                <a:srgbClr val="00395D"/>
              </a:solidFill>
            </c:spPr>
          </c:dPt>
          <c:cat>
            <c:strRef>
              <c:f>Sheet1!$A$2:$A$6</c:f>
              <c:strCache>
                <c:ptCount val="5"/>
                <c:pt idx="0">
                  <c:v>Rewards scheme</c:v>
                </c:pt>
                <c:pt idx="1">
                  <c:v>Crypto payments</c:v>
                </c:pt>
                <c:pt idx="2">
                  <c:v>Trade insurance</c:v>
                </c:pt>
                <c:pt idx="3">
                  <c:v>Invoice finance</c:v>
                </c:pt>
                <c:pt idx="4">
                  <c:v>FX payments</c:v>
                </c:pt>
              </c:strCache>
            </c:strRef>
          </c:cat>
          <c:val>
            <c:numRef>
              <c:f>Sheet1!$B$2:$B$6</c:f>
              <c:numCache>
                <c:formatCode>General</c:formatCode>
                <c:ptCount val="5"/>
                <c:pt idx="0">
                  <c:v>33</c:v>
                </c:pt>
                <c:pt idx="1">
                  <c:v>41</c:v>
                </c:pt>
                <c:pt idx="2">
                  <c:v>64</c:v>
                </c:pt>
                <c:pt idx="3">
                  <c:v>72</c:v>
                </c:pt>
                <c:pt idx="4">
                  <c:v>78</c:v>
                </c:pt>
              </c:numCache>
            </c:numRef>
          </c:val>
        </c:ser>
        <c:dLbls>
          <c:txPr>
            <a:bodyPr/>
            <a:lstStyle/>
            <a:p>
              <a:pPr>
                <a:defRPr sz="1200" b="1">
                  <a:latin typeface="Expert Sans"/>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latin typeface="Expert Sans"/>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Barclays IR style. Generated by generate_backlog_deck.py - edit the DATA section and re-run.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Delete before sending. Row 4 documents the regeneration route now that Copilot executes Python.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routes now that Copilot executes Python. Route A (regenerate) is canonical.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at the right altitude. The Complication earns the backlog framing.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derived from the data: earnings figure recomputes from the bridge on every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line: three independent reasons about the whole backlog.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photograph slide. Derived from the FEATURES data: order and per-slot returns are computed, not typed.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is the admission test, not the sort key.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derived from FEATURES: bar colour follows the gate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stated by us before a sceptic finds them; each connects to the re-score cadence.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standing shell the backlog ships into. Break-even and stop rule keep it honest.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sort key is the archetype's central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per-slot = NPV/slots, order = rank. The teaching row (multi-slot feature) highlights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Waterfall computed from BRIDGE_BASE + BRIDGE_STEPS; the title's configured case is the same sum.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discipline slide: stops the deck being a discount programme with a strategy attached.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counterfactual row prices the route decision. Confidence bands come from the delivery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trigger: observable signal, mechanical consequence. No re-litigation, just re-scoring.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sets the cut-line; the routes protect the advantage.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 verdicts differ per feature; each states its reason in place.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partner holds the customer or the data, earnings survive but the moat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wrong is survivable, because the system re-scores instead of re-arguing.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asks: the rule, the slate, the terms, the stop. Adopting the rule outlives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pages make the deck reproducible - which also makes the quarterly re-score cheap.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page - the operator card behind the summary slides.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page - the operator card behind the summary slides.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page - the operator card behind the summary slides.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page - the operator card behind the summary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325880"/>
            <a:ext cx="7863840" cy="310896"/>
          </a:xfrm>
          <a:prstGeom prst="rect">
            <a:avLst/>
          </a:prstGeom>
          <a:noFill/>
        </p:spPr>
        <p:txBody>
          <a:bodyPr wrap="square">
            <a:spAutoFit/>
          </a:bodyPr>
          <a:lstStyle/>
          <a:p>
            <a:pPr algn="l"/>
            <a:r>
              <a:rPr sz="1200" b="1" i="0">
                <a:solidFill>
                  <a:srgbClr val="0083C5"/>
                </a:solidFill>
                <a:latin typeface="Expert Sans"/>
              </a:rPr>
              <a:t>PROPOSITION BACKLOG RECOMMENDATION</a:t>
            </a:r>
          </a:p>
        </p:txBody>
      </p:sp>
      <p:sp>
        <p:nvSpPr>
          <p:cNvPr id="4" name="TextBox 3"/>
          <p:cNvSpPr txBox="1"/>
          <p:nvPr/>
        </p:nvSpPr>
        <p:spPr>
          <a:xfrm>
            <a:off x="566928" y="1783080"/>
            <a:ext cx="7680960" cy="1920240"/>
          </a:xfrm>
          <a:prstGeom prst="rect">
            <a:avLst/>
          </a:prstGeom>
          <a:noFill/>
        </p:spPr>
        <p:txBody>
          <a:bodyPr wrap="square">
            <a:spAutoFit/>
          </a:bodyPr>
          <a:lstStyle/>
          <a:p>
            <a:pPr algn="l">
              <a:lnSpc>
                <a:spcPts val="5200"/>
              </a:lnSpc>
            </a:pPr>
            <a:r>
              <a:rPr sz="4600" b="0" i="0">
                <a:solidFill>
                  <a:srgbClr val="00AEEF"/>
                </a:solidFill>
                <a:latin typeface="Expert Sans"/>
              </a:rPr>
              <a:t>What do we build,
and in what order?</a:t>
            </a:r>
          </a:p>
        </p:txBody>
      </p:sp>
      <p:sp>
        <p:nvSpPr>
          <p:cNvPr id="5" name="TextBox 4"/>
          <p:cNvSpPr txBox="1"/>
          <p:nvPr/>
        </p:nvSpPr>
        <p:spPr>
          <a:xfrm>
            <a:off x="566928" y="3794760"/>
            <a:ext cx="7863840" cy="365760"/>
          </a:xfrm>
          <a:prstGeom prst="rect">
            <a:avLst/>
          </a:prstGeom>
          <a:noFill/>
        </p:spPr>
        <p:txBody>
          <a:bodyPr wrap="square">
            <a:spAutoFit/>
          </a:bodyPr>
          <a:lstStyle/>
          <a:p>
            <a:pPr algn="l"/>
            <a:r>
              <a:rPr sz="1500" b="0" i="0">
                <a:solidFill>
                  <a:srgbClr val="00395D"/>
                </a:solidFill>
                <a:latin typeface="Expert Sans"/>
              </a:rPr>
              <a:t>A rule that sorts the backlog · this cycle's slate · a re-score cadence</a:t>
            </a:r>
          </a:p>
        </p:txBody>
      </p:sp>
      <p:sp>
        <p:nvSpPr>
          <p:cNvPr id="6" name="TextBox 5"/>
          <p:cNvSpPr txBox="1"/>
          <p:nvPr/>
        </p:nvSpPr>
        <p:spPr>
          <a:xfrm>
            <a:off x="566928" y="4251960"/>
            <a:ext cx="8412480" cy="365760"/>
          </a:xfrm>
          <a:prstGeom prst="rect">
            <a:avLst/>
          </a:prstGeom>
          <a:noFill/>
        </p:spPr>
        <p:txBody>
          <a:bodyPr wrap="square">
            <a:spAutoFit/>
          </a:bodyPr>
          <a:lstStyle/>
          <a:p>
            <a:pPr algn="l"/>
            <a:r>
              <a:rPr sz="1200" b="0" i="0">
                <a:solidFill>
                  <a:srgbClr val="6E7F8D"/>
                </a:solidFill>
                <a:latin typeface="Expert Sans"/>
              </a:rPr>
              <a:t>Worked example: exporting SMEs · all names and numbers are dummy values</a:t>
            </a:r>
          </a:p>
        </p:txBody>
      </p:sp>
      <p:sp>
        <p:nvSpPr>
          <p:cNvPr id="7" name="TextBox 6"/>
          <p:cNvSpPr txBox="1"/>
          <p:nvPr/>
        </p:nvSpPr>
        <p:spPr>
          <a:xfrm>
            <a:off x="566928" y="5989320"/>
            <a:ext cx="7315200" cy="365760"/>
          </a:xfrm>
          <a:prstGeom prst="rect">
            <a:avLst/>
          </a:prstGeom>
          <a:noFill/>
        </p:spPr>
        <p:txBody>
          <a:bodyPr wrap="square">
            <a:spAutoFit/>
          </a:bodyPr>
          <a:lstStyle/>
          <a:p>
            <a:pPr algn="l"/>
            <a:r>
              <a:rPr sz="1200" b="0" i="0">
                <a:solidFill>
                  <a:srgbClr val="6E7F8D"/>
                </a:solidFill>
                <a:latin typeface="Expert Sans"/>
              </a:rPr>
              <a:t>[Team / function]   ·   [Month Year]</a:t>
            </a:r>
          </a:p>
        </p:txBody>
      </p:sp>
      <p:sp>
        <p:nvSpPr>
          <p:cNvPr id="8" name="Rounded Rectangle 7"/>
          <p:cNvSpPr/>
          <p:nvPr/>
        </p:nvSpPr>
        <p:spPr>
          <a:xfrm>
            <a:off x="9441180" y="1965960"/>
            <a:ext cx="960120" cy="566928"/>
          </a:xfrm>
          <a:prstGeom prst="roundRect">
            <a:avLst>
              <a:gd name="adj" fmla="val 8000"/>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938260" y="2679191"/>
            <a:ext cx="1965960" cy="566928"/>
          </a:xfrm>
          <a:prstGeom prst="roundRect">
            <a:avLst>
              <a:gd name="adj" fmla="val 8000"/>
            </a:avLst>
          </a:prstGeom>
          <a:solidFill>
            <a:srgbClr val="003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435340" y="3392424"/>
            <a:ext cx="2971800" cy="56692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43800" y="4215384"/>
            <a:ext cx="4754880" cy="329184"/>
          </a:xfrm>
          <a:prstGeom prst="rect">
            <a:avLst/>
          </a:prstGeom>
          <a:noFill/>
        </p:spPr>
        <p:txBody>
          <a:bodyPr wrap="square">
            <a:spAutoFit/>
          </a:bodyPr>
          <a:lstStyle/>
          <a:p>
            <a:pPr algn="ctr"/>
            <a:r>
              <a:rPr sz="1100" b="0" i="0">
                <a:solidFill>
                  <a:srgbClr val="6E7F8D"/>
                </a:solidFill>
                <a:latin typeface="Expert Sans"/>
              </a:rPr>
              <a:t>Answer  →  key line  →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TEMPLATE GUIDE — DELETE BEFORE SENDING</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How to use this deck</a:t>
            </a:r>
          </a:p>
        </p:txBody>
      </p:sp>
      <p:sp>
        <p:nvSpPr>
          <p:cNvPr id="4" name="Rounded Rectangle 3"/>
          <p:cNvSpPr/>
          <p:nvPr/>
        </p:nvSpPr>
        <p:spPr>
          <a:xfrm>
            <a:off x="566928" y="1481328"/>
            <a:ext cx="11057839" cy="1060704"/>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77824" y="1801368"/>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6" name="TextBox 5"/>
          <p:cNvSpPr txBox="1"/>
          <p:nvPr/>
        </p:nvSpPr>
        <p:spPr>
          <a:xfrm>
            <a:off x="1527048" y="1609344"/>
            <a:ext cx="9686239" cy="347472"/>
          </a:xfrm>
          <a:prstGeom prst="rect">
            <a:avLst/>
          </a:prstGeom>
          <a:noFill/>
        </p:spPr>
        <p:txBody>
          <a:bodyPr wrap="square">
            <a:spAutoFit/>
          </a:bodyPr>
          <a:lstStyle/>
          <a:p>
            <a:pPr algn="l"/>
            <a:r>
              <a:rPr sz="1450" b="1" i="0">
                <a:solidFill>
                  <a:srgbClr val="00395D"/>
                </a:solidFill>
                <a:latin typeface="Expert Sans"/>
              </a:rPr>
              <a:t>Every name and number is a dummy value</a:t>
            </a:r>
          </a:p>
        </p:txBody>
      </p:sp>
      <p:sp>
        <p:nvSpPr>
          <p:cNvPr id="7" name="TextBox 6"/>
          <p:cNvSpPr txBox="1"/>
          <p:nvPr/>
        </p:nvSpPr>
        <p:spPr>
          <a:xfrm>
            <a:off x="1527048" y="1956816"/>
            <a:ext cx="9686239" cy="530352"/>
          </a:xfrm>
          <a:prstGeom prst="rect">
            <a:avLst/>
          </a:prstGeom>
          <a:noFill/>
        </p:spPr>
        <p:txBody>
          <a:bodyPr wrap="square">
            <a:spAutoFit/>
          </a:bodyPr>
          <a:lstStyle/>
          <a:p>
            <a:pPr algn="l">
              <a:lnSpc>
                <a:spcPts val="1500"/>
              </a:lnSpc>
            </a:pPr>
            <a:r>
              <a:rPr sz="1150" b="0" i="0">
                <a:solidFill>
                  <a:srgbClr val="3F5563"/>
                </a:solidFill>
                <a:latin typeface="Expert Sans"/>
              </a:rPr>
              <a:t>Exporting smes, 'Trade Ready', FX, the scores and the returns are a worked example. Replace all of them with your client's own.</a:t>
            </a:r>
          </a:p>
        </p:txBody>
      </p:sp>
      <p:sp>
        <p:nvSpPr>
          <p:cNvPr id="8" name="Rounded Rectangle 7"/>
          <p:cNvSpPr/>
          <p:nvPr/>
        </p:nvSpPr>
        <p:spPr>
          <a:xfrm>
            <a:off x="566928" y="2688336"/>
            <a:ext cx="11057839" cy="1060704"/>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3008376"/>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0" name="TextBox 9"/>
          <p:cNvSpPr txBox="1"/>
          <p:nvPr/>
        </p:nvSpPr>
        <p:spPr>
          <a:xfrm>
            <a:off x="1527048" y="2816352"/>
            <a:ext cx="9686239" cy="347472"/>
          </a:xfrm>
          <a:prstGeom prst="rect">
            <a:avLst/>
          </a:prstGeom>
          <a:noFill/>
        </p:spPr>
        <p:txBody>
          <a:bodyPr wrap="square">
            <a:spAutoFit/>
          </a:bodyPr>
          <a:lstStyle/>
          <a:p>
            <a:pPr algn="l"/>
            <a:r>
              <a:rPr sz="1450" b="1" i="0">
                <a:solidFill>
                  <a:srgbClr val="00395D"/>
                </a:solidFill>
                <a:latin typeface="Expert Sans"/>
              </a:rPr>
              <a:t>The answer is a rule plus this cycle's slate</a:t>
            </a:r>
          </a:p>
        </p:txBody>
      </p:sp>
      <p:sp>
        <p:nvSpPr>
          <p:cNvPr id="11" name="TextBox 10"/>
          <p:cNvSpPr txBox="1"/>
          <p:nvPr/>
        </p:nvSpPr>
        <p:spPr>
          <a:xfrm>
            <a:off x="1527048" y="3163824"/>
            <a:ext cx="9686239" cy="530352"/>
          </a:xfrm>
          <a:prstGeom prst="rect">
            <a:avLst/>
          </a:prstGeom>
          <a:noFill/>
        </p:spPr>
        <p:txBody>
          <a:bodyPr wrap="square">
            <a:spAutoFit/>
          </a:bodyPr>
          <a:lstStyle/>
          <a:p>
            <a:pPr algn="l">
              <a:lnSpc>
                <a:spcPts val="1500"/>
              </a:lnSpc>
            </a:pPr>
            <a:r>
              <a:rPr sz="1150" b="0" i="0">
                <a:solidFill>
                  <a:srgbClr val="3F5563"/>
                </a:solidFill>
                <a:latin typeface="Expert Sans"/>
              </a:rPr>
              <a:t>The client approves the sorting rule AND the first output. That is what makes the backlog durable: next cycle re-runs the rule, not the argument.</a:t>
            </a:r>
          </a:p>
        </p:txBody>
      </p:sp>
      <p:sp>
        <p:nvSpPr>
          <p:cNvPr id="12" name="Rounded Rectangle 11"/>
          <p:cNvSpPr/>
          <p:nvPr/>
        </p:nvSpPr>
        <p:spPr>
          <a:xfrm>
            <a:off x="566928" y="3895344"/>
            <a:ext cx="11057839" cy="1060704"/>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 y="4215384"/>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4" name="TextBox 13"/>
          <p:cNvSpPr txBox="1"/>
          <p:nvPr/>
        </p:nvSpPr>
        <p:spPr>
          <a:xfrm>
            <a:off x="1527048" y="4023360"/>
            <a:ext cx="9686239" cy="347472"/>
          </a:xfrm>
          <a:prstGeom prst="rect">
            <a:avLst/>
          </a:prstGeom>
          <a:noFill/>
        </p:spPr>
        <p:txBody>
          <a:bodyPr wrap="square">
            <a:spAutoFit/>
          </a:bodyPr>
          <a:lstStyle/>
          <a:p>
            <a:pPr algn="l"/>
            <a:r>
              <a:rPr sz="1450" b="1" i="0">
                <a:solidFill>
                  <a:srgbClr val="00395D"/>
                </a:solidFill>
                <a:latin typeface="Expert Sans"/>
              </a:rPr>
              <a:t>The sort key is return per build slot, not raw NPV</a:t>
            </a:r>
          </a:p>
        </p:txBody>
      </p:sp>
      <p:sp>
        <p:nvSpPr>
          <p:cNvPr id="15" name="TextBox 14"/>
          <p:cNvSpPr txBox="1"/>
          <p:nvPr/>
        </p:nvSpPr>
        <p:spPr>
          <a:xfrm>
            <a:off x="1527048" y="4370832"/>
            <a:ext cx="9686239" cy="530352"/>
          </a:xfrm>
          <a:prstGeom prst="rect">
            <a:avLst/>
          </a:prstGeom>
          <a:noFill/>
        </p:spPr>
        <p:txBody>
          <a:bodyPr wrap="square">
            <a:spAutoFit/>
          </a:bodyPr>
          <a:lstStyle/>
          <a:p>
            <a:pPr algn="l">
              <a:lnSpc>
                <a:spcPts val="1500"/>
              </a:lnSpc>
            </a:pPr>
            <a:r>
              <a:rPr sz="1150" b="0" i="0">
                <a:solidFill>
                  <a:srgbClr val="3F5563"/>
                </a:solidFill>
                <a:latin typeface="Expert Sans"/>
              </a:rPr>
              <a:t>Capacity is the scarce thing. A big feature that eats two slots can lose to two small ones. The worked example shows exactly this: insurance beats invoice finance on raw NPV and still sorts below it.</a:t>
            </a:r>
          </a:p>
        </p:txBody>
      </p:sp>
      <p:sp>
        <p:nvSpPr>
          <p:cNvPr id="16" name="Rounded Rectangle 15"/>
          <p:cNvSpPr/>
          <p:nvPr/>
        </p:nvSpPr>
        <p:spPr>
          <a:xfrm>
            <a:off x="566928" y="5102352"/>
            <a:ext cx="11057839" cy="1060704"/>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77824" y="5422392"/>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4</a:t>
            </a:r>
          </a:p>
        </p:txBody>
      </p:sp>
      <p:sp>
        <p:nvSpPr>
          <p:cNvPr id="18" name="TextBox 17"/>
          <p:cNvSpPr txBox="1"/>
          <p:nvPr/>
        </p:nvSpPr>
        <p:spPr>
          <a:xfrm>
            <a:off x="1527048" y="5230368"/>
            <a:ext cx="9686239" cy="347472"/>
          </a:xfrm>
          <a:prstGeom prst="rect">
            <a:avLst/>
          </a:prstGeom>
          <a:noFill/>
        </p:spPr>
        <p:txBody>
          <a:bodyPr wrap="square">
            <a:spAutoFit/>
          </a:bodyPr>
          <a:lstStyle/>
          <a:p>
            <a:pPr algn="l"/>
            <a:r>
              <a:rPr sz="1450" b="1" i="0">
                <a:solidFill>
                  <a:srgbClr val="00395D"/>
                </a:solidFill>
                <a:latin typeface="Expert Sans"/>
              </a:rPr>
              <a:t>This deck regenerates from a Python script</a:t>
            </a:r>
          </a:p>
        </p:txBody>
      </p:sp>
      <p:sp>
        <p:nvSpPr>
          <p:cNvPr id="19" name="TextBox 18"/>
          <p:cNvSpPr txBox="1"/>
          <p:nvPr/>
        </p:nvSpPr>
        <p:spPr>
          <a:xfrm>
            <a:off x="1527048" y="5577840"/>
            <a:ext cx="9686239" cy="530352"/>
          </a:xfrm>
          <a:prstGeom prst="rect">
            <a:avLst/>
          </a:prstGeom>
          <a:noFill/>
        </p:spPr>
        <p:txBody>
          <a:bodyPr wrap="square">
            <a:spAutoFit/>
          </a:bodyPr>
          <a:lstStyle/>
          <a:p>
            <a:pPr algn="l">
              <a:lnSpc>
                <a:spcPts val="1500"/>
              </a:lnSpc>
            </a:pPr>
            <a:r>
              <a:rPr sz="1150" b="0" i="0">
                <a:solidFill>
                  <a:srgbClr val="3F5563"/>
                </a:solidFill>
                <a:latin typeface="Expert Sans"/>
              </a:rPr>
              <a:t>generate_backlog_deck.py rebuilds the whole file. Edit the DATA section (Copilot can run it and hand back the .pptx). The arithmetic — per-slot returns, the bridge, the headline — recomputes on every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FOR COPILOT — DELETE BEFORE SENDING</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700"/>
              </a:lnSpc>
            </a:pPr>
            <a:r>
              <a:rPr sz="2200" b="0" i="0">
                <a:solidFill>
                  <a:srgbClr val="00AEEF"/>
                </a:solidFill>
                <a:latin typeface="Expert Sans"/>
              </a:rPr>
              <a:t>Copilot: how to work with this deck</a:t>
            </a:r>
          </a:p>
        </p:txBody>
      </p:sp>
      <p:sp>
        <p:nvSpPr>
          <p:cNvPr id="4" name="Rounded Rectangle 3"/>
          <p:cNvSpPr/>
          <p:nvPr/>
        </p:nvSpPr>
        <p:spPr>
          <a:xfrm>
            <a:off x="566928" y="1417320"/>
            <a:ext cx="5440680" cy="42062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572768"/>
            <a:ext cx="4846320" cy="310896"/>
          </a:xfrm>
          <a:prstGeom prst="rect">
            <a:avLst/>
          </a:prstGeom>
          <a:noFill/>
        </p:spPr>
        <p:txBody>
          <a:bodyPr wrap="square">
            <a:spAutoFit/>
          </a:bodyPr>
          <a:lstStyle/>
          <a:p>
            <a:pPr algn="l"/>
            <a:r>
              <a:rPr sz="1250" b="1" i="0">
                <a:solidFill>
                  <a:srgbClr val="00395D"/>
                </a:solidFill>
                <a:latin typeface="Expert Sans"/>
              </a:rPr>
              <a:t>A — Preferred route: regenerate from the script</a:t>
            </a:r>
          </a:p>
        </p:txBody>
      </p:sp>
      <p:sp>
        <p:nvSpPr>
          <p:cNvPr id="6" name="TextBox 5"/>
          <p:cNvSpPr txBox="1"/>
          <p:nvPr/>
        </p:nvSpPr>
        <p:spPr>
          <a:xfrm>
            <a:off x="859536" y="1920240"/>
            <a:ext cx="4892040" cy="3566160"/>
          </a:xfrm>
          <a:prstGeom prst="rect">
            <a:avLst/>
          </a:prstGeom>
          <a:noFill/>
        </p:spPr>
        <p:txBody>
          <a:bodyPr wrap="square">
            <a:spAutoFit/>
          </a:bodyPr>
          <a:lstStyle/>
          <a:p>
            <a:pPr algn="l">
              <a:lnSpc>
                <a:spcPts val="1400"/>
              </a:lnSpc>
            </a:pPr>
            <a:r>
              <a:rPr sz="1050" b="1" i="0">
                <a:solidFill>
                  <a:srgbClr val="0083C5"/>
                </a:solidFill>
                <a:latin typeface="Expert Sans"/>
              </a:rPr>
              <a:t>1. </a:t>
            </a:r>
          </a:p>
          <a:p>
            <a:pPr algn="l">
              <a:lnSpc>
                <a:spcPts val="1400"/>
              </a:lnSpc>
            </a:pPr>
            <a:r>
              <a:rPr sz="1050" b="0" i="0">
                <a:solidFill>
                  <a:srgbClr val="3F5563"/>
                </a:solidFill>
                <a:latin typeface="Expert Sans"/>
              </a:rPr>
              <a:t>Ask the user for generate_backlog_deck.py (same repository). Edit ONLY the DATA section: features, scores, returns, slots, routes, bridge steps, text blocks.</a:t>
            </a:r>
          </a:p>
          <a:p>
            <a:pPr algn="l">
              <a:lnSpc>
                <a:spcPts val="1400"/>
              </a:lnSpc>
            </a:pPr>
            <a:r>
              <a:rPr sz="1050" b="1" i="0">
                <a:solidFill>
                  <a:srgbClr val="0083C5"/>
                </a:solidFill>
                <a:latin typeface="Expert Sans"/>
              </a:rPr>
              <a:t>2. </a:t>
            </a:r>
          </a:p>
          <a:p>
            <a:pPr algn="l">
              <a:lnSpc>
                <a:spcPts val="1400"/>
              </a:lnSpc>
            </a:pPr>
            <a:r>
              <a:rPr sz="1050" b="0" i="0">
                <a:solidFill>
                  <a:srgbClr val="3F5563"/>
                </a:solidFill>
                <a:latin typeface="Expert Sans"/>
              </a:rPr>
              <a:t>Run the script. It recomputes per-slot returns, the bridge total and the headline, runs its self-check, and writes the .pptx. Give the file to the user.</a:t>
            </a:r>
          </a:p>
          <a:p>
            <a:pPr algn="l">
              <a:lnSpc>
                <a:spcPts val="1400"/>
              </a:lnSpc>
            </a:pPr>
            <a:r>
              <a:rPr sz="1050" b="1" i="0">
                <a:solidFill>
                  <a:srgbClr val="0083C5"/>
                </a:solidFill>
                <a:latin typeface="Expert Sans"/>
              </a:rPr>
              <a:t>3. </a:t>
            </a:r>
          </a:p>
          <a:p>
            <a:pPr algn="l">
              <a:lnSpc>
                <a:spcPts val="1400"/>
              </a:lnSpc>
            </a:pPr>
            <a:r>
              <a:rPr sz="1050" b="0" i="0">
                <a:solidFill>
                  <a:srgbClr val="3F5563"/>
                </a:solidFill>
                <a:latin typeface="Expert Sans"/>
              </a:rPr>
              <a:t>Never edit the LAYOUT section. If the self-check prints FAIL, fix the data, not the check.</a:t>
            </a:r>
          </a:p>
        </p:txBody>
      </p:sp>
      <p:sp>
        <p:nvSpPr>
          <p:cNvPr id="7" name="Rounded Rectangle 6"/>
          <p:cNvSpPr/>
          <p:nvPr/>
        </p:nvSpPr>
        <p:spPr>
          <a:xfrm>
            <a:off x="6281928" y="1417320"/>
            <a:ext cx="5342839" cy="42062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74536" y="1572768"/>
            <a:ext cx="4846320" cy="310896"/>
          </a:xfrm>
          <a:prstGeom prst="rect">
            <a:avLst/>
          </a:prstGeom>
          <a:noFill/>
        </p:spPr>
        <p:txBody>
          <a:bodyPr wrap="square">
            <a:spAutoFit/>
          </a:bodyPr>
          <a:lstStyle/>
          <a:p>
            <a:pPr algn="l"/>
            <a:r>
              <a:rPr sz="1250" b="1" i="0">
                <a:solidFill>
                  <a:srgbClr val="00395D"/>
                </a:solidFill>
                <a:latin typeface="Expert Sans"/>
              </a:rPr>
              <a:t>B — Fallback: edit this file directly</a:t>
            </a:r>
          </a:p>
        </p:txBody>
      </p:sp>
      <p:sp>
        <p:nvSpPr>
          <p:cNvPr id="9" name="TextBox 8"/>
          <p:cNvSpPr txBox="1"/>
          <p:nvPr/>
        </p:nvSpPr>
        <p:spPr>
          <a:xfrm>
            <a:off x="6574536" y="1920240"/>
            <a:ext cx="4794199" cy="3566160"/>
          </a:xfrm>
          <a:prstGeom prst="rect">
            <a:avLst/>
          </a:prstGeom>
          <a:noFill/>
        </p:spPr>
        <p:txBody>
          <a:bodyPr wrap="square">
            <a:spAutoFit/>
          </a:bodyPr>
          <a:lstStyle/>
          <a:p>
            <a:pPr algn="l">
              <a:lnSpc>
                <a:spcPts val="1400"/>
              </a:lnSpc>
            </a:pPr>
            <a:r>
              <a:rPr sz="1050" b="1" i="0">
                <a:solidFill>
                  <a:srgbClr val="0083C5"/>
                </a:solidFill>
                <a:latin typeface="Expert Sans"/>
              </a:rPr>
              <a:t>4. </a:t>
            </a:r>
          </a:p>
          <a:p>
            <a:pPr algn="l">
              <a:lnSpc>
                <a:spcPts val="1400"/>
              </a:lnSpc>
            </a:pPr>
            <a:r>
              <a:rPr sz="1050" b="0" i="0">
                <a:solidFill>
                  <a:srgbClr val="3F5563"/>
                </a:solidFill>
                <a:latin typeface="Expert Sans"/>
              </a:rPr>
              <a:t>Replace every example value. Numbers must reconcile: bridge total (13) = headline earnings (4) · per-slot (12) = NPV (15) ÷ slots · scores identical on 6 and 8.</a:t>
            </a:r>
          </a:p>
          <a:p>
            <a:pPr algn="l">
              <a:lnSpc>
                <a:spcPts val="1400"/>
              </a:lnSpc>
            </a:pPr>
            <a:r>
              <a:rPr sz="1050" b="1" i="0">
                <a:solidFill>
                  <a:srgbClr val="0083C5"/>
                </a:solidFill>
                <a:latin typeface="Expert Sans"/>
              </a:rPr>
              <a:t>5. </a:t>
            </a:r>
          </a:p>
          <a:p>
            <a:pPr algn="l">
              <a:lnSpc>
                <a:spcPts val="1400"/>
              </a:lnSpc>
            </a:pPr>
            <a:r>
              <a:rPr sz="1050" b="0" i="0">
                <a:solidFill>
                  <a:srgbClr val="3F5563"/>
                </a:solidFill>
                <a:latin typeface="Expert Sans"/>
              </a:rPr>
              <a:t>The Barclays palette is already applied (cyan 00AEEF titles, navy 00395D data, pale blue D9EEF9 cards, grey BFBFBF comparisons). Do not remap it. Font: Expert Sans.</a:t>
            </a:r>
          </a:p>
          <a:p>
            <a:pPr algn="l">
              <a:lnSpc>
                <a:spcPts val="1400"/>
              </a:lnSpc>
            </a:pPr>
            <a:r>
              <a:rPr sz="1050" b="1" i="0">
                <a:solidFill>
                  <a:srgbClr val="0083C5"/>
                </a:solidFill>
                <a:latin typeface="Expert Sans"/>
              </a:rPr>
              <a:t>6. </a:t>
            </a:r>
          </a:p>
          <a:p>
            <a:pPr algn="l">
              <a:lnSpc>
                <a:spcPts val="1400"/>
              </a:lnSpc>
            </a:pPr>
            <a:r>
              <a:rPr sz="1050" b="0" i="0">
                <a:solidFill>
                  <a:srgbClr val="3F5563"/>
                </a:solidFill>
                <a:latin typeface="Expert Sans"/>
              </a:rPr>
              <a:t>Never restyle PASS green / FAIL red or the one-highlight rule. After edits, check titles fit two lines and tables sit inside margins.</a:t>
            </a:r>
          </a:p>
        </p:txBody>
      </p:sp>
      <p:sp>
        <p:nvSpPr>
          <p:cNvPr id="10" name="Rounded Rectangle 9"/>
          <p:cNvSpPr/>
          <p:nvPr/>
        </p:nvSpPr>
        <p:spPr>
          <a:xfrm>
            <a:off x="566928" y="5779008"/>
            <a:ext cx="11057839" cy="685800"/>
          </a:xfrm>
          <a:prstGeom prst="roundRect">
            <a:avLst>
              <a:gd name="adj" fmla="val 8000"/>
            </a:avLst>
          </a:prstGeom>
          <a:solidFill>
            <a:srgbClr val="CDE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70448"/>
            <a:ext cx="10143439" cy="502920"/>
          </a:xfrm>
          <a:prstGeom prst="rect">
            <a:avLst/>
          </a:prstGeom>
          <a:noFill/>
        </p:spPr>
        <p:txBody>
          <a:bodyPr wrap="square">
            <a:spAutoFit/>
          </a:bodyPr>
          <a:lstStyle/>
          <a:p>
            <a:pPr algn="l"/>
            <a:r>
              <a:rPr sz="1150" b="1" i="0">
                <a:solidFill>
                  <a:srgbClr val="00395D"/>
                </a:solidFill>
                <a:latin typeface="Expert Sans"/>
              </a:rPr>
              <a:t>Route A is safer: the script cannot produce irreconcilable numbers. Route B requires the manual reconcile checks in step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WHY WE ARE HERE</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The question we set out to answer</a:t>
            </a:r>
          </a:p>
        </p:txBody>
      </p:sp>
      <p:sp>
        <p:nvSpPr>
          <p:cNvPr id="4" name="Rounded Rectangle 3"/>
          <p:cNvSpPr/>
          <p:nvPr/>
        </p:nvSpPr>
        <p:spPr>
          <a:xfrm>
            <a:off x="566928" y="1517904"/>
            <a:ext cx="11057839" cy="107899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682495"/>
            <a:ext cx="2743200" cy="292608"/>
          </a:xfrm>
          <a:prstGeom prst="rect">
            <a:avLst/>
          </a:prstGeom>
          <a:noFill/>
        </p:spPr>
        <p:txBody>
          <a:bodyPr wrap="square">
            <a:spAutoFit/>
          </a:bodyPr>
          <a:lstStyle/>
          <a:p>
            <a:pPr algn="l"/>
            <a:r>
              <a:rPr sz="1100" b="1" i="0">
                <a:solidFill>
                  <a:srgbClr val="0083C5"/>
                </a:solidFill>
                <a:latin typeface="Expert Sans"/>
              </a:rPr>
              <a:t>SITUATION</a:t>
            </a:r>
          </a:p>
        </p:txBody>
      </p:sp>
      <p:sp>
        <p:nvSpPr>
          <p:cNvPr id="6" name="TextBox 5"/>
          <p:cNvSpPr txBox="1"/>
          <p:nvPr/>
        </p:nvSpPr>
        <p:spPr>
          <a:xfrm>
            <a:off x="950976" y="1993391"/>
            <a:ext cx="10143439" cy="438912"/>
          </a:xfrm>
          <a:prstGeom prst="rect">
            <a:avLst/>
          </a:prstGeom>
          <a:noFill/>
        </p:spPr>
        <p:txBody>
          <a:bodyPr wrap="square">
            <a:spAutoFit/>
          </a:bodyPr>
          <a:lstStyle/>
          <a:p>
            <a:pPr algn="l">
              <a:lnSpc>
                <a:spcPts val="1800"/>
              </a:lnSpc>
            </a:pPr>
            <a:r>
              <a:rPr sz="1350" b="0" i="0">
                <a:solidFill>
                  <a:srgbClr val="3F5563"/>
                </a:solidFill>
                <a:latin typeface="Expert Sans"/>
              </a:rPr>
              <a:t>The bank serves exporting SMEs. Five candidate features sit on the roadmap; build capacity is two slots per cycle, with an earnings mandate.</a:t>
            </a:r>
          </a:p>
        </p:txBody>
      </p:sp>
      <p:sp>
        <p:nvSpPr>
          <p:cNvPr id="7" name="Rounded Rectangle 6"/>
          <p:cNvSpPr/>
          <p:nvPr/>
        </p:nvSpPr>
        <p:spPr>
          <a:xfrm>
            <a:off x="566928" y="2779776"/>
            <a:ext cx="11057839" cy="13533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944368"/>
            <a:ext cx="2743200" cy="292608"/>
          </a:xfrm>
          <a:prstGeom prst="rect">
            <a:avLst/>
          </a:prstGeom>
          <a:noFill/>
        </p:spPr>
        <p:txBody>
          <a:bodyPr wrap="square">
            <a:spAutoFit/>
          </a:bodyPr>
          <a:lstStyle/>
          <a:p>
            <a:pPr algn="l"/>
            <a:r>
              <a:rPr sz="1100" b="1" i="0">
                <a:solidFill>
                  <a:srgbClr val="0083C5"/>
                </a:solidFill>
                <a:latin typeface="Expert Sans"/>
              </a:rPr>
              <a:t>COMPLICATION</a:t>
            </a:r>
          </a:p>
        </p:txBody>
      </p:sp>
      <p:sp>
        <p:nvSpPr>
          <p:cNvPr id="9" name="TextBox 8"/>
          <p:cNvSpPr txBox="1"/>
          <p:nvPr/>
        </p:nvSpPr>
        <p:spPr>
          <a:xfrm>
            <a:off x="950976" y="3255264"/>
            <a:ext cx="10143439" cy="713232"/>
          </a:xfrm>
          <a:prstGeom prst="rect">
            <a:avLst/>
          </a:prstGeom>
          <a:noFill/>
        </p:spPr>
        <p:txBody>
          <a:bodyPr wrap="square">
            <a:spAutoFit/>
          </a:bodyPr>
          <a:lstStyle/>
          <a:p>
            <a:pPr algn="l">
              <a:lnSpc>
                <a:spcPts val="1800"/>
              </a:lnSpc>
            </a:pPr>
            <a:r>
              <a:rPr sz="1350" b="0" i="0">
                <a:solidFill>
                  <a:srgbClr val="3F5563"/>
                </a:solidFill>
                <a:latin typeface="Expert Sans"/>
              </a:rPr>
              <a:t>A one-off pick answers this cycle and nothing after it. The features differ in demand, return and build cost — and the evidence moves as we learn. Gut feel cannot hold an order across cycles.</a:t>
            </a:r>
          </a:p>
        </p:txBody>
      </p:sp>
      <p:sp>
        <p:nvSpPr>
          <p:cNvPr id="10" name="Rounded Rectangle 9"/>
          <p:cNvSpPr/>
          <p:nvPr/>
        </p:nvSpPr>
        <p:spPr>
          <a:xfrm>
            <a:off x="566928" y="4315968"/>
            <a:ext cx="11057839" cy="960120"/>
          </a:xfrm>
          <a:prstGeom prst="roundRect">
            <a:avLst>
              <a:gd name="adj" fmla="val 8000"/>
            </a:avLst>
          </a:prstGeom>
          <a:solidFill>
            <a:srgbClr val="CDE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80559"/>
            <a:ext cx="2743200" cy="292608"/>
          </a:xfrm>
          <a:prstGeom prst="rect">
            <a:avLst/>
          </a:prstGeom>
          <a:noFill/>
        </p:spPr>
        <p:txBody>
          <a:bodyPr wrap="square">
            <a:spAutoFit/>
          </a:bodyPr>
          <a:lstStyle/>
          <a:p>
            <a:pPr algn="l"/>
            <a:r>
              <a:rPr sz="1100" b="1" i="0">
                <a:solidFill>
                  <a:srgbClr val="00395D"/>
                </a:solidFill>
                <a:latin typeface="Expert Sans"/>
              </a:rPr>
              <a:t>QUESTION</a:t>
            </a:r>
          </a:p>
        </p:txBody>
      </p:sp>
      <p:sp>
        <p:nvSpPr>
          <p:cNvPr id="12" name="TextBox 11"/>
          <p:cNvSpPr txBox="1"/>
          <p:nvPr/>
        </p:nvSpPr>
        <p:spPr>
          <a:xfrm>
            <a:off x="950976" y="4791456"/>
            <a:ext cx="10143439" cy="320040"/>
          </a:xfrm>
          <a:prstGeom prst="rect">
            <a:avLst/>
          </a:prstGeom>
          <a:noFill/>
        </p:spPr>
        <p:txBody>
          <a:bodyPr wrap="square">
            <a:spAutoFit/>
          </a:bodyPr>
          <a:lstStyle/>
          <a:p>
            <a:pPr algn="l">
              <a:lnSpc>
                <a:spcPts val="2100"/>
              </a:lnSpc>
            </a:pPr>
            <a:r>
              <a:rPr sz="1700" b="1" i="0">
                <a:solidFill>
                  <a:srgbClr val="00395D"/>
                </a:solidFill>
                <a:latin typeface="Expert Sans"/>
              </a:rPr>
              <a:t>What do we build into the exporting-SME proposition — and in what order?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RECOMMENDATION</a:t>
            </a:r>
          </a:p>
        </p:txBody>
      </p:sp>
      <p:sp>
        <p:nvSpPr>
          <p:cNvPr id="3" name="TextBox 2"/>
          <p:cNvSpPr txBox="1"/>
          <p:nvPr/>
        </p:nvSpPr>
        <p:spPr>
          <a:xfrm>
            <a:off x="9082735" y="256032"/>
            <a:ext cx="2560320" cy="274320"/>
          </a:xfrm>
          <a:prstGeom prst="rect">
            <a:avLst/>
          </a:prstGeom>
          <a:noFill/>
        </p:spPr>
        <p:txBody>
          <a:bodyPr wrap="square">
            <a:spAutoFit/>
          </a:bodyPr>
          <a:lstStyle/>
          <a:p>
            <a:pPr algn="r"/>
            <a:r>
              <a:rPr sz="850" b="0" i="0">
                <a:solidFill>
                  <a:srgbClr val="6E7F8D"/>
                </a:solidFill>
                <a:latin typeface="Expert Sans"/>
              </a:rPr>
              <a:t>Proposition backlog  |  [Month Year]  |  4</a:t>
            </a:r>
          </a:p>
        </p:txBody>
      </p:sp>
      <p:sp>
        <p:nvSpPr>
          <p:cNvPr id="4" name="TextBox 3"/>
          <p:cNvSpPr txBox="1"/>
          <p:nvPr/>
        </p:nvSpPr>
        <p:spPr>
          <a:xfrm>
            <a:off x="566928" y="658368"/>
            <a:ext cx="11057839" cy="1371600"/>
          </a:xfrm>
          <a:prstGeom prst="rect">
            <a:avLst/>
          </a:prstGeom>
          <a:noFill/>
        </p:spPr>
        <p:txBody>
          <a:bodyPr wrap="square">
            <a:spAutoFit/>
          </a:bodyPr>
          <a:lstStyle/>
          <a:p>
            <a:pPr algn="l">
              <a:lnSpc>
                <a:spcPts val="3100"/>
              </a:lnSpc>
            </a:pPr>
            <a:r>
              <a:rPr sz="2400" b="0" i="0">
                <a:solidFill>
                  <a:srgbClr val="00AEEF"/>
                </a:solidFill>
                <a:latin typeface="Expert Sans"/>
              </a:rPr>
              <a:t>Fill 'Trade Ready' in return order: FX and invoice finance take this cycle's two slots — £6m a year by year 3.</a:t>
            </a:r>
          </a:p>
        </p:txBody>
      </p:sp>
      <p:sp>
        <p:nvSpPr>
          <p:cNvPr id="5" name="Rounded Rectangle 4"/>
          <p:cNvSpPr/>
          <p:nvPr/>
        </p:nvSpPr>
        <p:spPr>
          <a:xfrm>
            <a:off x="566928" y="2423160"/>
            <a:ext cx="11057839" cy="65836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496312"/>
            <a:ext cx="2011680" cy="512064"/>
          </a:xfrm>
          <a:prstGeom prst="rect">
            <a:avLst/>
          </a:prstGeom>
          <a:noFill/>
        </p:spPr>
        <p:txBody>
          <a:bodyPr wrap="square">
            <a:spAutoFit/>
          </a:bodyPr>
          <a:lstStyle/>
          <a:p>
            <a:pPr algn="l"/>
            <a:r>
              <a:rPr sz="1400" b="1" i="0">
                <a:solidFill>
                  <a:srgbClr val="0083C5"/>
                </a:solidFill>
                <a:latin typeface="Expert Sans"/>
              </a:rPr>
              <a:t>This cycle</a:t>
            </a:r>
          </a:p>
        </p:txBody>
      </p:sp>
      <p:sp>
        <p:nvSpPr>
          <p:cNvPr id="7" name="TextBox 6"/>
          <p:cNvSpPr txBox="1"/>
          <p:nvPr/>
        </p:nvSpPr>
        <p:spPr>
          <a:xfrm>
            <a:off x="2990088" y="2496312"/>
            <a:ext cx="5852160" cy="512064"/>
          </a:xfrm>
          <a:prstGeom prst="rect">
            <a:avLst/>
          </a:prstGeom>
          <a:noFill/>
        </p:spPr>
        <p:txBody>
          <a:bodyPr wrap="square">
            <a:spAutoFit/>
          </a:bodyPr>
          <a:lstStyle/>
          <a:p>
            <a:pPr algn="l"/>
            <a:r>
              <a:rPr sz="1400" b="1" i="0">
                <a:solidFill>
                  <a:srgbClr val="00395D"/>
                </a:solidFill>
                <a:latin typeface="Expert Sans"/>
              </a:rPr>
              <a:t>FX payments (build) · invoice finance (partner)</a:t>
            </a:r>
          </a:p>
        </p:txBody>
      </p:sp>
      <p:sp>
        <p:nvSpPr>
          <p:cNvPr id="8" name="TextBox 7"/>
          <p:cNvSpPr txBox="1"/>
          <p:nvPr/>
        </p:nvSpPr>
        <p:spPr>
          <a:xfrm>
            <a:off x="8933688" y="2532888"/>
            <a:ext cx="2926080" cy="457200"/>
          </a:xfrm>
          <a:prstGeom prst="rect">
            <a:avLst/>
          </a:prstGeom>
          <a:noFill/>
        </p:spPr>
        <p:txBody>
          <a:bodyPr wrap="square">
            <a:spAutoFit/>
          </a:bodyPr>
          <a:lstStyle/>
          <a:p>
            <a:pPr algn="l"/>
            <a:r>
              <a:rPr sz="1150" b="0" i="0">
                <a:solidFill>
                  <a:srgbClr val="3F5563"/>
                </a:solidFill>
                <a:latin typeface="Expert Sans"/>
              </a:rPr>
              <a:t>the two slots</a:t>
            </a:r>
          </a:p>
        </p:txBody>
      </p:sp>
      <p:sp>
        <p:nvSpPr>
          <p:cNvPr id="9" name="Rounded Rectangle 8"/>
          <p:cNvSpPr/>
          <p:nvPr/>
        </p:nvSpPr>
        <p:spPr>
          <a:xfrm>
            <a:off x="566928" y="3246120"/>
            <a:ext cx="11057839" cy="65836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319272"/>
            <a:ext cx="2011680" cy="512064"/>
          </a:xfrm>
          <a:prstGeom prst="rect">
            <a:avLst/>
          </a:prstGeom>
          <a:noFill/>
        </p:spPr>
        <p:txBody>
          <a:bodyPr wrap="square">
            <a:spAutoFit/>
          </a:bodyPr>
          <a:lstStyle/>
          <a:p>
            <a:pPr algn="l"/>
            <a:r>
              <a:rPr sz="1400" b="1" i="0">
                <a:solidFill>
                  <a:srgbClr val="0083C5"/>
                </a:solidFill>
                <a:latin typeface="Expert Sans"/>
              </a:rPr>
              <a:t>Next cycle</a:t>
            </a:r>
          </a:p>
        </p:txBody>
      </p:sp>
      <p:sp>
        <p:nvSpPr>
          <p:cNvPr id="11" name="TextBox 10"/>
          <p:cNvSpPr txBox="1"/>
          <p:nvPr/>
        </p:nvSpPr>
        <p:spPr>
          <a:xfrm>
            <a:off x="2990088" y="3319272"/>
            <a:ext cx="5852160" cy="512064"/>
          </a:xfrm>
          <a:prstGeom prst="rect">
            <a:avLst/>
          </a:prstGeom>
          <a:noFill/>
        </p:spPr>
        <p:txBody>
          <a:bodyPr wrap="square">
            <a:spAutoFit/>
          </a:bodyPr>
          <a:lstStyle/>
          <a:p>
            <a:pPr algn="l"/>
            <a:r>
              <a:rPr sz="1400" b="1" i="0">
                <a:solidFill>
                  <a:srgbClr val="00395D"/>
                </a:solidFill>
                <a:latin typeface="Expert Sans"/>
              </a:rPr>
              <a:t>Trade insurance</a:t>
            </a:r>
          </a:p>
        </p:txBody>
      </p:sp>
      <p:sp>
        <p:nvSpPr>
          <p:cNvPr id="12" name="TextBox 11"/>
          <p:cNvSpPr txBox="1"/>
          <p:nvPr/>
        </p:nvSpPr>
        <p:spPr>
          <a:xfrm>
            <a:off x="8933688" y="3355848"/>
            <a:ext cx="2926080" cy="457200"/>
          </a:xfrm>
          <a:prstGeom prst="rect">
            <a:avLst/>
          </a:prstGeom>
          <a:noFill/>
        </p:spPr>
        <p:txBody>
          <a:bodyPr wrap="square">
            <a:spAutoFit/>
          </a:bodyPr>
          <a:lstStyle/>
          <a:p>
            <a:pPr algn="l"/>
            <a:r>
              <a:rPr sz="1150" b="0" i="0">
                <a:solidFill>
                  <a:srgbClr val="3F5563"/>
                </a:solidFill>
                <a:latin typeface="Expert Sans"/>
              </a:rPr>
              <a:t>third by return per slot</a:t>
            </a:r>
          </a:p>
        </p:txBody>
      </p:sp>
      <p:sp>
        <p:nvSpPr>
          <p:cNvPr id="13" name="Rounded Rectangle 12"/>
          <p:cNvSpPr/>
          <p:nvPr/>
        </p:nvSpPr>
        <p:spPr>
          <a:xfrm>
            <a:off x="566928" y="4069080"/>
            <a:ext cx="11057839" cy="65836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4142232"/>
            <a:ext cx="2011680" cy="512064"/>
          </a:xfrm>
          <a:prstGeom prst="rect">
            <a:avLst/>
          </a:prstGeom>
          <a:noFill/>
        </p:spPr>
        <p:txBody>
          <a:bodyPr wrap="square">
            <a:spAutoFit/>
          </a:bodyPr>
          <a:lstStyle/>
          <a:p>
            <a:pPr algn="l"/>
            <a:r>
              <a:rPr sz="1400" b="1" i="0">
                <a:solidFill>
                  <a:srgbClr val="0083C5"/>
                </a:solidFill>
                <a:latin typeface="Expert Sans"/>
              </a:rPr>
              <a:t>Off the list</a:t>
            </a:r>
          </a:p>
        </p:txBody>
      </p:sp>
      <p:sp>
        <p:nvSpPr>
          <p:cNvPr id="15" name="TextBox 14"/>
          <p:cNvSpPr txBox="1"/>
          <p:nvPr/>
        </p:nvSpPr>
        <p:spPr>
          <a:xfrm>
            <a:off x="2990088" y="4142232"/>
            <a:ext cx="5852160" cy="512064"/>
          </a:xfrm>
          <a:prstGeom prst="rect">
            <a:avLst/>
          </a:prstGeom>
          <a:noFill/>
        </p:spPr>
        <p:txBody>
          <a:bodyPr wrap="square">
            <a:spAutoFit/>
          </a:bodyPr>
          <a:lstStyle/>
          <a:p>
            <a:pPr algn="l"/>
            <a:r>
              <a:rPr sz="1400" b="1" i="0">
                <a:solidFill>
                  <a:srgbClr val="00395D"/>
                </a:solidFill>
                <a:latin typeface="Expert Sans"/>
              </a:rPr>
              <a:t>Crypto payments · rewards scheme</a:t>
            </a:r>
          </a:p>
        </p:txBody>
      </p:sp>
      <p:sp>
        <p:nvSpPr>
          <p:cNvPr id="16" name="TextBox 15"/>
          <p:cNvSpPr txBox="1"/>
          <p:nvPr/>
        </p:nvSpPr>
        <p:spPr>
          <a:xfrm>
            <a:off x="8933688" y="4178808"/>
            <a:ext cx="2926080" cy="457200"/>
          </a:xfrm>
          <a:prstGeom prst="rect">
            <a:avLst/>
          </a:prstGeom>
          <a:noFill/>
        </p:spPr>
        <p:txBody>
          <a:bodyPr wrap="square">
            <a:spAutoFit/>
          </a:bodyPr>
          <a:lstStyle/>
          <a:p>
            <a:pPr algn="l"/>
            <a:r>
              <a:rPr sz="1150" b="0" i="0">
                <a:solidFill>
                  <a:srgbClr val="3F5563"/>
                </a:solidFill>
                <a:latin typeface="Expert Sans"/>
              </a:rPr>
              <a:t>below the demand gate</a:t>
            </a:r>
          </a:p>
        </p:txBody>
      </p:sp>
      <p:sp>
        <p:nvSpPr>
          <p:cNvPr id="17" name="Rounded Rectangle 16"/>
          <p:cNvSpPr/>
          <p:nvPr/>
        </p:nvSpPr>
        <p:spPr>
          <a:xfrm>
            <a:off x="566928" y="4892040"/>
            <a:ext cx="11057839" cy="65836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4965192"/>
            <a:ext cx="2011680" cy="512064"/>
          </a:xfrm>
          <a:prstGeom prst="rect">
            <a:avLst/>
          </a:prstGeom>
          <a:noFill/>
        </p:spPr>
        <p:txBody>
          <a:bodyPr wrap="square">
            <a:spAutoFit/>
          </a:bodyPr>
          <a:lstStyle/>
          <a:p>
            <a:pPr algn="l"/>
            <a:r>
              <a:rPr sz="1400" b="1" i="0">
                <a:solidFill>
                  <a:srgbClr val="0083C5"/>
                </a:solidFill>
                <a:latin typeface="Expert Sans"/>
              </a:rPr>
              <a:t>Standing</a:t>
            </a:r>
          </a:p>
        </p:txBody>
      </p:sp>
      <p:sp>
        <p:nvSpPr>
          <p:cNvPr id="19" name="TextBox 18"/>
          <p:cNvSpPr txBox="1"/>
          <p:nvPr/>
        </p:nvSpPr>
        <p:spPr>
          <a:xfrm>
            <a:off x="2990088" y="4965192"/>
            <a:ext cx="5852160" cy="512064"/>
          </a:xfrm>
          <a:prstGeom prst="rect">
            <a:avLst/>
          </a:prstGeom>
          <a:noFill/>
        </p:spPr>
        <p:txBody>
          <a:bodyPr wrap="square">
            <a:spAutoFit/>
          </a:bodyPr>
          <a:lstStyle/>
          <a:p>
            <a:pPr algn="l"/>
            <a:r>
              <a:rPr sz="1400" b="1" i="0">
                <a:solidFill>
                  <a:srgbClr val="00395D"/>
                </a:solidFill>
                <a:latin typeface="Expert Sans"/>
              </a:rPr>
              <a:t>Re-score the backlog every quarter</a:t>
            </a:r>
          </a:p>
        </p:txBody>
      </p:sp>
      <p:sp>
        <p:nvSpPr>
          <p:cNvPr id="20" name="TextBox 19"/>
          <p:cNvSpPr txBox="1"/>
          <p:nvPr/>
        </p:nvSpPr>
        <p:spPr>
          <a:xfrm>
            <a:off x="8933688" y="5001768"/>
            <a:ext cx="2926080" cy="457200"/>
          </a:xfrm>
          <a:prstGeom prst="rect">
            <a:avLst/>
          </a:prstGeom>
          <a:noFill/>
        </p:spPr>
        <p:txBody>
          <a:bodyPr wrap="square">
            <a:spAutoFit/>
          </a:bodyPr>
          <a:lstStyle/>
          <a:p>
            <a:pPr algn="l"/>
            <a:r>
              <a:rPr sz="1150" b="0" i="0">
                <a:solidFill>
                  <a:srgbClr val="3F5563"/>
                </a:solidFill>
                <a:latin typeface="Expert Sans"/>
              </a:rPr>
              <a:t>the order moves with the evidence</a:t>
            </a:r>
          </a:p>
        </p:txBody>
      </p:sp>
      <p:cxnSp>
        <p:nvCxnSpPr>
          <p:cNvPr id="21" name="Connector 20"/>
          <p:cNvCxnSpPr/>
          <p:nvPr/>
        </p:nvCxnSpPr>
        <p:spPr>
          <a:xfrm>
            <a:off x="566928" y="5870448"/>
            <a:ext cx="11057839" cy="0"/>
          </a:xfrm>
          <a:prstGeom prst="line">
            <a:avLst/>
          </a:prstGeom>
          <a:ln>
            <a:solidFill>
              <a:srgbClr val="C9DDE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5998464"/>
            <a:ext cx="10326319" cy="457200"/>
          </a:xfrm>
          <a:prstGeom prst="rect">
            <a:avLst/>
          </a:prstGeom>
          <a:noFill/>
        </p:spPr>
        <p:txBody>
          <a:bodyPr wrap="square">
            <a:spAutoFit/>
          </a:bodyPr>
          <a:lstStyle/>
          <a:p>
            <a:pPr algn="l"/>
            <a:r>
              <a:rPr sz="1250" b="0" i="0">
                <a:solidFill>
                  <a:srgbClr val="3F5563"/>
                </a:solidFill>
                <a:latin typeface="Expert Sans"/>
              </a:rPr>
              <a:t>The client approves two things: this cycle's slate, and the rule that produced it. Next cycle re-runs the rule.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THE ARGUMENT IN ONE PAGE</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Three things make this order right</a:t>
            </a:r>
          </a:p>
        </p:txBody>
      </p:sp>
      <p:sp>
        <p:nvSpPr>
          <p:cNvPr id="4" name="Rounded Rectangle 3"/>
          <p:cNvSpPr/>
          <p:nvPr/>
        </p:nvSpPr>
        <p:spPr>
          <a:xfrm>
            <a:off x="566928" y="1572768"/>
            <a:ext cx="3503066" cy="38404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847088"/>
            <a:ext cx="475488" cy="475488"/>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6" name="TextBox 5"/>
          <p:cNvSpPr txBox="1"/>
          <p:nvPr/>
        </p:nvSpPr>
        <p:spPr>
          <a:xfrm>
            <a:off x="1527048" y="1883664"/>
            <a:ext cx="2222906" cy="457200"/>
          </a:xfrm>
          <a:prstGeom prst="rect">
            <a:avLst/>
          </a:prstGeom>
          <a:noFill/>
        </p:spPr>
        <p:txBody>
          <a:bodyPr wrap="square">
            <a:spAutoFit/>
          </a:bodyPr>
          <a:lstStyle/>
          <a:p>
            <a:pPr algn="l"/>
            <a:r>
              <a:rPr sz="1100" b="1" i="0">
                <a:solidFill>
                  <a:srgbClr val="0083C5"/>
                </a:solidFill>
                <a:latin typeface="Expert Sans"/>
              </a:rPr>
              <a:t>DEMAND ADMITS</a:t>
            </a:r>
          </a:p>
        </p:txBody>
      </p:sp>
      <p:sp>
        <p:nvSpPr>
          <p:cNvPr id="7" name="TextBox 6"/>
          <p:cNvSpPr txBox="1"/>
          <p:nvPr/>
        </p:nvSpPr>
        <p:spPr>
          <a:xfrm>
            <a:off x="914400" y="2487168"/>
            <a:ext cx="2808122" cy="1051560"/>
          </a:xfrm>
          <a:prstGeom prst="rect">
            <a:avLst/>
          </a:prstGeom>
          <a:noFill/>
        </p:spPr>
        <p:txBody>
          <a:bodyPr wrap="square">
            <a:spAutoFit/>
          </a:bodyPr>
          <a:lstStyle/>
          <a:p>
            <a:pPr algn="l">
              <a:lnSpc>
                <a:spcPts val="2000"/>
              </a:lnSpc>
            </a:pPr>
            <a:r>
              <a:rPr sz="1550" b="1" i="0">
                <a:solidFill>
                  <a:srgbClr val="00395D"/>
                </a:solidFill>
                <a:latin typeface="Expert Sans"/>
              </a:rPr>
              <a:t>Exporters want three of the five — and will think of us</a:t>
            </a:r>
          </a:p>
        </p:txBody>
      </p:sp>
      <p:sp>
        <p:nvSpPr>
          <p:cNvPr id="8" name="TextBox 7"/>
          <p:cNvSpPr txBox="1"/>
          <p:nvPr/>
        </p:nvSpPr>
        <p:spPr>
          <a:xfrm>
            <a:off x="914400" y="3611880"/>
            <a:ext cx="2808122" cy="1691640"/>
          </a:xfrm>
          <a:prstGeom prst="rect">
            <a:avLst/>
          </a:prstGeom>
          <a:noFill/>
        </p:spPr>
        <p:txBody>
          <a:bodyPr wrap="square">
            <a:spAutoFit/>
          </a:bodyPr>
          <a:lstStyle/>
          <a:p>
            <a:pPr algn="l">
              <a:lnSpc>
                <a:spcPts val="1500"/>
              </a:lnSpc>
            </a:pPr>
            <a:r>
              <a:rPr sz="1100" b="0" i="0">
                <a:solidFill>
                  <a:srgbClr val="3F5563"/>
                </a:solidFill>
                <a:latin typeface="Expert Sans"/>
              </a:rPr>
              <a:t>FX (78), invoice finance (72) and insurance (64) clear the demand gate of 60. Crypto (41) and rewards (33) never get priced. The 'Trade Ready' name makes the shelf visible at the moment the need hits.</a:t>
            </a:r>
          </a:p>
        </p:txBody>
      </p:sp>
      <p:sp>
        <p:nvSpPr>
          <p:cNvPr id="9" name="Rounded Rectangle 8"/>
          <p:cNvSpPr/>
          <p:nvPr/>
        </p:nvSpPr>
        <p:spPr>
          <a:xfrm>
            <a:off x="4344314" y="1572768"/>
            <a:ext cx="3503066" cy="38404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91786" y="1847088"/>
            <a:ext cx="475488" cy="475488"/>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1" name="TextBox 10"/>
          <p:cNvSpPr txBox="1"/>
          <p:nvPr/>
        </p:nvSpPr>
        <p:spPr>
          <a:xfrm>
            <a:off x="5304434" y="1883664"/>
            <a:ext cx="2222906" cy="457200"/>
          </a:xfrm>
          <a:prstGeom prst="rect">
            <a:avLst/>
          </a:prstGeom>
          <a:noFill/>
        </p:spPr>
        <p:txBody>
          <a:bodyPr wrap="square">
            <a:spAutoFit/>
          </a:bodyPr>
          <a:lstStyle/>
          <a:p>
            <a:pPr algn="l"/>
            <a:r>
              <a:rPr sz="1100" b="1" i="0">
                <a:solidFill>
                  <a:srgbClr val="0083C5"/>
                </a:solidFill>
                <a:latin typeface="Expert Sans"/>
              </a:rPr>
              <a:t>RETURN SORTS</a:t>
            </a:r>
          </a:p>
        </p:txBody>
      </p:sp>
      <p:sp>
        <p:nvSpPr>
          <p:cNvPr id="12" name="TextBox 11"/>
          <p:cNvSpPr txBox="1"/>
          <p:nvPr/>
        </p:nvSpPr>
        <p:spPr>
          <a:xfrm>
            <a:off x="4691786" y="2487168"/>
            <a:ext cx="2808122" cy="1051560"/>
          </a:xfrm>
          <a:prstGeom prst="rect">
            <a:avLst/>
          </a:prstGeom>
          <a:noFill/>
        </p:spPr>
        <p:txBody>
          <a:bodyPr wrap="square">
            <a:spAutoFit/>
          </a:bodyPr>
          <a:lstStyle/>
          <a:p>
            <a:pPr algn="l">
              <a:lnSpc>
                <a:spcPts val="2000"/>
              </a:lnSpc>
            </a:pPr>
            <a:r>
              <a:rPr sz="1550" b="1" i="0">
                <a:solidFill>
                  <a:srgbClr val="00395D"/>
                </a:solidFill>
                <a:latin typeface="Expert Sans"/>
              </a:rPr>
              <a:t>Return per build slot sets the order — FX first</a:t>
            </a:r>
          </a:p>
        </p:txBody>
      </p:sp>
      <p:sp>
        <p:nvSpPr>
          <p:cNvPr id="13" name="TextBox 12"/>
          <p:cNvSpPr txBox="1"/>
          <p:nvPr/>
        </p:nvSpPr>
        <p:spPr>
          <a:xfrm>
            <a:off x="4691786" y="3611880"/>
            <a:ext cx="2808122" cy="1691640"/>
          </a:xfrm>
          <a:prstGeom prst="rect">
            <a:avLst/>
          </a:prstGeom>
          <a:noFill/>
        </p:spPr>
        <p:txBody>
          <a:bodyPr wrap="square">
            <a:spAutoFit/>
          </a:bodyPr>
          <a:lstStyle/>
          <a:p>
            <a:pPr algn="l">
              <a:lnSpc>
                <a:spcPts val="1500"/>
              </a:lnSpc>
            </a:pPr>
            <a:r>
              <a:rPr sz="1100" b="0" i="0">
                <a:solidFill>
                  <a:srgbClr val="3F5563"/>
                </a:solidFill>
                <a:latin typeface="Expert Sans"/>
              </a:rPr>
              <a:t>FX earns £2.1m a slot, invoice finance £1.6m, insurance £0.9m. Insurance beats invoice finance on raw NPV and still sorts below it — it needs two slots. The order is re-scored quarterly.</a:t>
            </a:r>
          </a:p>
        </p:txBody>
      </p:sp>
      <p:sp>
        <p:nvSpPr>
          <p:cNvPr id="14" name="Rounded Rectangle 13"/>
          <p:cNvSpPr/>
          <p:nvPr/>
        </p:nvSpPr>
        <p:spPr>
          <a:xfrm>
            <a:off x="8121700" y="1572768"/>
            <a:ext cx="3503066" cy="38404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69172" y="1847088"/>
            <a:ext cx="475488" cy="475488"/>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6" name="TextBox 15"/>
          <p:cNvSpPr txBox="1"/>
          <p:nvPr/>
        </p:nvSpPr>
        <p:spPr>
          <a:xfrm>
            <a:off x="9081820" y="1883664"/>
            <a:ext cx="2222906" cy="457200"/>
          </a:xfrm>
          <a:prstGeom prst="rect">
            <a:avLst/>
          </a:prstGeom>
          <a:noFill/>
        </p:spPr>
        <p:txBody>
          <a:bodyPr wrap="square">
            <a:spAutoFit/>
          </a:bodyPr>
          <a:lstStyle/>
          <a:p>
            <a:pPr algn="l"/>
            <a:r>
              <a:rPr sz="1100" b="1" i="0">
                <a:solidFill>
                  <a:srgbClr val="0083C5"/>
                </a:solidFill>
                <a:latin typeface="Expert Sans"/>
              </a:rPr>
              <a:t>CAPACITY CUTS</a:t>
            </a:r>
          </a:p>
        </p:txBody>
      </p:sp>
      <p:sp>
        <p:nvSpPr>
          <p:cNvPr id="17" name="TextBox 16"/>
          <p:cNvSpPr txBox="1"/>
          <p:nvPr/>
        </p:nvSpPr>
        <p:spPr>
          <a:xfrm>
            <a:off x="8469172" y="2487168"/>
            <a:ext cx="2808122" cy="1051560"/>
          </a:xfrm>
          <a:prstGeom prst="rect">
            <a:avLst/>
          </a:prstGeom>
          <a:noFill/>
        </p:spPr>
        <p:txBody>
          <a:bodyPr wrap="square">
            <a:spAutoFit/>
          </a:bodyPr>
          <a:lstStyle/>
          <a:p>
            <a:pPr algn="l">
              <a:lnSpc>
                <a:spcPts val="2000"/>
              </a:lnSpc>
            </a:pPr>
            <a:r>
              <a:rPr sz="1550" b="1" i="0">
                <a:solidFill>
                  <a:srgbClr val="00395D"/>
                </a:solidFill>
                <a:latin typeface="Expert Sans"/>
              </a:rPr>
              <a:t>Two slots this cycle — and the routes keep the edge</a:t>
            </a:r>
          </a:p>
        </p:txBody>
      </p:sp>
      <p:sp>
        <p:nvSpPr>
          <p:cNvPr id="18" name="TextBox 17"/>
          <p:cNvSpPr txBox="1"/>
          <p:nvPr/>
        </p:nvSpPr>
        <p:spPr>
          <a:xfrm>
            <a:off x="8469172" y="3611880"/>
            <a:ext cx="2808122" cy="1691640"/>
          </a:xfrm>
          <a:prstGeom prst="rect">
            <a:avLst/>
          </a:prstGeom>
          <a:noFill/>
        </p:spPr>
        <p:txBody>
          <a:bodyPr wrap="square">
            <a:spAutoFit/>
          </a:bodyPr>
          <a:lstStyle/>
          <a:p>
            <a:pPr algn="l">
              <a:lnSpc>
                <a:spcPts val="1500"/>
              </a:lnSpc>
            </a:pPr>
            <a:r>
              <a:rPr sz="1100" b="0" i="0">
                <a:solidFill>
                  <a:srgbClr val="3F5563"/>
                </a:solidFill>
                <a:latin typeface="Expert Sans"/>
              </a:rPr>
              <a:t>FX builds in-house on our core platform. Invoice finance partners: live in 5 months instead of 18. Insurance waits on the claims capability. Partner terms keep the customer and the data ours.</a:t>
            </a:r>
          </a:p>
        </p:txBody>
      </p:sp>
      <p:sp>
        <p:nvSpPr>
          <p:cNvPr id="19" name="TextBox 18"/>
          <p:cNvSpPr txBox="1"/>
          <p:nvPr/>
        </p:nvSpPr>
        <p:spPr>
          <a:xfrm>
            <a:off x="566928" y="5577840"/>
            <a:ext cx="11057839" cy="457200"/>
          </a:xfrm>
          <a:prstGeom prst="rect">
            <a:avLst/>
          </a:prstGeom>
          <a:noFill/>
        </p:spPr>
        <p:txBody>
          <a:bodyPr wrap="square">
            <a:spAutoFit/>
          </a:bodyPr>
          <a:lstStyle/>
          <a:p>
            <a:pPr algn="l"/>
            <a:r>
              <a:rPr sz="1250" b="0" i="1">
                <a:solidFill>
                  <a:srgbClr val="6E7F8D"/>
                </a:solidFill>
                <a:latin typeface="Expert Sans"/>
              </a:rPr>
              <a:t>Each reason stands alone: attack demand, the sort, or the cut separately — the other two hold.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THE BACKLOG, DECIDED</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One page: the order, and why each feature sits where it sits</a:t>
            </a:r>
          </a:p>
        </p:txBody>
      </p:sp>
      <p:sp>
        <p:nvSpPr>
          <p:cNvPr id="4" name="TextBox 3"/>
          <p:cNvSpPr txBox="1"/>
          <p:nvPr/>
        </p:nvSpPr>
        <p:spPr>
          <a:xfrm>
            <a:off x="566928" y="1572768"/>
            <a:ext cx="1097280" cy="548640"/>
          </a:xfrm>
          <a:prstGeom prst="rect">
            <a:avLst/>
          </a:prstGeom>
          <a:noFill/>
        </p:spPr>
        <p:txBody>
          <a:bodyPr wrap="square">
            <a:spAutoFit/>
          </a:bodyPr>
          <a:lstStyle/>
          <a:p>
            <a:pPr algn="l">
              <a:lnSpc>
                <a:spcPts val="1300"/>
              </a:lnSpc>
            </a:pPr>
            <a:r>
              <a:rPr sz="1050" b="1" i="0">
                <a:solidFill>
                  <a:srgbClr val="00395D"/>
                </a:solidFill>
                <a:latin typeface="Expert Sans"/>
              </a:rPr>
              <a:t>Position</a:t>
            </a:r>
          </a:p>
        </p:txBody>
      </p:sp>
      <p:sp>
        <p:nvSpPr>
          <p:cNvPr id="5" name="TextBox 4"/>
          <p:cNvSpPr txBox="1"/>
          <p:nvPr/>
        </p:nvSpPr>
        <p:spPr>
          <a:xfrm>
            <a:off x="1801368" y="1572768"/>
            <a:ext cx="2423160" cy="548640"/>
          </a:xfrm>
          <a:prstGeom prst="rect">
            <a:avLst/>
          </a:prstGeom>
          <a:noFill/>
        </p:spPr>
        <p:txBody>
          <a:bodyPr wrap="square">
            <a:spAutoFit/>
          </a:bodyPr>
          <a:lstStyle/>
          <a:p>
            <a:pPr algn="l">
              <a:lnSpc>
                <a:spcPts val="1300"/>
              </a:lnSpc>
            </a:pPr>
            <a:r>
              <a:rPr sz="1050" b="1" i="0">
                <a:solidFill>
                  <a:srgbClr val="00395D"/>
                </a:solidFill>
                <a:latin typeface="Expert Sans"/>
              </a:rPr>
              <a:t>Feature</a:t>
            </a:r>
          </a:p>
        </p:txBody>
      </p:sp>
      <p:sp>
        <p:nvSpPr>
          <p:cNvPr id="6" name="TextBox 5"/>
          <p:cNvSpPr txBox="1"/>
          <p:nvPr/>
        </p:nvSpPr>
        <p:spPr>
          <a:xfrm>
            <a:off x="4361688" y="1572768"/>
            <a:ext cx="1417320" cy="548640"/>
          </a:xfrm>
          <a:prstGeom prst="rect">
            <a:avLst/>
          </a:prstGeom>
          <a:noFill/>
        </p:spPr>
        <p:txBody>
          <a:bodyPr wrap="square">
            <a:spAutoFit/>
          </a:bodyPr>
          <a:lstStyle/>
          <a:p>
            <a:pPr algn="l">
              <a:lnSpc>
                <a:spcPts val="1300"/>
              </a:lnSpc>
            </a:pPr>
            <a:r>
              <a:rPr sz="1050" b="1" i="0">
                <a:solidFill>
                  <a:srgbClr val="00395D"/>
                </a:solidFill>
                <a:latin typeface="Expert Sans"/>
              </a:rPr>
              <a:t>Demand
vs gate 60</a:t>
            </a:r>
          </a:p>
        </p:txBody>
      </p:sp>
      <p:sp>
        <p:nvSpPr>
          <p:cNvPr id="7" name="TextBox 6"/>
          <p:cNvSpPr txBox="1"/>
          <p:nvPr/>
        </p:nvSpPr>
        <p:spPr>
          <a:xfrm>
            <a:off x="5916168" y="1572768"/>
            <a:ext cx="1417320" cy="548640"/>
          </a:xfrm>
          <a:prstGeom prst="rect">
            <a:avLst/>
          </a:prstGeom>
          <a:noFill/>
        </p:spPr>
        <p:txBody>
          <a:bodyPr wrap="square">
            <a:spAutoFit/>
          </a:bodyPr>
          <a:lstStyle/>
          <a:p>
            <a:pPr algn="l">
              <a:lnSpc>
                <a:spcPts val="1300"/>
              </a:lnSpc>
            </a:pPr>
            <a:r>
              <a:rPr sz="1050" b="1" i="0">
                <a:solidFill>
                  <a:srgbClr val="00395D"/>
                </a:solidFill>
                <a:latin typeface="Expert Sans"/>
              </a:rPr>
              <a:t>Return
per slot</a:t>
            </a:r>
          </a:p>
        </p:txBody>
      </p:sp>
      <p:sp>
        <p:nvSpPr>
          <p:cNvPr id="8" name="TextBox 7"/>
          <p:cNvSpPr txBox="1"/>
          <p:nvPr/>
        </p:nvSpPr>
        <p:spPr>
          <a:xfrm>
            <a:off x="7470648" y="1572768"/>
            <a:ext cx="2606040" cy="548640"/>
          </a:xfrm>
          <a:prstGeom prst="rect">
            <a:avLst/>
          </a:prstGeom>
          <a:noFill/>
        </p:spPr>
        <p:txBody>
          <a:bodyPr wrap="square">
            <a:spAutoFit/>
          </a:bodyPr>
          <a:lstStyle/>
          <a:p>
            <a:pPr algn="l">
              <a:lnSpc>
                <a:spcPts val="1300"/>
              </a:lnSpc>
            </a:pPr>
            <a:r>
              <a:rPr sz="1050" b="1" i="0">
                <a:solidFill>
                  <a:srgbClr val="00395D"/>
                </a:solidFill>
                <a:latin typeface="Expert Sans"/>
              </a:rPr>
              <a:t>Route</a:t>
            </a:r>
          </a:p>
        </p:txBody>
      </p:sp>
      <p:sp>
        <p:nvSpPr>
          <p:cNvPr id="9" name="TextBox 8"/>
          <p:cNvSpPr txBox="1"/>
          <p:nvPr/>
        </p:nvSpPr>
        <p:spPr>
          <a:xfrm>
            <a:off x="10213848" y="1572768"/>
            <a:ext cx="1325880" cy="548640"/>
          </a:xfrm>
          <a:prstGeom prst="rect">
            <a:avLst/>
          </a:prstGeom>
          <a:noFill/>
        </p:spPr>
        <p:txBody>
          <a:bodyPr wrap="square">
            <a:spAutoFit/>
          </a:bodyPr>
          <a:lstStyle/>
          <a:p>
            <a:pPr algn="l">
              <a:lnSpc>
                <a:spcPts val="1300"/>
              </a:lnSpc>
            </a:pPr>
            <a:r>
              <a:rPr sz="1050" b="1" i="0">
                <a:solidFill>
                  <a:srgbClr val="00395D"/>
                </a:solidFill>
                <a:latin typeface="Expert Sans"/>
              </a:rPr>
              <a:t>Status</a:t>
            </a:r>
          </a:p>
        </p:txBody>
      </p:sp>
      <p:cxnSp>
        <p:nvCxnSpPr>
          <p:cNvPr id="10" name="Connector 9"/>
          <p:cNvCxnSpPr/>
          <p:nvPr/>
        </p:nvCxnSpPr>
        <p:spPr>
          <a:xfrm>
            <a:off x="566928" y="2194560"/>
            <a:ext cx="11057839" cy="0"/>
          </a:xfrm>
          <a:prstGeom prst="line">
            <a:avLst/>
          </a:prstGeom>
          <a:ln>
            <a:solidFill>
              <a:srgbClr val="00395D"/>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66928" y="2258568"/>
            <a:ext cx="11057839" cy="658368"/>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304288"/>
            <a:ext cx="1097280" cy="548640"/>
          </a:xfrm>
          <a:prstGeom prst="rect">
            <a:avLst/>
          </a:prstGeom>
          <a:noFill/>
        </p:spPr>
        <p:txBody>
          <a:bodyPr wrap="square">
            <a:spAutoFit/>
          </a:bodyPr>
          <a:lstStyle/>
          <a:p>
            <a:pPr algn="l"/>
            <a:r>
              <a:rPr sz="1700" b="1" i="0">
                <a:solidFill>
                  <a:srgbClr val="0083C5"/>
                </a:solidFill>
                <a:latin typeface="Expert Sans"/>
              </a:rPr>
              <a:t>1</a:t>
            </a:r>
          </a:p>
        </p:txBody>
      </p:sp>
      <p:sp>
        <p:nvSpPr>
          <p:cNvPr id="13" name="TextBox 12"/>
          <p:cNvSpPr txBox="1"/>
          <p:nvPr/>
        </p:nvSpPr>
        <p:spPr>
          <a:xfrm>
            <a:off x="1801368" y="2350008"/>
            <a:ext cx="2423160" cy="502920"/>
          </a:xfrm>
          <a:prstGeom prst="rect">
            <a:avLst/>
          </a:prstGeom>
          <a:noFill/>
        </p:spPr>
        <p:txBody>
          <a:bodyPr wrap="square">
            <a:spAutoFit/>
          </a:bodyPr>
          <a:lstStyle/>
          <a:p>
            <a:pPr algn="l"/>
            <a:r>
              <a:rPr sz="1300" b="1" i="0">
                <a:solidFill>
                  <a:srgbClr val="00395D"/>
                </a:solidFill>
                <a:latin typeface="Expert Sans"/>
              </a:rPr>
              <a:t>FX payments</a:t>
            </a:r>
          </a:p>
        </p:txBody>
      </p:sp>
      <p:sp>
        <p:nvSpPr>
          <p:cNvPr id="14" name="TextBox 13"/>
          <p:cNvSpPr txBox="1"/>
          <p:nvPr/>
        </p:nvSpPr>
        <p:spPr>
          <a:xfrm>
            <a:off x="4361688" y="2368296"/>
            <a:ext cx="1417320" cy="457200"/>
          </a:xfrm>
          <a:prstGeom prst="rect">
            <a:avLst/>
          </a:prstGeom>
          <a:noFill/>
        </p:spPr>
        <p:txBody>
          <a:bodyPr wrap="square">
            <a:spAutoFit/>
          </a:bodyPr>
          <a:lstStyle/>
          <a:p>
            <a:pPr algn="l"/>
            <a:r>
              <a:rPr sz="1250" b="0" i="0">
                <a:solidFill>
                  <a:srgbClr val="3F5563"/>
                </a:solidFill>
                <a:latin typeface="Expert Sans"/>
              </a:rPr>
              <a:t>78</a:t>
            </a:r>
          </a:p>
        </p:txBody>
      </p:sp>
      <p:sp>
        <p:nvSpPr>
          <p:cNvPr id="15" name="TextBox 14"/>
          <p:cNvSpPr txBox="1"/>
          <p:nvPr/>
        </p:nvSpPr>
        <p:spPr>
          <a:xfrm>
            <a:off x="5916168" y="2368296"/>
            <a:ext cx="1417320" cy="457200"/>
          </a:xfrm>
          <a:prstGeom prst="rect">
            <a:avLst/>
          </a:prstGeom>
          <a:noFill/>
        </p:spPr>
        <p:txBody>
          <a:bodyPr wrap="square">
            <a:spAutoFit/>
          </a:bodyPr>
          <a:lstStyle/>
          <a:p>
            <a:pPr algn="l"/>
            <a:r>
              <a:rPr sz="1250" b="1" i="0">
                <a:solidFill>
                  <a:srgbClr val="00395D"/>
                </a:solidFill>
                <a:latin typeface="Expert Sans"/>
              </a:rPr>
              <a:t>£2.1m</a:t>
            </a:r>
          </a:p>
        </p:txBody>
      </p:sp>
      <p:sp>
        <p:nvSpPr>
          <p:cNvPr id="16" name="TextBox 15"/>
          <p:cNvSpPr txBox="1"/>
          <p:nvPr/>
        </p:nvSpPr>
        <p:spPr>
          <a:xfrm>
            <a:off x="7470648" y="2368296"/>
            <a:ext cx="2606040" cy="457200"/>
          </a:xfrm>
          <a:prstGeom prst="rect">
            <a:avLst/>
          </a:prstGeom>
          <a:noFill/>
        </p:spPr>
        <p:txBody>
          <a:bodyPr wrap="square">
            <a:spAutoFit/>
          </a:bodyPr>
          <a:lstStyle/>
          <a:p>
            <a:pPr algn="l"/>
            <a:r>
              <a:rPr sz="1150" b="0" i="0">
                <a:solidFill>
                  <a:srgbClr val="3F5563"/>
                </a:solidFill>
                <a:latin typeface="Expert Sans"/>
              </a:rPr>
              <a:t>Build in-house</a:t>
            </a:r>
          </a:p>
        </p:txBody>
      </p:sp>
      <p:sp>
        <p:nvSpPr>
          <p:cNvPr id="17" name="TextBox 16"/>
          <p:cNvSpPr txBox="1"/>
          <p:nvPr/>
        </p:nvSpPr>
        <p:spPr>
          <a:xfrm>
            <a:off x="10213848" y="2386584"/>
            <a:ext cx="1463040" cy="457200"/>
          </a:xfrm>
          <a:prstGeom prst="rect">
            <a:avLst/>
          </a:prstGeom>
          <a:noFill/>
        </p:spPr>
        <p:txBody>
          <a:bodyPr wrap="square">
            <a:spAutoFit/>
          </a:bodyPr>
          <a:lstStyle/>
          <a:p>
            <a:pPr algn="l"/>
            <a:r>
              <a:rPr sz="1000" b="1" i="0">
                <a:solidFill>
                  <a:srgbClr val="0083C5"/>
                </a:solidFill>
                <a:latin typeface="Expert Sans"/>
              </a:rPr>
              <a:t>THIS CYCLE</a:t>
            </a:r>
          </a:p>
        </p:txBody>
      </p:sp>
      <p:sp>
        <p:nvSpPr>
          <p:cNvPr id="18" name="TextBox 17"/>
          <p:cNvSpPr txBox="1"/>
          <p:nvPr/>
        </p:nvSpPr>
        <p:spPr>
          <a:xfrm>
            <a:off x="566928" y="2944368"/>
            <a:ext cx="1097280" cy="548640"/>
          </a:xfrm>
          <a:prstGeom prst="rect">
            <a:avLst/>
          </a:prstGeom>
          <a:noFill/>
        </p:spPr>
        <p:txBody>
          <a:bodyPr wrap="square">
            <a:spAutoFit/>
          </a:bodyPr>
          <a:lstStyle/>
          <a:p>
            <a:pPr algn="l"/>
            <a:r>
              <a:rPr sz="1700" b="1" i="0">
                <a:solidFill>
                  <a:srgbClr val="0083C5"/>
                </a:solidFill>
                <a:latin typeface="Expert Sans"/>
              </a:rPr>
              <a:t>2</a:t>
            </a:r>
          </a:p>
        </p:txBody>
      </p:sp>
      <p:sp>
        <p:nvSpPr>
          <p:cNvPr id="19" name="TextBox 18"/>
          <p:cNvSpPr txBox="1"/>
          <p:nvPr/>
        </p:nvSpPr>
        <p:spPr>
          <a:xfrm>
            <a:off x="1801368" y="2990087"/>
            <a:ext cx="2423160" cy="502920"/>
          </a:xfrm>
          <a:prstGeom prst="rect">
            <a:avLst/>
          </a:prstGeom>
          <a:noFill/>
        </p:spPr>
        <p:txBody>
          <a:bodyPr wrap="square">
            <a:spAutoFit/>
          </a:bodyPr>
          <a:lstStyle/>
          <a:p>
            <a:pPr algn="l"/>
            <a:r>
              <a:rPr sz="1300" b="1" i="0">
                <a:solidFill>
                  <a:srgbClr val="00395D"/>
                </a:solidFill>
                <a:latin typeface="Expert Sans"/>
              </a:rPr>
              <a:t>Invoice finance</a:t>
            </a:r>
          </a:p>
        </p:txBody>
      </p:sp>
      <p:sp>
        <p:nvSpPr>
          <p:cNvPr id="20" name="TextBox 19"/>
          <p:cNvSpPr txBox="1"/>
          <p:nvPr/>
        </p:nvSpPr>
        <p:spPr>
          <a:xfrm>
            <a:off x="4361688" y="3008375"/>
            <a:ext cx="1417320" cy="457200"/>
          </a:xfrm>
          <a:prstGeom prst="rect">
            <a:avLst/>
          </a:prstGeom>
          <a:noFill/>
        </p:spPr>
        <p:txBody>
          <a:bodyPr wrap="square">
            <a:spAutoFit/>
          </a:bodyPr>
          <a:lstStyle/>
          <a:p>
            <a:pPr algn="l"/>
            <a:r>
              <a:rPr sz="1250" b="0" i="0">
                <a:solidFill>
                  <a:srgbClr val="3F5563"/>
                </a:solidFill>
                <a:latin typeface="Expert Sans"/>
              </a:rPr>
              <a:t>72</a:t>
            </a:r>
          </a:p>
        </p:txBody>
      </p:sp>
      <p:sp>
        <p:nvSpPr>
          <p:cNvPr id="21" name="TextBox 20"/>
          <p:cNvSpPr txBox="1"/>
          <p:nvPr/>
        </p:nvSpPr>
        <p:spPr>
          <a:xfrm>
            <a:off x="5916168" y="3008375"/>
            <a:ext cx="1417320" cy="457200"/>
          </a:xfrm>
          <a:prstGeom prst="rect">
            <a:avLst/>
          </a:prstGeom>
          <a:noFill/>
        </p:spPr>
        <p:txBody>
          <a:bodyPr wrap="square">
            <a:spAutoFit/>
          </a:bodyPr>
          <a:lstStyle/>
          <a:p>
            <a:pPr algn="l"/>
            <a:r>
              <a:rPr sz="1250" b="1" i="0">
                <a:solidFill>
                  <a:srgbClr val="00395D"/>
                </a:solidFill>
                <a:latin typeface="Expert Sans"/>
              </a:rPr>
              <a:t>£1.6m</a:t>
            </a:r>
          </a:p>
        </p:txBody>
      </p:sp>
      <p:sp>
        <p:nvSpPr>
          <p:cNvPr id="22" name="TextBox 21"/>
          <p:cNvSpPr txBox="1"/>
          <p:nvPr/>
        </p:nvSpPr>
        <p:spPr>
          <a:xfrm>
            <a:off x="7470648" y="3008375"/>
            <a:ext cx="2606040" cy="457200"/>
          </a:xfrm>
          <a:prstGeom prst="rect">
            <a:avLst/>
          </a:prstGeom>
          <a:noFill/>
        </p:spPr>
        <p:txBody>
          <a:bodyPr wrap="square">
            <a:spAutoFit/>
          </a:bodyPr>
          <a:lstStyle/>
          <a:p>
            <a:pPr algn="l"/>
            <a:r>
              <a:rPr sz="1150" b="0" i="0">
                <a:solidFill>
                  <a:srgbClr val="3F5563"/>
                </a:solidFill>
                <a:latin typeface="Expert Sans"/>
              </a:rPr>
              <a:t>Partner</a:t>
            </a:r>
          </a:p>
        </p:txBody>
      </p:sp>
      <p:sp>
        <p:nvSpPr>
          <p:cNvPr id="23" name="TextBox 22"/>
          <p:cNvSpPr txBox="1"/>
          <p:nvPr/>
        </p:nvSpPr>
        <p:spPr>
          <a:xfrm>
            <a:off x="10213848" y="3026663"/>
            <a:ext cx="1463040" cy="457200"/>
          </a:xfrm>
          <a:prstGeom prst="rect">
            <a:avLst/>
          </a:prstGeom>
          <a:noFill/>
        </p:spPr>
        <p:txBody>
          <a:bodyPr wrap="square">
            <a:spAutoFit/>
          </a:bodyPr>
          <a:lstStyle/>
          <a:p>
            <a:pPr algn="l"/>
            <a:r>
              <a:rPr sz="1000" b="1" i="0">
                <a:solidFill>
                  <a:srgbClr val="0083C5"/>
                </a:solidFill>
                <a:latin typeface="Expert Sans"/>
              </a:rPr>
              <a:t>THIS CYCLE</a:t>
            </a:r>
          </a:p>
        </p:txBody>
      </p:sp>
      <p:sp>
        <p:nvSpPr>
          <p:cNvPr id="24" name="Rectangle 23"/>
          <p:cNvSpPr/>
          <p:nvPr/>
        </p:nvSpPr>
        <p:spPr>
          <a:xfrm>
            <a:off x="566928" y="3538728"/>
            <a:ext cx="11057839" cy="658368"/>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584448"/>
            <a:ext cx="1097280" cy="548640"/>
          </a:xfrm>
          <a:prstGeom prst="rect">
            <a:avLst/>
          </a:prstGeom>
          <a:noFill/>
        </p:spPr>
        <p:txBody>
          <a:bodyPr wrap="square">
            <a:spAutoFit/>
          </a:bodyPr>
          <a:lstStyle/>
          <a:p>
            <a:pPr algn="l"/>
            <a:r>
              <a:rPr sz="1700" b="1" i="0">
                <a:solidFill>
                  <a:srgbClr val="00395D"/>
                </a:solidFill>
                <a:latin typeface="Expert Sans"/>
              </a:rPr>
              <a:t>3</a:t>
            </a:r>
          </a:p>
        </p:txBody>
      </p:sp>
      <p:sp>
        <p:nvSpPr>
          <p:cNvPr id="26" name="TextBox 25"/>
          <p:cNvSpPr txBox="1"/>
          <p:nvPr/>
        </p:nvSpPr>
        <p:spPr>
          <a:xfrm>
            <a:off x="1801368" y="3630168"/>
            <a:ext cx="2423160" cy="502920"/>
          </a:xfrm>
          <a:prstGeom prst="rect">
            <a:avLst/>
          </a:prstGeom>
          <a:noFill/>
        </p:spPr>
        <p:txBody>
          <a:bodyPr wrap="square">
            <a:spAutoFit/>
          </a:bodyPr>
          <a:lstStyle/>
          <a:p>
            <a:pPr algn="l"/>
            <a:r>
              <a:rPr sz="1300" b="1" i="0">
                <a:solidFill>
                  <a:srgbClr val="00395D"/>
                </a:solidFill>
                <a:latin typeface="Expert Sans"/>
              </a:rPr>
              <a:t>Trade insurance</a:t>
            </a:r>
          </a:p>
        </p:txBody>
      </p:sp>
      <p:sp>
        <p:nvSpPr>
          <p:cNvPr id="27" name="TextBox 26"/>
          <p:cNvSpPr txBox="1"/>
          <p:nvPr/>
        </p:nvSpPr>
        <p:spPr>
          <a:xfrm>
            <a:off x="4361688" y="3648456"/>
            <a:ext cx="1417320" cy="457200"/>
          </a:xfrm>
          <a:prstGeom prst="rect">
            <a:avLst/>
          </a:prstGeom>
          <a:noFill/>
        </p:spPr>
        <p:txBody>
          <a:bodyPr wrap="square">
            <a:spAutoFit/>
          </a:bodyPr>
          <a:lstStyle/>
          <a:p>
            <a:pPr algn="l"/>
            <a:r>
              <a:rPr sz="1250" b="0" i="0">
                <a:solidFill>
                  <a:srgbClr val="3F5563"/>
                </a:solidFill>
                <a:latin typeface="Expert Sans"/>
              </a:rPr>
              <a:t>64</a:t>
            </a:r>
          </a:p>
        </p:txBody>
      </p:sp>
      <p:sp>
        <p:nvSpPr>
          <p:cNvPr id="28" name="TextBox 27"/>
          <p:cNvSpPr txBox="1"/>
          <p:nvPr/>
        </p:nvSpPr>
        <p:spPr>
          <a:xfrm>
            <a:off x="5916168" y="3648456"/>
            <a:ext cx="1417320" cy="457200"/>
          </a:xfrm>
          <a:prstGeom prst="rect">
            <a:avLst/>
          </a:prstGeom>
          <a:noFill/>
        </p:spPr>
        <p:txBody>
          <a:bodyPr wrap="square">
            <a:spAutoFit/>
          </a:bodyPr>
          <a:lstStyle/>
          <a:p>
            <a:pPr algn="l"/>
            <a:r>
              <a:rPr sz="1250" b="0" i="0">
                <a:solidFill>
                  <a:srgbClr val="00395D"/>
                </a:solidFill>
                <a:latin typeface="Expert Sans"/>
              </a:rPr>
              <a:t>£0.9m</a:t>
            </a:r>
          </a:p>
        </p:txBody>
      </p:sp>
      <p:sp>
        <p:nvSpPr>
          <p:cNvPr id="29" name="TextBox 28"/>
          <p:cNvSpPr txBox="1"/>
          <p:nvPr/>
        </p:nvSpPr>
        <p:spPr>
          <a:xfrm>
            <a:off x="7470648" y="3648456"/>
            <a:ext cx="2606040" cy="457200"/>
          </a:xfrm>
          <a:prstGeom prst="rect">
            <a:avLst/>
          </a:prstGeom>
          <a:noFill/>
        </p:spPr>
        <p:txBody>
          <a:bodyPr wrap="square">
            <a:spAutoFit/>
          </a:bodyPr>
          <a:lstStyle/>
          <a:p>
            <a:pPr algn="l"/>
            <a:r>
              <a:rPr sz="1150" b="0" i="0">
                <a:solidFill>
                  <a:srgbClr val="3F5563"/>
                </a:solidFill>
                <a:latin typeface="Expert Sans"/>
              </a:rPr>
              <a:t>Build — needs claims capability</a:t>
            </a:r>
          </a:p>
        </p:txBody>
      </p:sp>
      <p:sp>
        <p:nvSpPr>
          <p:cNvPr id="30" name="TextBox 29"/>
          <p:cNvSpPr txBox="1"/>
          <p:nvPr/>
        </p:nvSpPr>
        <p:spPr>
          <a:xfrm>
            <a:off x="10213848" y="3666744"/>
            <a:ext cx="1463040" cy="457200"/>
          </a:xfrm>
          <a:prstGeom prst="rect">
            <a:avLst/>
          </a:prstGeom>
          <a:noFill/>
        </p:spPr>
        <p:txBody>
          <a:bodyPr wrap="square">
            <a:spAutoFit/>
          </a:bodyPr>
          <a:lstStyle/>
          <a:p>
            <a:pPr algn="l"/>
            <a:r>
              <a:rPr sz="1000" b="1" i="0">
                <a:solidFill>
                  <a:srgbClr val="00395D"/>
                </a:solidFill>
                <a:latin typeface="Expert Sans"/>
              </a:rPr>
              <a:t>NEXT CYCLE</a:t>
            </a:r>
          </a:p>
        </p:txBody>
      </p:sp>
      <p:sp>
        <p:nvSpPr>
          <p:cNvPr id="31" name="TextBox 30"/>
          <p:cNvSpPr txBox="1"/>
          <p:nvPr/>
        </p:nvSpPr>
        <p:spPr>
          <a:xfrm>
            <a:off x="566928" y="4224528"/>
            <a:ext cx="1097280" cy="548640"/>
          </a:xfrm>
          <a:prstGeom prst="rect">
            <a:avLst/>
          </a:prstGeom>
          <a:noFill/>
        </p:spPr>
        <p:txBody>
          <a:bodyPr wrap="square">
            <a:spAutoFit/>
          </a:bodyPr>
          <a:lstStyle/>
          <a:p>
            <a:pPr algn="l"/>
            <a:r>
              <a:rPr sz="1700" b="1" i="0">
                <a:solidFill>
                  <a:srgbClr val="6E7F8D"/>
                </a:solidFill>
                <a:latin typeface="Expert Sans"/>
              </a:rPr>
              <a:t>—</a:t>
            </a:r>
          </a:p>
        </p:txBody>
      </p:sp>
      <p:sp>
        <p:nvSpPr>
          <p:cNvPr id="32" name="TextBox 31"/>
          <p:cNvSpPr txBox="1"/>
          <p:nvPr/>
        </p:nvSpPr>
        <p:spPr>
          <a:xfrm>
            <a:off x="1801368" y="4270248"/>
            <a:ext cx="2423160" cy="502920"/>
          </a:xfrm>
          <a:prstGeom prst="rect">
            <a:avLst/>
          </a:prstGeom>
          <a:noFill/>
        </p:spPr>
        <p:txBody>
          <a:bodyPr wrap="square">
            <a:spAutoFit/>
          </a:bodyPr>
          <a:lstStyle/>
          <a:p>
            <a:pPr algn="l"/>
            <a:r>
              <a:rPr sz="1300" b="1" i="0">
                <a:solidFill>
                  <a:srgbClr val="3F5563"/>
                </a:solidFill>
                <a:latin typeface="Expert Sans"/>
              </a:rPr>
              <a:t>Crypto payments</a:t>
            </a:r>
          </a:p>
        </p:txBody>
      </p:sp>
      <p:sp>
        <p:nvSpPr>
          <p:cNvPr id="33" name="TextBox 32"/>
          <p:cNvSpPr txBox="1"/>
          <p:nvPr/>
        </p:nvSpPr>
        <p:spPr>
          <a:xfrm>
            <a:off x="4361688" y="4288536"/>
            <a:ext cx="1417320" cy="457200"/>
          </a:xfrm>
          <a:prstGeom prst="rect">
            <a:avLst/>
          </a:prstGeom>
          <a:noFill/>
        </p:spPr>
        <p:txBody>
          <a:bodyPr wrap="square">
            <a:spAutoFit/>
          </a:bodyPr>
          <a:lstStyle/>
          <a:p>
            <a:pPr algn="l"/>
            <a:r>
              <a:rPr sz="1250" b="0" i="0">
                <a:solidFill>
                  <a:srgbClr val="A8443C"/>
                </a:solidFill>
                <a:latin typeface="Expert Sans"/>
              </a:rPr>
              <a:t>41</a:t>
            </a:r>
          </a:p>
        </p:txBody>
      </p:sp>
      <p:sp>
        <p:nvSpPr>
          <p:cNvPr id="34" name="TextBox 33"/>
          <p:cNvSpPr txBox="1"/>
          <p:nvPr/>
        </p:nvSpPr>
        <p:spPr>
          <a:xfrm>
            <a:off x="5916168" y="4288536"/>
            <a:ext cx="1417320" cy="457200"/>
          </a:xfrm>
          <a:prstGeom prst="rect">
            <a:avLst/>
          </a:prstGeom>
          <a:noFill/>
        </p:spPr>
        <p:txBody>
          <a:bodyPr wrap="square">
            <a:spAutoFit/>
          </a:bodyPr>
          <a:lstStyle/>
          <a:p>
            <a:pPr algn="l"/>
            <a:r>
              <a:rPr sz="1250" b="0" i="0">
                <a:solidFill>
                  <a:srgbClr val="6E7F8D"/>
                </a:solidFill>
                <a:latin typeface="Expert Sans"/>
              </a:rPr>
              <a:t>not priced</a:t>
            </a:r>
          </a:p>
        </p:txBody>
      </p:sp>
      <p:sp>
        <p:nvSpPr>
          <p:cNvPr id="35" name="TextBox 34"/>
          <p:cNvSpPr txBox="1"/>
          <p:nvPr/>
        </p:nvSpPr>
        <p:spPr>
          <a:xfrm>
            <a:off x="7470648" y="4288536"/>
            <a:ext cx="2606040" cy="457200"/>
          </a:xfrm>
          <a:prstGeom prst="rect">
            <a:avLst/>
          </a:prstGeom>
          <a:noFill/>
        </p:spPr>
        <p:txBody>
          <a:bodyPr wrap="square">
            <a:spAutoFit/>
          </a:bodyPr>
          <a:lstStyle/>
          <a:p>
            <a:pPr algn="l"/>
            <a:r>
              <a:rPr sz="1150" b="0" i="0">
                <a:solidFill>
                  <a:srgbClr val="6E7F8D"/>
                </a:solidFill>
                <a:latin typeface="Expert Sans"/>
              </a:rPr>
              <a:t>—</a:t>
            </a:r>
          </a:p>
        </p:txBody>
      </p:sp>
      <p:sp>
        <p:nvSpPr>
          <p:cNvPr id="36" name="TextBox 35"/>
          <p:cNvSpPr txBox="1"/>
          <p:nvPr/>
        </p:nvSpPr>
        <p:spPr>
          <a:xfrm>
            <a:off x="10213848" y="4306824"/>
            <a:ext cx="1463040" cy="457200"/>
          </a:xfrm>
          <a:prstGeom prst="rect">
            <a:avLst/>
          </a:prstGeom>
          <a:noFill/>
        </p:spPr>
        <p:txBody>
          <a:bodyPr wrap="square">
            <a:spAutoFit/>
          </a:bodyPr>
          <a:lstStyle/>
          <a:p>
            <a:pPr algn="l"/>
            <a:r>
              <a:rPr sz="1000" b="1" i="0">
                <a:solidFill>
                  <a:srgbClr val="6E7F8D"/>
                </a:solidFill>
                <a:latin typeface="Expert Sans"/>
              </a:rPr>
              <a:t>OFF THE LIST</a:t>
            </a:r>
          </a:p>
        </p:txBody>
      </p:sp>
      <p:sp>
        <p:nvSpPr>
          <p:cNvPr id="37" name="Rectangle 36"/>
          <p:cNvSpPr/>
          <p:nvPr/>
        </p:nvSpPr>
        <p:spPr>
          <a:xfrm>
            <a:off x="566928" y="4818888"/>
            <a:ext cx="11057839" cy="658368"/>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864608"/>
            <a:ext cx="1097280" cy="548640"/>
          </a:xfrm>
          <a:prstGeom prst="rect">
            <a:avLst/>
          </a:prstGeom>
          <a:noFill/>
        </p:spPr>
        <p:txBody>
          <a:bodyPr wrap="square">
            <a:spAutoFit/>
          </a:bodyPr>
          <a:lstStyle/>
          <a:p>
            <a:pPr algn="l"/>
            <a:r>
              <a:rPr sz="1700" b="1" i="0">
                <a:solidFill>
                  <a:srgbClr val="6E7F8D"/>
                </a:solidFill>
                <a:latin typeface="Expert Sans"/>
              </a:rPr>
              <a:t>—</a:t>
            </a:r>
          </a:p>
        </p:txBody>
      </p:sp>
      <p:sp>
        <p:nvSpPr>
          <p:cNvPr id="39" name="TextBox 38"/>
          <p:cNvSpPr txBox="1"/>
          <p:nvPr/>
        </p:nvSpPr>
        <p:spPr>
          <a:xfrm>
            <a:off x="1801368" y="4910328"/>
            <a:ext cx="2423160" cy="502920"/>
          </a:xfrm>
          <a:prstGeom prst="rect">
            <a:avLst/>
          </a:prstGeom>
          <a:noFill/>
        </p:spPr>
        <p:txBody>
          <a:bodyPr wrap="square">
            <a:spAutoFit/>
          </a:bodyPr>
          <a:lstStyle/>
          <a:p>
            <a:pPr algn="l"/>
            <a:r>
              <a:rPr sz="1300" b="1" i="0">
                <a:solidFill>
                  <a:srgbClr val="3F5563"/>
                </a:solidFill>
                <a:latin typeface="Expert Sans"/>
              </a:rPr>
              <a:t>Rewards scheme</a:t>
            </a:r>
          </a:p>
        </p:txBody>
      </p:sp>
      <p:sp>
        <p:nvSpPr>
          <p:cNvPr id="40" name="TextBox 39"/>
          <p:cNvSpPr txBox="1"/>
          <p:nvPr/>
        </p:nvSpPr>
        <p:spPr>
          <a:xfrm>
            <a:off x="4361688" y="4928616"/>
            <a:ext cx="1417320" cy="457200"/>
          </a:xfrm>
          <a:prstGeom prst="rect">
            <a:avLst/>
          </a:prstGeom>
          <a:noFill/>
        </p:spPr>
        <p:txBody>
          <a:bodyPr wrap="square">
            <a:spAutoFit/>
          </a:bodyPr>
          <a:lstStyle/>
          <a:p>
            <a:pPr algn="l"/>
            <a:r>
              <a:rPr sz="1250" b="0" i="0">
                <a:solidFill>
                  <a:srgbClr val="A8443C"/>
                </a:solidFill>
                <a:latin typeface="Expert Sans"/>
              </a:rPr>
              <a:t>33</a:t>
            </a:r>
          </a:p>
        </p:txBody>
      </p:sp>
      <p:sp>
        <p:nvSpPr>
          <p:cNvPr id="41" name="TextBox 40"/>
          <p:cNvSpPr txBox="1"/>
          <p:nvPr/>
        </p:nvSpPr>
        <p:spPr>
          <a:xfrm>
            <a:off x="5916168" y="4928616"/>
            <a:ext cx="1417320" cy="457200"/>
          </a:xfrm>
          <a:prstGeom prst="rect">
            <a:avLst/>
          </a:prstGeom>
          <a:noFill/>
        </p:spPr>
        <p:txBody>
          <a:bodyPr wrap="square">
            <a:spAutoFit/>
          </a:bodyPr>
          <a:lstStyle/>
          <a:p>
            <a:pPr algn="l"/>
            <a:r>
              <a:rPr sz="1250" b="0" i="0">
                <a:solidFill>
                  <a:srgbClr val="6E7F8D"/>
                </a:solidFill>
                <a:latin typeface="Expert Sans"/>
              </a:rPr>
              <a:t>not priced</a:t>
            </a:r>
          </a:p>
        </p:txBody>
      </p:sp>
      <p:sp>
        <p:nvSpPr>
          <p:cNvPr id="42" name="TextBox 41"/>
          <p:cNvSpPr txBox="1"/>
          <p:nvPr/>
        </p:nvSpPr>
        <p:spPr>
          <a:xfrm>
            <a:off x="7470648" y="4928616"/>
            <a:ext cx="2606040" cy="457200"/>
          </a:xfrm>
          <a:prstGeom prst="rect">
            <a:avLst/>
          </a:prstGeom>
          <a:noFill/>
        </p:spPr>
        <p:txBody>
          <a:bodyPr wrap="square">
            <a:spAutoFit/>
          </a:bodyPr>
          <a:lstStyle/>
          <a:p>
            <a:pPr algn="l"/>
            <a:r>
              <a:rPr sz="1150" b="0" i="0">
                <a:solidFill>
                  <a:srgbClr val="6E7F8D"/>
                </a:solidFill>
                <a:latin typeface="Expert Sans"/>
              </a:rPr>
              <a:t>—</a:t>
            </a:r>
          </a:p>
        </p:txBody>
      </p:sp>
      <p:sp>
        <p:nvSpPr>
          <p:cNvPr id="43" name="TextBox 42"/>
          <p:cNvSpPr txBox="1"/>
          <p:nvPr/>
        </p:nvSpPr>
        <p:spPr>
          <a:xfrm>
            <a:off x="10213848" y="4946904"/>
            <a:ext cx="1463040" cy="457200"/>
          </a:xfrm>
          <a:prstGeom prst="rect">
            <a:avLst/>
          </a:prstGeom>
          <a:noFill/>
        </p:spPr>
        <p:txBody>
          <a:bodyPr wrap="square">
            <a:spAutoFit/>
          </a:bodyPr>
          <a:lstStyle/>
          <a:p>
            <a:pPr algn="l"/>
            <a:r>
              <a:rPr sz="1000" b="1" i="0">
                <a:solidFill>
                  <a:srgbClr val="6E7F8D"/>
                </a:solidFill>
                <a:latin typeface="Expert Sans"/>
              </a:rPr>
              <a:t>OFF THE LIST</a:t>
            </a:r>
          </a:p>
        </p:txBody>
      </p:sp>
      <p:sp>
        <p:nvSpPr>
          <p:cNvPr id="44" name="TextBox 43"/>
          <p:cNvSpPr txBox="1"/>
          <p:nvPr/>
        </p:nvSpPr>
        <p:spPr>
          <a:xfrm>
            <a:off x="566928" y="5596128"/>
            <a:ext cx="11057839" cy="384048"/>
          </a:xfrm>
          <a:prstGeom prst="rect">
            <a:avLst/>
          </a:prstGeom>
          <a:noFill/>
        </p:spPr>
        <p:txBody>
          <a:bodyPr wrap="square">
            <a:spAutoFit/>
          </a:bodyPr>
          <a:lstStyle/>
          <a:p>
            <a:pPr algn="l"/>
            <a:r>
              <a:rPr sz="1150" b="0" i="1">
                <a:solidFill>
                  <a:srgbClr val="6E7F8D"/>
                </a:solidFill>
                <a:latin typeface="Expert Sans"/>
              </a:rPr>
              <a:t>Demand admits, return sorts, capacity cuts. A feature below the gate is never priced — no queue place can be bought.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874519"/>
            <a:ext cx="2377440" cy="1463040"/>
          </a:xfrm>
          <a:prstGeom prst="rect">
            <a:avLst/>
          </a:prstGeom>
          <a:noFill/>
        </p:spPr>
        <p:txBody>
          <a:bodyPr wrap="square">
            <a:spAutoFit/>
          </a:bodyPr>
          <a:lstStyle/>
          <a:p>
            <a:pPr algn="l"/>
            <a:r>
              <a:rPr sz="8800" b="1" i="0">
                <a:solidFill>
                  <a:srgbClr val="BFE4F7"/>
                </a:solidFill>
                <a:latin typeface="Expert Sans"/>
              </a:rPr>
              <a:t>01</a:t>
            </a:r>
          </a:p>
        </p:txBody>
      </p:sp>
      <p:sp>
        <p:nvSpPr>
          <p:cNvPr id="4" name="TextBox 3"/>
          <p:cNvSpPr txBox="1"/>
          <p:nvPr/>
        </p:nvSpPr>
        <p:spPr>
          <a:xfrm>
            <a:off x="2898648" y="2029968"/>
            <a:ext cx="8595360" cy="365760"/>
          </a:xfrm>
          <a:prstGeom prst="rect">
            <a:avLst/>
          </a:prstGeom>
          <a:noFill/>
        </p:spPr>
        <p:txBody>
          <a:bodyPr wrap="square">
            <a:spAutoFit/>
          </a:bodyPr>
          <a:lstStyle/>
          <a:p>
            <a:pPr algn="l"/>
            <a:r>
              <a:rPr sz="1200" b="1" i="0">
                <a:solidFill>
                  <a:srgbClr val="0083C5"/>
                </a:solidFill>
                <a:latin typeface="Expert Sans"/>
              </a:rPr>
              <a:t>DEMAND ADMITS</a:t>
            </a:r>
          </a:p>
        </p:txBody>
      </p:sp>
      <p:sp>
        <p:nvSpPr>
          <p:cNvPr id="5" name="TextBox 4"/>
          <p:cNvSpPr txBox="1"/>
          <p:nvPr/>
        </p:nvSpPr>
        <p:spPr>
          <a:xfrm>
            <a:off x="2898648" y="2395728"/>
            <a:ext cx="8595360" cy="914400"/>
          </a:xfrm>
          <a:prstGeom prst="rect">
            <a:avLst/>
          </a:prstGeom>
          <a:noFill/>
        </p:spPr>
        <p:txBody>
          <a:bodyPr wrap="square">
            <a:spAutoFit/>
          </a:bodyPr>
          <a:lstStyle/>
          <a:p>
            <a:pPr algn="l"/>
            <a:r>
              <a:rPr sz="3200" b="0" i="0">
                <a:solidFill>
                  <a:srgbClr val="00395D"/>
                </a:solidFill>
                <a:latin typeface="Expert Sans"/>
              </a:rPr>
              <a:t>Who gets into the backlog?</a:t>
            </a:r>
          </a:p>
        </p:txBody>
      </p:sp>
      <p:sp>
        <p:nvSpPr>
          <p:cNvPr id="6" name="TextBox 5"/>
          <p:cNvSpPr txBox="1"/>
          <p:nvPr/>
        </p:nvSpPr>
        <p:spPr>
          <a:xfrm>
            <a:off x="2898648" y="3346704"/>
            <a:ext cx="8412480" cy="640080"/>
          </a:xfrm>
          <a:prstGeom prst="rect">
            <a:avLst/>
          </a:prstGeom>
          <a:noFill/>
        </p:spPr>
        <p:txBody>
          <a:bodyPr wrap="square">
            <a:spAutoFit/>
          </a:bodyPr>
          <a:lstStyle/>
          <a:p>
            <a:pPr algn="l"/>
            <a:r>
              <a:rPr sz="1400" b="0" i="0">
                <a:solidFill>
                  <a:srgbClr val="3F5563"/>
                </a:solidFill>
                <a:latin typeface="Expert Sans"/>
              </a:rPr>
              <a:t>Measured with the OCV demand score against a gate of 60. Below the gate, a feature is never priced.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DEMAND ADMITS  ·  01</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Three of five clear the demand gate; two are not close</a:t>
            </a:r>
          </a:p>
        </p:txBody>
      </p:sp>
      <p:graphicFrame>
        <p:nvGraphicFramePr>
          <p:cNvPr id="4" name="Chart 3"/>
          <p:cNvGraphicFramePr>
            <a:graphicFrameLocks noGrp="1"/>
          </p:cNvGraphicFramePr>
          <p:nvPr/>
        </p:nvGraphicFramePr>
        <p:xfrm>
          <a:off x="566928" y="1600200"/>
          <a:ext cx="7315200" cy="3749039"/>
        </p:xfrm>
        <a:graphic>
          <a:graphicData uri="http://schemas.openxmlformats.org/drawingml/2006/chart">
            <c:chart xmlns:c="http://schemas.openxmlformats.org/drawingml/2006/chart" r:id="rId2"/>
          </a:graphicData>
        </a:graphic>
      </p:graphicFrame>
      <p:sp>
        <p:nvSpPr>
          <p:cNvPr id="5" name="Rounded Rectangle 4"/>
          <p:cNvSpPr/>
          <p:nvPr/>
        </p:nvSpPr>
        <p:spPr>
          <a:xfrm>
            <a:off x="8293607" y="1600200"/>
            <a:ext cx="3331159" cy="3749039"/>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13648" y="1783080"/>
            <a:ext cx="2651760" cy="310896"/>
          </a:xfrm>
          <a:prstGeom prst="rect">
            <a:avLst/>
          </a:prstGeom>
          <a:noFill/>
        </p:spPr>
        <p:txBody>
          <a:bodyPr wrap="square">
            <a:spAutoFit/>
          </a:bodyPr>
          <a:lstStyle/>
          <a:p>
            <a:pPr algn="l"/>
            <a:r>
              <a:rPr sz="1100" b="1" i="0">
                <a:solidFill>
                  <a:srgbClr val="0083C5"/>
                </a:solidFill>
                <a:latin typeface="Expert Sans"/>
              </a:rPr>
              <a:t>The gate</a:t>
            </a:r>
          </a:p>
        </p:txBody>
      </p:sp>
      <p:sp>
        <p:nvSpPr>
          <p:cNvPr id="7" name="TextBox 6"/>
          <p:cNvSpPr txBox="1"/>
          <p:nvPr/>
        </p:nvSpPr>
        <p:spPr>
          <a:xfrm>
            <a:off x="8613648" y="2103120"/>
            <a:ext cx="2651760" cy="914400"/>
          </a:xfrm>
          <a:prstGeom prst="rect">
            <a:avLst/>
          </a:prstGeom>
          <a:noFill/>
        </p:spPr>
        <p:txBody>
          <a:bodyPr wrap="square">
            <a:spAutoFit/>
          </a:bodyPr>
          <a:lstStyle/>
          <a:p>
            <a:pPr algn="l"/>
            <a:r>
              <a:rPr sz="5600" b="1" i="0">
                <a:solidFill>
                  <a:srgbClr val="00395D"/>
                </a:solidFill>
                <a:latin typeface="Expert Sans"/>
              </a:rPr>
              <a:t>60</a:t>
            </a:r>
          </a:p>
        </p:txBody>
      </p:sp>
      <p:sp>
        <p:nvSpPr>
          <p:cNvPr id="8" name="TextBox 7"/>
          <p:cNvSpPr txBox="1"/>
          <p:nvPr/>
        </p:nvSpPr>
        <p:spPr>
          <a:xfrm>
            <a:off x="8613648" y="3154680"/>
            <a:ext cx="2651760" cy="274320"/>
          </a:xfrm>
          <a:prstGeom prst="rect">
            <a:avLst/>
          </a:prstGeom>
          <a:noFill/>
        </p:spPr>
        <p:txBody>
          <a:bodyPr wrap="square">
            <a:spAutoFit/>
          </a:bodyPr>
          <a:lstStyle/>
          <a:p>
            <a:pPr algn="l"/>
            <a:r>
              <a:rPr sz="1100" b="1" i="0">
                <a:solidFill>
                  <a:srgbClr val="6E7F8D"/>
                </a:solidFill>
                <a:latin typeface="Expert Sans"/>
              </a:rPr>
              <a:t>Admitted</a:t>
            </a:r>
          </a:p>
        </p:txBody>
      </p:sp>
      <p:sp>
        <p:nvSpPr>
          <p:cNvPr id="9" name="TextBox 8"/>
          <p:cNvSpPr txBox="1"/>
          <p:nvPr/>
        </p:nvSpPr>
        <p:spPr>
          <a:xfrm>
            <a:off x="8613648" y="3429000"/>
            <a:ext cx="2743200" cy="640080"/>
          </a:xfrm>
          <a:prstGeom prst="rect">
            <a:avLst/>
          </a:prstGeom>
          <a:noFill/>
        </p:spPr>
        <p:txBody>
          <a:bodyPr wrap="square">
            <a:spAutoFit/>
          </a:bodyPr>
          <a:lstStyle/>
          <a:p>
            <a:pPr algn="l"/>
            <a:r>
              <a:rPr sz="1150" b="0" i="0">
                <a:solidFill>
                  <a:srgbClr val="3F5563"/>
                </a:solidFill>
                <a:latin typeface="Expert Sans"/>
              </a:rPr>
              <a:t>FX, Invoice, Trade — priced in section 02</a:t>
            </a:r>
          </a:p>
        </p:txBody>
      </p:sp>
      <p:sp>
        <p:nvSpPr>
          <p:cNvPr id="10" name="TextBox 9"/>
          <p:cNvSpPr txBox="1"/>
          <p:nvPr/>
        </p:nvSpPr>
        <p:spPr>
          <a:xfrm>
            <a:off x="8613648" y="4160520"/>
            <a:ext cx="2651760" cy="274320"/>
          </a:xfrm>
          <a:prstGeom prst="rect">
            <a:avLst/>
          </a:prstGeom>
          <a:noFill/>
        </p:spPr>
        <p:txBody>
          <a:bodyPr wrap="square">
            <a:spAutoFit/>
          </a:bodyPr>
          <a:lstStyle/>
          <a:p>
            <a:pPr algn="l"/>
            <a:r>
              <a:rPr sz="1100" b="1" i="0">
                <a:solidFill>
                  <a:srgbClr val="6E7F8D"/>
                </a:solidFill>
                <a:latin typeface="Expert Sans"/>
              </a:rPr>
              <a:t>Refused</a:t>
            </a:r>
          </a:p>
        </p:txBody>
      </p:sp>
      <p:sp>
        <p:nvSpPr>
          <p:cNvPr id="11" name="TextBox 10"/>
          <p:cNvSpPr txBox="1"/>
          <p:nvPr/>
        </p:nvSpPr>
        <p:spPr>
          <a:xfrm>
            <a:off x="8613648" y="4434840"/>
            <a:ext cx="2743200" cy="548640"/>
          </a:xfrm>
          <a:prstGeom prst="rect">
            <a:avLst/>
          </a:prstGeom>
          <a:noFill/>
        </p:spPr>
        <p:txBody>
          <a:bodyPr wrap="square">
            <a:spAutoFit/>
          </a:bodyPr>
          <a:lstStyle/>
          <a:p>
            <a:pPr algn="l"/>
            <a:r>
              <a:rPr sz="1150" b="0" i="0">
                <a:solidFill>
                  <a:srgbClr val="3F5563"/>
                </a:solidFill>
                <a:latin typeface="Expert Sans"/>
              </a:rPr>
              <a:t>Crypto, Rewards — never priced</a:t>
            </a:r>
          </a:p>
        </p:txBody>
      </p:sp>
      <p:sp>
        <p:nvSpPr>
          <p:cNvPr id="12" name="TextBox 11"/>
          <p:cNvSpPr txBox="1"/>
          <p:nvPr/>
        </p:nvSpPr>
        <p:spPr>
          <a:xfrm>
            <a:off x="566928" y="6291072"/>
            <a:ext cx="11057839" cy="274320"/>
          </a:xfrm>
          <a:prstGeom prst="rect">
            <a:avLst/>
          </a:prstGeom>
          <a:noFill/>
        </p:spPr>
        <p:txBody>
          <a:bodyPr wrap="square">
            <a:spAutoFit/>
          </a:bodyPr>
          <a:lstStyle/>
          <a:p>
            <a:pPr algn="l"/>
            <a:r>
              <a:rPr sz="900" b="0" i="0">
                <a:solidFill>
                  <a:srgbClr val="6E7F8D"/>
                </a:solidFill>
                <a:latin typeface="Expert Sans"/>
              </a:rPr>
              <a:t>Source: exporter research programme, 320 interviews, May–Jul [year]. OCV method: appendix.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DEMAND ADMITS  ·  01</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What the scores rest on — and their stated limits</a:t>
            </a:r>
          </a:p>
        </p:txBody>
      </p:sp>
      <p:sp>
        <p:nvSpPr>
          <p:cNvPr id="4" name="Rounded Rectangle 3"/>
          <p:cNvSpPr/>
          <p:nvPr/>
        </p:nvSpPr>
        <p:spPr>
          <a:xfrm>
            <a:off x="566928" y="1572768"/>
            <a:ext cx="2593009" cy="164592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37360"/>
            <a:ext cx="2080945" cy="777240"/>
          </a:xfrm>
          <a:prstGeom prst="rect">
            <a:avLst/>
          </a:prstGeom>
          <a:noFill/>
        </p:spPr>
        <p:txBody>
          <a:bodyPr wrap="square">
            <a:spAutoFit/>
          </a:bodyPr>
          <a:lstStyle/>
          <a:p>
            <a:pPr algn="l"/>
            <a:r>
              <a:rPr sz="3200" b="1" i="0">
                <a:solidFill>
                  <a:srgbClr val="00395D"/>
                </a:solidFill>
                <a:latin typeface="Expert Sans"/>
              </a:rPr>
              <a:t>320</a:t>
            </a:r>
          </a:p>
        </p:txBody>
      </p:sp>
      <p:sp>
        <p:nvSpPr>
          <p:cNvPr id="6" name="TextBox 5"/>
          <p:cNvSpPr txBox="1"/>
          <p:nvPr/>
        </p:nvSpPr>
        <p:spPr>
          <a:xfrm>
            <a:off x="822960" y="2514600"/>
            <a:ext cx="2080945" cy="594360"/>
          </a:xfrm>
          <a:prstGeom prst="rect">
            <a:avLst/>
          </a:prstGeom>
          <a:noFill/>
        </p:spPr>
        <p:txBody>
          <a:bodyPr wrap="square">
            <a:spAutoFit/>
          </a:bodyPr>
          <a:lstStyle/>
          <a:p>
            <a:pPr algn="l">
              <a:lnSpc>
                <a:spcPts val="1400"/>
              </a:lnSpc>
            </a:pPr>
            <a:r>
              <a:rPr sz="1100" b="0" i="0">
                <a:solidFill>
                  <a:srgbClr val="3F5563"/>
                </a:solidFill>
                <a:latin typeface="Expert Sans"/>
              </a:rPr>
              <a:t>Exporting SMEs interviewed</a:t>
            </a:r>
          </a:p>
        </p:txBody>
      </p:sp>
      <p:sp>
        <p:nvSpPr>
          <p:cNvPr id="7" name="Rounded Rectangle 6"/>
          <p:cNvSpPr/>
          <p:nvPr/>
        </p:nvSpPr>
        <p:spPr>
          <a:xfrm>
            <a:off x="3388537" y="1572768"/>
            <a:ext cx="2593009" cy="164592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44569" y="1737360"/>
            <a:ext cx="2080945" cy="777240"/>
          </a:xfrm>
          <a:prstGeom prst="rect">
            <a:avLst/>
          </a:prstGeom>
          <a:noFill/>
        </p:spPr>
        <p:txBody>
          <a:bodyPr wrap="square">
            <a:spAutoFit/>
          </a:bodyPr>
          <a:lstStyle/>
          <a:p>
            <a:pPr algn="l"/>
            <a:r>
              <a:rPr sz="3200" b="1" i="0">
                <a:solidFill>
                  <a:srgbClr val="00395D"/>
                </a:solidFill>
                <a:latin typeface="Expert Sans"/>
              </a:rPr>
              <a:t>9 wks</a:t>
            </a:r>
          </a:p>
        </p:txBody>
      </p:sp>
      <p:sp>
        <p:nvSpPr>
          <p:cNvPr id="9" name="TextBox 8"/>
          <p:cNvSpPr txBox="1"/>
          <p:nvPr/>
        </p:nvSpPr>
        <p:spPr>
          <a:xfrm>
            <a:off x="3644569" y="2514600"/>
            <a:ext cx="2080945" cy="594360"/>
          </a:xfrm>
          <a:prstGeom prst="rect">
            <a:avLst/>
          </a:prstGeom>
          <a:noFill/>
        </p:spPr>
        <p:txBody>
          <a:bodyPr wrap="square">
            <a:spAutoFit/>
          </a:bodyPr>
          <a:lstStyle/>
          <a:p>
            <a:pPr algn="l">
              <a:lnSpc>
                <a:spcPts val="1400"/>
              </a:lnSpc>
            </a:pPr>
            <a:r>
              <a:rPr sz="1100" b="0" i="0">
                <a:solidFill>
                  <a:srgbClr val="3F5563"/>
                </a:solidFill>
                <a:latin typeface="Expert Sans"/>
              </a:rPr>
              <a:t>Fieldwork window, ending [date]</a:t>
            </a:r>
          </a:p>
        </p:txBody>
      </p:sp>
      <p:sp>
        <p:nvSpPr>
          <p:cNvPr id="10" name="Rounded Rectangle 9"/>
          <p:cNvSpPr/>
          <p:nvPr/>
        </p:nvSpPr>
        <p:spPr>
          <a:xfrm>
            <a:off x="6210147" y="1572768"/>
            <a:ext cx="2593009" cy="164592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6179" y="1737360"/>
            <a:ext cx="2080945" cy="777240"/>
          </a:xfrm>
          <a:prstGeom prst="rect">
            <a:avLst/>
          </a:prstGeom>
          <a:noFill/>
        </p:spPr>
        <p:txBody>
          <a:bodyPr wrap="square">
            <a:spAutoFit/>
          </a:bodyPr>
          <a:lstStyle/>
          <a:p>
            <a:pPr algn="l"/>
            <a:r>
              <a:rPr sz="3200" b="1" i="0">
                <a:solidFill>
                  <a:srgbClr val="00395D"/>
                </a:solidFill>
                <a:latin typeface="Expert Sans"/>
              </a:rPr>
              <a:t>3 of 5</a:t>
            </a:r>
          </a:p>
        </p:txBody>
      </p:sp>
      <p:sp>
        <p:nvSpPr>
          <p:cNvPr id="12" name="TextBox 11"/>
          <p:cNvSpPr txBox="1"/>
          <p:nvPr/>
        </p:nvSpPr>
        <p:spPr>
          <a:xfrm>
            <a:off x="6466179" y="2514600"/>
            <a:ext cx="2080945" cy="594360"/>
          </a:xfrm>
          <a:prstGeom prst="rect">
            <a:avLst/>
          </a:prstGeom>
          <a:noFill/>
        </p:spPr>
        <p:txBody>
          <a:bodyPr wrap="square">
            <a:spAutoFit/>
          </a:bodyPr>
          <a:lstStyle/>
          <a:p>
            <a:pPr algn="l">
              <a:lnSpc>
                <a:spcPts val="1400"/>
              </a:lnSpc>
            </a:pPr>
            <a:r>
              <a:rPr sz="1100" b="0" i="0">
                <a:solidFill>
                  <a:srgbClr val="3F5563"/>
                </a:solidFill>
                <a:latin typeface="Expert Sans"/>
              </a:rPr>
              <a:t>Features tested with a live prototype</a:t>
            </a:r>
          </a:p>
        </p:txBody>
      </p:sp>
      <p:sp>
        <p:nvSpPr>
          <p:cNvPr id="13" name="Rounded Rectangle 12"/>
          <p:cNvSpPr/>
          <p:nvPr/>
        </p:nvSpPr>
        <p:spPr>
          <a:xfrm>
            <a:off x="9031757" y="1572768"/>
            <a:ext cx="2593009" cy="164592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7789" y="1737360"/>
            <a:ext cx="2080945" cy="777240"/>
          </a:xfrm>
          <a:prstGeom prst="rect">
            <a:avLst/>
          </a:prstGeom>
          <a:noFill/>
        </p:spPr>
        <p:txBody>
          <a:bodyPr wrap="square">
            <a:spAutoFit/>
          </a:bodyPr>
          <a:lstStyle/>
          <a:p>
            <a:pPr algn="l"/>
            <a:r>
              <a:rPr sz="3200" b="1" i="0">
                <a:solidFill>
                  <a:srgbClr val="00395D"/>
                </a:solidFill>
                <a:latin typeface="Expert Sans"/>
              </a:rPr>
              <a:t>61%</a:t>
            </a:r>
          </a:p>
        </p:txBody>
      </p:sp>
      <p:sp>
        <p:nvSpPr>
          <p:cNvPr id="15" name="TextBox 14"/>
          <p:cNvSpPr txBox="1"/>
          <p:nvPr/>
        </p:nvSpPr>
        <p:spPr>
          <a:xfrm>
            <a:off x="9287789" y="2514600"/>
            <a:ext cx="2080945" cy="594360"/>
          </a:xfrm>
          <a:prstGeom prst="rect">
            <a:avLst/>
          </a:prstGeom>
          <a:noFill/>
        </p:spPr>
        <p:txBody>
          <a:bodyPr wrap="square">
            <a:spAutoFit/>
          </a:bodyPr>
          <a:lstStyle/>
          <a:p>
            <a:pPr algn="l">
              <a:lnSpc>
                <a:spcPts val="1400"/>
              </a:lnSpc>
            </a:pPr>
            <a:r>
              <a:rPr sz="1100" b="0" i="0">
                <a:solidFill>
                  <a:srgbClr val="3F5563"/>
                </a:solidFill>
                <a:latin typeface="Expert Sans"/>
              </a:rPr>
              <a:t>Of segment revenue represented</a:t>
            </a:r>
          </a:p>
        </p:txBody>
      </p:sp>
      <p:sp>
        <p:nvSpPr>
          <p:cNvPr id="16" name="TextBox 15"/>
          <p:cNvSpPr txBox="1"/>
          <p:nvPr/>
        </p:nvSpPr>
        <p:spPr>
          <a:xfrm>
            <a:off x="566928" y="3520440"/>
            <a:ext cx="11057839" cy="365760"/>
          </a:xfrm>
          <a:prstGeom prst="rect">
            <a:avLst/>
          </a:prstGeom>
          <a:noFill/>
        </p:spPr>
        <p:txBody>
          <a:bodyPr wrap="square">
            <a:spAutoFit/>
          </a:bodyPr>
          <a:lstStyle/>
          <a:p>
            <a:pPr algn="l"/>
            <a:r>
              <a:rPr sz="1450" b="1" i="0">
                <a:solidFill>
                  <a:srgbClr val="00395D"/>
                </a:solidFill>
                <a:latin typeface="Expert Sans"/>
              </a:rPr>
              <a:t>Known limits of the evidence</a:t>
            </a:r>
          </a:p>
        </p:txBody>
      </p:sp>
      <p:sp>
        <p:nvSpPr>
          <p:cNvPr id="17" name="TextBox 16"/>
          <p:cNvSpPr txBox="1"/>
          <p:nvPr/>
        </p:nvSpPr>
        <p:spPr>
          <a:xfrm>
            <a:off x="566928" y="3931920"/>
            <a:ext cx="11057839" cy="457200"/>
          </a:xfrm>
          <a:prstGeom prst="rect">
            <a:avLst/>
          </a:prstGeom>
          <a:noFill/>
        </p:spPr>
        <p:txBody>
          <a:bodyPr wrap="square">
            <a:spAutoFit/>
          </a:bodyPr>
          <a:lstStyle/>
          <a:p>
            <a:pPr>
              <a:spcAft>
                <a:spcPts val="600"/>
              </a:spcAft>
            </a:pPr>
            <a:r>
              <a:rPr sz="1250">
                <a:solidFill>
                  <a:srgbClr val="3F5563"/>
                </a:solidFill>
                <a:latin typeface="Expert Sans"/>
              </a:rPr>
              <a:t>•  Smallest exporters (under £1m turnover) are under-represented — could overstate invoice finance demand</a:t>
            </a:r>
          </a:p>
          <a:p>
            <a:pPr>
              <a:spcAft>
                <a:spcPts val="600"/>
              </a:spcAft>
            </a:pPr>
            <a:r>
              <a:rPr sz="1250">
                <a:solidFill>
                  <a:srgbClr val="3F5563"/>
                </a:solidFill>
                <a:latin typeface="Expert Sans"/>
              </a:rPr>
              <a:t>•  Exporters over-claim switching intent; scores are calibrated against observed uptake, not stated intent</a:t>
            </a:r>
          </a:p>
          <a:p>
            <a:pPr>
              <a:spcAft>
                <a:spcPts val="600"/>
              </a:spcAft>
            </a:pPr>
            <a:r>
              <a:rPr sz="1250">
                <a:solidFill>
                  <a:srgbClr val="3F5563"/>
                </a:solidFill>
                <a:latin typeface="Expert Sans"/>
              </a:rPr>
              <a:t>•  Crypto and rewards were tested by description only — a prototype could move them, and a re-score would catch it</a:t>
            </a:r>
          </a:p>
          <a:p>
            <a:pPr>
              <a:spcAft>
                <a:spcPts val="600"/>
              </a:spcAft>
            </a:pPr>
            <a:r>
              <a:rPr sz="1250">
                <a:solidFill>
                  <a:srgbClr val="3F5563"/>
                </a:solidFill>
                <a:latin typeface="Expert Sans"/>
              </a:rPr>
              <a:t>•  Insurance sits four points above the gate: treated as admitted, re-tested every quarter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DEMAND ADMITS  ·  01  ·  PROPOSITION LEVEL</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'Trade Ready' makes the shelf visible when the need hits</a:t>
            </a:r>
          </a:p>
        </p:txBody>
      </p:sp>
      <p:sp>
        <p:nvSpPr>
          <p:cNvPr id="4" name="Rounded Rectangle 3"/>
          <p:cNvSpPr/>
          <p:nvPr/>
        </p:nvSpPr>
        <p:spPr>
          <a:xfrm>
            <a:off x="566928" y="1572768"/>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792224"/>
            <a:ext cx="3108960" cy="457200"/>
          </a:xfrm>
          <a:prstGeom prst="rect">
            <a:avLst/>
          </a:prstGeom>
          <a:noFill/>
        </p:spPr>
        <p:txBody>
          <a:bodyPr wrap="square">
            <a:spAutoFit/>
          </a:bodyPr>
          <a:lstStyle/>
          <a:p>
            <a:pPr algn="l"/>
            <a:r>
              <a:rPr sz="1350" b="1" i="0">
                <a:solidFill>
                  <a:srgbClr val="00395D"/>
                </a:solidFill>
                <a:latin typeface="Expert Sans"/>
              </a:rPr>
              <a:t>The gap</a:t>
            </a:r>
          </a:p>
        </p:txBody>
      </p:sp>
      <p:sp>
        <p:nvSpPr>
          <p:cNvPr id="6" name="TextBox 5"/>
          <p:cNvSpPr txBox="1"/>
          <p:nvPr/>
        </p:nvSpPr>
        <p:spPr>
          <a:xfrm>
            <a:off x="4315968" y="1664208"/>
            <a:ext cx="6851599" cy="713232"/>
          </a:xfrm>
          <a:prstGeom prst="rect">
            <a:avLst/>
          </a:prstGeom>
          <a:noFill/>
        </p:spPr>
        <p:txBody>
          <a:bodyPr wrap="square">
            <a:spAutoFit/>
          </a:bodyPr>
          <a:lstStyle/>
          <a:p>
            <a:pPr algn="l">
              <a:lnSpc>
                <a:spcPts val="1500"/>
              </a:lnSpc>
            </a:pPr>
            <a:r>
              <a:rPr sz="1150" b="0" i="0">
                <a:solidFill>
                  <a:srgbClr val="3F5563"/>
                </a:solidFill>
                <a:latin typeface="Expert Sans"/>
              </a:rPr>
              <a:t>At the moments that matter — the first export order, the first unpaid foreign invoice — exporters name their bank 22% of the time, and the market leader 41%.</a:t>
            </a:r>
          </a:p>
        </p:txBody>
      </p:sp>
      <p:sp>
        <p:nvSpPr>
          <p:cNvPr id="7" name="Rounded Rectangle 6"/>
          <p:cNvSpPr/>
          <p:nvPr/>
        </p:nvSpPr>
        <p:spPr>
          <a:xfrm>
            <a:off x="566928" y="2596896"/>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816352"/>
            <a:ext cx="3108960" cy="457200"/>
          </a:xfrm>
          <a:prstGeom prst="rect">
            <a:avLst/>
          </a:prstGeom>
          <a:noFill/>
        </p:spPr>
        <p:txBody>
          <a:bodyPr wrap="square">
            <a:spAutoFit/>
          </a:bodyPr>
          <a:lstStyle/>
          <a:p>
            <a:pPr algn="l"/>
            <a:r>
              <a:rPr sz="1350" b="1" i="0">
                <a:solidFill>
                  <a:srgbClr val="00395D"/>
                </a:solidFill>
                <a:latin typeface="Expert Sans"/>
              </a:rPr>
              <a:t>The wrapper</a:t>
            </a:r>
          </a:p>
        </p:txBody>
      </p:sp>
      <p:sp>
        <p:nvSpPr>
          <p:cNvPr id="9" name="TextBox 8"/>
          <p:cNvSpPr txBox="1"/>
          <p:nvPr/>
        </p:nvSpPr>
        <p:spPr>
          <a:xfrm>
            <a:off x="4315968" y="2688336"/>
            <a:ext cx="6851599" cy="713232"/>
          </a:xfrm>
          <a:prstGeom prst="rect">
            <a:avLst/>
          </a:prstGeom>
          <a:noFill/>
        </p:spPr>
        <p:txBody>
          <a:bodyPr wrap="square">
            <a:spAutoFit/>
          </a:bodyPr>
          <a:lstStyle/>
          <a:p>
            <a:pPr algn="l">
              <a:lnSpc>
                <a:spcPts val="1500"/>
              </a:lnSpc>
            </a:pPr>
            <a:r>
              <a:rPr sz="1150" b="0" i="0">
                <a:solidFill>
                  <a:srgbClr val="3F5563"/>
                </a:solidFill>
                <a:latin typeface="Expert Sans"/>
              </a:rPr>
              <a:t>One name over the launched features, with a fixed set of brand assets, tied to those two moments. Product communications ladder up to it, not alongside it.</a:t>
            </a:r>
          </a:p>
        </p:txBody>
      </p:sp>
      <p:sp>
        <p:nvSpPr>
          <p:cNvPr id="10" name="Rounded Rectangle 9"/>
          <p:cNvSpPr/>
          <p:nvPr/>
        </p:nvSpPr>
        <p:spPr>
          <a:xfrm>
            <a:off x="566928" y="3621024"/>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3840480"/>
            <a:ext cx="3108960" cy="457200"/>
          </a:xfrm>
          <a:prstGeom prst="rect">
            <a:avLst/>
          </a:prstGeom>
          <a:noFill/>
        </p:spPr>
        <p:txBody>
          <a:bodyPr wrap="square">
            <a:spAutoFit/>
          </a:bodyPr>
          <a:lstStyle/>
          <a:p>
            <a:pPr algn="l"/>
            <a:r>
              <a:rPr sz="1350" b="1" i="0">
                <a:solidFill>
                  <a:srgbClr val="00395D"/>
                </a:solidFill>
                <a:latin typeface="Expert Sans"/>
              </a:rPr>
              <a:t>The economics</a:t>
            </a:r>
          </a:p>
        </p:txBody>
      </p:sp>
      <p:sp>
        <p:nvSpPr>
          <p:cNvPr id="12" name="TextBox 11"/>
          <p:cNvSpPr txBox="1"/>
          <p:nvPr/>
        </p:nvSpPr>
        <p:spPr>
          <a:xfrm>
            <a:off x="4315968" y="3712463"/>
            <a:ext cx="6851599" cy="713232"/>
          </a:xfrm>
          <a:prstGeom prst="rect">
            <a:avLst/>
          </a:prstGeom>
          <a:noFill/>
        </p:spPr>
        <p:txBody>
          <a:bodyPr wrap="square">
            <a:spAutoFit/>
          </a:bodyPr>
          <a:lstStyle/>
          <a:p>
            <a:pPr algn="l">
              <a:lnSpc>
                <a:spcPts val="1500"/>
              </a:lnSpc>
            </a:pPr>
            <a:r>
              <a:rPr sz="1150" b="0" i="0">
                <a:solidFill>
                  <a:srgbClr val="3F5563"/>
                </a:solidFill>
                <a:latin typeface="Expert Sans"/>
              </a:rPr>
              <a:t>£0.8m a year, fixed — spread across every feature in the shell, unlike incentives that pay per redemption. Break-even at a 6-point lift in recall.</a:t>
            </a:r>
          </a:p>
        </p:txBody>
      </p:sp>
      <p:sp>
        <p:nvSpPr>
          <p:cNvPr id="13" name="Rounded Rectangle 12"/>
          <p:cNvSpPr/>
          <p:nvPr/>
        </p:nvSpPr>
        <p:spPr>
          <a:xfrm>
            <a:off x="566928" y="4645152"/>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4864608"/>
            <a:ext cx="3108960" cy="457200"/>
          </a:xfrm>
          <a:prstGeom prst="rect">
            <a:avLst/>
          </a:prstGeom>
          <a:noFill/>
        </p:spPr>
        <p:txBody>
          <a:bodyPr wrap="square">
            <a:spAutoFit/>
          </a:bodyPr>
          <a:lstStyle/>
          <a:p>
            <a:pPr algn="l"/>
            <a:r>
              <a:rPr sz="1350" b="1" i="0">
                <a:solidFill>
                  <a:srgbClr val="00395D"/>
                </a:solidFill>
                <a:latin typeface="Expert Sans"/>
              </a:rPr>
              <a:t>The multiplier rule</a:t>
            </a:r>
          </a:p>
        </p:txBody>
      </p:sp>
      <p:sp>
        <p:nvSpPr>
          <p:cNvPr id="15" name="TextBox 14"/>
          <p:cNvSpPr txBox="1"/>
          <p:nvPr/>
        </p:nvSpPr>
        <p:spPr>
          <a:xfrm>
            <a:off x="4315968" y="4736592"/>
            <a:ext cx="6851599" cy="713232"/>
          </a:xfrm>
          <a:prstGeom prst="rect">
            <a:avLst/>
          </a:prstGeom>
          <a:noFill/>
        </p:spPr>
        <p:txBody>
          <a:bodyPr wrap="square">
            <a:spAutoFit/>
          </a:bodyPr>
          <a:lstStyle/>
          <a:p>
            <a:pPr algn="l">
              <a:lnSpc>
                <a:spcPts val="1500"/>
              </a:lnSpc>
            </a:pPr>
            <a:r>
              <a:rPr sz="1150" b="0" i="0">
                <a:solidFill>
                  <a:srgbClr val="3F5563"/>
                </a:solidFill>
                <a:latin typeface="Expert Sans"/>
              </a:rPr>
              <a:t>A wrapper multiplies what is there. It cannot rescue a feature below the demand gate — weak features wrapped are weak features remembered.</a:t>
            </a:r>
          </a:p>
        </p:txBody>
      </p:sp>
      <p:sp>
        <p:nvSpPr>
          <p:cNvPr id="16" name="TextBox 15"/>
          <p:cNvSpPr txBox="1"/>
          <p:nvPr/>
        </p:nvSpPr>
        <p:spPr>
          <a:xfrm>
            <a:off x="566928" y="5742432"/>
            <a:ext cx="11057839" cy="548640"/>
          </a:xfrm>
          <a:prstGeom prst="rect">
            <a:avLst/>
          </a:prstGeom>
          <a:noFill/>
        </p:spPr>
        <p:txBody>
          <a:bodyPr wrap="square">
            <a:spAutoFit/>
          </a:bodyPr>
          <a:lstStyle/>
          <a:p>
            <a:pPr algn="l">
              <a:lnSpc>
                <a:spcPts val="1600"/>
              </a:lnSpc>
            </a:pPr>
            <a:r>
              <a:rPr sz="1200" b="0" i="1">
                <a:solidFill>
                  <a:srgbClr val="6E7F8D"/>
                </a:solidFill>
                <a:latin typeface="Expert Sans"/>
              </a:rPr>
              <a:t>The wrapper is a demand claim — will they think of us — so it lives in this section. Its cost appears in the earnings bridge; its stop rule sits on the sensitivity page.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874519"/>
            <a:ext cx="2377440" cy="1463040"/>
          </a:xfrm>
          <a:prstGeom prst="rect">
            <a:avLst/>
          </a:prstGeom>
          <a:noFill/>
        </p:spPr>
        <p:txBody>
          <a:bodyPr wrap="square">
            <a:spAutoFit/>
          </a:bodyPr>
          <a:lstStyle/>
          <a:p>
            <a:pPr algn="l"/>
            <a:r>
              <a:rPr sz="8800" b="1" i="0">
                <a:solidFill>
                  <a:srgbClr val="BFE4F7"/>
                </a:solidFill>
                <a:latin typeface="Expert Sans"/>
              </a:rPr>
              <a:t>02</a:t>
            </a:r>
          </a:p>
        </p:txBody>
      </p:sp>
      <p:sp>
        <p:nvSpPr>
          <p:cNvPr id="4" name="TextBox 3"/>
          <p:cNvSpPr txBox="1"/>
          <p:nvPr/>
        </p:nvSpPr>
        <p:spPr>
          <a:xfrm>
            <a:off x="2898648" y="2029968"/>
            <a:ext cx="8595360" cy="365760"/>
          </a:xfrm>
          <a:prstGeom prst="rect">
            <a:avLst/>
          </a:prstGeom>
          <a:noFill/>
        </p:spPr>
        <p:txBody>
          <a:bodyPr wrap="square">
            <a:spAutoFit/>
          </a:bodyPr>
          <a:lstStyle/>
          <a:p>
            <a:pPr algn="l"/>
            <a:r>
              <a:rPr sz="1200" b="1" i="0">
                <a:solidFill>
                  <a:srgbClr val="0083C5"/>
                </a:solidFill>
                <a:latin typeface="Expert Sans"/>
              </a:rPr>
              <a:t>RETURN SORTS</a:t>
            </a:r>
          </a:p>
        </p:txBody>
      </p:sp>
      <p:sp>
        <p:nvSpPr>
          <p:cNvPr id="5" name="TextBox 4"/>
          <p:cNvSpPr txBox="1"/>
          <p:nvPr/>
        </p:nvSpPr>
        <p:spPr>
          <a:xfrm>
            <a:off x="2898648" y="2395728"/>
            <a:ext cx="8595360" cy="914400"/>
          </a:xfrm>
          <a:prstGeom prst="rect">
            <a:avLst/>
          </a:prstGeom>
          <a:noFill/>
        </p:spPr>
        <p:txBody>
          <a:bodyPr wrap="square">
            <a:spAutoFit/>
          </a:bodyPr>
          <a:lstStyle/>
          <a:p>
            <a:pPr algn="l"/>
            <a:r>
              <a:rPr sz="3200" b="0" i="0">
                <a:solidFill>
                  <a:srgbClr val="00395D"/>
                </a:solidFill>
                <a:latin typeface="Expert Sans"/>
              </a:rPr>
              <a:t>What order do the admitted features take?</a:t>
            </a:r>
          </a:p>
        </p:txBody>
      </p:sp>
      <p:sp>
        <p:nvSpPr>
          <p:cNvPr id="6" name="TextBox 5"/>
          <p:cNvSpPr txBox="1"/>
          <p:nvPr/>
        </p:nvSpPr>
        <p:spPr>
          <a:xfrm>
            <a:off x="2898648" y="3346704"/>
            <a:ext cx="8412480" cy="640080"/>
          </a:xfrm>
          <a:prstGeom prst="rect">
            <a:avLst/>
          </a:prstGeom>
          <a:noFill/>
        </p:spPr>
        <p:txBody>
          <a:bodyPr wrap="square">
            <a:spAutoFit/>
          </a:bodyPr>
          <a:lstStyle/>
          <a:p>
            <a:pPr algn="l"/>
            <a:r>
              <a:rPr sz="1400" b="0" i="0">
                <a:solidFill>
                  <a:srgbClr val="3F5563"/>
                </a:solidFill>
                <a:latin typeface="Expert Sans"/>
              </a:rPr>
              <a:t>Sorted by risk-adjusted return per build slot — capacity is the scarce thing, so returns are measured against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RETURN SORTS  ·  02</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Per-slot return sets the order — and it re-orders raw NPV</a:t>
            </a:r>
          </a:p>
        </p:txBody>
      </p:sp>
      <p:sp>
        <p:nvSpPr>
          <p:cNvPr id="4" name="TextBox 3"/>
          <p:cNvSpPr txBox="1"/>
          <p:nvPr/>
        </p:nvSpPr>
        <p:spPr>
          <a:xfrm>
            <a:off x="566928" y="1691640"/>
            <a:ext cx="2194560" cy="365760"/>
          </a:xfrm>
          <a:prstGeom prst="rect">
            <a:avLst/>
          </a:prstGeom>
          <a:noFill/>
        </p:spPr>
        <p:txBody>
          <a:bodyPr wrap="square">
            <a:spAutoFit/>
          </a:bodyPr>
          <a:lstStyle/>
          <a:p>
            <a:pPr algn="l"/>
            <a:r>
              <a:rPr sz="1100" b="1" i="0">
                <a:solidFill>
                  <a:srgbClr val="00395D"/>
                </a:solidFill>
                <a:latin typeface="Expert Sans"/>
              </a:rPr>
              <a:t>Feature</a:t>
            </a:r>
          </a:p>
        </p:txBody>
      </p:sp>
      <p:sp>
        <p:nvSpPr>
          <p:cNvPr id="5" name="TextBox 4"/>
          <p:cNvSpPr txBox="1"/>
          <p:nvPr/>
        </p:nvSpPr>
        <p:spPr>
          <a:xfrm>
            <a:off x="4133087" y="1691640"/>
            <a:ext cx="2194560" cy="365760"/>
          </a:xfrm>
          <a:prstGeom prst="rect">
            <a:avLst/>
          </a:prstGeom>
          <a:noFill/>
        </p:spPr>
        <p:txBody>
          <a:bodyPr wrap="square">
            <a:spAutoFit/>
          </a:bodyPr>
          <a:lstStyle/>
          <a:p>
            <a:pPr algn="l"/>
            <a:r>
              <a:rPr sz="1100" b="1" i="0">
                <a:solidFill>
                  <a:srgbClr val="00395D"/>
                </a:solidFill>
                <a:latin typeface="Expert Sans"/>
              </a:rPr>
              <a:t>Risk-adjusted NPV</a:t>
            </a:r>
          </a:p>
        </p:txBody>
      </p:sp>
      <p:sp>
        <p:nvSpPr>
          <p:cNvPr id="6" name="TextBox 5"/>
          <p:cNvSpPr txBox="1"/>
          <p:nvPr/>
        </p:nvSpPr>
        <p:spPr>
          <a:xfrm>
            <a:off x="6419088" y="1691640"/>
            <a:ext cx="2194560" cy="365760"/>
          </a:xfrm>
          <a:prstGeom prst="rect">
            <a:avLst/>
          </a:prstGeom>
          <a:noFill/>
        </p:spPr>
        <p:txBody>
          <a:bodyPr wrap="square">
            <a:spAutoFit/>
          </a:bodyPr>
          <a:lstStyle/>
          <a:p>
            <a:pPr algn="l"/>
            <a:r>
              <a:rPr sz="1100" b="1" i="0">
                <a:solidFill>
                  <a:srgbClr val="00395D"/>
                </a:solidFill>
                <a:latin typeface="Expert Sans"/>
              </a:rPr>
              <a:t>Build slots</a:t>
            </a:r>
          </a:p>
        </p:txBody>
      </p:sp>
      <p:sp>
        <p:nvSpPr>
          <p:cNvPr id="7" name="TextBox 6"/>
          <p:cNvSpPr txBox="1"/>
          <p:nvPr/>
        </p:nvSpPr>
        <p:spPr>
          <a:xfrm>
            <a:off x="8156448" y="1691640"/>
            <a:ext cx="2194560" cy="365760"/>
          </a:xfrm>
          <a:prstGeom prst="rect">
            <a:avLst/>
          </a:prstGeom>
          <a:noFill/>
        </p:spPr>
        <p:txBody>
          <a:bodyPr wrap="square">
            <a:spAutoFit/>
          </a:bodyPr>
          <a:lstStyle/>
          <a:p>
            <a:pPr algn="l"/>
            <a:r>
              <a:rPr sz="1100" b="1" i="0">
                <a:solidFill>
                  <a:srgbClr val="00395D"/>
                </a:solidFill>
                <a:latin typeface="Expert Sans"/>
              </a:rPr>
              <a:t>Return per slot</a:t>
            </a:r>
          </a:p>
        </p:txBody>
      </p:sp>
      <p:sp>
        <p:nvSpPr>
          <p:cNvPr id="8" name="TextBox 7"/>
          <p:cNvSpPr txBox="1"/>
          <p:nvPr/>
        </p:nvSpPr>
        <p:spPr>
          <a:xfrm>
            <a:off x="10533888" y="1691640"/>
            <a:ext cx="2194560" cy="365760"/>
          </a:xfrm>
          <a:prstGeom prst="rect">
            <a:avLst/>
          </a:prstGeom>
          <a:noFill/>
        </p:spPr>
        <p:txBody>
          <a:bodyPr wrap="square">
            <a:spAutoFit/>
          </a:bodyPr>
          <a:lstStyle/>
          <a:p>
            <a:pPr algn="l"/>
            <a:r>
              <a:rPr sz="1100" b="1" i="0">
                <a:solidFill>
                  <a:srgbClr val="00395D"/>
                </a:solidFill>
                <a:latin typeface="Expert Sans"/>
              </a:rPr>
              <a:t>Order</a:t>
            </a:r>
          </a:p>
        </p:txBody>
      </p:sp>
      <p:cxnSp>
        <p:nvCxnSpPr>
          <p:cNvPr id="9" name="Connector 8"/>
          <p:cNvCxnSpPr/>
          <p:nvPr/>
        </p:nvCxnSpPr>
        <p:spPr>
          <a:xfrm>
            <a:off x="566928" y="2112264"/>
            <a:ext cx="11057839" cy="0"/>
          </a:xfrm>
          <a:prstGeom prst="line">
            <a:avLst/>
          </a:prstGeom>
          <a:ln>
            <a:solidFill>
              <a:srgbClr val="00395D"/>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66928" y="2194560"/>
            <a:ext cx="11057839" cy="64008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267712"/>
            <a:ext cx="3383280" cy="502920"/>
          </a:xfrm>
          <a:prstGeom prst="rect">
            <a:avLst/>
          </a:prstGeom>
          <a:noFill/>
        </p:spPr>
        <p:txBody>
          <a:bodyPr wrap="square">
            <a:spAutoFit/>
          </a:bodyPr>
          <a:lstStyle/>
          <a:p>
            <a:pPr algn="l"/>
            <a:r>
              <a:rPr sz="1300" b="1" i="0">
                <a:solidFill>
                  <a:srgbClr val="00395D"/>
                </a:solidFill>
                <a:latin typeface="Expert Sans"/>
              </a:rPr>
              <a:t>FX payments</a:t>
            </a:r>
          </a:p>
        </p:txBody>
      </p:sp>
      <p:sp>
        <p:nvSpPr>
          <p:cNvPr id="12" name="TextBox 11"/>
          <p:cNvSpPr txBox="1"/>
          <p:nvPr/>
        </p:nvSpPr>
        <p:spPr>
          <a:xfrm>
            <a:off x="4133087" y="2286000"/>
            <a:ext cx="2103120" cy="457200"/>
          </a:xfrm>
          <a:prstGeom prst="rect">
            <a:avLst/>
          </a:prstGeom>
          <a:noFill/>
        </p:spPr>
        <p:txBody>
          <a:bodyPr wrap="square">
            <a:spAutoFit/>
          </a:bodyPr>
          <a:lstStyle/>
          <a:p>
            <a:pPr algn="l"/>
            <a:r>
              <a:rPr sz="1300" b="0" i="0">
                <a:solidFill>
                  <a:srgbClr val="3F5563"/>
                </a:solidFill>
                <a:latin typeface="Expert Sans"/>
              </a:rPr>
              <a:t>£2.1m</a:t>
            </a:r>
          </a:p>
        </p:txBody>
      </p:sp>
      <p:sp>
        <p:nvSpPr>
          <p:cNvPr id="13" name="TextBox 12"/>
          <p:cNvSpPr txBox="1"/>
          <p:nvPr/>
        </p:nvSpPr>
        <p:spPr>
          <a:xfrm>
            <a:off x="6419088" y="2286000"/>
            <a:ext cx="1554480" cy="457200"/>
          </a:xfrm>
          <a:prstGeom prst="rect">
            <a:avLst/>
          </a:prstGeom>
          <a:noFill/>
        </p:spPr>
        <p:txBody>
          <a:bodyPr wrap="square">
            <a:spAutoFit/>
          </a:bodyPr>
          <a:lstStyle/>
          <a:p>
            <a:pPr algn="l"/>
            <a:r>
              <a:rPr sz="1300" b="0" i="0">
                <a:solidFill>
                  <a:srgbClr val="3F5563"/>
                </a:solidFill>
                <a:latin typeface="Expert Sans"/>
              </a:rPr>
              <a:t>1</a:t>
            </a:r>
          </a:p>
        </p:txBody>
      </p:sp>
      <p:sp>
        <p:nvSpPr>
          <p:cNvPr id="14" name="TextBox 13"/>
          <p:cNvSpPr txBox="1"/>
          <p:nvPr/>
        </p:nvSpPr>
        <p:spPr>
          <a:xfrm>
            <a:off x="8156448" y="2286000"/>
            <a:ext cx="2194560" cy="457200"/>
          </a:xfrm>
          <a:prstGeom prst="rect">
            <a:avLst/>
          </a:prstGeom>
          <a:noFill/>
        </p:spPr>
        <p:txBody>
          <a:bodyPr wrap="square">
            <a:spAutoFit/>
          </a:bodyPr>
          <a:lstStyle/>
          <a:p>
            <a:pPr algn="l"/>
            <a:r>
              <a:rPr sz="1300" b="1" i="0">
                <a:solidFill>
                  <a:srgbClr val="00395D"/>
                </a:solidFill>
                <a:latin typeface="Expert Sans"/>
              </a:rPr>
              <a:t>£2.1m</a:t>
            </a:r>
          </a:p>
        </p:txBody>
      </p:sp>
      <p:sp>
        <p:nvSpPr>
          <p:cNvPr id="15" name="TextBox 14"/>
          <p:cNvSpPr txBox="1"/>
          <p:nvPr/>
        </p:nvSpPr>
        <p:spPr>
          <a:xfrm>
            <a:off x="10533888" y="2258568"/>
            <a:ext cx="1097280" cy="502920"/>
          </a:xfrm>
          <a:prstGeom prst="rect">
            <a:avLst/>
          </a:prstGeom>
          <a:noFill/>
        </p:spPr>
        <p:txBody>
          <a:bodyPr wrap="square">
            <a:spAutoFit/>
          </a:bodyPr>
          <a:lstStyle/>
          <a:p>
            <a:pPr algn="l"/>
            <a:r>
              <a:rPr sz="1500" b="1" i="0">
                <a:solidFill>
                  <a:srgbClr val="0083C5"/>
                </a:solidFill>
                <a:latin typeface="Expert Sans"/>
              </a:rPr>
              <a:t>1st</a:t>
            </a:r>
          </a:p>
        </p:txBody>
      </p:sp>
      <p:sp>
        <p:nvSpPr>
          <p:cNvPr id="16" name="TextBox 15"/>
          <p:cNvSpPr txBox="1"/>
          <p:nvPr/>
        </p:nvSpPr>
        <p:spPr>
          <a:xfrm>
            <a:off x="566928" y="2944368"/>
            <a:ext cx="3383280" cy="502920"/>
          </a:xfrm>
          <a:prstGeom prst="rect">
            <a:avLst/>
          </a:prstGeom>
          <a:noFill/>
        </p:spPr>
        <p:txBody>
          <a:bodyPr wrap="square">
            <a:spAutoFit/>
          </a:bodyPr>
          <a:lstStyle/>
          <a:p>
            <a:pPr algn="l"/>
            <a:r>
              <a:rPr sz="1300" b="1" i="0">
                <a:solidFill>
                  <a:srgbClr val="00395D"/>
                </a:solidFill>
                <a:latin typeface="Expert Sans"/>
              </a:rPr>
              <a:t>Invoice finance (partnered)</a:t>
            </a:r>
          </a:p>
        </p:txBody>
      </p:sp>
      <p:sp>
        <p:nvSpPr>
          <p:cNvPr id="17" name="TextBox 16"/>
          <p:cNvSpPr txBox="1"/>
          <p:nvPr/>
        </p:nvSpPr>
        <p:spPr>
          <a:xfrm>
            <a:off x="4133087" y="2962656"/>
            <a:ext cx="2103120" cy="457200"/>
          </a:xfrm>
          <a:prstGeom prst="rect">
            <a:avLst/>
          </a:prstGeom>
          <a:noFill/>
        </p:spPr>
        <p:txBody>
          <a:bodyPr wrap="square">
            <a:spAutoFit/>
          </a:bodyPr>
          <a:lstStyle/>
          <a:p>
            <a:pPr algn="l"/>
            <a:r>
              <a:rPr sz="1300" b="0" i="0">
                <a:solidFill>
                  <a:srgbClr val="3F5563"/>
                </a:solidFill>
                <a:latin typeface="Expert Sans"/>
              </a:rPr>
              <a:t>£1.6m</a:t>
            </a:r>
          </a:p>
        </p:txBody>
      </p:sp>
      <p:sp>
        <p:nvSpPr>
          <p:cNvPr id="18" name="TextBox 17"/>
          <p:cNvSpPr txBox="1"/>
          <p:nvPr/>
        </p:nvSpPr>
        <p:spPr>
          <a:xfrm>
            <a:off x="6419088" y="2962656"/>
            <a:ext cx="1554480" cy="457200"/>
          </a:xfrm>
          <a:prstGeom prst="rect">
            <a:avLst/>
          </a:prstGeom>
          <a:noFill/>
        </p:spPr>
        <p:txBody>
          <a:bodyPr wrap="square">
            <a:spAutoFit/>
          </a:bodyPr>
          <a:lstStyle/>
          <a:p>
            <a:pPr algn="l"/>
            <a:r>
              <a:rPr sz="1300" b="0" i="0">
                <a:solidFill>
                  <a:srgbClr val="3F5563"/>
                </a:solidFill>
                <a:latin typeface="Expert Sans"/>
              </a:rPr>
              <a:t>1</a:t>
            </a:r>
          </a:p>
        </p:txBody>
      </p:sp>
      <p:sp>
        <p:nvSpPr>
          <p:cNvPr id="19" name="TextBox 18"/>
          <p:cNvSpPr txBox="1"/>
          <p:nvPr/>
        </p:nvSpPr>
        <p:spPr>
          <a:xfrm>
            <a:off x="8156448" y="2962656"/>
            <a:ext cx="2194560" cy="457200"/>
          </a:xfrm>
          <a:prstGeom prst="rect">
            <a:avLst/>
          </a:prstGeom>
          <a:noFill/>
        </p:spPr>
        <p:txBody>
          <a:bodyPr wrap="square">
            <a:spAutoFit/>
          </a:bodyPr>
          <a:lstStyle/>
          <a:p>
            <a:pPr algn="l"/>
            <a:r>
              <a:rPr sz="1300" b="1" i="0">
                <a:solidFill>
                  <a:srgbClr val="00395D"/>
                </a:solidFill>
                <a:latin typeface="Expert Sans"/>
              </a:rPr>
              <a:t>£1.6m</a:t>
            </a:r>
          </a:p>
        </p:txBody>
      </p:sp>
      <p:sp>
        <p:nvSpPr>
          <p:cNvPr id="20" name="TextBox 19"/>
          <p:cNvSpPr txBox="1"/>
          <p:nvPr/>
        </p:nvSpPr>
        <p:spPr>
          <a:xfrm>
            <a:off x="10533888" y="2935224"/>
            <a:ext cx="1097280" cy="502920"/>
          </a:xfrm>
          <a:prstGeom prst="rect">
            <a:avLst/>
          </a:prstGeom>
          <a:noFill/>
        </p:spPr>
        <p:txBody>
          <a:bodyPr wrap="square">
            <a:spAutoFit/>
          </a:bodyPr>
          <a:lstStyle/>
          <a:p>
            <a:pPr algn="l"/>
            <a:r>
              <a:rPr sz="1500" b="1" i="0">
                <a:solidFill>
                  <a:srgbClr val="0083C5"/>
                </a:solidFill>
                <a:latin typeface="Expert Sans"/>
              </a:rPr>
              <a:t>2nd</a:t>
            </a:r>
          </a:p>
        </p:txBody>
      </p:sp>
      <p:sp>
        <p:nvSpPr>
          <p:cNvPr id="21" name="Rectangle 20"/>
          <p:cNvSpPr/>
          <p:nvPr/>
        </p:nvSpPr>
        <p:spPr>
          <a:xfrm>
            <a:off x="566928" y="3547872"/>
            <a:ext cx="11057839" cy="64008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621024"/>
            <a:ext cx="3383280" cy="502920"/>
          </a:xfrm>
          <a:prstGeom prst="rect">
            <a:avLst/>
          </a:prstGeom>
          <a:noFill/>
        </p:spPr>
        <p:txBody>
          <a:bodyPr wrap="square">
            <a:spAutoFit/>
          </a:bodyPr>
          <a:lstStyle/>
          <a:p>
            <a:pPr algn="l"/>
            <a:r>
              <a:rPr sz="1300" b="1" i="0">
                <a:solidFill>
                  <a:srgbClr val="00395D"/>
                </a:solidFill>
                <a:latin typeface="Expert Sans"/>
              </a:rPr>
              <a:t>Trade insurance</a:t>
            </a:r>
          </a:p>
        </p:txBody>
      </p:sp>
      <p:sp>
        <p:nvSpPr>
          <p:cNvPr id="23" name="TextBox 22"/>
          <p:cNvSpPr txBox="1"/>
          <p:nvPr/>
        </p:nvSpPr>
        <p:spPr>
          <a:xfrm>
            <a:off x="4133087" y="3639312"/>
            <a:ext cx="2103120" cy="457200"/>
          </a:xfrm>
          <a:prstGeom prst="rect">
            <a:avLst/>
          </a:prstGeom>
          <a:noFill/>
        </p:spPr>
        <p:txBody>
          <a:bodyPr wrap="square">
            <a:spAutoFit/>
          </a:bodyPr>
          <a:lstStyle/>
          <a:p>
            <a:pPr algn="l"/>
            <a:r>
              <a:rPr sz="1300" b="1" i="0">
                <a:solidFill>
                  <a:srgbClr val="A8443C"/>
                </a:solidFill>
                <a:latin typeface="Expert Sans"/>
              </a:rPr>
              <a:t>£1.8m</a:t>
            </a:r>
          </a:p>
        </p:txBody>
      </p:sp>
      <p:sp>
        <p:nvSpPr>
          <p:cNvPr id="24" name="TextBox 23"/>
          <p:cNvSpPr txBox="1"/>
          <p:nvPr/>
        </p:nvSpPr>
        <p:spPr>
          <a:xfrm>
            <a:off x="6419088" y="3639312"/>
            <a:ext cx="1554480" cy="457200"/>
          </a:xfrm>
          <a:prstGeom prst="rect">
            <a:avLst/>
          </a:prstGeom>
          <a:noFill/>
        </p:spPr>
        <p:txBody>
          <a:bodyPr wrap="square">
            <a:spAutoFit/>
          </a:bodyPr>
          <a:lstStyle/>
          <a:p>
            <a:pPr algn="l"/>
            <a:r>
              <a:rPr sz="1300" b="1" i="0">
                <a:solidFill>
                  <a:srgbClr val="A8443C"/>
                </a:solidFill>
                <a:latin typeface="Expert Sans"/>
              </a:rPr>
              <a:t>2</a:t>
            </a:r>
          </a:p>
        </p:txBody>
      </p:sp>
      <p:sp>
        <p:nvSpPr>
          <p:cNvPr id="25" name="TextBox 24"/>
          <p:cNvSpPr txBox="1"/>
          <p:nvPr/>
        </p:nvSpPr>
        <p:spPr>
          <a:xfrm>
            <a:off x="8156448" y="3639312"/>
            <a:ext cx="2194560" cy="457200"/>
          </a:xfrm>
          <a:prstGeom prst="rect">
            <a:avLst/>
          </a:prstGeom>
          <a:noFill/>
        </p:spPr>
        <p:txBody>
          <a:bodyPr wrap="square">
            <a:spAutoFit/>
          </a:bodyPr>
          <a:lstStyle/>
          <a:p>
            <a:pPr algn="l"/>
            <a:r>
              <a:rPr sz="1300" b="1" i="0">
                <a:solidFill>
                  <a:srgbClr val="00395D"/>
                </a:solidFill>
                <a:latin typeface="Expert Sans"/>
              </a:rPr>
              <a:t>£0.9m</a:t>
            </a:r>
          </a:p>
        </p:txBody>
      </p:sp>
      <p:sp>
        <p:nvSpPr>
          <p:cNvPr id="26" name="TextBox 25"/>
          <p:cNvSpPr txBox="1"/>
          <p:nvPr/>
        </p:nvSpPr>
        <p:spPr>
          <a:xfrm>
            <a:off x="10533888" y="3611880"/>
            <a:ext cx="1097280" cy="502920"/>
          </a:xfrm>
          <a:prstGeom prst="rect">
            <a:avLst/>
          </a:prstGeom>
          <a:noFill/>
        </p:spPr>
        <p:txBody>
          <a:bodyPr wrap="square">
            <a:spAutoFit/>
          </a:bodyPr>
          <a:lstStyle/>
          <a:p>
            <a:pPr algn="l"/>
            <a:r>
              <a:rPr sz="1500" b="1" i="0">
                <a:solidFill>
                  <a:srgbClr val="0083C5"/>
                </a:solidFill>
                <a:latin typeface="Expert Sans"/>
              </a:rPr>
              <a:t>3rd</a:t>
            </a:r>
          </a:p>
        </p:txBody>
      </p:sp>
      <p:sp>
        <p:nvSpPr>
          <p:cNvPr id="27" name="Rounded Rectangle 26"/>
          <p:cNvSpPr/>
          <p:nvPr/>
        </p:nvSpPr>
        <p:spPr>
          <a:xfrm>
            <a:off x="566928" y="4407408"/>
            <a:ext cx="11057839" cy="118872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4544568"/>
            <a:ext cx="4114800" cy="292608"/>
          </a:xfrm>
          <a:prstGeom prst="rect">
            <a:avLst/>
          </a:prstGeom>
          <a:noFill/>
        </p:spPr>
        <p:txBody>
          <a:bodyPr wrap="square">
            <a:spAutoFit/>
          </a:bodyPr>
          <a:lstStyle/>
          <a:p>
            <a:pPr algn="l"/>
            <a:r>
              <a:rPr sz="1100" b="1" i="0">
                <a:solidFill>
                  <a:srgbClr val="0083C5"/>
                </a:solidFill>
                <a:latin typeface="Expert Sans"/>
              </a:rPr>
              <a:t>Why per slot, not raw NPV</a:t>
            </a:r>
          </a:p>
        </p:txBody>
      </p:sp>
      <p:sp>
        <p:nvSpPr>
          <p:cNvPr id="29" name="TextBox 28"/>
          <p:cNvSpPr txBox="1"/>
          <p:nvPr/>
        </p:nvSpPr>
        <p:spPr>
          <a:xfrm>
            <a:off x="950976" y="4837176"/>
            <a:ext cx="10143439" cy="685800"/>
          </a:xfrm>
          <a:prstGeom prst="rect">
            <a:avLst/>
          </a:prstGeom>
          <a:noFill/>
        </p:spPr>
        <p:txBody>
          <a:bodyPr wrap="square">
            <a:spAutoFit/>
          </a:bodyPr>
          <a:lstStyle/>
          <a:p>
            <a:pPr algn="l">
              <a:lnSpc>
                <a:spcPts val="1600"/>
              </a:lnSpc>
            </a:pPr>
            <a:r>
              <a:rPr sz="1200" b="0" i="0">
                <a:solidFill>
                  <a:srgbClr val="00395D"/>
                </a:solidFill>
                <a:latin typeface="Expert Sans"/>
              </a:rPr>
              <a:t>Trade insurance beats invoice finance on raw NPV (£1.8m vs £1.6m) — and still sorts below it, because it eats both of the cycle's slots. Capacity is the scarce thing; returns are measured against what they consume.</a:t>
            </a:r>
          </a:p>
        </p:txBody>
      </p:sp>
      <p:sp>
        <p:nvSpPr>
          <p:cNvPr id="30" name="TextBox 29"/>
          <p:cNvSpPr txBox="1"/>
          <p:nvPr/>
        </p:nvSpPr>
        <p:spPr>
          <a:xfrm>
            <a:off x="566928" y="6291072"/>
            <a:ext cx="11057839" cy="274320"/>
          </a:xfrm>
          <a:prstGeom prst="rect">
            <a:avLst/>
          </a:prstGeom>
          <a:noFill/>
        </p:spPr>
        <p:txBody>
          <a:bodyPr wrap="square">
            <a:spAutoFit/>
          </a:bodyPr>
          <a:lstStyle/>
          <a:p>
            <a:pPr algn="l"/>
            <a:r>
              <a:rPr sz="900" b="0" i="0">
                <a:solidFill>
                  <a:srgbClr val="6E7F8D"/>
                </a:solidFill>
                <a:latin typeface="Expert Sans"/>
              </a:rPr>
              <a:t>Risk-adjusted NPV: base earnings per feature, levers applied, discounted for route timing (slide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RETURN SORTS  ·  02</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Configuration lifts the cycle's earnings from £4m to £6.3m</a:t>
            </a:r>
          </a:p>
        </p:txBody>
      </p:sp>
      <p:sp>
        <p:nvSpPr>
          <p:cNvPr id="4" name="TextBox 3"/>
          <p:cNvSpPr txBox="1"/>
          <p:nvPr/>
        </p:nvSpPr>
        <p:spPr>
          <a:xfrm>
            <a:off x="566928" y="1444752"/>
            <a:ext cx="8229600" cy="292608"/>
          </a:xfrm>
          <a:prstGeom prst="rect">
            <a:avLst/>
          </a:prstGeom>
          <a:noFill/>
        </p:spPr>
        <p:txBody>
          <a:bodyPr wrap="square">
            <a:spAutoFit/>
          </a:bodyPr>
          <a:lstStyle/>
          <a:p>
            <a:pPr algn="l"/>
            <a:r>
              <a:rPr sz="1150" b="0" i="0">
                <a:solidFill>
                  <a:srgbClr val="6E7F8D"/>
                </a:solidFill>
                <a:latin typeface="Expert Sans"/>
              </a:rPr>
              <a:t>£m annual earnings, year 3 run-rate, this cycle's two features</a:t>
            </a:r>
          </a:p>
        </p:txBody>
      </p:sp>
      <p:sp>
        <p:nvSpPr>
          <p:cNvPr id="5" name="Rectangle 4"/>
          <p:cNvSpPr/>
          <p:nvPr/>
        </p:nvSpPr>
        <p:spPr>
          <a:xfrm>
            <a:off x="795528" y="3200400"/>
            <a:ext cx="1481328" cy="2011680"/>
          </a:xfrm>
          <a:prstGeom prst="rect">
            <a:avLst/>
          </a:prstGeom>
          <a:solidFill>
            <a:srgbClr val="003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889504"/>
            <a:ext cx="1481328" cy="274320"/>
          </a:xfrm>
          <a:prstGeom prst="rect">
            <a:avLst/>
          </a:prstGeom>
          <a:noFill/>
        </p:spPr>
        <p:txBody>
          <a:bodyPr wrap="square">
            <a:spAutoFit/>
          </a:bodyPr>
          <a:lstStyle/>
          <a:p>
            <a:pPr algn="ctr"/>
            <a:r>
              <a:rPr sz="1150" b="1" i="0">
                <a:solidFill>
                  <a:srgbClr val="00395D"/>
                </a:solidFill>
                <a:latin typeface="Expert Sans"/>
              </a:rPr>
              <a:t>4.0</a:t>
            </a:r>
          </a:p>
        </p:txBody>
      </p:sp>
      <p:sp>
        <p:nvSpPr>
          <p:cNvPr id="7" name="TextBox 6"/>
          <p:cNvSpPr txBox="1"/>
          <p:nvPr/>
        </p:nvSpPr>
        <p:spPr>
          <a:xfrm>
            <a:off x="722376" y="5303520"/>
            <a:ext cx="1627632" cy="868680"/>
          </a:xfrm>
          <a:prstGeom prst="rect">
            <a:avLst/>
          </a:prstGeom>
          <a:noFill/>
        </p:spPr>
        <p:txBody>
          <a:bodyPr wrap="square">
            <a:spAutoFit/>
          </a:bodyPr>
          <a:lstStyle/>
          <a:p>
            <a:pPr algn="ctr">
              <a:lnSpc>
                <a:spcPts val="1100"/>
              </a:lnSpc>
            </a:pPr>
            <a:r>
              <a:rPr sz="950" b="0" i="0">
                <a:solidFill>
                  <a:srgbClr val="3F5563"/>
                </a:solidFill>
                <a:latin typeface="Expert Sans"/>
              </a:rPr>
              <a:t>Base case
(list price,
no levers)</a:t>
            </a:r>
          </a:p>
        </p:txBody>
      </p:sp>
      <p:sp>
        <p:nvSpPr>
          <p:cNvPr id="8" name="Rectangle 7"/>
          <p:cNvSpPr/>
          <p:nvPr/>
        </p:nvSpPr>
        <p:spPr>
          <a:xfrm>
            <a:off x="2660904" y="2747772"/>
            <a:ext cx="1481328" cy="45262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60904" y="2436876"/>
            <a:ext cx="1481328" cy="274320"/>
          </a:xfrm>
          <a:prstGeom prst="rect">
            <a:avLst/>
          </a:prstGeom>
          <a:noFill/>
        </p:spPr>
        <p:txBody>
          <a:bodyPr wrap="square">
            <a:spAutoFit/>
          </a:bodyPr>
          <a:lstStyle/>
          <a:p>
            <a:pPr algn="ctr"/>
            <a:r>
              <a:rPr sz="1150" b="1" i="0">
                <a:solidFill>
                  <a:srgbClr val="00395D"/>
                </a:solidFill>
                <a:latin typeface="Expert Sans"/>
              </a:rPr>
              <a:t>+0.9</a:t>
            </a:r>
          </a:p>
        </p:txBody>
      </p:sp>
      <p:sp>
        <p:nvSpPr>
          <p:cNvPr id="10" name="TextBox 9"/>
          <p:cNvSpPr txBox="1"/>
          <p:nvPr/>
        </p:nvSpPr>
        <p:spPr>
          <a:xfrm>
            <a:off x="2587752" y="5303520"/>
            <a:ext cx="1627632" cy="868680"/>
          </a:xfrm>
          <a:prstGeom prst="rect">
            <a:avLst/>
          </a:prstGeom>
          <a:noFill/>
        </p:spPr>
        <p:txBody>
          <a:bodyPr wrap="square">
            <a:spAutoFit/>
          </a:bodyPr>
          <a:lstStyle/>
          <a:p>
            <a:pPr algn="ctr">
              <a:lnSpc>
                <a:spcPts val="1100"/>
              </a:lnSpc>
            </a:pPr>
            <a:r>
              <a:rPr sz="950" b="0" i="0">
                <a:solidFill>
                  <a:srgbClr val="3F5563"/>
                </a:solidFill>
                <a:latin typeface="Expert Sans"/>
              </a:rPr>
              <a:t>Price
move</a:t>
            </a:r>
          </a:p>
        </p:txBody>
      </p:sp>
      <p:sp>
        <p:nvSpPr>
          <p:cNvPr id="11" name="Rectangle 10"/>
          <p:cNvSpPr/>
          <p:nvPr/>
        </p:nvSpPr>
        <p:spPr>
          <a:xfrm>
            <a:off x="4526280" y="2093975"/>
            <a:ext cx="1481328" cy="65379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783079"/>
            <a:ext cx="1481328" cy="274320"/>
          </a:xfrm>
          <a:prstGeom prst="rect">
            <a:avLst/>
          </a:prstGeom>
          <a:noFill/>
        </p:spPr>
        <p:txBody>
          <a:bodyPr wrap="square">
            <a:spAutoFit/>
          </a:bodyPr>
          <a:lstStyle/>
          <a:p>
            <a:pPr algn="ctr"/>
            <a:r>
              <a:rPr sz="1150" b="1" i="0">
                <a:solidFill>
                  <a:srgbClr val="00395D"/>
                </a:solidFill>
                <a:latin typeface="Expert Sans"/>
              </a:rPr>
              <a:t>+1.3</a:t>
            </a:r>
          </a:p>
        </p:txBody>
      </p:sp>
      <p:sp>
        <p:nvSpPr>
          <p:cNvPr id="13" name="TextBox 12"/>
          <p:cNvSpPr txBox="1"/>
          <p:nvPr/>
        </p:nvSpPr>
        <p:spPr>
          <a:xfrm>
            <a:off x="4453128" y="5303520"/>
            <a:ext cx="1627632" cy="868680"/>
          </a:xfrm>
          <a:prstGeom prst="rect">
            <a:avLst/>
          </a:prstGeom>
          <a:noFill/>
        </p:spPr>
        <p:txBody>
          <a:bodyPr wrap="square">
            <a:spAutoFit/>
          </a:bodyPr>
          <a:lstStyle/>
          <a:p>
            <a:pPr algn="ctr">
              <a:lnSpc>
                <a:spcPts val="1100"/>
              </a:lnSpc>
            </a:pPr>
            <a:r>
              <a:rPr sz="950" b="0" i="0">
                <a:solidFill>
                  <a:srgbClr val="3F5563"/>
                </a:solidFill>
                <a:latin typeface="Expert Sans"/>
              </a:rPr>
              <a:t>Switch
incentive
uptake</a:t>
            </a:r>
          </a:p>
        </p:txBody>
      </p:sp>
      <p:sp>
        <p:nvSpPr>
          <p:cNvPr id="14" name="Rectangle 13"/>
          <p:cNvSpPr/>
          <p:nvPr/>
        </p:nvSpPr>
        <p:spPr>
          <a:xfrm>
            <a:off x="6391656" y="2093975"/>
            <a:ext cx="1481328" cy="352044"/>
          </a:xfrm>
          <a:prstGeom prst="rect">
            <a:avLst/>
          </a:prstGeom>
          <a:solidFill>
            <a:srgbClr val="BFB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1656" y="1783079"/>
            <a:ext cx="1481328" cy="274320"/>
          </a:xfrm>
          <a:prstGeom prst="rect">
            <a:avLst/>
          </a:prstGeom>
          <a:noFill/>
        </p:spPr>
        <p:txBody>
          <a:bodyPr wrap="square">
            <a:spAutoFit/>
          </a:bodyPr>
          <a:lstStyle/>
          <a:p>
            <a:pPr algn="ctr"/>
            <a:r>
              <a:rPr sz="1150" b="1" i="0">
                <a:solidFill>
                  <a:srgbClr val="00395D"/>
                </a:solidFill>
                <a:latin typeface="Expert Sans"/>
              </a:rPr>
              <a:t>-0.7</a:t>
            </a:r>
          </a:p>
        </p:txBody>
      </p:sp>
      <p:sp>
        <p:nvSpPr>
          <p:cNvPr id="16" name="TextBox 15"/>
          <p:cNvSpPr txBox="1"/>
          <p:nvPr/>
        </p:nvSpPr>
        <p:spPr>
          <a:xfrm>
            <a:off x="6318504" y="5303520"/>
            <a:ext cx="1627632" cy="868680"/>
          </a:xfrm>
          <a:prstGeom prst="rect">
            <a:avLst/>
          </a:prstGeom>
          <a:noFill/>
        </p:spPr>
        <p:txBody>
          <a:bodyPr wrap="square">
            <a:spAutoFit/>
          </a:bodyPr>
          <a:lstStyle/>
          <a:p>
            <a:pPr algn="ctr">
              <a:lnSpc>
                <a:spcPts val="1100"/>
              </a:lnSpc>
            </a:pPr>
            <a:r>
              <a:rPr sz="950" b="0" i="0">
                <a:solidFill>
                  <a:srgbClr val="3F5563"/>
                </a:solidFill>
                <a:latin typeface="Expert Sans"/>
              </a:rPr>
              <a:t>Incentive
cost</a:t>
            </a:r>
          </a:p>
        </p:txBody>
      </p:sp>
      <p:sp>
        <p:nvSpPr>
          <p:cNvPr id="17" name="Rectangle 16"/>
          <p:cNvSpPr/>
          <p:nvPr/>
        </p:nvSpPr>
        <p:spPr>
          <a:xfrm>
            <a:off x="8257032" y="2043684"/>
            <a:ext cx="1481328" cy="40233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1732787"/>
            <a:ext cx="1481328" cy="274320"/>
          </a:xfrm>
          <a:prstGeom prst="rect">
            <a:avLst/>
          </a:prstGeom>
          <a:noFill/>
        </p:spPr>
        <p:txBody>
          <a:bodyPr wrap="square">
            <a:spAutoFit/>
          </a:bodyPr>
          <a:lstStyle/>
          <a:p>
            <a:pPr algn="ctr"/>
            <a:r>
              <a:rPr sz="1150" b="1" i="0">
                <a:solidFill>
                  <a:srgbClr val="00395D"/>
                </a:solidFill>
                <a:latin typeface="Expert Sans"/>
              </a:rPr>
              <a:t>+0.8</a:t>
            </a:r>
          </a:p>
        </p:txBody>
      </p:sp>
      <p:sp>
        <p:nvSpPr>
          <p:cNvPr id="19" name="TextBox 18"/>
          <p:cNvSpPr txBox="1"/>
          <p:nvPr/>
        </p:nvSpPr>
        <p:spPr>
          <a:xfrm>
            <a:off x="8183880" y="5303520"/>
            <a:ext cx="1627632" cy="868680"/>
          </a:xfrm>
          <a:prstGeom prst="rect">
            <a:avLst/>
          </a:prstGeom>
          <a:noFill/>
        </p:spPr>
        <p:txBody>
          <a:bodyPr wrap="square">
            <a:spAutoFit/>
          </a:bodyPr>
          <a:lstStyle/>
          <a:p>
            <a:pPr algn="ctr">
              <a:lnSpc>
                <a:spcPts val="1100"/>
              </a:lnSpc>
            </a:pPr>
            <a:r>
              <a:rPr sz="950" b="0" i="0">
                <a:solidFill>
                  <a:srgbClr val="3F5563"/>
                </a:solidFill>
                <a:latin typeface="Expert Sans"/>
              </a:rPr>
              <a:t>'Trade Ready'
recall
uplift</a:t>
            </a:r>
          </a:p>
        </p:txBody>
      </p:sp>
      <p:sp>
        <p:nvSpPr>
          <p:cNvPr id="20" name="Rectangle 19"/>
          <p:cNvSpPr/>
          <p:nvPr/>
        </p:nvSpPr>
        <p:spPr>
          <a:xfrm>
            <a:off x="10122408" y="2043684"/>
            <a:ext cx="1481328" cy="3168396"/>
          </a:xfrm>
          <a:prstGeom prst="rect">
            <a:avLst/>
          </a:prstGeom>
          <a:solidFill>
            <a:srgbClr val="003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22408" y="1732787"/>
            <a:ext cx="1481328" cy="274320"/>
          </a:xfrm>
          <a:prstGeom prst="rect">
            <a:avLst/>
          </a:prstGeom>
          <a:noFill/>
        </p:spPr>
        <p:txBody>
          <a:bodyPr wrap="square">
            <a:spAutoFit/>
          </a:bodyPr>
          <a:lstStyle/>
          <a:p>
            <a:pPr algn="ctr"/>
            <a:r>
              <a:rPr sz="1150" b="1" i="0">
                <a:solidFill>
                  <a:srgbClr val="00395D"/>
                </a:solidFill>
                <a:latin typeface="Expert Sans"/>
              </a:rPr>
              <a:t>6.3</a:t>
            </a:r>
          </a:p>
        </p:txBody>
      </p:sp>
      <p:sp>
        <p:nvSpPr>
          <p:cNvPr id="22" name="TextBox 21"/>
          <p:cNvSpPr txBox="1"/>
          <p:nvPr/>
        </p:nvSpPr>
        <p:spPr>
          <a:xfrm>
            <a:off x="10049256" y="5303520"/>
            <a:ext cx="1627632" cy="868680"/>
          </a:xfrm>
          <a:prstGeom prst="rect">
            <a:avLst/>
          </a:prstGeom>
          <a:noFill/>
        </p:spPr>
        <p:txBody>
          <a:bodyPr wrap="square">
            <a:spAutoFit/>
          </a:bodyPr>
          <a:lstStyle/>
          <a:p>
            <a:pPr algn="ctr">
              <a:lnSpc>
                <a:spcPts val="1100"/>
              </a:lnSpc>
            </a:pPr>
            <a:r>
              <a:rPr sz="950" b="0" i="0">
                <a:solidFill>
                  <a:srgbClr val="3F5563"/>
                </a:solidFill>
                <a:latin typeface="Expert Sans"/>
              </a:rPr>
              <a:t>Configured
case</a:t>
            </a:r>
          </a:p>
        </p:txBody>
      </p:sp>
      <p:sp>
        <p:nvSpPr>
          <p:cNvPr id="23" name="TextBox 22"/>
          <p:cNvSpPr txBox="1"/>
          <p:nvPr/>
        </p:nvSpPr>
        <p:spPr>
          <a:xfrm>
            <a:off x="566928" y="5760720"/>
            <a:ext cx="11057839" cy="384048"/>
          </a:xfrm>
          <a:prstGeom prst="rect">
            <a:avLst/>
          </a:prstGeom>
          <a:noFill/>
        </p:spPr>
        <p:txBody>
          <a:bodyPr wrap="square">
            <a:spAutoFit/>
          </a:bodyPr>
          <a:lstStyle/>
          <a:p>
            <a:pPr algn="l"/>
            <a:r>
              <a:rPr sz="1200" b="0" i="1">
                <a:solidFill>
                  <a:srgbClr val="6E7F8D"/>
                </a:solidFill>
                <a:latin typeface="Expert Sans"/>
              </a:rPr>
              <a:t>The switch incentive does most of the lever work and costs half of it back. The wrapper's recall uplift is the smallest add — and the only one that also serves every future feature.</a:t>
            </a:r>
          </a:p>
        </p:txBody>
      </p:sp>
      <p:sp>
        <p:nvSpPr>
          <p:cNvPr id="24" name="TextBox 23"/>
          <p:cNvSpPr txBox="1"/>
          <p:nvPr/>
        </p:nvSpPr>
        <p:spPr>
          <a:xfrm>
            <a:off x="566928" y="6291072"/>
            <a:ext cx="11057839" cy="274320"/>
          </a:xfrm>
          <a:prstGeom prst="rect">
            <a:avLst/>
          </a:prstGeom>
          <a:noFill/>
        </p:spPr>
        <p:txBody>
          <a:bodyPr wrap="square">
            <a:spAutoFit/>
          </a:bodyPr>
          <a:lstStyle/>
          <a:p>
            <a:pPr algn="l"/>
            <a:r>
              <a:rPr sz="900" b="0" i="0">
                <a:solidFill>
                  <a:srgbClr val="6E7F8D"/>
                </a:solidFill>
                <a:latin typeface="Expert Sans"/>
              </a:rPr>
              <a:t>Source: pricing model v3. Incentive cost is gross, before clawback terms.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RETURN SORTS  ·  02</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Incentives are spent only where a free default cannot work</a:t>
            </a:r>
          </a:p>
        </p:txBody>
      </p:sp>
      <p:sp>
        <p:nvSpPr>
          <p:cNvPr id="4" name="Rounded Rectangle 3"/>
          <p:cNvSpPr/>
          <p:nvPr/>
        </p:nvSpPr>
        <p:spPr>
          <a:xfrm>
            <a:off x="566928" y="1600200"/>
            <a:ext cx="11057839" cy="117043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929384"/>
            <a:ext cx="4023360" cy="548640"/>
          </a:xfrm>
          <a:prstGeom prst="rect">
            <a:avLst/>
          </a:prstGeom>
          <a:noFill/>
        </p:spPr>
        <p:txBody>
          <a:bodyPr wrap="square">
            <a:spAutoFit/>
          </a:bodyPr>
          <a:lstStyle/>
          <a:p>
            <a:pPr algn="l">
              <a:lnSpc>
                <a:spcPts val="1800"/>
              </a:lnSpc>
            </a:pPr>
            <a:r>
              <a:rPr sz="1400" b="1" i="0">
                <a:solidFill>
                  <a:srgbClr val="00395D"/>
                </a:solidFill>
                <a:latin typeface="Expert Sans"/>
              </a:rPr>
              <a:t>Defaults beat persuasion</a:t>
            </a:r>
          </a:p>
        </p:txBody>
      </p:sp>
      <p:sp>
        <p:nvSpPr>
          <p:cNvPr id="6" name="TextBox 5"/>
          <p:cNvSpPr txBox="1"/>
          <p:nvPr/>
        </p:nvSpPr>
        <p:spPr>
          <a:xfrm>
            <a:off x="5138928" y="1764792"/>
            <a:ext cx="6028639" cy="868680"/>
          </a:xfrm>
          <a:prstGeom prst="rect">
            <a:avLst/>
          </a:prstGeom>
          <a:noFill/>
        </p:spPr>
        <p:txBody>
          <a:bodyPr wrap="square">
            <a:spAutoFit/>
          </a:bodyPr>
          <a:lstStyle/>
          <a:p>
            <a:pPr algn="l">
              <a:lnSpc>
                <a:spcPts val="1600"/>
              </a:lnSpc>
            </a:pPr>
            <a:r>
              <a:rPr sz="1200" b="0" i="0">
                <a:solidFill>
                  <a:srgbClr val="3F5563"/>
                </a:solidFill>
                <a:latin typeface="Expert Sans"/>
              </a:rPr>
              <a:t>FX is switched on for every exporting customer at onboarding — no incentive. Regulator trials and our own tests show pre-set options beat paid persuasion.</a:t>
            </a:r>
          </a:p>
        </p:txBody>
      </p:sp>
      <p:sp>
        <p:nvSpPr>
          <p:cNvPr id="7" name="Rounded Rectangle 6"/>
          <p:cNvSpPr/>
          <p:nvPr/>
        </p:nvSpPr>
        <p:spPr>
          <a:xfrm>
            <a:off x="566928" y="2935224"/>
            <a:ext cx="11057839" cy="117043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3264408"/>
            <a:ext cx="4023360" cy="548640"/>
          </a:xfrm>
          <a:prstGeom prst="rect">
            <a:avLst/>
          </a:prstGeom>
          <a:noFill/>
        </p:spPr>
        <p:txBody>
          <a:bodyPr wrap="square">
            <a:spAutoFit/>
          </a:bodyPr>
          <a:lstStyle/>
          <a:p>
            <a:pPr algn="l">
              <a:lnSpc>
                <a:spcPts val="1800"/>
              </a:lnSpc>
            </a:pPr>
            <a:r>
              <a:rPr sz="1400" b="1" i="0">
                <a:solidFill>
                  <a:srgbClr val="00395D"/>
                </a:solidFill>
                <a:latin typeface="Expert Sans"/>
              </a:rPr>
              <a:t>Incentives buy selection, not behaviour</a:t>
            </a:r>
          </a:p>
        </p:txBody>
      </p:sp>
      <p:sp>
        <p:nvSpPr>
          <p:cNvPr id="9" name="TextBox 8"/>
          <p:cNvSpPr txBox="1"/>
          <p:nvPr/>
        </p:nvSpPr>
        <p:spPr>
          <a:xfrm>
            <a:off x="5138928" y="3099816"/>
            <a:ext cx="6028639" cy="868680"/>
          </a:xfrm>
          <a:prstGeom prst="rect">
            <a:avLst/>
          </a:prstGeom>
          <a:noFill/>
        </p:spPr>
        <p:txBody>
          <a:bodyPr wrap="square">
            <a:spAutoFit/>
          </a:bodyPr>
          <a:lstStyle/>
          <a:p>
            <a:pPr algn="l">
              <a:lnSpc>
                <a:spcPts val="1600"/>
              </a:lnSpc>
            </a:pPr>
            <a:r>
              <a:rPr sz="1200" b="0" i="0">
                <a:solidFill>
                  <a:srgbClr val="3F5563"/>
                </a:solidFill>
                <a:latin typeface="Expert Sans"/>
              </a:rPr>
              <a:t>Around a third of incentive redeemers would have acted anyway — the dead-weight share, estimated from our last two campaigns. It is priced into the −0.7.</a:t>
            </a:r>
          </a:p>
        </p:txBody>
      </p:sp>
      <p:sp>
        <p:nvSpPr>
          <p:cNvPr id="10" name="Rounded Rectangle 9"/>
          <p:cNvSpPr/>
          <p:nvPr/>
        </p:nvSpPr>
        <p:spPr>
          <a:xfrm>
            <a:off x="566928" y="4270248"/>
            <a:ext cx="11057839" cy="117043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599432"/>
            <a:ext cx="4023360" cy="548640"/>
          </a:xfrm>
          <a:prstGeom prst="rect">
            <a:avLst/>
          </a:prstGeom>
          <a:noFill/>
        </p:spPr>
        <p:txBody>
          <a:bodyPr wrap="square">
            <a:spAutoFit/>
          </a:bodyPr>
          <a:lstStyle/>
          <a:p>
            <a:pPr algn="l">
              <a:lnSpc>
                <a:spcPts val="1800"/>
              </a:lnSpc>
            </a:pPr>
            <a:r>
              <a:rPr sz="1400" b="1" i="0">
                <a:solidFill>
                  <a:srgbClr val="00395D"/>
                </a:solidFill>
                <a:latin typeface="Expert Sans"/>
              </a:rPr>
              <a:t>Where incentives DO pay</a:t>
            </a:r>
          </a:p>
        </p:txBody>
      </p:sp>
      <p:sp>
        <p:nvSpPr>
          <p:cNvPr id="12" name="TextBox 11"/>
          <p:cNvSpPr txBox="1"/>
          <p:nvPr/>
        </p:nvSpPr>
        <p:spPr>
          <a:xfrm>
            <a:off x="5138928" y="4434840"/>
            <a:ext cx="6028639" cy="868680"/>
          </a:xfrm>
          <a:prstGeom prst="rect">
            <a:avLst/>
          </a:prstGeom>
          <a:noFill/>
        </p:spPr>
        <p:txBody>
          <a:bodyPr wrap="square">
            <a:spAutoFit/>
          </a:bodyPr>
          <a:lstStyle/>
          <a:p>
            <a:pPr algn="l">
              <a:lnSpc>
                <a:spcPts val="1600"/>
              </a:lnSpc>
            </a:pPr>
            <a:r>
              <a:rPr sz="1200" b="0" i="0">
                <a:solidFill>
                  <a:srgbClr val="3F5563"/>
                </a:solidFill>
                <a:latin typeface="Expert Sans"/>
              </a:rPr>
              <a:t>The switching moment. Invoice finance targets exporters leaving a factoring provider — a real cost to move, a one-off payment to cover it, capped and clawed back.</a:t>
            </a:r>
          </a:p>
        </p:txBody>
      </p:sp>
      <p:sp>
        <p:nvSpPr>
          <p:cNvPr id="13" name="TextBox 12"/>
          <p:cNvSpPr txBox="1"/>
          <p:nvPr/>
        </p:nvSpPr>
        <p:spPr>
          <a:xfrm>
            <a:off x="566928" y="5696712"/>
            <a:ext cx="11057839" cy="502920"/>
          </a:xfrm>
          <a:prstGeom prst="rect">
            <a:avLst/>
          </a:prstGeom>
          <a:noFill/>
        </p:spPr>
        <p:txBody>
          <a:bodyPr wrap="square">
            <a:spAutoFit/>
          </a:bodyPr>
          <a:lstStyle/>
          <a:p>
            <a:pPr algn="l"/>
            <a:r>
              <a:rPr sz="1250" b="0" i="1">
                <a:solidFill>
                  <a:srgbClr val="6E7F8D"/>
                </a:solidFill>
                <a:latin typeface="Expert Sans"/>
              </a:rPr>
              <a:t>The test for every pound of incentive: would the behaviour happen anyway, and could a default do it free? Spend survives only if the answer is no, twice.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RETURN SORTS  ·  02</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600"/>
              </a:lnSpc>
            </a:pPr>
            <a:r>
              <a:rPr sz="2100" b="0" i="0">
                <a:solidFill>
                  <a:srgbClr val="00AEEF"/>
                </a:solidFill>
                <a:latin typeface="Expert Sans"/>
              </a:rPr>
              <a:t>Returns are discounted for each route's timing — the partner route is what puts invoice finance second</a:t>
            </a:r>
          </a:p>
        </p:txBody>
      </p:sp>
      <p:sp>
        <p:nvSpPr>
          <p:cNvPr id="4" name="TextBox 3"/>
          <p:cNvSpPr txBox="1"/>
          <p:nvPr/>
        </p:nvSpPr>
        <p:spPr>
          <a:xfrm>
            <a:off x="566928" y="1874519"/>
            <a:ext cx="2011680" cy="365760"/>
          </a:xfrm>
          <a:prstGeom prst="rect">
            <a:avLst/>
          </a:prstGeom>
          <a:noFill/>
        </p:spPr>
        <p:txBody>
          <a:bodyPr wrap="square">
            <a:spAutoFit/>
          </a:bodyPr>
          <a:lstStyle/>
          <a:p>
            <a:pPr algn="l"/>
            <a:r>
              <a:rPr sz="1050" b="1" i="0">
                <a:solidFill>
                  <a:srgbClr val="00395D"/>
                </a:solidFill>
                <a:latin typeface="Expert Sans"/>
              </a:rPr>
              <a:t>Feature · route</a:t>
            </a:r>
          </a:p>
        </p:txBody>
      </p:sp>
      <p:sp>
        <p:nvSpPr>
          <p:cNvPr id="5" name="TextBox 4"/>
          <p:cNvSpPr txBox="1"/>
          <p:nvPr/>
        </p:nvSpPr>
        <p:spPr>
          <a:xfrm>
            <a:off x="3858768" y="1874519"/>
            <a:ext cx="2011680" cy="365760"/>
          </a:xfrm>
          <a:prstGeom prst="rect">
            <a:avLst/>
          </a:prstGeom>
          <a:noFill/>
        </p:spPr>
        <p:txBody>
          <a:bodyPr wrap="square">
            <a:spAutoFit/>
          </a:bodyPr>
          <a:lstStyle/>
          <a:p>
            <a:pPr algn="l"/>
            <a:r>
              <a:rPr sz="1050" b="1" i="0">
                <a:solidFill>
                  <a:srgbClr val="00395D"/>
                </a:solidFill>
                <a:latin typeface="Expert Sans"/>
              </a:rPr>
              <a:t>Configured NPV</a:t>
            </a:r>
          </a:p>
        </p:txBody>
      </p:sp>
      <p:sp>
        <p:nvSpPr>
          <p:cNvPr id="6" name="TextBox 5"/>
          <p:cNvSpPr txBox="1"/>
          <p:nvPr/>
        </p:nvSpPr>
        <p:spPr>
          <a:xfrm>
            <a:off x="5961888" y="1874519"/>
            <a:ext cx="2011680" cy="365760"/>
          </a:xfrm>
          <a:prstGeom prst="rect">
            <a:avLst/>
          </a:prstGeom>
          <a:noFill/>
        </p:spPr>
        <p:txBody>
          <a:bodyPr wrap="square">
            <a:spAutoFit/>
          </a:bodyPr>
          <a:lstStyle/>
          <a:p>
            <a:pPr algn="l"/>
            <a:r>
              <a:rPr sz="1050" b="1" i="0">
                <a:solidFill>
                  <a:srgbClr val="00395D"/>
                </a:solidFill>
                <a:latin typeface="Expert Sans"/>
              </a:rPr>
              <a:t>Time to launch</a:t>
            </a:r>
          </a:p>
        </p:txBody>
      </p:sp>
      <p:sp>
        <p:nvSpPr>
          <p:cNvPr id="7" name="TextBox 6"/>
          <p:cNvSpPr txBox="1"/>
          <p:nvPr/>
        </p:nvSpPr>
        <p:spPr>
          <a:xfrm>
            <a:off x="7607808" y="1874519"/>
            <a:ext cx="2011680" cy="365760"/>
          </a:xfrm>
          <a:prstGeom prst="rect">
            <a:avLst/>
          </a:prstGeom>
          <a:noFill/>
        </p:spPr>
        <p:txBody>
          <a:bodyPr wrap="square">
            <a:spAutoFit/>
          </a:bodyPr>
          <a:lstStyle/>
          <a:p>
            <a:pPr algn="l"/>
            <a:r>
              <a:rPr sz="1050" b="1" i="0">
                <a:solidFill>
                  <a:srgbClr val="00395D"/>
                </a:solidFill>
                <a:latin typeface="Expert Sans"/>
              </a:rPr>
              <a:t>Confidence</a:t>
            </a:r>
          </a:p>
        </p:txBody>
      </p:sp>
      <p:sp>
        <p:nvSpPr>
          <p:cNvPr id="8" name="TextBox 7"/>
          <p:cNvSpPr txBox="1"/>
          <p:nvPr/>
        </p:nvSpPr>
        <p:spPr>
          <a:xfrm>
            <a:off x="9070848" y="1874519"/>
            <a:ext cx="2011680" cy="365760"/>
          </a:xfrm>
          <a:prstGeom prst="rect">
            <a:avLst/>
          </a:prstGeom>
          <a:noFill/>
        </p:spPr>
        <p:txBody>
          <a:bodyPr wrap="square">
            <a:spAutoFit/>
          </a:bodyPr>
          <a:lstStyle/>
          <a:p>
            <a:pPr algn="l"/>
            <a:r>
              <a:rPr sz="1050" b="1" i="0">
                <a:solidFill>
                  <a:srgbClr val="00395D"/>
                </a:solidFill>
                <a:latin typeface="Expert Sans"/>
              </a:rPr>
              <a:t>Risk-adjusted NPV</a:t>
            </a:r>
          </a:p>
        </p:txBody>
      </p:sp>
      <p:sp>
        <p:nvSpPr>
          <p:cNvPr id="9" name="TextBox 8"/>
          <p:cNvSpPr txBox="1"/>
          <p:nvPr/>
        </p:nvSpPr>
        <p:spPr>
          <a:xfrm>
            <a:off x="11173967" y="1874519"/>
            <a:ext cx="2011680" cy="365760"/>
          </a:xfrm>
          <a:prstGeom prst="rect">
            <a:avLst/>
          </a:prstGeom>
          <a:noFill/>
        </p:spPr>
        <p:txBody>
          <a:bodyPr wrap="square">
            <a:spAutoFit/>
          </a:bodyPr>
          <a:lstStyle/>
          <a:p>
            <a:pPr algn="l"/>
            <a:r>
              <a:rPr sz="1050" b="1" i="0">
                <a:solidFill>
                  <a:srgbClr val="00395D"/>
                </a:solidFill>
                <a:latin typeface="Expert Sans"/>
              </a:rPr>
              <a:t>Vs hurdle</a:t>
            </a:r>
          </a:p>
        </p:txBody>
      </p:sp>
      <p:cxnSp>
        <p:nvCxnSpPr>
          <p:cNvPr id="10" name="Connector 9"/>
          <p:cNvCxnSpPr/>
          <p:nvPr/>
        </p:nvCxnSpPr>
        <p:spPr>
          <a:xfrm>
            <a:off x="566928" y="2295144"/>
            <a:ext cx="11057839" cy="0"/>
          </a:xfrm>
          <a:prstGeom prst="line">
            <a:avLst/>
          </a:prstGeom>
          <a:ln>
            <a:solidFill>
              <a:srgbClr val="00395D"/>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66928" y="2377440"/>
            <a:ext cx="11057839" cy="64008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459736"/>
            <a:ext cx="3108960" cy="502920"/>
          </a:xfrm>
          <a:prstGeom prst="rect">
            <a:avLst/>
          </a:prstGeom>
          <a:noFill/>
        </p:spPr>
        <p:txBody>
          <a:bodyPr wrap="square">
            <a:spAutoFit/>
          </a:bodyPr>
          <a:lstStyle/>
          <a:p>
            <a:pPr algn="l"/>
            <a:r>
              <a:rPr sz="1250" b="1" i="0">
                <a:solidFill>
                  <a:srgbClr val="00395D"/>
                </a:solidFill>
                <a:latin typeface="Expert Sans"/>
              </a:rPr>
              <a:t>FX — build</a:t>
            </a:r>
          </a:p>
        </p:txBody>
      </p:sp>
      <p:sp>
        <p:nvSpPr>
          <p:cNvPr id="13" name="TextBox 12"/>
          <p:cNvSpPr txBox="1"/>
          <p:nvPr/>
        </p:nvSpPr>
        <p:spPr>
          <a:xfrm>
            <a:off x="3858768" y="2468879"/>
            <a:ext cx="1920240" cy="457200"/>
          </a:xfrm>
          <a:prstGeom prst="rect">
            <a:avLst/>
          </a:prstGeom>
          <a:noFill/>
        </p:spPr>
        <p:txBody>
          <a:bodyPr wrap="square">
            <a:spAutoFit/>
          </a:bodyPr>
          <a:lstStyle/>
          <a:p>
            <a:pPr algn="l"/>
            <a:r>
              <a:rPr sz="1250" b="0" i="0">
                <a:solidFill>
                  <a:srgbClr val="3F5563"/>
                </a:solidFill>
                <a:latin typeface="Expert Sans"/>
              </a:rPr>
              <a:t>£2.4m</a:t>
            </a:r>
          </a:p>
        </p:txBody>
      </p:sp>
      <p:sp>
        <p:nvSpPr>
          <p:cNvPr id="14" name="TextBox 13"/>
          <p:cNvSpPr txBox="1"/>
          <p:nvPr/>
        </p:nvSpPr>
        <p:spPr>
          <a:xfrm>
            <a:off x="5961888" y="2468879"/>
            <a:ext cx="1554480" cy="457200"/>
          </a:xfrm>
          <a:prstGeom prst="rect">
            <a:avLst/>
          </a:prstGeom>
          <a:noFill/>
        </p:spPr>
        <p:txBody>
          <a:bodyPr wrap="square">
            <a:spAutoFit/>
          </a:bodyPr>
          <a:lstStyle/>
          <a:p>
            <a:pPr algn="l"/>
            <a:r>
              <a:rPr sz="1250" b="0" i="0">
                <a:solidFill>
                  <a:srgbClr val="3F5563"/>
                </a:solidFill>
                <a:latin typeface="Expert Sans"/>
              </a:rPr>
              <a:t>9 mths ±1</a:t>
            </a:r>
          </a:p>
        </p:txBody>
      </p:sp>
      <p:sp>
        <p:nvSpPr>
          <p:cNvPr id="15" name="Rounded Rectangle 14"/>
          <p:cNvSpPr/>
          <p:nvPr/>
        </p:nvSpPr>
        <p:spPr>
          <a:xfrm>
            <a:off x="7607808" y="2560320"/>
            <a:ext cx="841248" cy="274320"/>
          </a:xfrm>
          <a:prstGeom prst="roundRect">
            <a:avLst>
              <a:gd name="adj" fmla="val 50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FFFFFF"/>
                </a:solidFill>
                <a:latin typeface="Expert Sans"/>
              </a:rPr>
              <a:t>HIGH</a:t>
            </a:r>
          </a:p>
        </p:txBody>
      </p:sp>
      <p:sp>
        <p:nvSpPr>
          <p:cNvPr id="16" name="TextBox 15"/>
          <p:cNvSpPr txBox="1"/>
          <p:nvPr/>
        </p:nvSpPr>
        <p:spPr>
          <a:xfrm>
            <a:off x="9070848" y="2468879"/>
            <a:ext cx="1920240" cy="457200"/>
          </a:xfrm>
          <a:prstGeom prst="rect">
            <a:avLst/>
          </a:prstGeom>
          <a:noFill/>
        </p:spPr>
        <p:txBody>
          <a:bodyPr wrap="square">
            <a:spAutoFit/>
          </a:bodyPr>
          <a:lstStyle/>
          <a:p>
            <a:pPr algn="l"/>
            <a:r>
              <a:rPr sz="1250" b="1" i="0">
                <a:solidFill>
                  <a:srgbClr val="00395D"/>
                </a:solidFill>
                <a:latin typeface="Expert Sans"/>
              </a:rPr>
              <a:t>£2.1m</a:t>
            </a:r>
          </a:p>
        </p:txBody>
      </p:sp>
      <p:sp>
        <p:nvSpPr>
          <p:cNvPr id="17" name="Rounded Rectangle 16"/>
          <p:cNvSpPr/>
          <p:nvPr/>
        </p:nvSpPr>
        <p:spPr>
          <a:xfrm>
            <a:off x="11173967" y="2560320"/>
            <a:ext cx="841248" cy="274320"/>
          </a:xfrm>
          <a:prstGeom prst="roundRect">
            <a:avLst>
              <a:gd name="adj" fmla="val 50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FFFFFF"/>
                </a:solidFill>
                <a:latin typeface="Expert Sans"/>
              </a:rPr>
              <a:t>PASS</a:t>
            </a:r>
          </a:p>
        </p:txBody>
      </p:sp>
      <p:sp>
        <p:nvSpPr>
          <p:cNvPr id="18" name="TextBox 17"/>
          <p:cNvSpPr txBox="1"/>
          <p:nvPr/>
        </p:nvSpPr>
        <p:spPr>
          <a:xfrm>
            <a:off x="566928" y="3136391"/>
            <a:ext cx="3108960" cy="502920"/>
          </a:xfrm>
          <a:prstGeom prst="rect">
            <a:avLst/>
          </a:prstGeom>
          <a:noFill/>
        </p:spPr>
        <p:txBody>
          <a:bodyPr wrap="square">
            <a:spAutoFit/>
          </a:bodyPr>
          <a:lstStyle/>
          <a:p>
            <a:pPr algn="l"/>
            <a:r>
              <a:rPr sz="1250" b="1" i="0">
                <a:solidFill>
                  <a:srgbClr val="00395D"/>
                </a:solidFill>
                <a:latin typeface="Expert Sans"/>
              </a:rPr>
              <a:t>Invoice finance — partner</a:t>
            </a:r>
          </a:p>
        </p:txBody>
      </p:sp>
      <p:sp>
        <p:nvSpPr>
          <p:cNvPr id="19" name="TextBox 18"/>
          <p:cNvSpPr txBox="1"/>
          <p:nvPr/>
        </p:nvSpPr>
        <p:spPr>
          <a:xfrm>
            <a:off x="3858768" y="3145535"/>
            <a:ext cx="1920240" cy="457200"/>
          </a:xfrm>
          <a:prstGeom prst="rect">
            <a:avLst/>
          </a:prstGeom>
          <a:noFill/>
        </p:spPr>
        <p:txBody>
          <a:bodyPr wrap="square">
            <a:spAutoFit/>
          </a:bodyPr>
          <a:lstStyle/>
          <a:p>
            <a:pPr algn="l"/>
            <a:r>
              <a:rPr sz="1250" b="0" i="0">
                <a:solidFill>
                  <a:srgbClr val="3F5563"/>
                </a:solidFill>
                <a:latin typeface="Expert Sans"/>
              </a:rPr>
              <a:t>£1.9m</a:t>
            </a:r>
          </a:p>
        </p:txBody>
      </p:sp>
      <p:sp>
        <p:nvSpPr>
          <p:cNvPr id="20" name="TextBox 19"/>
          <p:cNvSpPr txBox="1"/>
          <p:nvPr/>
        </p:nvSpPr>
        <p:spPr>
          <a:xfrm>
            <a:off x="5961888" y="3145535"/>
            <a:ext cx="1554480" cy="457200"/>
          </a:xfrm>
          <a:prstGeom prst="rect">
            <a:avLst/>
          </a:prstGeom>
          <a:noFill/>
        </p:spPr>
        <p:txBody>
          <a:bodyPr wrap="square">
            <a:spAutoFit/>
          </a:bodyPr>
          <a:lstStyle/>
          <a:p>
            <a:pPr algn="l"/>
            <a:r>
              <a:rPr sz="1250" b="0" i="0">
                <a:solidFill>
                  <a:srgbClr val="3F5563"/>
                </a:solidFill>
                <a:latin typeface="Expert Sans"/>
              </a:rPr>
              <a:t>5 mths ±1</a:t>
            </a:r>
          </a:p>
        </p:txBody>
      </p:sp>
      <p:sp>
        <p:nvSpPr>
          <p:cNvPr id="21" name="Rounded Rectangle 20"/>
          <p:cNvSpPr/>
          <p:nvPr/>
        </p:nvSpPr>
        <p:spPr>
          <a:xfrm>
            <a:off x="7607808" y="3236975"/>
            <a:ext cx="841248" cy="274320"/>
          </a:xfrm>
          <a:prstGeom prst="roundRect">
            <a:avLst>
              <a:gd name="adj" fmla="val 50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FFFFFF"/>
                </a:solidFill>
                <a:latin typeface="Expert Sans"/>
              </a:rPr>
              <a:t>HIGH</a:t>
            </a:r>
          </a:p>
        </p:txBody>
      </p:sp>
      <p:sp>
        <p:nvSpPr>
          <p:cNvPr id="22" name="TextBox 21"/>
          <p:cNvSpPr txBox="1"/>
          <p:nvPr/>
        </p:nvSpPr>
        <p:spPr>
          <a:xfrm>
            <a:off x="9070848" y="3145535"/>
            <a:ext cx="1920240" cy="457200"/>
          </a:xfrm>
          <a:prstGeom prst="rect">
            <a:avLst/>
          </a:prstGeom>
          <a:noFill/>
        </p:spPr>
        <p:txBody>
          <a:bodyPr wrap="square">
            <a:spAutoFit/>
          </a:bodyPr>
          <a:lstStyle/>
          <a:p>
            <a:pPr algn="l"/>
            <a:r>
              <a:rPr sz="1250" b="1" i="0">
                <a:solidFill>
                  <a:srgbClr val="00395D"/>
                </a:solidFill>
                <a:latin typeface="Expert Sans"/>
              </a:rPr>
              <a:t>£1.6m</a:t>
            </a:r>
          </a:p>
        </p:txBody>
      </p:sp>
      <p:sp>
        <p:nvSpPr>
          <p:cNvPr id="23" name="Rounded Rectangle 22"/>
          <p:cNvSpPr/>
          <p:nvPr/>
        </p:nvSpPr>
        <p:spPr>
          <a:xfrm>
            <a:off x="11173967" y="3236975"/>
            <a:ext cx="841248" cy="274320"/>
          </a:xfrm>
          <a:prstGeom prst="roundRect">
            <a:avLst>
              <a:gd name="adj" fmla="val 50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FFFFFF"/>
                </a:solidFill>
                <a:latin typeface="Expert Sans"/>
              </a:rPr>
              <a:t>PASS</a:t>
            </a:r>
          </a:p>
        </p:txBody>
      </p:sp>
      <p:sp>
        <p:nvSpPr>
          <p:cNvPr id="24" name="Rectangle 23"/>
          <p:cNvSpPr/>
          <p:nvPr/>
        </p:nvSpPr>
        <p:spPr>
          <a:xfrm>
            <a:off x="566928" y="3730752"/>
            <a:ext cx="11057839" cy="64008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813048"/>
            <a:ext cx="3108960" cy="502920"/>
          </a:xfrm>
          <a:prstGeom prst="rect">
            <a:avLst/>
          </a:prstGeom>
          <a:noFill/>
        </p:spPr>
        <p:txBody>
          <a:bodyPr wrap="square">
            <a:spAutoFit/>
          </a:bodyPr>
          <a:lstStyle/>
          <a:p>
            <a:pPr algn="l"/>
            <a:r>
              <a:rPr sz="1250" b="0" i="0">
                <a:solidFill>
                  <a:srgbClr val="6E7F8D"/>
                </a:solidFill>
                <a:latin typeface="Expert Sans"/>
              </a:rPr>
              <a:t>Invoice finance — if built</a:t>
            </a:r>
          </a:p>
        </p:txBody>
      </p:sp>
      <p:sp>
        <p:nvSpPr>
          <p:cNvPr id="26" name="TextBox 25"/>
          <p:cNvSpPr txBox="1"/>
          <p:nvPr/>
        </p:nvSpPr>
        <p:spPr>
          <a:xfrm>
            <a:off x="3858768" y="3822191"/>
            <a:ext cx="1920240" cy="457200"/>
          </a:xfrm>
          <a:prstGeom prst="rect">
            <a:avLst/>
          </a:prstGeom>
          <a:noFill/>
        </p:spPr>
        <p:txBody>
          <a:bodyPr wrap="square">
            <a:spAutoFit/>
          </a:bodyPr>
          <a:lstStyle/>
          <a:p>
            <a:pPr algn="l"/>
            <a:r>
              <a:rPr sz="1250" b="0" i="0">
                <a:solidFill>
                  <a:srgbClr val="3F5563"/>
                </a:solidFill>
                <a:latin typeface="Expert Sans"/>
              </a:rPr>
              <a:t>£1.9m</a:t>
            </a:r>
          </a:p>
        </p:txBody>
      </p:sp>
      <p:sp>
        <p:nvSpPr>
          <p:cNvPr id="27" name="TextBox 26"/>
          <p:cNvSpPr txBox="1"/>
          <p:nvPr/>
        </p:nvSpPr>
        <p:spPr>
          <a:xfrm>
            <a:off x="5961888" y="3822191"/>
            <a:ext cx="1554480" cy="457200"/>
          </a:xfrm>
          <a:prstGeom prst="rect">
            <a:avLst/>
          </a:prstGeom>
          <a:noFill/>
        </p:spPr>
        <p:txBody>
          <a:bodyPr wrap="square">
            <a:spAutoFit/>
          </a:bodyPr>
          <a:lstStyle/>
          <a:p>
            <a:pPr algn="l"/>
            <a:r>
              <a:rPr sz="1250" b="0" i="0">
                <a:solidFill>
                  <a:srgbClr val="3F5563"/>
                </a:solidFill>
                <a:latin typeface="Expert Sans"/>
              </a:rPr>
              <a:t>18 mths ±4</a:t>
            </a:r>
          </a:p>
        </p:txBody>
      </p:sp>
      <p:sp>
        <p:nvSpPr>
          <p:cNvPr id="28" name="Rounded Rectangle 27"/>
          <p:cNvSpPr/>
          <p:nvPr/>
        </p:nvSpPr>
        <p:spPr>
          <a:xfrm>
            <a:off x="7607808" y="3913632"/>
            <a:ext cx="841248" cy="274320"/>
          </a:xfrm>
          <a:prstGeom prst="roundRect">
            <a:avLst>
              <a:gd name="adj" fmla="val 50000"/>
            </a:avLst>
          </a:prstGeom>
          <a:solidFill>
            <a:srgbClr val="A84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FFFFFF"/>
                </a:solidFill>
                <a:latin typeface="Expert Sans"/>
              </a:rPr>
              <a:t>LOW</a:t>
            </a:r>
          </a:p>
        </p:txBody>
      </p:sp>
      <p:sp>
        <p:nvSpPr>
          <p:cNvPr id="29" name="TextBox 28"/>
          <p:cNvSpPr txBox="1"/>
          <p:nvPr/>
        </p:nvSpPr>
        <p:spPr>
          <a:xfrm>
            <a:off x="9070848" y="3822191"/>
            <a:ext cx="1920240" cy="457200"/>
          </a:xfrm>
          <a:prstGeom prst="rect">
            <a:avLst/>
          </a:prstGeom>
          <a:noFill/>
        </p:spPr>
        <p:txBody>
          <a:bodyPr wrap="square">
            <a:spAutoFit/>
          </a:bodyPr>
          <a:lstStyle/>
          <a:p>
            <a:pPr algn="l"/>
            <a:r>
              <a:rPr sz="1250" b="1" i="0">
                <a:solidFill>
                  <a:srgbClr val="00395D"/>
                </a:solidFill>
                <a:latin typeface="Expert Sans"/>
              </a:rPr>
              <a:t>£0.6m</a:t>
            </a:r>
          </a:p>
        </p:txBody>
      </p:sp>
      <p:sp>
        <p:nvSpPr>
          <p:cNvPr id="30" name="Rounded Rectangle 29"/>
          <p:cNvSpPr/>
          <p:nvPr/>
        </p:nvSpPr>
        <p:spPr>
          <a:xfrm>
            <a:off x="11173967" y="3913632"/>
            <a:ext cx="841248" cy="274320"/>
          </a:xfrm>
          <a:prstGeom prst="roundRect">
            <a:avLst>
              <a:gd name="adj" fmla="val 50000"/>
            </a:avLst>
          </a:prstGeom>
          <a:solidFill>
            <a:srgbClr val="A84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FFFFFF"/>
                </a:solidFill>
                <a:latin typeface="Expert Sans"/>
              </a:rPr>
              <a:t>FAIL</a:t>
            </a:r>
          </a:p>
        </p:txBody>
      </p:sp>
      <p:sp>
        <p:nvSpPr>
          <p:cNvPr id="31" name="Rounded Rectangle 30"/>
          <p:cNvSpPr/>
          <p:nvPr/>
        </p:nvSpPr>
        <p:spPr>
          <a:xfrm>
            <a:off x="566928" y="4599432"/>
            <a:ext cx="11057839" cy="102412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0976" y="4727448"/>
            <a:ext cx="4572000" cy="292608"/>
          </a:xfrm>
          <a:prstGeom prst="rect">
            <a:avLst/>
          </a:prstGeom>
          <a:noFill/>
        </p:spPr>
        <p:txBody>
          <a:bodyPr wrap="square">
            <a:spAutoFit/>
          </a:bodyPr>
          <a:lstStyle/>
          <a:p>
            <a:pPr algn="l"/>
            <a:r>
              <a:rPr sz="1100" b="1" i="0">
                <a:solidFill>
                  <a:srgbClr val="0083C5"/>
                </a:solidFill>
                <a:latin typeface="Expert Sans"/>
              </a:rPr>
              <a:t>Why the third row is on the slide</a:t>
            </a:r>
          </a:p>
        </p:txBody>
      </p:sp>
      <p:sp>
        <p:nvSpPr>
          <p:cNvPr id="33" name="TextBox 32"/>
          <p:cNvSpPr txBox="1"/>
          <p:nvPr/>
        </p:nvSpPr>
        <p:spPr>
          <a:xfrm>
            <a:off x="950976" y="5020056"/>
            <a:ext cx="10143439" cy="502920"/>
          </a:xfrm>
          <a:prstGeom prst="rect">
            <a:avLst/>
          </a:prstGeom>
          <a:noFill/>
        </p:spPr>
        <p:txBody>
          <a:bodyPr wrap="square">
            <a:spAutoFit/>
          </a:bodyPr>
          <a:lstStyle/>
          <a:p>
            <a:pPr algn="l">
              <a:lnSpc>
                <a:spcPts val="1600"/>
              </a:lnSpc>
            </a:pPr>
            <a:r>
              <a:rPr sz="1200" b="0" i="0">
                <a:solidFill>
                  <a:srgbClr val="00395D"/>
                </a:solidFill>
                <a:latin typeface="Expert Sans"/>
              </a:rPr>
              <a:t>Built in-house, invoice finance falls to £0.6m a slot — below insurance, and below the hurdle. The partner route is not a preference: it is what earns the feature its place in this 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RETURN SORTS  ·  02</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The order is re-scored every quarter — here is what can move it</a:t>
            </a:r>
          </a:p>
        </p:txBody>
      </p:sp>
      <p:sp>
        <p:nvSpPr>
          <p:cNvPr id="4" name="Rounded Rectangle 3"/>
          <p:cNvSpPr/>
          <p:nvPr/>
        </p:nvSpPr>
        <p:spPr>
          <a:xfrm>
            <a:off x="566928" y="1572768"/>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792224"/>
            <a:ext cx="2926080" cy="457200"/>
          </a:xfrm>
          <a:prstGeom prst="rect">
            <a:avLst/>
          </a:prstGeom>
          <a:noFill/>
        </p:spPr>
        <p:txBody>
          <a:bodyPr wrap="square">
            <a:spAutoFit/>
          </a:bodyPr>
          <a:lstStyle/>
          <a:p>
            <a:pPr algn="l"/>
            <a:r>
              <a:rPr sz="1300" b="1" i="0">
                <a:solidFill>
                  <a:srgbClr val="00395D"/>
                </a:solidFill>
                <a:latin typeface="Expert Sans"/>
              </a:rPr>
              <a:t>New demand evidence</a:t>
            </a:r>
          </a:p>
        </p:txBody>
      </p:sp>
      <p:sp>
        <p:nvSpPr>
          <p:cNvPr id="6" name="TextBox 5"/>
          <p:cNvSpPr txBox="1"/>
          <p:nvPr/>
        </p:nvSpPr>
        <p:spPr>
          <a:xfrm>
            <a:off x="4133087" y="1682495"/>
            <a:ext cx="4023360" cy="676656"/>
          </a:xfrm>
          <a:prstGeom prst="rect">
            <a:avLst/>
          </a:prstGeom>
          <a:noFill/>
        </p:spPr>
        <p:txBody>
          <a:bodyPr wrap="square">
            <a:spAutoFit/>
          </a:bodyPr>
          <a:lstStyle/>
          <a:p>
            <a:pPr algn="l">
              <a:lnSpc>
                <a:spcPts val="1500"/>
              </a:lnSpc>
            </a:pPr>
            <a:r>
              <a:rPr sz="1150" b="0" i="0">
                <a:solidFill>
                  <a:srgbClr val="3F5563"/>
                </a:solidFill>
                <a:latin typeface="Expert Sans"/>
              </a:rPr>
              <a:t>A prototype test of crypto, or a shift in exporter behaviour</a:t>
            </a:r>
          </a:p>
        </p:txBody>
      </p:sp>
      <p:sp>
        <p:nvSpPr>
          <p:cNvPr id="7" name="TextBox 6"/>
          <p:cNvSpPr txBox="1"/>
          <p:nvPr/>
        </p:nvSpPr>
        <p:spPr>
          <a:xfrm>
            <a:off x="8339327" y="1682495"/>
            <a:ext cx="2828239" cy="676656"/>
          </a:xfrm>
          <a:prstGeom prst="rect">
            <a:avLst/>
          </a:prstGeom>
          <a:noFill/>
        </p:spPr>
        <p:txBody>
          <a:bodyPr wrap="square">
            <a:spAutoFit/>
          </a:bodyPr>
          <a:lstStyle/>
          <a:p>
            <a:pPr algn="l">
              <a:lnSpc>
                <a:spcPts val="1500"/>
              </a:lnSpc>
            </a:pPr>
            <a:r>
              <a:rPr sz="1150" b="0" i="0">
                <a:solidFill>
                  <a:srgbClr val="3F5563"/>
                </a:solidFill>
                <a:latin typeface="Expert Sans"/>
              </a:rPr>
              <a:t>Scores re-run; a feature can enter or leave the backlog</a:t>
            </a:r>
          </a:p>
        </p:txBody>
      </p:sp>
      <p:sp>
        <p:nvSpPr>
          <p:cNvPr id="8" name="Rounded Rectangle 7"/>
          <p:cNvSpPr/>
          <p:nvPr/>
        </p:nvSpPr>
        <p:spPr>
          <a:xfrm>
            <a:off x="566928" y="2596896"/>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816352"/>
            <a:ext cx="2926080" cy="457200"/>
          </a:xfrm>
          <a:prstGeom prst="rect">
            <a:avLst/>
          </a:prstGeom>
          <a:noFill/>
        </p:spPr>
        <p:txBody>
          <a:bodyPr wrap="square">
            <a:spAutoFit/>
          </a:bodyPr>
          <a:lstStyle/>
          <a:p>
            <a:pPr algn="l"/>
            <a:r>
              <a:rPr sz="1300" b="1" i="0">
                <a:solidFill>
                  <a:srgbClr val="00395D"/>
                </a:solidFill>
                <a:latin typeface="Expert Sans"/>
              </a:rPr>
              <a:t>Return assumptions move</a:t>
            </a:r>
          </a:p>
        </p:txBody>
      </p:sp>
      <p:sp>
        <p:nvSpPr>
          <p:cNvPr id="10" name="TextBox 9"/>
          <p:cNvSpPr txBox="1"/>
          <p:nvPr/>
        </p:nvSpPr>
        <p:spPr>
          <a:xfrm>
            <a:off x="4133087" y="2706624"/>
            <a:ext cx="4023360" cy="676656"/>
          </a:xfrm>
          <a:prstGeom prst="rect">
            <a:avLst/>
          </a:prstGeom>
          <a:noFill/>
        </p:spPr>
        <p:txBody>
          <a:bodyPr wrap="square">
            <a:spAutoFit/>
          </a:bodyPr>
          <a:lstStyle/>
          <a:p>
            <a:pPr algn="l">
              <a:lnSpc>
                <a:spcPts val="1500"/>
              </a:lnSpc>
            </a:pPr>
            <a:r>
              <a:rPr sz="1150" b="0" i="0">
                <a:solidFill>
                  <a:srgbClr val="3F5563"/>
                </a:solidFill>
                <a:latin typeface="Expert Sans"/>
              </a:rPr>
              <a:t>Uptake, margin, dead-weight or partner terms change</a:t>
            </a:r>
          </a:p>
        </p:txBody>
      </p:sp>
      <p:sp>
        <p:nvSpPr>
          <p:cNvPr id="11" name="TextBox 10"/>
          <p:cNvSpPr txBox="1"/>
          <p:nvPr/>
        </p:nvSpPr>
        <p:spPr>
          <a:xfrm>
            <a:off x="8339327" y="2706624"/>
            <a:ext cx="2828239" cy="676656"/>
          </a:xfrm>
          <a:prstGeom prst="rect">
            <a:avLst/>
          </a:prstGeom>
          <a:noFill/>
        </p:spPr>
        <p:txBody>
          <a:bodyPr wrap="square">
            <a:spAutoFit/>
          </a:bodyPr>
          <a:lstStyle/>
          <a:p>
            <a:pPr algn="l">
              <a:lnSpc>
                <a:spcPts val="1500"/>
              </a:lnSpc>
            </a:pPr>
            <a:r>
              <a:rPr sz="1150" b="0" i="0">
                <a:solidFill>
                  <a:srgbClr val="3F5563"/>
                </a:solidFill>
                <a:latin typeface="Expert Sans"/>
              </a:rPr>
              <a:t>Per-slot returns re-computed; positions 2 and 3 can swap</a:t>
            </a:r>
          </a:p>
        </p:txBody>
      </p:sp>
      <p:sp>
        <p:nvSpPr>
          <p:cNvPr id="12" name="Rounded Rectangle 11"/>
          <p:cNvSpPr/>
          <p:nvPr/>
        </p:nvSpPr>
        <p:spPr>
          <a:xfrm>
            <a:off x="566928" y="3621024"/>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3840480"/>
            <a:ext cx="2926080" cy="457200"/>
          </a:xfrm>
          <a:prstGeom prst="rect">
            <a:avLst/>
          </a:prstGeom>
          <a:noFill/>
        </p:spPr>
        <p:txBody>
          <a:bodyPr wrap="square">
            <a:spAutoFit/>
          </a:bodyPr>
          <a:lstStyle/>
          <a:p>
            <a:pPr algn="l"/>
            <a:r>
              <a:rPr sz="1300" b="1" i="0">
                <a:solidFill>
                  <a:srgbClr val="00395D"/>
                </a:solidFill>
                <a:latin typeface="Expert Sans"/>
              </a:rPr>
              <a:t>Capability lands</a:t>
            </a:r>
          </a:p>
        </p:txBody>
      </p:sp>
      <p:sp>
        <p:nvSpPr>
          <p:cNvPr id="14" name="TextBox 13"/>
          <p:cNvSpPr txBox="1"/>
          <p:nvPr/>
        </p:nvSpPr>
        <p:spPr>
          <a:xfrm>
            <a:off x="4133087" y="3730752"/>
            <a:ext cx="4023360" cy="676656"/>
          </a:xfrm>
          <a:prstGeom prst="rect">
            <a:avLst/>
          </a:prstGeom>
          <a:noFill/>
        </p:spPr>
        <p:txBody>
          <a:bodyPr wrap="square">
            <a:spAutoFit/>
          </a:bodyPr>
          <a:lstStyle/>
          <a:p>
            <a:pPr algn="l">
              <a:lnSpc>
                <a:spcPts val="1500"/>
              </a:lnSpc>
            </a:pPr>
            <a:r>
              <a:rPr sz="1150" b="0" i="0">
                <a:solidFill>
                  <a:srgbClr val="3F5563"/>
                </a:solidFill>
                <a:latin typeface="Expert Sans"/>
              </a:rPr>
              <a:t>The claims capability ships</a:t>
            </a:r>
          </a:p>
        </p:txBody>
      </p:sp>
      <p:sp>
        <p:nvSpPr>
          <p:cNvPr id="15" name="TextBox 14"/>
          <p:cNvSpPr txBox="1"/>
          <p:nvPr/>
        </p:nvSpPr>
        <p:spPr>
          <a:xfrm>
            <a:off x="8339327" y="3730752"/>
            <a:ext cx="2828239" cy="676656"/>
          </a:xfrm>
          <a:prstGeom prst="rect">
            <a:avLst/>
          </a:prstGeom>
          <a:noFill/>
        </p:spPr>
        <p:txBody>
          <a:bodyPr wrap="square">
            <a:spAutoFit/>
          </a:bodyPr>
          <a:lstStyle/>
          <a:p>
            <a:pPr algn="l">
              <a:lnSpc>
                <a:spcPts val="1500"/>
              </a:lnSpc>
            </a:pPr>
            <a:r>
              <a:rPr sz="1150" b="0" i="0">
                <a:solidFill>
                  <a:srgbClr val="3F5563"/>
                </a:solidFill>
                <a:latin typeface="Expert Sans"/>
              </a:rPr>
              <a:t>Insurance's slots fall from 2 to 1 — its per-slot return doubles</a:t>
            </a:r>
          </a:p>
        </p:txBody>
      </p:sp>
      <p:sp>
        <p:nvSpPr>
          <p:cNvPr id="16" name="Rounded Rectangle 15"/>
          <p:cNvSpPr/>
          <p:nvPr/>
        </p:nvSpPr>
        <p:spPr>
          <a:xfrm>
            <a:off x="566928" y="4645152"/>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 y="4864608"/>
            <a:ext cx="2926080" cy="457200"/>
          </a:xfrm>
          <a:prstGeom prst="rect">
            <a:avLst/>
          </a:prstGeom>
          <a:noFill/>
        </p:spPr>
        <p:txBody>
          <a:bodyPr wrap="square">
            <a:spAutoFit/>
          </a:bodyPr>
          <a:lstStyle/>
          <a:p>
            <a:pPr algn="l"/>
            <a:r>
              <a:rPr sz="1300" b="1" i="0">
                <a:solidFill>
                  <a:srgbClr val="00395D"/>
                </a:solidFill>
                <a:latin typeface="Expert Sans"/>
              </a:rPr>
              <a:t>A slot frees up</a:t>
            </a:r>
          </a:p>
        </p:txBody>
      </p:sp>
      <p:sp>
        <p:nvSpPr>
          <p:cNvPr id="18" name="TextBox 17"/>
          <p:cNvSpPr txBox="1"/>
          <p:nvPr/>
        </p:nvSpPr>
        <p:spPr>
          <a:xfrm>
            <a:off x="4133087" y="4754880"/>
            <a:ext cx="4023360" cy="676656"/>
          </a:xfrm>
          <a:prstGeom prst="rect">
            <a:avLst/>
          </a:prstGeom>
          <a:noFill/>
        </p:spPr>
        <p:txBody>
          <a:bodyPr wrap="square">
            <a:spAutoFit/>
          </a:bodyPr>
          <a:lstStyle/>
          <a:p>
            <a:pPr algn="l">
              <a:lnSpc>
                <a:spcPts val="1500"/>
              </a:lnSpc>
            </a:pPr>
            <a:r>
              <a:rPr sz="1150" b="0" i="0">
                <a:solidFill>
                  <a:srgbClr val="3F5563"/>
                </a:solidFill>
                <a:latin typeface="Expert Sans"/>
              </a:rPr>
              <a:t>A build finishes early or a partner accelerates</a:t>
            </a:r>
          </a:p>
        </p:txBody>
      </p:sp>
      <p:sp>
        <p:nvSpPr>
          <p:cNvPr id="19" name="TextBox 18"/>
          <p:cNvSpPr txBox="1"/>
          <p:nvPr/>
        </p:nvSpPr>
        <p:spPr>
          <a:xfrm>
            <a:off x="8339327" y="4754880"/>
            <a:ext cx="2828239" cy="676656"/>
          </a:xfrm>
          <a:prstGeom prst="rect">
            <a:avLst/>
          </a:prstGeom>
          <a:noFill/>
        </p:spPr>
        <p:txBody>
          <a:bodyPr wrap="square">
            <a:spAutoFit/>
          </a:bodyPr>
          <a:lstStyle/>
          <a:p>
            <a:pPr algn="l">
              <a:lnSpc>
                <a:spcPts val="1500"/>
              </a:lnSpc>
            </a:pPr>
            <a:r>
              <a:rPr sz="1150" b="0" i="0">
                <a:solidFill>
                  <a:srgbClr val="3F5563"/>
                </a:solidFill>
                <a:latin typeface="Expert Sans"/>
              </a:rPr>
              <a:t>The cut-line moves down the sorted list — no new argument needed</a:t>
            </a:r>
          </a:p>
        </p:txBody>
      </p:sp>
      <p:sp>
        <p:nvSpPr>
          <p:cNvPr id="20" name="TextBox 19"/>
          <p:cNvSpPr txBox="1"/>
          <p:nvPr/>
        </p:nvSpPr>
        <p:spPr>
          <a:xfrm>
            <a:off x="566928" y="5742432"/>
            <a:ext cx="11057839" cy="457200"/>
          </a:xfrm>
          <a:prstGeom prst="rect">
            <a:avLst/>
          </a:prstGeom>
          <a:noFill/>
        </p:spPr>
        <p:txBody>
          <a:bodyPr wrap="square">
            <a:spAutoFit/>
          </a:bodyPr>
          <a:lstStyle/>
          <a:p>
            <a:pPr algn="l"/>
            <a:r>
              <a:rPr sz="1250" b="0" i="1">
                <a:solidFill>
                  <a:srgbClr val="6E7F8D"/>
                </a:solidFill>
                <a:latin typeface="Expert Sans"/>
              </a:rPr>
              <a:t>This is what the client is really approving: not this quarter's list, but the machine that keeps the list honest.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874519"/>
            <a:ext cx="2377440" cy="1463040"/>
          </a:xfrm>
          <a:prstGeom prst="rect">
            <a:avLst/>
          </a:prstGeom>
          <a:noFill/>
        </p:spPr>
        <p:txBody>
          <a:bodyPr wrap="square">
            <a:spAutoFit/>
          </a:bodyPr>
          <a:lstStyle/>
          <a:p>
            <a:pPr algn="l"/>
            <a:r>
              <a:rPr sz="8800" b="1" i="0">
                <a:solidFill>
                  <a:srgbClr val="BFE4F7"/>
                </a:solidFill>
                <a:latin typeface="Expert Sans"/>
              </a:rPr>
              <a:t>03</a:t>
            </a:r>
          </a:p>
        </p:txBody>
      </p:sp>
      <p:sp>
        <p:nvSpPr>
          <p:cNvPr id="4" name="TextBox 3"/>
          <p:cNvSpPr txBox="1"/>
          <p:nvPr/>
        </p:nvSpPr>
        <p:spPr>
          <a:xfrm>
            <a:off x="2898648" y="2029968"/>
            <a:ext cx="8595360" cy="365760"/>
          </a:xfrm>
          <a:prstGeom prst="rect">
            <a:avLst/>
          </a:prstGeom>
          <a:noFill/>
        </p:spPr>
        <p:txBody>
          <a:bodyPr wrap="square">
            <a:spAutoFit/>
          </a:bodyPr>
          <a:lstStyle/>
          <a:p>
            <a:pPr algn="l"/>
            <a:r>
              <a:rPr sz="1200" b="1" i="0">
                <a:solidFill>
                  <a:srgbClr val="0083C5"/>
                </a:solidFill>
                <a:latin typeface="Expert Sans"/>
              </a:rPr>
              <a:t>CAPACITY CUTS</a:t>
            </a:r>
          </a:p>
        </p:txBody>
      </p:sp>
      <p:sp>
        <p:nvSpPr>
          <p:cNvPr id="5" name="TextBox 4"/>
          <p:cNvSpPr txBox="1"/>
          <p:nvPr/>
        </p:nvSpPr>
        <p:spPr>
          <a:xfrm>
            <a:off x="2898648" y="2395728"/>
            <a:ext cx="8595360" cy="914400"/>
          </a:xfrm>
          <a:prstGeom prst="rect">
            <a:avLst/>
          </a:prstGeom>
          <a:noFill/>
        </p:spPr>
        <p:txBody>
          <a:bodyPr wrap="square">
            <a:spAutoFit/>
          </a:bodyPr>
          <a:lstStyle/>
          <a:p>
            <a:pPr algn="l"/>
            <a:r>
              <a:rPr sz="3200" b="0" i="0">
                <a:solidFill>
                  <a:srgbClr val="00395D"/>
                </a:solidFill>
                <a:latin typeface="Expert Sans"/>
              </a:rPr>
              <a:t>What ships this cycle — and how?</a:t>
            </a:r>
          </a:p>
        </p:txBody>
      </p:sp>
      <p:sp>
        <p:nvSpPr>
          <p:cNvPr id="6" name="TextBox 5"/>
          <p:cNvSpPr txBox="1"/>
          <p:nvPr/>
        </p:nvSpPr>
        <p:spPr>
          <a:xfrm>
            <a:off x="2898648" y="3346704"/>
            <a:ext cx="8412480" cy="640080"/>
          </a:xfrm>
          <a:prstGeom prst="rect">
            <a:avLst/>
          </a:prstGeom>
          <a:noFill/>
        </p:spPr>
        <p:txBody>
          <a:bodyPr wrap="square">
            <a:spAutoFit/>
          </a:bodyPr>
          <a:lstStyle/>
          <a:p>
            <a:pPr algn="l"/>
            <a:r>
              <a:rPr sz="1400" b="0" i="0">
                <a:solidFill>
                  <a:srgbClr val="3F5563"/>
                </a:solidFill>
                <a:latin typeface="Expert Sans"/>
              </a:rPr>
              <a:t>Two build slots. Routes chosen per feature, priced for time and margin, bounded for defensibility.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CAPACITY CUTS  ·  03</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Two slots: build FX on our core; partner invoice finance for speed</a:t>
            </a:r>
          </a:p>
        </p:txBody>
      </p:sp>
      <p:sp>
        <p:nvSpPr>
          <p:cNvPr id="4" name="Rounded Rectangle 3"/>
          <p:cNvSpPr/>
          <p:nvPr/>
        </p:nvSpPr>
        <p:spPr>
          <a:xfrm>
            <a:off x="566928" y="1572768"/>
            <a:ext cx="5368899" cy="3291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755648"/>
            <a:ext cx="3905859" cy="457200"/>
          </a:xfrm>
          <a:prstGeom prst="rect">
            <a:avLst/>
          </a:prstGeom>
          <a:noFill/>
        </p:spPr>
        <p:txBody>
          <a:bodyPr wrap="square">
            <a:spAutoFit/>
          </a:bodyPr>
          <a:lstStyle/>
          <a:p>
            <a:pPr algn="l"/>
            <a:r>
              <a:rPr sz="1700" b="1" i="0">
                <a:solidFill>
                  <a:srgbClr val="00395D"/>
                </a:solidFill>
                <a:latin typeface="Expert Sans"/>
              </a:rPr>
              <a:t>FX payments — BUILD</a:t>
            </a:r>
          </a:p>
        </p:txBody>
      </p:sp>
      <p:sp>
        <p:nvSpPr>
          <p:cNvPr id="6" name="TextBox 5"/>
          <p:cNvSpPr txBox="1"/>
          <p:nvPr/>
        </p:nvSpPr>
        <p:spPr>
          <a:xfrm>
            <a:off x="4838547" y="1810512"/>
            <a:ext cx="777240" cy="411480"/>
          </a:xfrm>
          <a:prstGeom prst="rect">
            <a:avLst/>
          </a:prstGeom>
          <a:noFill/>
        </p:spPr>
        <p:txBody>
          <a:bodyPr wrap="square">
            <a:spAutoFit/>
          </a:bodyPr>
          <a:lstStyle/>
          <a:p>
            <a:pPr algn="r"/>
            <a:r>
              <a:rPr sz="1150" b="1" i="0">
                <a:solidFill>
                  <a:srgbClr val="0083C5"/>
                </a:solidFill>
                <a:latin typeface="Expert Sans"/>
              </a:rPr>
              <a:t>Slot 1</a:t>
            </a:r>
          </a:p>
        </p:txBody>
      </p:sp>
      <p:cxnSp>
        <p:nvCxnSpPr>
          <p:cNvPr id="7" name="Connector 6"/>
          <p:cNvCxnSpPr/>
          <p:nvPr/>
        </p:nvCxnSpPr>
        <p:spPr>
          <a:xfrm>
            <a:off x="932688" y="2304288"/>
            <a:ext cx="4637379" cy="0"/>
          </a:xfrm>
          <a:prstGeom prst="line">
            <a:avLst/>
          </a:prstGeom>
          <a:ln>
            <a:solidFill>
              <a:srgbClr val="C9DD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32688" y="2487168"/>
            <a:ext cx="4637379" cy="457200"/>
          </a:xfrm>
          <a:prstGeom prst="rect">
            <a:avLst/>
          </a:prstGeom>
          <a:noFill/>
        </p:spPr>
        <p:txBody>
          <a:bodyPr wrap="square">
            <a:spAutoFit/>
          </a:bodyPr>
          <a:lstStyle/>
          <a:p>
            <a:pPr>
              <a:spcAft>
                <a:spcPts val="800"/>
              </a:spcAft>
            </a:pPr>
            <a:r>
              <a:rPr sz="1150">
                <a:solidFill>
                  <a:srgbClr val="3F5563"/>
                </a:solidFill>
                <a:latin typeface="Expert Sans"/>
              </a:rPr>
              <a:t>•  Deepens the payments platform we already run — the capability compounds</a:t>
            </a:r>
          </a:p>
          <a:p>
            <a:pPr>
              <a:spcAft>
                <a:spcPts val="800"/>
              </a:spcAft>
            </a:pPr>
            <a:r>
              <a:rPr sz="1150">
                <a:solidFill>
                  <a:srgbClr val="3F5563"/>
                </a:solidFill>
                <a:latin typeface="Expert Sans"/>
              </a:rPr>
              <a:t>•  9 months ±1, high confidence: the delivery team owns every dependency</a:t>
            </a:r>
          </a:p>
          <a:p>
            <a:pPr>
              <a:spcAft>
                <a:spcPts val="800"/>
              </a:spcAft>
            </a:pPr>
            <a:r>
              <a:rPr sz="1150">
                <a:solidFill>
                  <a:srgbClr val="3F5563"/>
                </a:solidFill>
                <a:latin typeface="Expert Sans"/>
              </a:rPr>
              <a:t>•  Full margin kept; no third party in the flow</a:t>
            </a:r>
          </a:p>
        </p:txBody>
      </p:sp>
      <p:sp>
        <p:nvSpPr>
          <p:cNvPr id="9" name="Rounded Rectangle 8"/>
          <p:cNvSpPr/>
          <p:nvPr/>
        </p:nvSpPr>
        <p:spPr>
          <a:xfrm>
            <a:off x="6255867" y="1572768"/>
            <a:ext cx="5368899" cy="3291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1627" y="1755648"/>
            <a:ext cx="3905859" cy="457200"/>
          </a:xfrm>
          <a:prstGeom prst="rect">
            <a:avLst/>
          </a:prstGeom>
          <a:noFill/>
        </p:spPr>
        <p:txBody>
          <a:bodyPr wrap="square">
            <a:spAutoFit/>
          </a:bodyPr>
          <a:lstStyle/>
          <a:p>
            <a:pPr algn="l"/>
            <a:r>
              <a:rPr sz="1700" b="1" i="0">
                <a:solidFill>
                  <a:srgbClr val="00395D"/>
                </a:solidFill>
                <a:latin typeface="Expert Sans"/>
              </a:rPr>
              <a:t>Invoice finance — PARTNER</a:t>
            </a:r>
          </a:p>
        </p:txBody>
      </p:sp>
      <p:sp>
        <p:nvSpPr>
          <p:cNvPr id="11" name="TextBox 10"/>
          <p:cNvSpPr txBox="1"/>
          <p:nvPr/>
        </p:nvSpPr>
        <p:spPr>
          <a:xfrm>
            <a:off x="10527487" y="1810512"/>
            <a:ext cx="777240" cy="411480"/>
          </a:xfrm>
          <a:prstGeom prst="rect">
            <a:avLst/>
          </a:prstGeom>
          <a:noFill/>
        </p:spPr>
        <p:txBody>
          <a:bodyPr wrap="square">
            <a:spAutoFit/>
          </a:bodyPr>
          <a:lstStyle/>
          <a:p>
            <a:pPr algn="r"/>
            <a:r>
              <a:rPr sz="1150" b="1" i="0">
                <a:solidFill>
                  <a:srgbClr val="0083C5"/>
                </a:solidFill>
                <a:latin typeface="Expert Sans"/>
              </a:rPr>
              <a:t>Slot 2</a:t>
            </a:r>
          </a:p>
        </p:txBody>
      </p:sp>
      <p:cxnSp>
        <p:nvCxnSpPr>
          <p:cNvPr id="12" name="Connector 11"/>
          <p:cNvCxnSpPr/>
          <p:nvPr/>
        </p:nvCxnSpPr>
        <p:spPr>
          <a:xfrm>
            <a:off x="6621627" y="2304288"/>
            <a:ext cx="4637380" cy="0"/>
          </a:xfrm>
          <a:prstGeom prst="line">
            <a:avLst/>
          </a:prstGeom>
          <a:ln>
            <a:solidFill>
              <a:srgbClr val="C9DD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1627" y="2487168"/>
            <a:ext cx="4637379" cy="457200"/>
          </a:xfrm>
          <a:prstGeom prst="rect">
            <a:avLst/>
          </a:prstGeom>
          <a:noFill/>
        </p:spPr>
        <p:txBody>
          <a:bodyPr wrap="square">
            <a:spAutoFit/>
          </a:bodyPr>
          <a:lstStyle/>
          <a:p>
            <a:pPr>
              <a:spcAft>
                <a:spcPts val="800"/>
              </a:spcAft>
            </a:pPr>
            <a:r>
              <a:rPr sz="1150">
                <a:solidFill>
                  <a:srgbClr val="3F5563"/>
                </a:solidFill>
                <a:latin typeface="Expert Sans"/>
              </a:rPr>
              <a:t>•  Live in 5 months instead of 18 — the difference between second place and missing the cycle</a:t>
            </a:r>
          </a:p>
          <a:p>
            <a:pPr>
              <a:spcAft>
                <a:spcPts val="800"/>
              </a:spcAft>
            </a:pPr>
            <a:r>
              <a:rPr sz="1150">
                <a:solidFill>
                  <a:srgbClr val="3F5563"/>
                </a:solidFill>
                <a:latin typeface="Expert Sans"/>
              </a:rPr>
              <a:t>•  Partner: [specialist lender], revenue share 25%</a:t>
            </a:r>
          </a:p>
          <a:p>
            <a:pPr>
              <a:spcAft>
                <a:spcPts val="800"/>
              </a:spcAft>
            </a:pPr>
            <a:r>
              <a:rPr sz="1150">
                <a:solidFill>
                  <a:srgbClr val="3F5563"/>
                </a:solidFill>
                <a:latin typeface="Expert Sans"/>
              </a:rPr>
              <a:t>•  We keep the customer, the data and the pricing; they run the credit engine</a:t>
            </a:r>
          </a:p>
        </p:txBody>
      </p:sp>
      <p:sp>
        <p:nvSpPr>
          <p:cNvPr id="14" name="TextBox 13"/>
          <p:cNvSpPr txBox="1"/>
          <p:nvPr/>
        </p:nvSpPr>
        <p:spPr>
          <a:xfrm>
            <a:off x="566928" y="5047488"/>
            <a:ext cx="11057839" cy="457200"/>
          </a:xfrm>
          <a:prstGeom prst="rect">
            <a:avLst/>
          </a:prstGeom>
          <a:noFill/>
        </p:spPr>
        <p:txBody>
          <a:bodyPr wrap="square">
            <a:spAutoFit/>
          </a:bodyPr>
          <a:lstStyle/>
          <a:p>
            <a:pPr algn="l"/>
            <a:r>
              <a:rPr sz="1200" b="0" i="1">
                <a:solidFill>
                  <a:srgbClr val="6E7F8D"/>
                </a:solidFill>
                <a:latin typeface="Expert Sans"/>
              </a:rPr>
              <a:t>Insurance waits: it needs the claims capability, which is itself a build. When that lands, its slot cost halves and the re-score promotes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CAPACITY CUTS  ·  03</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The partner deal is bounded — the advantage stays ours</a:t>
            </a:r>
          </a:p>
        </p:txBody>
      </p:sp>
      <p:sp>
        <p:nvSpPr>
          <p:cNvPr id="4" name="Rounded Rectangle 3"/>
          <p:cNvSpPr/>
          <p:nvPr/>
        </p:nvSpPr>
        <p:spPr>
          <a:xfrm>
            <a:off x="566928" y="1572768"/>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792224"/>
            <a:ext cx="3291840" cy="457200"/>
          </a:xfrm>
          <a:prstGeom prst="rect">
            <a:avLst/>
          </a:prstGeom>
          <a:noFill/>
        </p:spPr>
        <p:txBody>
          <a:bodyPr wrap="square">
            <a:spAutoFit/>
          </a:bodyPr>
          <a:lstStyle/>
          <a:p>
            <a:pPr algn="l"/>
            <a:r>
              <a:rPr sz="1350" b="1" i="0">
                <a:solidFill>
                  <a:srgbClr val="00395D"/>
                </a:solidFill>
                <a:latin typeface="Expert Sans"/>
              </a:rPr>
              <a:t>What the partner holds</a:t>
            </a:r>
          </a:p>
        </p:txBody>
      </p:sp>
      <p:sp>
        <p:nvSpPr>
          <p:cNvPr id="6" name="TextBox 5"/>
          <p:cNvSpPr txBox="1"/>
          <p:nvPr/>
        </p:nvSpPr>
        <p:spPr>
          <a:xfrm>
            <a:off x="4498848" y="1682495"/>
            <a:ext cx="6668719" cy="676656"/>
          </a:xfrm>
          <a:prstGeom prst="rect">
            <a:avLst/>
          </a:prstGeom>
          <a:noFill/>
        </p:spPr>
        <p:txBody>
          <a:bodyPr wrap="square">
            <a:spAutoFit/>
          </a:bodyPr>
          <a:lstStyle/>
          <a:p>
            <a:pPr algn="l">
              <a:lnSpc>
                <a:spcPts val="1500"/>
              </a:lnSpc>
            </a:pPr>
            <a:r>
              <a:rPr sz="1150" b="0" i="0">
                <a:solidFill>
                  <a:srgbClr val="3F5563"/>
                </a:solidFill>
                <a:latin typeface="Expert Sans"/>
              </a:rPr>
              <a:t>The credit decisioning engine and the capital. Their capability, their balance sheet risk.</a:t>
            </a:r>
          </a:p>
        </p:txBody>
      </p:sp>
      <p:sp>
        <p:nvSpPr>
          <p:cNvPr id="7" name="Rounded Rectangle 6"/>
          <p:cNvSpPr/>
          <p:nvPr/>
        </p:nvSpPr>
        <p:spPr>
          <a:xfrm>
            <a:off x="566928" y="2596896"/>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816352"/>
            <a:ext cx="3291840" cy="457200"/>
          </a:xfrm>
          <a:prstGeom prst="rect">
            <a:avLst/>
          </a:prstGeom>
          <a:noFill/>
        </p:spPr>
        <p:txBody>
          <a:bodyPr wrap="square">
            <a:spAutoFit/>
          </a:bodyPr>
          <a:lstStyle/>
          <a:p>
            <a:pPr algn="l"/>
            <a:r>
              <a:rPr sz="1350" b="1" i="0">
                <a:solidFill>
                  <a:srgbClr val="00395D"/>
                </a:solidFill>
                <a:latin typeface="Expert Sans"/>
              </a:rPr>
              <a:t>What we keep</a:t>
            </a:r>
          </a:p>
        </p:txBody>
      </p:sp>
      <p:sp>
        <p:nvSpPr>
          <p:cNvPr id="9" name="TextBox 8"/>
          <p:cNvSpPr txBox="1"/>
          <p:nvPr/>
        </p:nvSpPr>
        <p:spPr>
          <a:xfrm>
            <a:off x="4498848" y="2706624"/>
            <a:ext cx="6668719" cy="676656"/>
          </a:xfrm>
          <a:prstGeom prst="rect">
            <a:avLst/>
          </a:prstGeom>
          <a:noFill/>
        </p:spPr>
        <p:txBody>
          <a:bodyPr wrap="square">
            <a:spAutoFit/>
          </a:bodyPr>
          <a:lstStyle/>
          <a:p>
            <a:pPr algn="l">
              <a:lnSpc>
                <a:spcPts val="1500"/>
              </a:lnSpc>
            </a:pPr>
            <a:r>
              <a:rPr sz="1150" b="0" i="0">
                <a:solidFill>
                  <a:srgbClr val="3F5563"/>
                </a:solidFill>
                <a:latin typeface="Expert Sans"/>
              </a:rPr>
              <a:t>The customer relationship, the transaction data, the pricing decision, and the 'Trade Ready' brand over the top.</a:t>
            </a:r>
          </a:p>
        </p:txBody>
      </p:sp>
      <p:sp>
        <p:nvSpPr>
          <p:cNvPr id="10" name="Rounded Rectangle 9"/>
          <p:cNvSpPr/>
          <p:nvPr/>
        </p:nvSpPr>
        <p:spPr>
          <a:xfrm>
            <a:off x="566928" y="3621024"/>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3840480"/>
            <a:ext cx="3291840" cy="457200"/>
          </a:xfrm>
          <a:prstGeom prst="rect">
            <a:avLst/>
          </a:prstGeom>
          <a:noFill/>
        </p:spPr>
        <p:txBody>
          <a:bodyPr wrap="square">
            <a:spAutoFit/>
          </a:bodyPr>
          <a:lstStyle/>
          <a:p>
            <a:pPr algn="l"/>
            <a:r>
              <a:rPr sz="1350" b="1" i="0">
                <a:solidFill>
                  <a:srgbClr val="00395D"/>
                </a:solidFill>
                <a:latin typeface="Expert Sans"/>
              </a:rPr>
              <a:t>Contract bounds</a:t>
            </a:r>
          </a:p>
        </p:txBody>
      </p:sp>
      <p:sp>
        <p:nvSpPr>
          <p:cNvPr id="12" name="TextBox 11"/>
          <p:cNvSpPr txBox="1"/>
          <p:nvPr/>
        </p:nvSpPr>
        <p:spPr>
          <a:xfrm>
            <a:off x="4498848" y="3730752"/>
            <a:ext cx="6668719" cy="676656"/>
          </a:xfrm>
          <a:prstGeom prst="rect">
            <a:avLst/>
          </a:prstGeom>
          <a:noFill/>
        </p:spPr>
        <p:txBody>
          <a:bodyPr wrap="square">
            <a:spAutoFit/>
          </a:bodyPr>
          <a:lstStyle/>
          <a:p>
            <a:pPr algn="l">
              <a:lnSpc>
                <a:spcPts val="1500"/>
              </a:lnSpc>
            </a:pPr>
            <a:r>
              <a:rPr sz="1150" b="0" i="0">
                <a:solidFill>
                  <a:srgbClr val="3F5563"/>
                </a:solidFill>
                <a:latin typeface="Expert Sans"/>
              </a:rPr>
              <a:t>Exclusivity in the exporting-SME segment · our data stays ours on exit · 90-day portability · price re-opener at 12 months.</a:t>
            </a:r>
          </a:p>
        </p:txBody>
      </p:sp>
      <p:sp>
        <p:nvSpPr>
          <p:cNvPr id="13" name="Rounded Rectangle 12"/>
          <p:cNvSpPr/>
          <p:nvPr/>
        </p:nvSpPr>
        <p:spPr>
          <a:xfrm>
            <a:off x="566928" y="4645152"/>
            <a:ext cx="11057839" cy="896112"/>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4864608"/>
            <a:ext cx="3291840" cy="457200"/>
          </a:xfrm>
          <a:prstGeom prst="rect">
            <a:avLst/>
          </a:prstGeom>
          <a:noFill/>
        </p:spPr>
        <p:txBody>
          <a:bodyPr wrap="square">
            <a:spAutoFit/>
          </a:bodyPr>
          <a:lstStyle/>
          <a:p>
            <a:pPr algn="l"/>
            <a:r>
              <a:rPr sz="1350" b="1" i="0">
                <a:solidFill>
                  <a:srgbClr val="00395D"/>
                </a:solidFill>
                <a:latin typeface="Expert Sans"/>
              </a:rPr>
              <a:t>Re-internalise trigger</a:t>
            </a:r>
          </a:p>
        </p:txBody>
      </p:sp>
      <p:sp>
        <p:nvSpPr>
          <p:cNvPr id="15" name="TextBox 14"/>
          <p:cNvSpPr txBox="1"/>
          <p:nvPr/>
        </p:nvSpPr>
        <p:spPr>
          <a:xfrm>
            <a:off x="4498848" y="4754880"/>
            <a:ext cx="6668719" cy="676656"/>
          </a:xfrm>
          <a:prstGeom prst="rect">
            <a:avLst/>
          </a:prstGeom>
          <a:noFill/>
        </p:spPr>
        <p:txBody>
          <a:bodyPr wrap="square">
            <a:spAutoFit/>
          </a:bodyPr>
          <a:lstStyle/>
          <a:p>
            <a:pPr algn="l">
              <a:lnSpc>
                <a:spcPts val="1500"/>
              </a:lnSpc>
            </a:pPr>
            <a:r>
              <a:rPr sz="1150" b="0" i="0">
                <a:solidFill>
                  <a:srgbClr val="3F5563"/>
                </a:solidFill>
                <a:latin typeface="Expert Sans"/>
              </a:rPr>
              <a:t>At 5,000 active users, building in-house pays back in under 3 years — reviewed at each quarterly re-score.</a:t>
            </a:r>
          </a:p>
        </p:txBody>
      </p:sp>
      <p:sp>
        <p:nvSpPr>
          <p:cNvPr id="16" name="TextBox 15"/>
          <p:cNvSpPr txBox="1"/>
          <p:nvPr/>
        </p:nvSpPr>
        <p:spPr>
          <a:xfrm>
            <a:off x="566928" y="5742432"/>
            <a:ext cx="11057839" cy="502920"/>
          </a:xfrm>
          <a:prstGeom prst="rect">
            <a:avLst/>
          </a:prstGeom>
          <a:noFill/>
        </p:spPr>
        <p:txBody>
          <a:bodyPr wrap="square">
            <a:spAutoFit/>
          </a:bodyPr>
          <a:lstStyle/>
          <a:p>
            <a:pPr algn="l"/>
            <a:r>
              <a:rPr sz="1250" b="0" i="1">
                <a:solidFill>
                  <a:srgbClr val="6E7F8D"/>
                </a:solidFill>
                <a:latin typeface="Expert Sans"/>
              </a:rPr>
              <a:t>Shipping fast is the partner's job. Staying hard to beat is the contract's job. The two are different questions, and both must pass.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ACROSS THE SYSTEM</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What would have to be true for this to be the wrong call</a:t>
            </a:r>
          </a:p>
        </p:txBody>
      </p:sp>
      <p:sp>
        <p:nvSpPr>
          <p:cNvPr id="4" name="TextBox 3"/>
          <p:cNvSpPr txBox="1"/>
          <p:nvPr/>
        </p:nvSpPr>
        <p:spPr>
          <a:xfrm>
            <a:off x="877824" y="1600200"/>
            <a:ext cx="3657600" cy="365760"/>
          </a:xfrm>
          <a:prstGeom prst="rect">
            <a:avLst/>
          </a:prstGeom>
          <a:noFill/>
        </p:spPr>
        <p:txBody>
          <a:bodyPr wrap="square">
            <a:spAutoFit/>
          </a:bodyPr>
          <a:lstStyle/>
          <a:p>
            <a:pPr algn="l"/>
            <a:r>
              <a:rPr sz="1100" b="1" i="0">
                <a:solidFill>
                  <a:srgbClr val="0083C5"/>
                </a:solidFill>
                <a:latin typeface="Expert Sans"/>
              </a:rPr>
              <a:t>If this turns out to be true…</a:t>
            </a:r>
          </a:p>
        </p:txBody>
      </p:sp>
      <p:sp>
        <p:nvSpPr>
          <p:cNvPr id="5" name="TextBox 4"/>
          <p:cNvSpPr txBox="1"/>
          <p:nvPr/>
        </p:nvSpPr>
        <p:spPr>
          <a:xfrm>
            <a:off x="4773168" y="1600200"/>
            <a:ext cx="3657600" cy="365760"/>
          </a:xfrm>
          <a:prstGeom prst="rect">
            <a:avLst/>
          </a:prstGeom>
          <a:noFill/>
        </p:spPr>
        <p:txBody>
          <a:bodyPr wrap="square">
            <a:spAutoFit/>
          </a:bodyPr>
          <a:lstStyle/>
          <a:p>
            <a:pPr algn="l"/>
            <a:r>
              <a:rPr sz="1100" b="1" i="0">
                <a:solidFill>
                  <a:srgbClr val="0083C5"/>
                </a:solidFill>
                <a:latin typeface="Expert Sans"/>
              </a:rPr>
              <a:t>…then this changes</a:t>
            </a:r>
          </a:p>
        </p:txBody>
      </p:sp>
      <p:sp>
        <p:nvSpPr>
          <p:cNvPr id="6" name="TextBox 5"/>
          <p:cNvSpPr txBox="1"/>
          <p:nvPr/>
        </p:nvSpPr>
        <p:spPr>
          <a:xfrm>
            <a:off x="8339327" y="1600200"/>
            <a:ext cx="3657600" cy="365760"/>
          </a:xfrm>
          <a:prstGeom prst="rect">
            <a:avLst/>
          </a:prstGeom>
          <a:noFill/>
        </p:spPr>
        <p:txBody>
          <a:bodyPr wrap="square">
            <a:spAutoFit/>
          </a:bodyPr>
          <a:lstStyle/>
          <a:p>
            <a:pPr algn="l"/>
            <a:r>
              <a:rPr sz="1100" b="1" i="0">
                <a:solidFill>
                  <a:srgbClr val="0083C5"/>
                </a:solidFill>
                <a:latin typeface="Expert Sans"/>
              </a:rPr>
              <a:t>…and how we would know early</a:t>
            </a:r>
          </a:p>
        </p:txBody>
      </p:sp>
      <p:sp>
        <p:nvSpPr>
          <p:cNvPr id="7" name="Rounded Rectangle 6"/>
          <p:cNvSpPr/>
          <p:nvPr/>
        </p:nvSpPr>
        <p:spPr>
          <a:xfrm>
            <a:off x="566928" y="2039112"/>
            <a:ext cx="11057839" cy="8686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148840"/>
            <a:ext cx="3657600" cy="658368"/>
          </a:xfrm>
          <a:prstGeom prst="rect">
            <a:avLst/>
          </a:prstGeom>
          <a:noFill/>
        </p:spPr>
        <p:txBody>
          <a:bodyPr wrap="square">
            <a:spAutoFit/>
          </a:bodyPr>
          <a:lstStyle/>
          <a:p>
            <a:pPr algn="l">
              <a:lnSpc>
                <a:spcPts val="1500"/>
              </a:lnSpc>
            </a:pPr>
            <a:r>
              <a:rPr sz="1200" b="1" i="0">
                <a:solidFill>
                  <a:srgbClr val="00395D"/>
                </a:solidFill>
                <a:latin typeface="Expert Sans"/>
              </a:rPr>
              <a:t>Demand scores overstate uptake by a third</a:t>
            </a:r>
          </a:p>
        </p:txBody>
      </p:sp>
      <p:sp>
        <p:nvSpPr>
          <p:cNvPr id="9" name="TextBox 8"/>
          <p:cNvSpPr txBox="1"/>
          <p:nvPr/>
        </p:nvSpPr>
        <p:spPr>
          <a:xfrm>
            <a:off x="4773168" y="2148840"/>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FX still clears; invoice finance drops to the hurdle</a:t>
            </a:r>
          </a:p>
        </p:txBody>
      </p:sp>
      <p:sp>
        <p:nvSpPr>
          <p:cNvPr id="10" name="TextBox 9"/>
          <p:cNvSpPr txBox="1"/>
          <p:nvPr/>
        </p:nvSpPr>
        <p:spPr>
          <a:xfrm>
            <a:off x="8339327" y="2148840"/>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Activation rate at month 3 vs the model</a:t>
            </a:r>
          </a:p>
        </p:txBody>
      </p:sp>
      <p:sp>
        <p:nvSpPr>
          <p:cNvPr id="11" name="Rounded Rectangle 10"/>
          <p:cNvSpPr/>
          <p:nvPr/>
        </p:nvSpPr>
        <p:spPr>
          <a:xfrm>
            <a:off x="566928" y="3026664"/>
            <a:ext cx="11057839" cy="8686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136392"/>
            <a:ext cx="3657600" cy="658368"/>
          </a:xfrm>
          <a:prstGeom prst="rect">
            <a:avLst/>
          </a:prstGeom>
          <a:noFill/>
        </p:spPr>
        <p:txBody>
          <a:bodyPr wrap="square">
            <a:spAutoFit/>
          </a:bodyPr>
          <a:lstStyle/>
          <a:p>
            <a:pPr algn="l">
              <a:lnSpc>
                <a:spcPts val="1500"/>
              </a:lnSpc>
            </a:pPr>
            <a:r>
              <a:rPr sz="1200" b="1" i="0">
                <a:solidFill>
                  <a:srgbClr val="00395D"/>
                </a:solidFill>
                <a:latin typeface="Expert Sans"/>
              </a:rPr>
              <a:t>Incentive dead-weight passes 50%</a:t>
            </a:r>
          </a:p>
        </p:txBody>
      </p:sp>
      <p:sp>
        <p:nvSpPr>
          <p:cNvPr id="13" name="TextBox 12"/>
          <p:cNvSpPr txBox="1"/>
          <p:nvPr/>
        </p:nvSpPr>
        <p:spPr>
          <a:xfrm>
            <a:off x="4773168" y="3136392"/>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The −0.7 doubles; the incentive is switched off</a:t>
            </a:r>
          </a:p>
        </p:txBody>
      </p:sp>
      <p:sp>
        <p:nvSpPr>
          <p:cNvPr id="14" name="TextBox 13"/>
          <p:cNvSpPr txBox="1"/>
          <p:nvPr/>
        </p:nvSpPr>
        <p:spPr>
          <a:xfrm>
            <a:off x="8339327" y="3136392"/>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Redemption vs new-to-feature mix, monthly</a:t>
            </a:r>
          </a:p>
        </p:txBody>
      </p:sp>
      <p:sp>
        <p:nvSpPr>
          <p:cNvPr id="15" name="Rounded Rectangle 14"/>
          <p:cNvSpPr/>
          <p:nvPr/>
        </p:nvSpPr>
        <p:spPr>
          <a:xfrm>
            <a:off x="566928" y="4014216"/>
            <a:ext cx="11057839" cy="8686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123944"/>
            <a:ext cx="3657600" cy="658368"/>
          </a:xfrm>
          <a:prstGeom prst="rect">
            <a:avLst/>
          </a:prstGeom>
          <a:noFill/>
        </p:spPr>
        <p:txBody>
          <a:bodyPr wrap="square">
            <a:spAutoFit/>
          </a:bodyPr>
          <a:lstStyle/>
          <a:p>
            <a:pPr algn="l">
              <a:lnSpc>
                <a:spcPts val="1500"/>
              </a:lnSpc>
            </a:pPr>
            <a:r>
              <a:rPr sz="1200" b="1" i="0">
                <a:solidFill>
                  <a:srgbClr val="00395D"/>
                </a:solidFill>
                <a:latin typeface="Expert Sans"/>
              </a:rPr>
              <a:t>'Trade Ready' recall does not lift by month 6</a:t>
            </a:r>
          </a:p>
        </p:txBody>
      </p:sp>
      <p:sp>
        <p:nvSpPr>
          <p:cNvPr id="17" name="TextBox 16"/>
          <p:cNvSpPr txBox="1"/>
          <p:nvPr/>
        </p:nvSpPr>
        <p:spPr>
          <a:xfrm>
            <a:off x="4773168" y="4123944"/>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The £0.8m stops; comms revert to product level</a:t>
            </a:r>
          </a:p>
        </p:txBody>
      </p:sp>
      <p:sp>
        <p:nvSpPr>
          <p:cNvPr id="18" name="TextBox 17"/>
          <p:cNvSpPr txBox="1"/>
          <p:nvPr/>
        </p:nvSpPr>
        <p:spPr>
          <a:xfrm>
            <a:off x="8339327" y="4123944"/>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Entry-point recall tracking, quarterly</a:t>
            </a:r>
          </a:p>
        </p:txBody>
      </p:sp>
      <p:sp>
        <p:nvSpPr>
          <p:cNvPr id="19" name="Rounded Rectangle 18"/>
          <p:cNvSpPr/>
          <p:nvPr/>
        </p:nvSpPr>
        <p:spPr>
          <a:xfrm>
            <a:off x="566928" y="5001768"/>
            <a:ext cx="11057839" cy="86868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5111496"/>
            <a:ext cx="3657600" cy="658368"/>
          </a:xfrm>
          <a:prstGeom prst="rect">
            <a:avLst/>
          </a:prstGeom>
          <a:noFill/>
        </p:spPr>
        <p:txBody>
          <a:bodyPr wrap="square">
            <a:spAutoFit/>
          </a:bodyPr>
          <a:lstStyle/>
          <a:p>
            <a:pPr algn="l">
              <a:lnSpc>
                <a:spcPts val="1500"/>
              </a:lnSpc>
            </a:pPr>
            <a:r>
              <a:rPr sz="1200" b="1" i="0">
                <a:solidFill>
                  <a:srgbClr val="00395D"/>
                </a:solidFill>
                <a:latin typeface="Expert Sans"/>
              </a:rPr>
              <a:t>The partner slips or captures the relationship</a:t>
            </a:r>
          </a:p>
        </p:txBody>
      </p:sp>
      <p:sp>
        <p:nvSpPr>
          <p:cNvPr id="21" name="TextBox 20"/>
          <p:cNvSpPr txBox="1"/>
          <p:nvPr/>
        </p:nvSpPr>
        <p:spPr>
          <a:xfrm>
            <a:off x="4773168" y="5111496"/>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Invoice finance misses the cycle; moat erodes</a:t>
            </a:r>
          </a:p>
        </p:txBody>
      </p:sp>
      <p:sp>
        <p:nvSpPr>
          <p:cNvPr id="22" name="TextBox 21"/>
          <p:cNvSpPr txBox="1"/>
          <p:nvPr/>
        </p:nvSpPr>
        <p:spPr>
          <a:xfrm>
            <a:off x="8339327" y="5111496"/>
            <a:ext cx="3291840" cy="658368"/>
          </a:xfrm>
          <a:prstGeom prst="rect">
            <a:avLst/>
          </a:prstGeom>
          <a:noFill/>
        </p:spPr>
        <p:txBody>
          <a:bodyPr wrap="square">
            <a:spAutoFit/>
          </a:bodyPr>
          <a:lstStyle/>
          <a:p>
            <a:pPr algn="l">
              <a:lnSpc>
                <a:spcPts val="1500"/>
              </a:lnSpc>
            </a:pPr>
            <a:r>
              <a:rPr sz="1150" b="0" i="0">
                <a:solidFill>
                  <a:srgbClr val="3F5563"/>
                </a:solidFill>
                <a:latin typeface="Expert Sans"/>
              </a:rPr>
              <a:t>Contract milestones + data-flow audit, month 2</a:t>
            </a:r>
          </a:p>
        </p:txBody>
      </p:sp>
      <p:sp>
        <p:nvSpPr>
          <p:cNvPr id="23" name="TextBox 22"/>
          <p:cNvSpPr txBox="1"/>
          <p:nvPr/>
        </p:nvSpPr>
        <p:spPr>
          <a:xfrm>
            <a:off x="566928" y="6044184"/>
            <a:ext cx="11057839" cy="457200"/>
          </a:xfrm>
          <a:prstGeom prst="rect">
            <a:avLst/>
          </a:prstGeom>
          <a:noFill/>
        </p:spPr>
        <p:txBody>
          <a:bodyPr wrap="square">
            <a:spAutoFit/>
          </a:bodyPr>
          <a:lstStyle/>
          <a:p>
            <a:pPr algn="l"/>
            <a:r>
              <a:rPr sz="1200" b="0" i="1">
                <a:solidFill>
                  <a:srgbClr val="6E7F8D"/>
                </a:solidFill>
                <a:latin typeface="Expert Sans"/>
              </a:rPr>
              <a:t>Every row ends in the re-score, not in a crisis meeting: the trigger fires, the score changes, the order moves.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SO WHAT</a:t>
            </a:r>
          </a:p>
        </p:txBody>
      </p:sp>
      <p:sp>
        <p:nvSpPr>
          <p:cNvPr id="3" name="TextBox 2"/>
          <p:cNvSpPr txBox="1"/>
          <p:nvPr/>
        </p:nvSpPr>
        <p:spPr>
          <a:xfrm>
            <a:off x="9082735" y="256032"/>
            <a:ext cx="2560320" cy="274320"/>
          </a:xfrm>
          <a:prstGeom prst="rect">
            <a:avLst/>
          </a:prstGeom>
          <a:noFill/>
        </p:spPr>
        <p:txBody>
          <a:bodyPr wrap="square">
            <a:spAutoFit/>
          </a:bodyPr>
          <a:lstStyle/>
          <a:p>
            <a:pPr algn="r"/>
            <a:r>
              <a:rPr sz="850" b="0" i="0">
                <a:solidFill>
                  <a:srgbClr val="6E7F8D"/>
                </a:solidFill>
                <a:latin typeface="Expert Sans"/>
              </a:rPr>
              <a:t>Proposition backlog  |  [Month Year]  |  21</a:t>
            </a:r>
          </a:p>
        </p:txBody>
      </p:sp>
      <p:sp>
        <p:nvSpPr>
          <p:cNvPr id="4" name="TextBox 3"/>
          <p:cNvSpPr txBox="1"/>
          <p:nvPr/>
        </p:nvSpPr>
        <p:spPr>
          <a:xfrm>
            <a:off x="566928" y="548640"/>
            <a:ext cx="9594799" cy="960120"/>
          </a:xfrm>
          <a:prstGeom prst="rect">
            <a:avLst/>
          </a:prstGeom>
          <a:noFill/>
        </p:spPr>
        <p:txBody>
          <a:bodyPr wrap="square">
            <a:spAutoFit/>
          </a:bodyPr>
          <a:lstStyle/>
          <a:p>
            <a:pPr algn="l">
              <a:lnSpc>
                <a:spcPts val="3000"/>
              </a:lnSpc>
            </a:pPr>
            <a:r>
              <a:rPr sz="2500" b="0" i="0">
                <a:solidFill>
                  <a:srgbClr val="00AEEF"/>
                </a:solidFill>
                <a:latin typeface="Expert Sans"/>
              </a:rPr>
              <a:t>What we need from you this week</a:t>
            </a:r>
          </a:p>
        </p:txBody>
      </p:sp>
      <p:sp>
        <p:nvSpPr>
          <p:cNvPr id="5" name="Rounded Rectangle 4"/>
          <p:cNvSpPr/>
          <p:nvPr/>
        </p:nvSpPr>
        <p:spPr>
          <a:xfrm>
            <a:off x="566928" y="1645920"/>
            <a:ext cx="11057839" cy="84124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1856232"/>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7" name="TextBox 6"/>
          <p:cNvSpPr txBox="1"/>
          <p:nvPr/>
        </p:nvSpPr>
        <p:spPr>
          <a:xfrm>
            <a:off x="1527048" y="1847088"/>
            <a:ext cx="1463040" cy="457200"/>
          </a:xfrm>
          <a:prstGeom prst="rect">
            <a:avLst/>
          </a:prstGeom>
          <a:noFill/>
        </p:spPr>
        <p:txBody>
          <a:bodyPr wrap="square">
            <a:spAutoFit/>
          </a:bodyPr>
          <a:lstStyle/>
          <a:p>
            <a:pPr algn="l"/>
            <a:r>
              <a:rPr sz="1700" b="0" i="0">
                <a:solidFill>
                  <a:srgbClr val="00AEEF"/>
                </a:solidFill>
                <a:latin typeface="Expert Sans"/>
              </a:rPr>
              <a:t>Adopt</a:t>
            </a:r>
          </a:p>
        </p:txBody>
      </p:sp>
      <p:sp>
        <p:nvSpPr>
          <p:cNvPr id="8" name="TextBox 7"/>
          <p:cNvSpPr txBox="1"/>
          <p:nvPr/>
        </p:nvSpPr>
        <p:spPr>
          <a:xfrm>
            <a:off x="3035808" y="1755648"/>
            <a:ext cx="5852160" cy="640080"/>
          </a:xfrm>
          <a:prstGeom prst="rect">
            <a:avLst/>
          </a:prstGeom>
          <a:noFill/>
        </p:spPr>
        <p:txBody>
          <a:bodyPr wrap="square">
            <a:spAutoFit/>
          </a:bodyPr>
          <a:lstStyle/>
          <a:p>
            <a:pPr algn="l">
              <a:lnSpc>
                <a:spcPts val="1600"/>
              </a:lnSpc>
            </a:pPr>
            <a:r>
              <a:rPr sz="1250" b="0" i="0">
                <a:solidFill>
                  <a:srgbClr val="00395D"/>
                </a:solidFill>
                <a:latin typeface="Expert Sans"/>
              </a:rPr>
              <a:t>The sorting rule: demand admits, per-slot return sorts, capacity cuts</a:t>
            </a:r>
          </a:p>
        </p:txBody>
      </p:sp>
      <p:sp>
        <p:nvSpPr>
          <p:cNvPr id="9" name="TextBox 8"/>
          <p:cNvSpPr txBox="1"/>
          <p:nvPr/>
        </p:nvSpPr>
        <p:spPr>
          <a:xfrm>
            <a:off x="8979407" y="1865376"/>
            <a:ext cx="1463040" cy="457200"/>
          </a:xfrm>
          <a:prstGeom prst="rect">
            <a:avLst/>
          </a:prstGeom>
          <a:noFill/>
        </p:spPr>
        <p:txBody>
          <a:bodyPr wrap="square">
            <a:spAutoFit/>
          </a:bodyPr>
          <a:lstStyle/>
          <a:p>
            <a:pPr algn="l"/>
            <a:r>
              <a:rPr sz="1150" b="0" i="0">
                <a:solidFill>
                  <a:srgbClr val="3F5563"/>
                </a:solidFill>
                <a:latin typeface="Expert Sans"/>
              </a:rPr>
              <a:t>[Owner]</a:t>
            </a:r>
          </a:p>
        </p:txBody>
      </p:sp>
      <p:sp>
        <p:nvSpPr>
          <p:cNvPr id="10" name="TextBox 9"/>
          <p:cNvSpPr txBox="1"/>
          <p:nvPr/>
        </p:nvSpPr>
        <p:spPr>
          <a:xfrm>
            <a:off x="10533888" y="1865376"/>
            <a:ext cx="914400" cy="457200"/>
          </a:xfrm>
          <a:prstGeom prst="rect">
            <a:avLst/>
          </a:prstGeom>
          <a:noFill/>
        </p:spPr>
        <p:txBody>
          <a:bodyPr wrap="square">
            <a:spAutoFit/>
          </a:bodyPr>
          <a:lstStyle/>
          <a:p>
            <a:pPr algn="r"/>
            <a:r>
              <a:rPr sz="1150" b="0" i="0">
                <a:solidFill>
                  <a:srgbClr val="3F5563"/>
                </a:solidFill>
                <a:latin typeface="Expert Sans"/>
              </a:rPr>
              <a:t>[Date]</a:t>
            </a:r>
          </a:p>
        </p:txBody>
      </p:sp>
      <p:sp>
        <p:nvSpPr>
          <p:cNvPr id="11" name="Rounded Rectangle 10"/>
          <p:cNvSpPr/>
          <p:nvPr/>
        </p:nvSpPr>
        <p:spPr>
          <a:xfrm>
            <a:off x="566928" y="2633472"/>
            <a:ext cx="11057839" cy="84124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2843784"/>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3" name="TextBox 12"/>
          <p:cNvSpPr txBox="1"/>
          <p:nvPr/>
        </p:nvSpPr>
        <p:spPr>
          <a:xfrm>
            <a:off x="1527048" y="2834640"/>
            <a:ext cx="1463040" cy="457200"/>
          </a:xfrm>
          <a:prstGeom prst="rect">
            <a:avLst/>
          </a:prstGeom>
          <a:noFill/>
        </p:spPr>
        <p:txBody>
          <a:bodyPr wrap="square">
            <a:spAutoFit/>
          </a:bodyPr>
          <a:lstStyle/>
          <a:p>
            <a:pPr algn="l"/>
            <a:r>
              <a:rPr sz="1700" b="0" i="0">
                <a:solidFill>
                  <a:srgbClr val="00AEEF"/>
                </a:solidFill>
                <a:latin typeface="Expert Sans"/>
              </a:rPr>
              <a:t>Approve</a:t>
            </a:r>
          </a:p>
        </p:txBody>
      </p:sp>
      <p:sp>
        <p:nvSpPr>
          <p:cNvPr id="14" name="TextBox 13"/>
          <p:cNvSpPr txBox="1"/>
          <p:nvPr/>
        </p:nvSpPr>
        <p:spPr>
          <a:xfrm>
            <a:off x="3035808" y="2743200"/>
            <a:ext cx="5852160" cy="640080"/>
          </a:xfrm>
          <a:prstGeom prst="rect">
            <a:avLst/>
          </a:prstGeom>
          <a:noFill/>
        </p:spPr>
        <p:txBody>
          <a:bodyPr wrap="square">
            <a:spAutoFit/>
          </a:bodyPr>
          <a:lstStyle/>
          <a:p>
            <a:pPr algn="l">
              <a:lnSpc>
                <a:spcPts val="1600"/>
              </a:lnSpc>
            </a:pPr>
            <a:r>
              <a:rPr sz="1250" b="0" i="0">
                <a:solidFill>
                  <a:srgbClr val="00395D"/>
                </a:solidFill>
                <a:latin typeface="Expert Sans"/>
              </a:rPr>
              <a:t>This cycle's slate: build FX, partner invoice finance</a:t>
            </a:r>
          </a:p>
        </p:txBody>
      </p:sp>
      <p:sp>
        <p:nvSpPr>
          <p:cNvPr id="15" name="TextBox 14"/>
          <p:cNvSpPr txBox="1"/>
          <p:nvPr/>
        </p:nvSpPr>
        <p:spPr>
          <a:xfrm>
            <a:off x="8979407" y="2852928"/>
            <a:ext cx="1463040" cy="457200"/>
          </a:xfrm>
          <a:prstGeom prst="rect">
            <a:avLst/>
          </a:prstGeom>
          <a:noFill/>
        </p:spPr>
        <p:txBody>
          <a:bodyPr wrap="square">
            <a:spAutoFit/>
          </a:bodyPr>
          <a:lstStyle/>
          <a:p>
            <a:pPr algn="l"/>
            <a:r>
              <a:rPr sz="1150" b="0" i="0">
                <a:solidFill>
                  <a:srgbClr val="3F5563"/>
                </a:solidFill>
                <a:latin typeface="Expert Sans"/>
              </a:rPr>
              <a:t>[Owner]</a:t>
            </a:r>
          </a:p>
        </p:txBody>
      </p:sp>
      <p:sp>
        <p:nvSpPr>
          <p:cNvPr id="16" name="TextBox 15"/>
          <p:cNvSpPr txBox="1"/>
          <p:nvPr/>
        </p:nvSpPr>
        <p:spPr>
          <a:xfrm>
            <a:off x="10533888" y="2852928"/>
            <a:ext cx="914400" cy="457200"/>
          </a:xfrm>
          <a:prstGeom prst="rect">
            <a:avLst/>
          </a:prstGeom>
          <a:noFill/>
        </p:spPr>
        <p:txBody>
          <a:bodyPr wrap="square">
            <a:spAutoFit/>
          </a:bodyPr>
          <a:lstStyle/>
          <a:p>
            <a:pPr algn="r"/>
            <a:r>
              <a:rPr sz="1150" b="0" i="0">
                <a:solidFill>
                  <a:srgbClr val="3F5563"/>
                </a:solidFill>
                <a:latin typeface="Expert Sans"/>
              </a:rPr>
              <a:t>[Date]</a:t>
            </a:r>
          </a:p>
        </p:txBody>
      </p:sp>
      <p:sp>
        <p:nvSpPr>
          <p:cNvPr id="17" name="Rounded Rectangle 16"/>
          <p:cNvSpPr/>
          <p:nvPr/>
        </p:nvSpPr>
        <p:spPr>
          <a:xfrm>
            <a:off x="566928" y="3621024"/>
            <a:ext cx="11057839" cy="84124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77824" y="3831336"/>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9" name="TextBox 18"/>
          <p:cNvSpPr txBox="1"/>
          <p:nvPr/>
        </p:nvSpPr>
        <p:spPr>
          <a:xfrm>
            <a:off x="1527048" y="3822191"/>
            <a:ext cx="1463040" cy="457200"/>
          </a:xfrm>
          <a:prstGeom prst="rect">
            <a:avLst/>
          </a:prstGeom>
          <a:noFill/>
        </p:spPr>
        <p:txBody>
          <a:bodyPr wrap="square">
            <a:spAutoFit/>
          </a:bodyPr>
          <a:lstStyle/>
          <a:p>
            <a:pPr algn="l"/>
            <a:r>
              <a:rPr sz="1700" b="0" i="0">
                <a:solidFill>
                  <a:srgbClr val="00AEEF"/>
                </a:solidFill>
                <a:latin typeface="Expert Sans"/>
              </a:rPr>
              <a:t>Sign</a:t>
            </a:r>
          </a:p>
        </p:txBody>
      </p:sp>
      <p:sp>
        <p:nvSpPr>
          <p:cNvPr id="20" name="TextBox 19"/>
          <p:cNvSpPr txBox="1"/>
          <p:nvPr/>
        </p:nvSpPr>
        <p:spPr>
          <a:xfrm>
            <a:off x="3035808" y="3730752"/>
            <a:ext cx="5852160" cy="640080"/>
          </a:xfrm>
          <a:prstGeom prst="rect">
            <a:avLst/>
          </a:prstGeom>
          <a:noFill/>
        </p:spPr>
        <p:txBody>
          <a:bodyPr wrap="square">
            <a:spAutoFit/>
          </a:bodyPr>
          <a:lstStyle/>
          <a:p>
            <a:pPr algn="l">
              <a:lnSpc>
                <a:spcPts val="1600"/>
              </a:lnSpc>
            </a:pPr>
            <a:r>
              <a:rPr sz="1250" b="0" i="0">
                <a:solidFill>
                  <a:srgbClr val="00395D"/>
                </a:solidFill>
                <a:latin typeface="Expert Sans"/>
              </a:rPr>
              <a:t>Partner heads of terms — exclusivity, data, exit, re-opener (slide 19)</a:t>
            </a:r>
          </a:p>
        </p:txBody>
      </p:sp>
      <p:sp>
        <p:nvSpPr>
          <p:cNvPr id="21" name="TextBox 20"/>
          <p:cNvSpPr txBox="1"/>
          <p:nvPr/>
        </p:nvSpPr>
        <p:spPr>
          <a:xfrm>
            <a:off x="8979407" y="3840480"/>
            <a:ext cx="1463040" cy="457200"/>
          </a:xfrm>
          <a:prstGeom prst="rect">
            <a:avLst/>
          </a:prstGeom>
          <a:noFill/>
        </p:spPr>
        <p:txBody>
          <a:bodyPr wrap="square">
            <a:spAutoFit/>
          </a:bodyPr>
          <a:lstStyle/>
          <a:p>
            <a:pPr algn="l"/>
            <a:r>
              <a:rPr sz="1150" b="0" i="0">
                <a:solidFill>
                  <a:srgbClr val="3F5563"/>
                </a:solidFill>
                <a:latin typeface="Expert Sans"/>
              </a:rPr>
              <a:t>[Owner]</a:t>
            </a:r>
          </a:p>
        </p:txBody>
      </p:sp>
      <p:sp>
        <p:nvSpPr>
          <p:cNvPr id="22" name="TextBox 21"/>
          <p:cNvSpPr txBox="1"/>
          <p:nvPr/>
        </p:nvSpPr>
        <p:spPr>
          <a:xfrm>
            <a:off x="10533888" y="3840480"/>
            <a:ext cx="914400" cy="457200"/>
          </a:xfrm>
          <a:prstGeom prst="rect">
            <a:avLst/>
          </a:prstGeom>
          <a:noFill/>
        </p:spPr>
        <p:txBody>
          <a:bodyPr wrap="square">
            <a:spAutoFit/>
          </a:bodyPr>
          <a:lstStyle/>
          <a:p>
            <a:pPr algn="r"/>
            <a:r>
              <a:rPr sz="1150" b="0" i="0">
                <a:solidFill>
                  <a:srgbClr val="3F5563"/>
                </a:solidFill>
                <a:latin typeface="Expert Sans"/>
              </a:rPr>
              <a:t>[Date]</a:t>
            </a:r>
          </a:p>
        </p:txBody>
      </p:sp>
      <p:sp>
        <p:nvSpPr>
          <p:cNvPr id="23" name="Rounded Rectangle 22"/>
          <p:cNvSpPr/>
          <p:nvPr/>
        </p:nvSpPr>
        <p:spPr>
          <a:xfrm>
            <a:off x="566928" y="4608576"/>
            <a:ext cx="11057839" cy="841248"/>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4818888"/>
            <a:ext cx="420624" cy="420624"/>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4</a:t>
            </a:r>
          </a:p>
        </p:txBody>
      </p:sp>
      <p:sp>
        <p:nvSpPr>
          <p:cNvPr id="25" name="TextBox 24"/>
          <p:cNvSpPr txBox="1"/>
          <p:nvPr/>
        </p:nvSpPr>
        <p:spPr>
          <a:xfrm>
            <a:off x="1527048" y="4809744"/>
            <a:ext cx="1463040" cy="457200"/>
          </a:xfrm>
          <a:prstGeom prst="rect">
            <a:avLst/>
          </a:prstGeom>
          <a:noFill/>
        </p:spPr>
        <p:txBody>
          <a:bodyPr wrap="square">
            <a:spAutoFit/>
          </a:bodyPr>
          <a:lstStyle/>
          <a:p>
            <a:pPr algn="l"/>
            <a:r>
              <a:rPr sz="1700" b="0" i="0">
                <a:solidFill>
                  <a:srgbClr val="00AEEF"/>
                </a:solidFill>
                <a:latin typeface="Expert Sans"/>
              </a:rPr>
              <a:t>Stop</a:t>
            </a:r>
          </a:p>
        </p:txBody>
      </p:sp>
      <p:sp>
        <p:nvSpPr>
          <p:cNvPr id="26" name="TextBox 25"/>
          <p:cNvSpPr txBox="1"/>
          <p:nvPr/>
        </p:nvSpPr>
        <p:spPr>
          <a:xfrm>
            <a:off x="3035808" y="4718304"/>
            <a:ext cx="5852160" cy="640080"/>
          </a:xfrm>
          <a:prstGeom prst="rect">
            <a:avLst/>
          </a:prstGeom>
          <a:noFill/>
        </p:spPr>
        <p:txBody>
          <a:bodyPr wrap="square">
            <a:spAutoFit/>
          </a:bodyPr>
          <a:lstStyle/>
          <a:p>
            <a:pPr algn="l">
              <a:lnSpc>
                <a:spcPts val="1600"/>
              </a:lnSpc>
            </a:pPr>
            <a:r>
              <a:rPr sz="1250" b="0" i="0">
                <a:solidFill>
                  <a:srgbClr val="00395D"/>
                </a:solidFill>
                <a:latin typeface="Expert Sans"/>
              </a:rPr>
              <a:t>Crypto and rewards — off the list until new demand evidence</a:t>
            </a:r>
          </a:p>
        </p:txBody>
      </p:sp>
      <p:sp>
        <p:nvSpPr>
          <p:cNvPr id="27" name="TextBox 26"/>
          <p:cNvSpPr txBox="1"/>
          <p:nvPr/>
        </p:nvSpPr>
        <p:spPr>
          <a:xfrm>
            <a:off x="8979407" y="4828032"/>
            <a:ext cx="1463040" cy="457200"/>
          </a:xfrm>
          <a:prstGeom prst="rect">
            <a:avLst/>
          </a:prstGeom>
          <a:noFill/>
        </p:spPr>
        <p:txBody>
          <a:bodyPr wrap="square">
            <a:spAutoFit/>
          </a:bodyPr>
          <a:lstStyle/>
          <a:p>
            <a:pPr algn="l"/>
            <a:r>
              <a:rPr sz="1150" b="0" i="0">
                <a:solidFill>
                  <a:srgbClr val="3F5563"/>
                </a:solidFill>
                <a:latin typeface="Expert Sans"/>
              </a:rPr>
              <a:t>[Owner]</a:t>
            </a:r>
          </a:p>
        </p:txBody>
      </p:sp>
      <p:sp>
        <p:nvSpPr>
          <p:cNvPr id="28" name="TextBox 27"/>
          <p:cNvSpPr txBox="1"/>
          <p:nvPr/>
        </p:nvSpPr>
        <p:spPr>
          <a:xfrm>
            <a:off x="10533888" y="4828032"/>
            <a:ext cx="914400" cy="457200"/>
          </a:xfrm>
          <a:prstGeom prst="rect">
            <a:avLst/>
          </a:prstGeom>
          <a:noFill/>
        </p:spPr>
        <p:txBody>
          <a:bodyPr wrap="square">
            <a:spAutoFit/>
          </a:bodyPr>
          <a:lstStyle/>
          <a:p>
            <a:pPr algn="r"/>
            <a:r>
              <a:rPr sz="1150" b="0" i="0">
                <a:solidFill>
                  <a:srgbClr val="3F5563"/>
                </a:solidFill>
                <a:latin typeface="Expert Sans"/>
              </a:rPr>
              <a:t>[Date]</a:t>
            </a:r>
          </a:p>
        </p:txBody>
      </p:sp>
      <p:sp>
        <p:nvSpPr>
          <p:cNvPr id="29" name="TextBox 28"/>
          <p:cNvSpPr txBox="1"/>
          <p:nvPr/>
        </p:nvSpPr>
        <p:spPr>
          <a:xfrm>
            <a:off x="566928" y="5760720"/>
            <a:ext cx="11057839" cy="457200"/>
          </a:xfrm>
          <a:prstGeom prst="rect">
            <a:avLst/>
          </a:prstGeom>
          <a:noFill/>
        </p:spPr>
        <p:txBody>
          <a:bodyPr wrap="square">
            <a:spAutoFit/>
          </a:bodyPr>
          <a:lstStyle/>
          <a:p>
            <a:pPr algn="l"/>
            <a:r>
              <a:rPr sz="1250" b="0" i="1">
                <a:solidFill>
                  <a:srgbClr val="6E7F8D"/>
                </a:solidFill>
                <a:latin typeface="Expert Sans"/>
              </a:rPr>
              <a:t>First re-score lands in [month]. From then on the backlog is a standing agenda item, not a new deck.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APPENDIX</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900"/>
              </a:lnSpc>
            </a:pPr>
            <a:r>
              <a:rPr sz="2400" b="0" i="0">
                <a:solidFill>
                  <a:srgbClr val="00AEEF"/>
                </a:solidFill>
                <a:latin typeface="Expert Sans"/>
              </a:rPr>
              <a:t>Supporting detail — and how each analysis was run</a:t>
            </a:r>
          </a:p>
        </p:txBody>
      </p:sp>
      <p:sp>
        <p:nvSpPr>
          <p:cNvPr id="4" name="Rounded Rectangle 3"/>
          <p:cNvSpPr/>
          <p:nvPr/>
        </p:nvSpPr>
        <p:spPr>
          <a:xfrm>
            <a:off x="566928" y="1600200"/>
            <a:ext cx="5368899" cy="1005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728216"/>
            <a:ext cx="4637379" cy="365760"/>
          </a:xfrm>
          <a:prstGeom prst="rect">
            <a:avLst/>
          </a:prstGeom>
          <a:noFill/>
        </p:spPr>
        <p:txBody>
          <a:bodyPr wrap="square">
            <a:spAutoFit/>
          </a:bodyPr>
          <a:lstStyle/>
          <a:p>
            <a:pPr algn="l"/>
            <a:r>
              <a:rPr sz="1350" b="1" i="0">
                <a:solidFill>
                  <a:srgbClr val="00395D"/>
                </a:solidFill>
                <a:latin typeface="Expert Sans"/>
              </a:rPr>
              <a:t>OCV methodology + research findings</a:t>
            </a:r>
          </a:p>
        </p:txBody>
      </p:sp>
      <p:sp>
        <p:nvSpPr>
          <p:cNvPr id="6" name="TextBox 5"/>
          <p:cNvSpPr txBox="1"/>
          <p:nvPr/>
        </p:nvSpPr>
        <p:spPr>
          <a:xfrm>
            <a:off x="932688" y="2093976"/>
            <a:ext cx="4637379" cy="411480"/>
          </a:xfrm>
          <a:prstGeom prst="rect">
            <a:avLst/>
          </a:prstGeom>
          <a:noFill/>
        </p:spPr>
        <p:txBody>
          <a:bodyPr wrap="square">
            <a:spAutoFit/>
          </a:bodyPr>
          <a:lstStyle/>
          <a:p>
            <a:pPr algn="l"/>
            <a:r>
              <a:rPr sz="1150" b="0" i="0">
                <a:solidFill>
                  <a:srgbClr val="3F5563"/>
                </a:solidFill>
                <a:latin typeface="Expert Sans"/>
              </a:rPr>
              <a:t>Metric construction, calibration, the 320-interview base</a:t>
            </a:r>
          </a:p>
        </p:txBody>
      </p:sp>
      <p:sp>
        <p:nvSpPr>
          <p:cNvPr id="7" name="Rounded Rectangle 6"/>
          <p:cNvSpPr/>
          <p:nvPr/>
        </p:nvSpPr>
        <p:spPr>
          <a:xfrm>
            <a:off x="6255867" y="1600200"/>
            <a:ext cx="5368899" cy="1005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1627" y="1728216"/>
            <a:ext cx="4637379" cy="365760"/>
          </a:xfrm>
          <a:prstGeom prst="rect">
            <a:avLst/>
          </a:prstGeom>
          <a:noFill/>
        </p:spPr>
        <p:txBody>
          <a:bodyPr wrap="square">
            <a:spAutoFit/>
          </a:bodyPr>
          <a:lstStyle/>
          <a:p>
            <a:pPr algn="l"/>
            <a:r>
              <a:rPr sz="1350" b="1" i="0">
                <a:solidFill>
                  <a:srgbClr val="00395D"/>
                </a:solidFill>
                <a:latin typeface="Expert Sans"/>
              </a:rPr>
              <a:t>Pricing and incentive model</a:t>
            </a:r>
          </a:p>
        </p:txBody>
      </p:sp>
      <p:sp>
        <p:nvSpPr>
          <p:cNvPr id="9" name="TextBox 8"/>
          <p:cNvSpPr txBox="1"/>
          <p:nvPr/>
        </p:nvSpPr>
        <p:spPr>
          <a:xfrm>
            <a:off x="6621627" y="2093976"/>
            <a:ext cx="4637379" cy="411480"/>
          </a:xfrm>
          <a:prstGeom prst="rect">
            <a:avLst/>
          </a:prstGeom>
          <a:noFill/>
        </p:spPr>
        <p:txBody>
          <a:bodyPr wrap="square">
            <a:spAutoFit/>
          </a:bodyPr>
          <a:lstStyle/>
          <a:p>
            <a:pPr algn="l"/>
            <a:r>
              <a:rPr sz="1150" b="0" i="0">
                <a:solidFill>
                  <a:srgbClr val="3F5563"/>
                </a:solidFill>
                <a:latin typeface="Expert Sans"/>
              </a:rPr>
              <a:t>Lever assumptions, dead-weight estimates, clawback terms</a:t>
            </a:r>
          </a:p>
        </p:txBody>
      </p:sp>
      <p:sp>
        <p:nvSpPr>
          <p:cNvPr id="10" name="Rounded Rectangle 9"/>
          <p:cNvSpPr/>
          <p:nvPr/>
        </p:nvSpPr>
        <p:spPr>
          <a:xfrm>
            <a:off x="566928" y="2770632"/>
            <a:ext cx="5368899" cy="1005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898648"/>
            <a:ext cx="4637379" cy="365760"/>
          </a:xfrm>
          <a:prstGeom prst="rect">
            <a:avLst/>
          </a:prstGeom>
          <a:noFill/>
        </p:spPr>
        <p:txBody>
          <a:bodyPr wrap="square">
            <a:spAutoFit/>
          </a:bodyPr>
          <a:lstStyle/>
          <a:p>
            <a:pPr algn="l"/>
            <a:r>
              <a:rPr sz="1350" b="1" i="0">
                <a:solidFill>
                  <a:srgbClr val="00395D"/>
                </a:solidFill>
                <a:latin typeface="Expert Sans"/>
              </a:rPr>
              <a:t>Wrapper / recall study</a:t>
            </a:r>
          </a:p>
        </p:txBody>
      </p:sp>
      <p:sp>
        <p:nvSpPr>
          <p:cNvPr id="12" name="TextBox 11"/>
          <p:cNvSpPr txBox="1"/>
          <p:nvPr/>
        </p:nvSpPr>
        <p:spPr>
          <a:xfrm>
            <a:off x="932688" y="3264408"/>
            <a:ext cx="4637379" cy="411480"/>
          </a:xfrm>
          <a:prstGeom prst="rect">
            <a:avLst/>
          </a:prstGeom>
          <a:noFill/>
        </p:spPr>
        <p:txBody>
          <a:bodyPr wrap="square">
            <a:spAutoFit/>
          </a:bodyPr>
          <a:lstStyle/>
          <a:p>
            <a:pPr algn="l"/>
            <a:r>
              <a:rPr sz="1150" b="0" i="0">
                <a:solidFill>
                  <a:srgbClr val="3F5563"/>
                </a:solidFill>
                <a:latin typeface="Expert Sans"/>
              </a:rPr>
              <a:t>Entry-point research, recall tracking, break-even</a:t>
            </a:r>
          </a:p>
        </p:txBody>
      </p:sp>
      <p:sp>
        <p:nvSpPr>
          <p:cNvPr id="13" name="Rounded Rectangle 12"/>
          <p:cNvSpPr/>
          <p:nvPr/>
        </p:nvSpPr>
        <p:spPr>
          <a:xfrm>
            <a:off x="6255867" y="2770632"/>
            <a:ext cx="5368899" cy="1005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1627" y="2898648"/>
            <a:ext cx="4637379" cy="365760"/>
          </a:xfrm>
          <a:prstGeom prst="rect">
            <a:avLst/>
          </a:prstGeom>
          <a:noFill/>
        </p:spPr>
        <p:txBody>
          <a:bodyPr wrap="square">
            <a:spAutoFit/>
          </a:bodyPr>
          <a:lstStyle/>
          <a:p>
            <a:pPr algn="l"/>
            <a:r>
              <a:rPr sz="1350" b="1" i="0">
                <a:solidFill>
                  <a:srgbClr val="00395D"/>
                </a:solidFill>
                <a:latin typeface="Expert Sans"/>
              </a:rPr>
              <a:t>Partner due diligence + route model</a:t>
            </a:r>
          </a:p>
        </p:txBody>
      </p:sp>
      <p:sp>
        <p:nvSpPr>
          <p:cNvPr id="15" name="TextBox 14"/>
          <p:cNvSpPr txBox="1"/>
          <p:nvPr/>
        </p:nvSpPr>
        <p:spPr>
          <a:xfrm>
            <a:off x="6621627" y="3264408"/>
            <a:ext cx="4637379" cy="411480"/>
          </a:xfrm>
          <a:prstGeom prst="rect">
            <a:avLst/>
          </a:prstGeom>
          <a:noFill/>
        </p:spPr>
        <p:txBody>
          <a:bodyPr wrap="square">
            <a:spAutoFit/>
          </a:bodyPr>
          <a:lstStyle/>
          <a:p>
            <a:pPr algn="l"/>
            <a:r>
              <a:rPr sz="1150" b="0" i="0">
                <a:solidFill>
                  <a:srgbClr val="3F5563"/>
                </a:solidFill>
                <a:latin typeface="Expert Sans"/>
              </a:rPr>
              <a:t>Counterparty assessment, terms, route economics</a:t>
            </a:r>
          </a:p>
        </p:txBody>
      </p:sp>
      <p:sp>
        <p:nvSpPr>
          <p:cNvPr id="16" name="Rounded Rectangle 15"/>
          <p:cNvSpPr/>
          <p:nvPr/>
        </p:nvSpPr>
        <p:spPr>
          <a:xfrm>
            <a:off x="566928" y="3941064"/>
            <a:ext cx="5368899" cy="1005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69080"/>
            <a:ext cx="4637379" cy="365760"/>
          </a:xfrm>
          <a:prstGeom prst="rect">
            <a:avLst/>
          </a:prstGeom>
          <a:noFill/>
        </p:spPr>
        <p:txBody>
          <a:bodyPr wrap="square">
            <a:spAutoFit/>
          </a:bodyPr>
          <a:lstStyle/>
          <a:p>
            <a:pPr algn="l"/>
            <a:r>
              <a:rPr sz="1350" b="1" i="0">
                <a:solidFill>
                  <a:srgbClr val="00395D"/>
                </a:solidFill>
                <a:latin typeface="Expert Sans"/>
              </a:rPr>
              <a:t>Method: the four analyses</a:t>
            </a:r>
          </a:p>
        </p:txBody>
      </p:sp>
      <p:sp>
        <p:nvSpPr>
          <p:cNvPr id="18" name="TextBox 17"/>
          <p:cNvSpPr txBox="1"/>
          <p:nvPr/>
        </p:nvSpPr>
        <p:spPr>
          <a:xfrm>
            <a:off x="932688" y="4434840"/>
            <a:ext cx="4637379" cy="411480"/>
          </a:xfrm>
          <a:prstGeom prst="rect">
            <a:avLst/>
          </a:prstGeom>
          <a:noFill/>
        </p:spPr>
        <p:txBody>
          <a:bodyPr wrap="square">
            <a:spAutoFit/>
          </a:bodyPr>
          <a:lstStyle/>
          <a:p>
            <a:pPr algn="l"/>
            <a:r>
              <a:rPr sz="1150" b="0" i="0">
                <a:solidFill>
                  <a:srgbClr val="3F5563"/>
                </a:solidFill>
                <a:latin typeface="Expert Sans"/>
              </a:rPr>
              <a:t>Step-by-step, next four pages — reproducible with Copilot</a:t>
            </a:r>
          </a:p>
        </p:txBody>
      </p:sp>
      <p:sp>
        <p:nvSpPr>
          <p:cNvPr id="19" name="Rounded Rectangle 18"/>
          <p:cNvSpPr/>
          <p:nvPr/>
        </p:nvSpPr>
        <p:spPr>
          <a:xfrm>
            <a:off x="6255867" y="3941064"/>
            <a:ext cx="5368899" cy="100584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1627" y="4069080"/>
            <a:ext cx="4637379" cy="365760"/>
          </a:xfrm>
          <a:prstGeom prst="rect">
            <a:avLst/>
          </a:prstGeom>
          <a:noFill/>
        </p:spPr>
        <p:txBody>
          <a:bodyPr wrap="square">
            <a:spAutoFit/>
          </a:bodyPr>
          <a:lstStyle/>
          <a:p>
            <a:pPr algn="l"/>
            <a:r>
              <a:rPr sz="1350" b="1" i="0">
                <a:solidFill>
                  <a:srgbClr val="00395D"/>
                </a:solidFill>
                <a:latin typeface="Expert Sans"/>
              </a:rPr>
              <a:t>Features considered and excluded earlier</a:t>
            </a:r>
          </a:p>
        </p:txBody>
      </p:sp>
      <p:sp>
        <p:nvSpPr>
          <p:cNvPr id="21" name="TextBox 20"/>
          <p:cNvSpPr txBox="1"/>
          <p:nvPr/>
        </p:nvSpPr>
        <p:spPr>
          <a:xfrm>
            <a:off x="6621627" y="4434840"/>
            <a:ext cx="4637379" cy="411480"/>
          </a:xfrm>
          <a:prstGeom prst="rect">
            <a:avLst/>
          </a:prstGeom>
          <a:noFill/>
        </p:spPr>
        <p:txBody>
          <a:bodyPr wrap="square">
            <a:spAutoFit/>
          </a:bodyPr>
          <a:lstStyle/>
          <a:p>
            <a:pPr algn="l"/>
            <a:r>
              <a:rPr sz="1150" b="0" i="0">
                <a:solidFill>
                  <a:srgbClr val="3F5563"/>
                </a:solidFill>
                <a:latin typeface="Expert Sans"/>
              </a:rPr>
              <a:t>Anything cut before the shortlist, and why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APPENDIX  ·  METHOD 1 OF 4</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700"/>
              </a:lnSpc>
            </a:pPr>
            <a:r>
              <a:rPr sz="2200" b="0" i="0">
                <a:solidFill>
                  <a:srgbClr val="00AEEF"/>
                </a:solidFill>
                <a:latin typeface="Expert Sans"/>
              </a:rPr>
              <a:t>How the demand scores were built</a:t>
            </a:r>
          </a:p>
        </p:txBody>
      </p:sp>
      <p:sp>
        <p:nvSpPr>
          <p:cNvPr id="4" name="Rounded Rectangle 3"/>
          <p:cNvSpPr/>
          <p:nvPr/>
        </p:nvSpPr>
        <p:spPr>
          <a:xfrm>
            <a:off x="566928" y="1481328"/>
            <a:ext cx="3200400" cy="356616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45920"/>
            <a:ext cx="2651760" cy="310896"/>
          </a:xfrm>
          <a:prstGeom prst="rect">
            <a:avLst/>
          </a:prstGeom>
          <a:noFill/>
        </p:spPr>
        <p:txBody>
          <a:bodyPr wrap="square">
            <a:spAutoFit/>
          </a:bodyPr>
          <a:lstStyle/>
          <a:p>
            <a:pPr algn="l"/>
            <a:r>
              <a:rPr sz="1100" b="1" i="0">
                <a:solidFill>
                  <a:srgbClr val="0083C5"/>
                </a:solidFill>
                <a:latin typeface="Expert Sans"/>
              </a:rPr>
              <a:t>Inputs required</a:t>
            </a:r>
          </a:p>
        </p:txBody>
      </p:sp>
      <p:sp>
        <p:nvSpPr>
          <p:cNvPr id="6" name="TextBox 5"/>
          <p:cNvSpPr txBox="1"/>
          <p:nvPr/>
        </p:nvSpPr>
        <p:spPr>
          <a:xfrm>
            <a:off x="859536" y="2011680"/>
            <a:ext cx="2697480" cy="457200"/>
          </a:xfrm>
          <a:prstGeom prst="rect">
            <a:avLst/>
          </a:prstGeom>
          <a:noFill/>
        </p:spPr>
        <p:txBody>
          <a:bodyPr wrap="square">
            <a:spAutoFit/>
          </a:bodyPr>
          <a:lstStyle/>
          <a:p>
            <a:pPr>
              <a:spcAft>
                <a:spcPts val="600"/>
              </a:spcAft>
            </a:pPr>
            <a:r>
              <a:rPr sz="1050">
                <a:solidFill>
                  <a:srgbClr val="3F5563"/>
                </a:solidFill>
                <a:latin typeface="Expert Sans"/>
              </a:rPr>
              <a:t>•  Segment interviews (n, dates)</a:t>
            </a:r>
          </a:p>
          <a:p>
            <a:pPr>
              <a:spcAft>
                <a:spcPts val="600"/>
              </a:spcAft>
            </a:pPr>
            <a:r>
              <a:rPr sz="1050">
                <a:solidFill>
                  <a:srgbClr val="3F5563"/>
                </a:solidFill>
                <a:latin typeface="Expert Sans"/>
              </a:rPr>
              <a:t>•  Incumbent solution facts and prices</a:t>
            </a:r>
          </a:p>
          <a:p>
            <a:pPr>
              <a:spcAft>
                <a:spcPts val="600"/>
              </a:spcAft>
            </a:pPr>
            <a:r>
              <a:rPr sz="1050">
                <a:solidFill>
                  <a:srgbClr val="3F5563"/>
                </a:solidFill>
                <a:latin typeface="Expert Sans"/>
              </a:rPr>
              <a:t>•  Feature specs and price points</a:t>
            </a:r>
          </a:p>
          <a:p>
            <a:pPr>
              <a:spcAft>
                <a:spcPts val="600"/>
              </a:spcAft>
            </a:pPr>
            <a:r>
              <a:rPr sz="1050">
                <a:solidFill>
                  <a:srgbClr val="3F5563"/>
                </a:solidFill>
                <a:latin typeface="Expert Sans"/>
              </a:rPr>
              <a:t>•  Past-launch calibration data</a:t>
            </a:r>
          </a:p>
        </p:txBody>
      </p:sp>
      <p:sp>
        <p:nvSpPr>
          <p:cNvPr id="7" name="Oval 6"/>
          <p:cNvSpPr/>
          <p:nvPr/>
        </p:nvSpPr>
        <p:spPr>
          <a:xfrm>
            <a:off x="4087368" y="1536192"/>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8" name="TextBox 7"/>
          <p:cNvSpPr txBox="1"/>
          <p:nvPr/>
        </p:nvSpPr>
        <p:spPr>
          <a:xfrm>
            <a:off x="4608576" y="1481328"/>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Derive the segment's outcomes: build the outcome ladder for the job; keep the minimal covering set (OCV standard, step 1a).</a:t>
            </a:r>
          </a:p>
        </p:txBody>
      </p:sp>
      <p:sp>
        <p:nvSpPr>
          <p:cNvPr id="9" name="Oval 8"/>
          <p:cNvSpPr/>
          <p:nvPr/>
        </p:nvSpPr>
        <p:spPr>
          <a:xfrm>
            <a:off x="4087368" y="2249424"/>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0" name="TextBox 9"/>
          <p:cNvSpPr txBox="1"/>
          <p:nvPr/>
        </p:nvSpPr>
        <p:spPr>
          <a:xfrm>
            <a:off x="4608576" y="2194560"/>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Score each feature against the incumbent per component: financial, time and stress deltas, time priced at the standard's conventions.</a:t>
            </a:r>
          </a:p>
        </p:txBody>
      </p:sp>
      <p:sp>
        <p:nvSpPr>
          <p:cNvPr id="11" name="Oval 10"/>
          <p:cNvSpPr/>
          <p:nvPr/>
        </p:nvSpPr>
        <p:spPr>
          <a:xfrm>
            <a:off x="4087368" y="2962656"/>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2" name="TextBox 11"/>
          <p:cNvSpPr txBox="1"/>
          <p:nvPr/>
        </p:nvSpPr>
        <p:spPr>
          <a:xfrm>
            <a:off x="4608576" y="2907792"/>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Subtract switching costs (the standard's taxonomy). Adjust each component for visibility and credibility — contractual anchors beat claimed ones.</a:t>
            </a:r>
          </a:p>
        </p:txBody>
      </p:sp>
      <p:sp>
        <p:nvSpPr>
          <p:cNvPr id="13" name="Oval 12"/>
          <p:cNvSpPr/>
          <p:nvPr/>
        </p:nvSpPr>
        <p:spPr>
          <a:xfrm>
            <a:off x="4087368" y="3675888"/>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4</a:t>
            </a:r>
          </a:p>
        </p:txBody>
      </p:sp>
      <p:sp>
        <p:nvSpPr>
          <p:cNvPr id="14" name="TextBox 13"/>
          <p:cNvSpPr txBox="1"/>
          <p:nvPr/>
        </p:nvSpPr>
        <p:spPr>
          <a:xfrm>
            <a:off x="4608576" y="3621024"/>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Sum to the OCV score. Map to predicted uptake with the calibration table; set the gate from past launches, not from the answer you want.</a:t>
            </a:r>
          </a:p>
        </p:txBody>
      </p:sp>
      <p:sp>
        <p:nvSpPr>
          <p:cNvPr id="15" name="Oval 14"/>
          <p:cNvSpPr/>
          <p:nvPr/>
        </p:nvSpPr>
        <p:spPr>
          <a:xfrm>
            <a:off x="4087368" y="4389120"/>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5</a:t>
            </a:r>
          </a:p>
        </p:txBody>
      </p:sp>
      <p:sp>
        <p:nvSpPr>
          <p:cNvPr id="16" name="TextBox 15"/>
          <p:cNvSpPr txBox="1"/>
          <p:nvPr/>
        </p:nvSpPr>
        <p:spPr>
          <a:xfrm>
            <a:off x="4608576" y="4334256"/>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Rank the features. Record every input in the evidence register with source and date — the register is what the quarterly re-score re-runs.</a:t>
            </a:r>
          </a:p>
        </p:txBody>
      </p:sp>
      <p:sp>
        <p:nvSpPr>
          <p:cNvPr id="17" name="Rounded Rectangle 16"/>
          <p:cNvSpPr/>
          <p:nvPr/>
        </p:nvSpPr>
        <p:spPr>
          <a:xfrm>
            <a:off x="566928" y="5230368"/>
            <a:ext cx="11057839" cy="914400"/>
          </a:xfrm>
          <a:prstGeom prst="roundRect">
            <a:avLst>
              <a:gd name="adj" fmla="val 8000"/>
            </a:avLst>
          </a:prstGeom>
          <a:solidFill>
            <a:srgbClr val="CDE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340096"/>
            <a:ext cx="2743200" cy="274320"/>
          </a:xfrm>
          <a:prstGeom prst="rect">
            <a:avLst/>
          </a:prstGeom>
          <a:noFill/>
        </p:spPr>
        <p:txBody>
          <a:bodyPr wrap="square">
            <a:spAutoFit/>
          </a:bodyPr>
          <a:lstStyle/>
          <a:p>
            <a:pPr algn="l"/>
            <a:r>
              <a:rPr sz="1050" b="1" i="0">
                <a:solidFill>
                  <a:srgbClr val="0083C5"/>
                </a:solidFill>
                <a:latin typeface="Expert Sans"/>
              </a:rPr>
              <a:t>Run it with Copilot</a:t>
            </a:r>
          </a:p>
        </p:txBody>
      </p:sp>
      <p:sp>
        <p:nvSpPr>
          <p:cNvPr id="19" name="TextBox 18"/>
          <p:cNvSpPr txBox="1"/>
          <p:nvPr/>
        </p:nvSpPr>
        <p:spPr>
          <a:xfrm>
            <a:off x="950976" y="5614416"/>
            <a:ext cx="10143439" cy="457200"/>
          </a:xfrm>
          <a:prstGeom prst="rect">
            <a:avLst/>
          </a:prstGeom>
          <a:noFill/>
        </p:spPr>
        <p:txBody>
          <a:bodyPr wrap="square">
            <a:spAutoFit/>
          </a:bodyPr>
          <a:lstStyle/>
          <a:p>
            <a:pPr algn="l">
              <a:lnSpc>
                <a:spcPts val="1400"/>
              </a:lnSpc>
            </a:pPr>
            <a:r>
              <a:rPr sz="1050" b="0" i="0">
                <a:solidFill>
                  <a:srgbClr val="00395D"/>
                </a:solidFill>
                <a:latin typeface="Expert Sans"/>
              </a:rPr>
              <a:t>Attach objective-customer-value-standard.md (same repository). One chat per feature. Paste the step, the feature spec and the register; require evidence for AND against.   ·   Output feeds: slides 8–9, and the uptake input to the sort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APPENDIX  ·  METHOD 2 OF 4</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700"/>
              </a:lnSpc>
            </a:pPr>
            <a:r>
              <a:rPr sz="2200" b="0" i="0">
                <a:solidFill>
                  <a:srgbClr val="00AEEF"/>
                </a:solidFill>
                <a:latin typeface="Expert Sans"/>
              </a:rPr>
              <a:t>How the backlog was sorted</a:t>
            </a:r>
          </a:p>
        </p:txBody>
      </p:sp>
      <p:sp>
        <p:nvSpPr>
          <p:cNvPr id="4" name="Rounded Rectangle 3"/>
          <p:cNvSpPr/>
          <p:nvPr/>
        </p:nvSpPr>
        <p:spPr>
          <a:xfrm>
            <a:off x="566928" y="1481328"/>
            <a:ext cx="3200400" cy="356616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45920"/>
            <a:ext cx="2651760" cy="310896"/>
          </a:xfrm>
          <a:prstGeom prst="rect">
            <a:avLst/>
          </a:prstGeom>
          <a:noFill/>
        </p:spPr>
        <p:txBody>
          <a:bodyPr wrap="square">
            <a:spAutoFit/>
          </a:bodyPr>
          <a:lstStyle/>
          <a:p>
            <a:pPr algn="l"/>
            <a:r>
              <a:rPr sz="1100" b="1" i="0">
                <a:solidFill>
                  <a:srgbClr val="0083C5"/>
                </a:solidFill>
                <a:latin typeface="Expert Sans"/>
              </a:rPr>
              <a:t>Inputs required</a:t>
            </a:r>
          </a:p>
        </p:txBody>
      </p:sp>
      <p:sp>
        <p:nvSpPr>
          <p:cNvPr id="6" name="TextBox 5"/>
          <p:cNvSpPr txBox="1"/>
          <p:nvPr/>
        </p:nvSpPr>
        <p:spPr>
          <a:xfrm>
            <a:off x="859536" y="2011680"/>
            <a:ext cx="2697480" cy="457200"/>
          </a:xfrm>
          <a:prstGeom prst="rect">
            <a:avLst/>
          </a:prstGeom>
          <a:noFill/>
        </p:spPr>
        <p:txBody>
          <a:bodyPr wrap="square">
            <a:spAutoFit/>
          </a:bodyPr>
          <a:lstStyle/>
          <a:p>
            <a:pPr>
              <a:spcAft>
                <a:spcPts val="600"/>
              </a:spcAft>
            </a:pPr>
            <a:r>
              <a:rPr sz="1050">
                <a:solidFill>
                  <a:srgbClr val="3F5563"/>
                </a:solidFill>
                <a:latin typeface="Expert Sans"/>
              </a:rPr>
              <a:t>•  Uptake per feature (from method 1)</a:t>
            </a:r>
          </a:p>
          <a:p>
            <a:pPr>
              <a:spcAft>
                <a:spcPts val="600"/>
              </a:spcAft>
            </a:pPr>
            <a:r>
              <a:rPr sz="1050">
                <a:solidFill>
                  <a:srgbClr val="3F5563"/>
                </a:solidFill>
                <a:latin typeface="Expert Sans"/>
              </a:rPr>
              <a:t>•  Margin model per feature</a:t>
            </a:r>
          </a:p>
          <a:p>
            <a:pPr>
              <a:spcAft>
                <a:spcPts val="600"/>
              </a:spcAft>
            </a:pPr>
            <a:r>
              <a:rPr sz="1050">
                <a:solidFill>
                  <a:srgbClr val="3F5563"/>
                </a:solidFill>
                <a:latin typeface="Expert Sans"/>
              </a:rPr>
              <a:t>•  Build-slot estimates per feature</a:t>
            </a:r>
          </a:p>
          <a:p>
            <a:pPr>
              <a:spcAft>
                <a:spcPts val="600"/>
              </a:spcAft>
            </a:pPr>
            <a:r>
              <a:rPr sz="1050">
                <a:solidFill>
                  <a:srgbClr val="3F5563"/>
                </a:solidFill>
                <a:latin typeface="Expert Sans"/>
              </a:rPr>
              <a:t>•  Past campaign results, by lever</a:t>
            </a:r>
          </a:p>
        </p:txBody>
      </p:sp>
      <p:sp>
        <p:nvSpPr>
          <p:cNvPr id="7" name="Oval 6"/>
          <p:cNvSpPr/>
          <p:nvPr/>
        </p:nvSpPr>
        <p:spPr>
          <a:xfrm>
            <a:off x="4087368" y="1536192"/>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8" name="TextBox 7"/>
          <p:cNvSpPr txBox="1"/>
          <p:nvPr/>
        </p:nvSpPr>
        <p:spPr>
          <a:xfrm>
            <a:off x="4608576" y="1481328"/>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Build the base case per admitted feature: predicted uptake × price × margin, before any lever.</a:t>
            </a:r>
          </a:p>
        </p:txBody>
      </p:sp>
      <p:sp>
        <p:nvSpPr>
          <p:cNvPr id="9" name="Oval 8"/>
          <p:cNvSpPr/>
          <p:nvPr/>
        </p:nvSpPr>
        <p:spPr>
          <a:xfrm>
            <a:off x="4087368" y="2249424"/>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0" name="TextBox 9"/>
          <p:cNvSpPr txBox="1"/>
          <p:nvPr/>
        </p:nvSpPr>
        <p:spPr>
          <a:xfrm>
            <a:off x="4608576" y="2194560"/>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Size the levers with the two-part test: would the behaviour happen anyway, and could a default do it free? Price the dead-weight in.</a:t>
            </a:r>
          </a:p>
        </p:txBody>
      </p:sp>
      <p:sp>
        <p:nvSpPr>
          <p:cNvPr id="11" name="Oval 10"/>
          <p:cNvSpPr/>
          <p:nvPr/>
        </p:nvSpPr>
        <p:spPr>
          <a:xfrm>
            <a:off x="4087368" y="2962656"/>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2" name="TextBox 11"/>
          <p:cNvSpPr txBox="1"/>
          <p:nvPr/>
        </p:nvSpPr>
        <p:spPr>
          <a:xfrm>
            <a:off x="4608576" y="2907792"/>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Discount each feature's configured NPV for its route's timing and confidence (method 4 supplies both).</a:t>
            </a:r>
          </a:p>
        </p:txBody>
      </p:sp>
      <p:sp>
        <p:nvSpPr>
          <p:cNvPr id="13" name="Oval 12"/>
          <p:cNvSpPr/>
          <p:nvPr/>
        </p:nvSpPr>
        <p:spPr>
          <a:xfrm>
            <a:off x="4087368" y="3675888"/>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4</a:t>
            </a:r>
          </a:p>
        </p:txBody>
      </p:sp>
      <p:sp>
        <p:nvSpPr>
          <p:cNvPr id="14" name="TextBox 13"/>
          <p:cNvSpPr txBox="1"/>
          <p:nvPr/>
        </p:nvSpPr>
        <p:spPr>
          <a:xfrm>
            <a:off x="4608576" y="3621024"/>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Divide by build slots consumed: the sort key is risk-adjusted return PER SLOT. Rank. Note where per-slot order differs from raw NPV order.</a:t>
            </a:r>
          </a:p>
        </p:txBody>
      </p:sp>
      <p:sp>
        <p:nvSpPr>
          <p:cNvPr id="15" name="Oval 14"/>
          <p:cNvSpPr/>
          <p:nvPr/>
        </p:nvSpPr>
        <p:spPr>
          <a:xfrm>
            <a:off x="4087368" y="4389120"/>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5</a:t>
            </a:r>
          </a:p>
        </p:txBody>
      </p:sp>
      <p:sp>
        <p:nvSpPr>
          <p:cNvPr id="16" name="TextBox 15"/>
          <p:cNvSpPr txBox="1"/>
          <p:nvPr/>
        </p:nvSpPr>
        <p:spPr>
          <a:xfrm>
            <a:off x="4608576" y="4334256"/>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Set the re-score triggers: which input movements change the order, and who watches each one.</a:t>
            </a:r>
          </a:p>
        </p:txBody>
      </p:sp>
      <p:sp>
        <p:nvSpPr>
          <p:cNvPr id="17" name="Rounded Rectangle 16"/>
          <p:cNvSpPr/>
          <p:nvPr/>
        </p:nvSpPr>
        <p:spPr>
          <a:xfrm>
            <a:off x="566928" y="5230368"/>
            <a:ext cx="11057839" cy="914400"/>
          </a:xfrm>
          <a:prstGeom prst="roundRect">
            <a:avLst>
              <a:gd name="adj" fmla="val 8000"/>
            </a:avLst>
          </a:prstGeom>
          <a:solidFill>
            <a:srgbClr val="CDE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340096"/>
            <a:ext cx="2743200" cy="274320"/>
          </a:xfrm>
          <a:prstGeom prst="rect">
            <a:avLst/>
          </a:prstGeom>
          <a:noFill/>
        </p:spPr>
        <p:txBody>
          <a:bodyPr wrap="square">
            <a:spAutoFit/>
          </a:bodyPr>
          <a:lstStyle/>
          <a:p>
            <a:pPr algn="l"/>
            <a:r>
              <a:rPr sz="1050" b="1" i="0">
                <a:solidFill>
                  <a:srgbClr val="0083C5"/>
                </a:solidFill>
                <a:latin typeface="Expert Sans"/>
              </a:rPr>
              <a:t>Run it with Copilot</a:t>
            </a:r>
          </a:p>
        </p:txBody>
      </p:sp>
      <p:sp>
        <p:nvSpPr>
          <p:cNvPr id="19" name="TextBox 18"/>
          <p:cNvSpPr txBox="1"/>
          <p:nvPr/>
        </p:nvSpPr>
        <p:spPr>
          <a:xfrm>
            <a:off x="950976" y="5614416"/>
            <a:ext cx="10143439" cy="457200"/>
          </a:xfrm>
          <a:prstGeom prst="rect">
            <a:avLst/>
          </a:prstGeom>
          <a:noFill/>
        </p:spPr>
        <p:txBody>
          <a:bodyPr wrap="square">
            <a:spAutoFit/>
          </a:bodyPr>
          <a:lstStyle/>
          <a:p>
            <a:pPr algn="l">
              <a:lnSpc>
                <a:spcPts val="1400"/>
              </a:lnSpc>
            </a:pPr>
            <a:r>
              <a:rPr sz="1050" b="0" i="0">
                <a:solidFill>
                  <a:srgbClr val="00395D"/>
                </a:solidFill>
                <a:latin typeface="Expert Sans"/>
              </a:rPr>
              <a:t>One chat per feature. Paste the base case, lever tests and route discount; require the per-slot arithmetic shown and the trigger list stated.   ·   Output feeds: slides 12–16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APPENDIX  ·  METHOD 3 OF 4</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700"/>
              </a:lnSpc>
            </a:pPr>
            <a:r>
              <a:rPr sz="2200" b="0" i="0">
                <a:solidFill>
                  <a:srgbClr val="00AEEF"/>
                </a:solidFill>
                <a:latin typeface="Expert Sans"/>
              </a:rPr>
              <a:t>How the wrapper case was built</a:t>
            </a:r>
          </a:p>
        </p:txBody>
      </p:sp>
      <p:sp>
        <p:nvSpPr>
          <p:cNvPr id="4" name="Rounded Rectangle 3"/>
          <p:cNvSpPr/>
          <p:nvPr/>
        </p:nvSpPr>
        <p:spPr>
          <a:xfrm>
            <a:off x="566928" y="1481328"/>
            <a:ext cx="3200400" cy="356616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45920"/>
            <a:ext cx="2651760" cy="310896"/>
          </a:xfrm>
          <a:prstGeom prst="rect">
            <a:avLst/>
          </a:prstGeom>
          <a:noFill/>
        </p:spPr>
        <p:txBody>
          <a:bodyPr wrap="square">
            <a:spAutoFit/>
          </a:bodyPr>
          <a:lstStyle/>
          <a:p>
            <a:pPr algn="l"/>
            <a:r>
              <a:rPr sz="1100" b="1" i="0">
                <a:solidFill>
                  <a:srgbClr val="0083C5"/>
                </a:solidFill>
                <a:latin typeface="Expert Sans"/>
              </a:rPr>
              <a:t>Inputs required</a:t>
            </a:r>
          </a:p>
        </p:txBody>
      </p:sp>
      <p:sp>
        <p:nvSpPr>
          <p:cNvPr id="6" name="TextBox 5"/>
          <p:cNvSpPr txBox="1"/>
          <p:nvPr/>
        </p:nvSpPr>
        <p:spPr>
          <a:xfrm>
            <a:off x="859536" y="2011680"/>
            <a:ext cx="2697480" cy="457200"/>
          </a:xfrm>
          <a:prstGeom prst="rect">
            <a:avLst/>
          </a:prstGeom>
          <a:noFill/>
        </p:spPr>
        <p:txBody>
          <a:bodyPr wrap="square">
            <a:spAutoFit/>
          </a:bodyPr>
          <a:lstStyle/>
          <a:p>
            <a:pPr>
              <a:spcAft>
                <a:spcPts val="600"/>
              </a:spcAft>
            </a:pPr>
            <a:r>
              <a:rPr sz="1050">
                <a:solidFill>
                  <a:srgbClr val="3F5563"/>
                </a:solidFill>
                <a:latin typeface="Expert Sans"/>
              </a:rPr>
              <a:t>•  Brand tracking data</a:t>
            </a:r>
          </a:p>
          <a:p>
            <a:pPr>
              <a:spcAft>
                <a:spcPts val="600"/>
              </a:spcAft>
            </a:pPr>
            <a:r>
              <a:rPr sz="1050">
                <a:solidFill>
                  <a:srgbClr val="3F5563"/>
                </a:solidFill>
                <a:latin typeface="Expert Sans"/>
              </a:rPr>
              <a:t>•  Entry-point research: when the job arises, in customer words</a:t>
            </a:r>
          </a:p>
          <a:p>
            <a:pPr>
              <a:spcAft>
                <a:spcPts val="600"/>
              </a:spcAft>
            </a:pPr>
            <a:r>
              <a:rPr sz="1050">
                <a:solidFill>
                  <a:srgbClr val="3F5563"/>
                </a:solidFill>
                <a:latin typeface="Expert Sans"/>
              </a:rPr>
              <a:t>•  Media / channel cost cards</a:t>
            </a:r>
          </a:p>
          <a:p>
            <a:pPr>
              <a:spcAft>
                <a:spcPts val="600"/>
              </a:spcAft>
            </a:pPr>
            <a:r>
              <a:rPr sz="1050">
                <a:solidFill>
                  <a:srgbClr val="3F5563"/>
                </a:solidFill>
                <a:latin typeface="Expert Sans"/>
              </a:rPr>
              <a:t>•  Competitor recall benchmarks</a:t>
            </a:r>
          </a:p>
        </p:txBody>
      </p:sp>
      <p:sp>
        <p:nvSpPr>
          <p:cNvPr id="7" name="Oval 6"/>
          <p:cNvSpPr/>
          <p:nvPr/>
        </p:nvSpPr>
        <p:spPr>
          <a:xfrm>
            <a:off x="4087368" y="1536192"/>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8" name="TextBox 7"/>
          <p:cNvSpPr txBox="1"/>
          <p:nvPr/>
        </p:nvSpPr>
        <p:spPr>
          <a:xfrm>
            <a:off x="4608576" y="1481328"/>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Identify the segment's entry points: the moments the job arises, phrased in the customer's words, from research — not from the marketing plan.</a:t>
            </a:r>
          </a:p>
        </p:txBody>
      </p:sp>
      <p:sp>
        <p:nvSpPr>
          <p:cNvPr id="9" name="Oval 8"/>
          <p:cNvSpPr/>
          <p:nvPr/>
        </p:nvSpPr>
        <p:spPr>
          <a:xfrm>
            <a:off x="4087368" y="2249424"/>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0" name="TextBox 9"/>
          <p:cNvSpPr txBox="1"/>
          <p:nvPr/>
        </p:nvSpPr>
        <p:spPr>
          <a:xfrm>
            <a:off x="4608576" y="2194560"/>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Measure current unaided recall at each entry point, for the bank and for competitors. The gap is the wrapper's job description.</a:t>
            </a:r>
          </a:p>
        </p:txBody>
      </p:sp>
      <p:sp>
        <p:nvSpPr>
          <p:cNvPr id="11" name="Oval 10"/>
          <p:cNvSpPr/>
          <p:nvPr/>
        </p:nvSpPr>
        <p:spPr>
          <a:xfrm>
            <a:off x="4087368" y="2962656"/>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2" name="TextBox 11"/>
          <p:cNvSpPr txBox="1"/>
          <p:nvPr/>
        </p:nvSpPr>
        <p:spPr>
          <a:xfrm>
            <a:off x="4608576" y="2907792"/>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Design the wrapper: one name, fixed assets, explicit linkage to the entry points. Span only admitted features — never wrap what failed the gate.</a:t>
            </a:r>
          </a:p>
        </p:txBody>
      </p:sp>
      <p:sp>
        <p:nvSpPr>
          <p:cNvPr id="13" name="Oval 12"/>
          <p:cNvSpPr/>
          <p:nvPr/>
        </p:nvSpPr>
        <p:spPr>
          <a:xfrm>
            <a:off x="4087368" y="3675888"/>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4</a:t>
            </a:r>
          </a:p>
        </p:txBody>
      </p:sp>
      <p:sp>
        <p:nvSpPr>
          <p:cNvPr id="14" name="TextBox 13"/>
          <p:cNvSpPr txBox="1"/>
          <p:nvPr/>
        </p:nvSpPr>
        <p:spPr>
          <a:xfrm>
            <a:off x="4608576" y="3621024"/>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Price it: fixed annual cost against a recall-uplift band. State the break-even in recall points — the honest version of a brand business case.</a:t>
            </a:r>
          </a:p>
        </p:txBody>
      </p:sp>
      <p:sp>
        <p:nvSpPr>
          <p:cNvPr id="15" name="Oval 14"/>
          <p:cNvSpPr/>
          <p:nvPr/>
        </p:nvSpPr>
        <p:spPr>
          <a:xfrm>
            <a:off x="4087368" y="4389120"/>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5</a:t>
            </a:r>
          </a:p>
        </p:txBody>
      </p:sp>
      <p:sp>
        <p:nvSpPr>
          <p:cNvPr id="16" name="TextBox 15"/>
          <p:cNvSpPr txBox="1"/>
          <p:nvPr/>
        </p:nvSpPr>
        <p:spPr>
          <a:xfrm>
            <a:off x="4608576" y="4334256"/>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Set the tracking: entry-point recall, quarterly, with the stop rule — the wrapper's row on the sensitivity page.</a:t>
            </a:r>
          </a:p>
        </p:txBody>
      </p:sp>
      <p:sp>
        <p:nvSpPr>
          <p:cNvPr id="17" name="Rounded Rectangle 16"/>
          <p:cNvSpPr/>
          <p:nvPr/>
        </p:nvSpPr>
        <p:spPr>
          <a:xfrm>
            <a:off x="566928" y="5230368"/>
            <a:ext cx="11057839" cy="914400"/>
          </a:xfrm>
          <a:prstGeom prst="roundRect">
            <a:avLst>
              <a:gd name="adj" fmla="val 8000"/>
            </a:avLst>
          </a:prstGeom>
          <a:solidFill>
            <a:srgbClr val="CDE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340096"/>
            <a:ext cx="2743200" cy="274320"/>
          </a:xfrm>
          <a:prstGeom prst="rect">
            <a:avLst/>
          </a:prstGeom>
          <a:noFill/>
        </p:spPr>
        <p:txBody>
          <a:bodyPr wrap="square">
            <a:spAutoFit/>
          </a:bodyPr>
          <a:lstStyle/>
          <a:p>
            <a:pPr algn="l"/>
            <a:r>
              <a:rPr sz="1050" b="1" i="0">
                <a:solidFill>
                  <a:srgbClr val="0083C5"/>
                </a:solidFill>
                <a:latin typeface="Expert Sans"/>
              </a:rPr>
              <a:t>Run it with Copilot</a:t>
            </a:r>
          </a:p>
        </p:txBody>
      </p:sp>
      <p:sp>
        <p:nvSpPr>
          <p:cNvPr id="19" name="TextBox 18"/>
          <p:cNvSpPr txBox="1"/>
          <p:nvPr/>
        </p:nvSpPr>
        <p:spPr>
          <a:xfrm>
            <a:off x="950976" y="5614416"/>
            <a:ext cx="10143439" cy="457200"/>
          </a:xfrm>
          <a:prstGeom prst="rect">
            <a:avLst/>
          </a:prstGeom>
          <a:noFill/>
        </p:spPr>
        <p:txBody>
          <a:bodyPr wrap="square">
            <a:spAutoFit/>
          </a:bodyPr>
          <a:lstStyle/>
          <a:p>
            <a:pPr algn="l">
              <a:lnSpc>
                <a:spcPts val="1400"/>
              </a:lnSpc>
            </a:pPr>
            <a:r>
              <a:rPr sz="1050" b="0" i="0">
                <a:solidFill>
                  <a:srgbClr val="00395D"/>
                </a:solidFill>
                <a:latin typeface="Expert Sans"/>
              </a:rPr>
              <a:t>Paste the entry-point list and tracking data. Require the break-even arithmetic shown and a stated stop rule — refuse a case that only asserts awareness value.   ·   Output feeds: slide 10, the bridge on slide 13, and the sensitivity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spAutoFit/>
          </a:bodyPr>
          <a:lstStyle/>
          <a:p>
            <a:pPr algn="l"/>
            <a:r>
              <a:rPr sz="1100" b="1" i="0">
                <a:solidFill>
                  <a:srgbClr val="0083C5"/>
                </a:solidFill>
                <a:latin typeface="Expert Sans"/>
              </a:rPr>
              <a:t>APPENDIX  ·  METHOD 4 OF 4</a:t>
            </a:r>
          </a:p>
        </p:txBody>
      </p:sp>
      <p:sp>
        <p:nvSpPr>
          <p:cNvPr id="3" name="TextBox 2"/>
          <p:cNvSpPr txBox="1"/>
          <p:nvPr/>
        </p:nvSpPr>
        <p:spPr>
          <a:xfrm>
            <a:off x="566928" y="548640"/>
            <a:ext cx="9594799" cy="960120"/>
          </a:xfrm>
          <a:prstGeom prst="rect">
            <a:avLst/>
          </a:prstGeom>
          <a:noFill/>
        </p:spPr>
        <p:txBody>
          <a:bodyPr wrap="square">
            <a:spAutoFit/>
          </a:bodyPr>
          <a:lstStyle/>
          <a:p>
            <a:pPr algn="l">
              <a:lnSpc>
                <a:spcPts val="2700"/>
              </a:lnSpc>
            </a:pPr>
            <a:r>
              <a:rPr sz="2200" b="0" i="0">
                <a:solidFill>
                  <a:srgbClr val="00AEEF"/>
                </a:solidFill>
                <a:latin typeface="Expert Sans"/>
              </a:rPr>
              <a:t>How the delivery routes were priced</a:t>
            </a:r>
          </a:p>
        </p:txBody>
      </p:sp>
      <p:sp>
        <p:nvSpPr>
          <p:cNvPr id="4" name="Rounded Rectangle 3"/>
          <p:cNvSpPr/>
          <p:nvPr/>
        </p:nvSpPr>
        <p:spPr>
          <a:xfrm>
            <a:off x="566928" y="1481328"/>
            <a:ext cx="3200400" cy="3566160"/>
          </a:xfrm>
          <a:prstGeom prst="roundRect">
            <a:avLst>
              <a:gd name="adj" fmla="val 8000"/>
            </a:avLst>
          </a:prstGeom>
          <a:solidFill>
            <a:srgbClr val="D9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45920"/>
            <a:ext cx="2651760" cy="310896"/>
          </a:xfrm>
          <a:prstGeom prst="rect">
            <a:avLst/>
          </a:prstGeom>
          <a:noFill/>
        </p:spPr>
        <p:txBody>
          <a:bodyPr wrap="square">
            <a:spAutoFit/>
          </a:bodyPr>
          <a:lstStyle/>
          <a:p>
            <a:pPr algn="l"/>
            <a:r>
              <a:rPr sz="1100" b="1" i="0">
                <a:solidFill>
                  <a:srgbClr val="0083C5"/>
                </a:solidFill>
                <a:latin typeface="Expert Sans"/>
              </a:rPr>
              <a:t>Inputs required</a:t>
            </a:r>
          </a:p>
        </p:txBody>
      </p:sp>
      <p:sp>
        <p:nvSpPr>
          <p:cNvPr id="6" name="TextBox 5"/>
          <p:cNvSpPr txBox="1"/>
          <p:nvPr/>
        </p:nvSpPr>
        <p:spPr>
          <a:xfrm>
            <a:off x="859536" y="2011680"/>
            <a:ext cx="2697480" cy="457200"/>
          </a:xfrm>
          <a:prstGeom prst="rect">
            <a:avLst/>
          </a:prstGeom>
          <a:noFill/>
        </p:spPr>
        <p:txBody>
          <a:bodyPr wrap="square">
            <a:spAutoFit/>
          </a:bodyPr>
          <a:lstStyle/>
          <a:p>
            <a:pPr>
              <a:spcAft>
                <a:spcPts val="600"/>
              </a:spcAft>
            </a:pPr>
            <a:r>
              <a:rPr sz="1050">
                <a:solidFill>
                  <a:srgbClr val="3F5563"/>
                </a:solidFill>
                <a:latin typeface="Expert Sans"/>
              </a:rPr>
              <a:t>•  Delivery team estimates, with ranges</a:t>
            </a:r>
          </a:p>
          <a:p>
            <a:pPr>
              <a:spcAft>
                <a:spcPts val="600"/>
              </a:spcAft>
            </a:pPr>
            <a:r>
              <a:rPr sz="1050">
                <a:solidFill>
                  <a:srgbClr val="3F5563"/>
                </a:solidFill>
                <a:latin typeface="Expert Sans"/>
              </a:rPr>
              <a:t>•  Partner term sheets / indicative terms</a:t>
            </a:r>
          </a:p>
          <a:p>
            <a:pPr>
              <a:spcAft>
                <a:spcPts val="600"/>
              </a:spcAft>
            </a:pPr>
            <a:r>
              <a:rPr sz="1050">
                <a:solidFill>
                  <a:srgbClr val="3F5563"/>
                </a:solidFill>
                <a:latin typeface="Expert Sans"/>
              </a:rPr>
              <a:t>•  Capability register</a:t>
            </a:r>
          </a:p>
          <a:p>
            <a:pPr>
              <a:spcAft>
                <a:spcPts val="600"/>
              </a:spcAft>
            </a:pPr>
            <a:r>
              <a:rPr sz="1050">
                <a:solidFill>
                  <a:srgbClr val="3F5563"/>
                </a:solidFill>
                <a:latin typeface="Expert Sans"/>
              </a:rPr>
              <a:t>•  Hurdle rate and horizon</a:t>
            </a:r>
          </a:p>
        </p:txBody>
      </p:sp>
      <p:sp>
        <p:nvSpPr>
          <p:cNvPr id="7" name="Oval 6"/>
          <p:cNvSpPr/>
          <p:nvPr/>
        </p:nvSpPr>
        <p:spPr>
          <a:xfrm>
            <a:off x="4087368" y="1536192"/>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1</a:t>
            </a:r>
          </a:p>
        </p:txBody>
      </p:sp>
      <p:sp>
        <p:nvSpPr>
          <p:cNvPr id="8" name="TextBox 7"/>
          <p:cNvSpPr txBox="1"/>
          <p:nvPr/>
        </p:nvSpPr>
        <p:spPr>
          <a:xfrm>
            <a:off x="4608576" y="1481328"/>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Inventory the capabilities each feature requires — capabilities, not tasks. Keep the same names end to end or the slides will not reconcile.</a:t>
            </a:r>
          </a:p>
        </p:txBody>
      </p:sp>
      <p:sp>
        <p:nvSpPr>
          <p:cNvPr id="9" name="Oval 8"/>
          <p:cNvSpPr/>
          <p:nvPr/>
        </p:nvSpPr>
        <p:spPr>
          <a:xfrm>
            <a:off x="4087368" y="2249424"/>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2</a:t>
            </a:r>
          </a:p>
        </p:txBody>
      </p:sp>
      <p:sp>
        <p:nvSpPr>
          <p:cNvPr id="10" name="TextBox 9"/>
          <p:cNvSpPr txBox="1"/>
          <p:nvPr/>
        </p:nvSpPr>
        <p:spPr>
          <a:xfrm>
            <a:off x="4608576" y="2194560"/>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Classify each capability have / buy / build. Name real partner candidates with indicative terms — an unnamed partner is a build with optimism attached.</a:t>
            </a:r>
          </a:p>
        </p:txBody>
      </p:sp>
      <p:sp>
        <p:nvSpPr>
          <p:cNvPr id="11" name="Oval 10"/>
          <p:cNvSpPr/>
          <p:nvPr/>
        </p:nvSpPr>
        <p:spPr>
          <a:xfrm>
            <a:off x="4087368" y="2962656"/>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3</a:t>
            </a:r>
          </a:p>
        </p:txBody>
      </p:sp>
      <p:sp>
        <p:nvSpPr>
          <p:cNvPr id="12" name="TextBox 11"/>
          <p:cNvSpPr txBox="1"/>
          <p:nvPr/>
        </p:nvSpPr>
        <p:spPr>
          <a:xfrm>
            <a:off x="4608576" y="2907792"/>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Price each route: time to launch, capex, margin share, and a confidence band from the delivery team and the partner's committed dates.</a:t>
            </a:r>
          </a:p>
        </p:txBody>
      </p:sp>
      <p:sp>
        <p:nvSpPr>
          <p:cNvPr id="13" name="Oval 12"/>
          <p:cNvSpPr/>
          <p:nvPr/>
        </p:nvSpPr>
        <p:spPr>
          <a:xfrm>
            <a:off x="4087368" y="3675888"/>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4</a:t>
            </a:r>
          </a:p>
        </p:txBody>
      </p:sp>
      <p:sp>
        <p:nvSpPr>
          <p:cNvPr id="14" name="TextBox 13"/>
          <p:cNvSpPr txBox="1"/>
          <p:nvPr/>
        </p:nvSpPr>
        <p:spPr>
          <a:xfrm>
            <a:off x="4608576" y="3621024"/>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Hand timing and confidence to the sort (method 2). Keep the built-instead counterfactual row — it is what prices the route decision.</a:t>
            </a:r>
          </a:p>
        </p:txBody>
      </p:sp>
      <p:sp>
        <p:nvSpPr>
          <p:cNvPr id="15" name="Oval 14"/>
          <p:cNvSpPr/>
          <p:nvPr/>
        </p:nvSpPr>
        <p:spPr>
          <a:xfrm>
            <a:off x="4087368" y="4389120"/>
            <a:ext cx="365760" cy="365760"/>
          </a:xfrm>
          <a:prstGeom prst="ellipse">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Expert Sans"/>
              </a:rPr>
              <a:t>5</a:t>
            </a:r>
          </a:p>
        </p:txBody>
      </p:sp>
      <p:sp>
        <p:nvSpPr>
          <p:cNvPr id="16" name="TextBox 15"/>
          <p:cNvSpPr txBox="1"/>
          <p:nvPr/>
        </p:nvSpPr>
        <p:spPr>
          <a:xfrm>
            <a:off x="4608576" y="4334256"/>
            <a:ext cx="6897319" cy="658368"/>
          </a:xfrm>
          <a:prstGeom prst="rect">
            <a:avLst/>
          </a:prstGeom>
          <a:noFill/>
        </p:spPr>
        <p:txBody>
          <a:bodyPr wrap="square">
            <a:spAutoFit/>
          </a:bodyPr>
          <a:lstStyle/>
          <a:p>
            <a:pPr algn="l">
              <a:lnSpc>
                <a:spcPts val="1400"/>
              </a:lnSpc>
            </a:pPr>
            <a:r>
              <a:rPr sz="1100" b="0" i="0">
                <a:solidFill>
                  <a:srgbClr val="3F5563"/>
                </a:solidFill>
                <a:latin typeface="Expert Sans"/>
              </a:rPr>
              <a:t>Bound the partner routes: what they hold, what we keep, contract terms, and the re-internalise trigger with its review date.</a:t>
            </a:r>
          </a:p>
        </p:txBody>
      </p:sp>
      <p:sp>
        <p:nvSpPr>
          <p:cNvPr id="17" name="Rounded Rectangle 16"/>
          <p:cNvSpPr/>
          <p:nvPr/>
        </p:nvSpPr>
        <p:spPr>
          <a:xfrm>
            <a:off x="566928" y="5230368"/>
            <a:ext cx="11057839" cy="914400"/>
          </a:xfrm>
          <a:prstGeom prst="roundRect">
            <a:avLst>
              <a:gd name="adj" fmla="val 8000"/>
            </a:avLst>
          </a:prstGeom>
          <a:solidFill>
            <a:srgbClr val="CDE9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5340096"/>
            <a:ext cx="2743200" cy="274320"/>
          </a:xfrm>
          <a:prstGeom prst="rect">
            <a:avLst/>
          </a:prstGeom>
          <a:noFill/>
        </p:spPr>
        <p:txBody>
          <a:bodyPr wrap="square">
            <a:spAutoFit/>
          </a:bodyPr>
          <a:lstStyle/>
          <a:p>
            <a:pPr algn="l"/>
            <a:r>
              <a:rPr sz="1050" b="1" i="0">
                <a:solidFill>
                  <a:srgbClr val="0083C5"/>
                </a:solidFill>
                <a:latin typeface="Expert Sans"/>
              </a:rPr>
              <a:t>Run it with Copilot</a:t>
            </a:r>
          </a:p>
        </p:txBody>
      </p:sp>
      <p:sp>
        <p:nvSpPr>
          <p:cNvPr id="19" name="TextBox 18"/>
          <p:cNvSpPr txBox="1"/>
          <p:nvPr/>
        </p:nvSpPr>
        <p:spPr>
          <a:xfrm>
            <a:off x="950976" y="5614416"/>
            <a:ext cx="10143439" cy="457200"/>
          </a:xfrm>
          <a:prstGeom prst="rect">
            <a:avLst/>
          </a:prstGeom>
          <a:noFill/>
        </p:spPr>
        <p:txBody>
          <a:bodyPr wrap="square">
            <a:spAutoFit/>
          </a:bodyPr>
          <a:lstStyle/>
          <a:p>
            <a:pPr algn="l">
              <a:lnSpc>
                <a:spcPts val="1400"/>
              </a:lnSpc>
            </a:pPr>
            <a:r>
              <a:rPr sz="1050" b="0" i="0">
                <a:solidFill>
                  <a:srgbClr val="00395D"/>
                </a:solidFill>
                <a:latin typeface="Expert Sans"/>
              </a:rPr>
              <a:t>One chat per feature. Paste the capability inventory and terms; require the counterfactual row and the defensibility bounds before accepting a verdict.   ·   Output feeds: slides 15, 18–19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