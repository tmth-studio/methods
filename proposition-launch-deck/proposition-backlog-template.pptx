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OCV demand score</c:v>
                </c:pt>
              </c:strCache>
            </c:strRef>
          </c:tx>
          <c:spPr>
            <a:solidFill>
              <a:srgbClr val="4E7C90"/>
            </a:solidFill>
            <a:effectLst/>
          </c:spPr>
          <c:invertIfNegative val="0"/>
          <c:dLbls>
            <c:numFmt formatCode="#,##0" sourceLinked="0"/>
            <c:txPr>
              <a:bodyPr/>
              <a:lstStyle/>
              <a:p>
                <a:pPr>
                  <a:defRPr b="1" i="0" strike="noStrike" sz="1200" u="none">
                    <a:solidFill>
                      <a:srgbClr val="1F2A31"/>
                    </a:solidFill>
                    <a:latin typeface="Calibri"/>
                  </a:defRPr>
                </a:pPr>
              </a:p>
            </c:txPr>
            <c:showLegendKey val="0"/>
            <c:showVal val="1"/>
            <c:showCatName val="0"/>
            <c:showSerName val="0"/>
            <c:showPercent val="0"/>
            <c:showBubbleSize val="0"/>
            <c:showLeaderLines val="0"/>
          </c:dLbls>
          <c:dPt>
            <c:idx val="0"/>
            <c:invertIfNegative val="0"/>
            <c:bubble3D val="0"/>
            <c:spPr>
              <a:solidFill>
                <a:srgbClr val="4E7C90"/>
              </a:solidFill>
              <a:effectLst/>
            </c:spPr>
          </c:dPt>
          <c:dPt>
            <c:idx val="1"/>
            <c:invertIfNegative val="0"/>
            <c:bubble3D val="0"/>
            <c:spPr>
              <a:solidFill>
                <a:srgbClr val="4E7C90"/>
              </a:solidFill>
              <a:effectLst/>
            </c:spPr>
          </c:dPt>
          <c:dPt>
            <c:idx val="2"/>
            <c:invertIfNegative val="0"/>
            <c:bubble3D val="0"/>
            <c:spPr>
              <a:solidFill>
                <a:srgbClr val="4E7C90"/>
              </a:solidFill>
              <a:effectLst/>
            </c:spPr>
          </c:dPt>
          <c:dPt>
            <c:idx val="3"/>
            <c:invertIfNegative val="0"/>
            <c:bubble3D val="0"/>
            <c:spPr>
              <a:solidFill>
                <a:srgbClr val="C0CCD3"/>
              </a:solidFill>
              <a:effectLst/>
            </c:spPr>
          </c:dPt>
          <c:dPt>
            <c:idx val="4"/>
            <c:invertIfNegative val="0"/>
            <c:bubble3D val="0"/>
            <c:spPr>
              <a:solidFill>
                <a:srgbClr val="C0CCD3"/>
              </a:solidFill>
              <a:effectLst/>
            </c:spPr>
          </c:dPt>
          <c:cat>
            <c:multiLvlStrRef>
              <c:f>Sheet1!$A$2:$A$6</c:f>
              <c:multiLvlStrCache>
                <c:ptCount val="5"/>
                <c:lvl>
                  <c:pt idx="0">
                    <c:v>FX payments</c:v>
                  </c:pt>
                  <c:pt idx="1">
                    <c:v>Invoice finance</c:v>
                  </c:pt>
                  <c:pt idx="2">
                    <c:v>Trade insurance</c:v>
                  </c:pt>
                  <c:pt idx="3">
                    <c:v>Crypto payments</c:v>
                  </c:pt>
                  <c:pt idx="4">
                    <c:v>Rewards scheme</c:v>
                  </c:pt>
                </c:lvl>
              </c:multiLvlStrCache>
            </c:multiLvlStrRef>
          </c:cat>
          <c:val>
            <c:numRef>
              <c:f>Sheet1!$B$2:$B$6</c:f>
              <c:numCache>
                <c:formatCode>General</c:formatCode>
                <c:ptCount val="5"/>
                <c:pt idx="0">
                  <c:v>78</c:v>
                </c:pt>
                <c:pt idx="1">
                  <c:v>72</c:v>
                </c:pt>
                <c:pt idx="2">
                  <c:v>64</c:v>
                </c:pt>
                <c:pt idx="3">
                  <c:v>41</c:v>
                </c:pt>
                <c:pt idx="4">
                  <c:v>33</c:v>
                </c:pt>
              </c:numCache>
            </c:numRef>
          </c:val>
        </c:ser>
        <c:dLbls>
          <c:numFmt formatCode="#,##0" sourceLinked="0"/>
          <c:txPr>
            <a:bodyPr/>
            <a:lstStyle/>
            <a:p>
              <a:pPr>
                <a:defRPr b="1" i="0" strike="noStrike" sz="1200" u="none">
                  <a:solidFill>
                    <a:srgbClr val="1F2A3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F5563"/>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E8EE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818F"/>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Archetype #6: the prioritisation question. The answer is a rule plus a sorted backlog, not a one-off verdict. The whole deck is a worked example - exporting SMEs, dummy numbers - so the client can see exactly what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this slide before the deck goes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addressed to Copilot in PowerPoint: select it and instruct 'follow the instructions on this slide using the client data below'. The self-check bar makes completion verifiable. Delete before the deck goes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Complication earns the backlog framing: the reason a one-off pick fails is that the decision repeats and the evidence moves. If the client genuinely decides once and never again, use the base proposition-launch template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governing thought is one sentence: rule + first output + so-what. The four lines below expand it without adding new claims - each maps to a section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Three independent reasons about the whole backlog - not three sub-decisions. The one analytical dependency (route timing feeds the return discount) is a data flow, shown where it happens in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The whole system on one page: positions, the three columns that produced them, and the statuses. When the backlog is re-scored, only this page and its inputs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Demand is the admission test, not the sort key - it protects the backlog from optimism.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of 60 is calibrated on past launches (appendix). Insurance passes at 64 - close to the line, which is why its position is re-tested at every quarterly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stated by us before a sceptic finds them. Note how the limits connect to the re-score cadence: uncertainty is not a reason to freeze the backlog, it is the reason the backlog gets re-scored.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wrapper is the standing shell the backlog ships into - it persists across cycles while features accrete. Mental availability at the entry points is what it buys; the break-even and stop rule keep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sort key is the deck's central discipline: per-slot return, not raw NPV.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row is insurance: raw NPV would put it second, per-slot puts it third. If the client's capacity is capital rather than slots, change the denominator - the rule survives, the unit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says plainly which lever does the work. The wrapper's +0.8 is deliberately modest here - its full value is the standing shell across cycles, argued in section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the deck being a discount programme with a strategy attached. Rejected levers are named in the appendix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from section 03: route timing and confidence set the discount applied here. The counterfactual row prices the route decision inside the sort - one number, one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re-score rule is the difference between a backlog and a one-off deck. Each row names an observable trigger and the mechanical consequence - no re-litigation, just re-scoring.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Capacity sets the cut-line on the sorted list; the routes protect the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verdicts differ per feature and each states its reason in place. The FX reason is compounding (core platform); the invoice finance reason is speed priced in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partner ends up holding the customer or the data, the earnings survive but the moat does not. The re-internalise trigger keeps 'partner' a route, not a destiny.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sensitivity slide inherits the backlog's key property: being wrong is survivable, because the system re-scores instead of re-arguing.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asks: the rule, the slate, the terms, the stop. Adopting the rule is the ask that outlives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contents. The method pages make the deck reproducible: a colleague with Copilot and the inputs can re-run every analysis - which is also what makes the quarterly re-score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The OCV standard in the repository is the authority; this page is the operator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sort. Step 4 is the archetype's core discipline; step 5 is what makes the backlog durable.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wrapper. Memory spend gets the same discipline as incentive spend: a mechanism, a break-even, a stop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routes. Confidence bands come from the people who deliver, not the people who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1417320"/>
            <a:ext cx="7863840" cy="310896"/>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PROPOSITION BACKLOG RECOMMENDATION</a:t>
            </a:r>
            <a:endParaRPr lang="en-US" sz="1200" dirty="0"/>
          </a:p>
        </p:txBody>
      </p:sp>
      <p:sp>
        <p:nvSpPr>
          <p:cNvPr id="4" name="Text 2"/>
          <p:cNvSpPr/>
          <p:nvPr/>
        </p:nvSpPr>
        <p:spPr>
          <a:xfrm>
            <a:off x="566928" y="1874520"/>
            <a:ext cx="7680960" cy="1920240"/>
          </a:xfrm>
          <a:prstGeom prst="rect">
            <a:avLst/>
          </a:prstGeom>
          <a:noFill/>
          <a:ln/>
        </p:spPr>
        <p:txBody>
          <a:bodyPr wrap="square" lIns="0" tIns="0" rIns="0" bIns="0" rtlCol="0" anchor="t"/>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What do we build,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in what order?</a:t>
            </a:r>
            <a:endParaRPr lang="en-US" sz="5000" dirty="0"/>
          </a:p>
        </p:txBody>
      </p:sp>
      <p:sp>
        <p:nvSpPr>
          <p:cNvPr id="5" name="Text 3"/>
          <p:cNvSpPr/>
          <p:nvPr/>
        </p:nvSpPr>
        <p:spPr>
          <a:xfrm>
            <a:off x="566928" y="3913632"/>
            <a:ext cx="7863840" cy="365760"/>
          </a:xfrm>
          <a:prstGeom prst="rect">
            <a:avLst/>
          </a:prstGeom>
          <a:noFill/>
          <a:ln/>
        </p:spPr>
        <p:txBody>
          <a:bodyPr wrap="square" lIns="0" tIns="0" rIns="0" bIns="0" rtlCol="0" anchor="ctr"/>
          <a:lstStyle/>
          <a:p>
            <a:pPr indent="0" marL="0">
              <a:buNone/>
            </a:pPr>
            <a:r>
              <a:rPr lang="en-US" sz="1500" dirty="0">
                <a:solidFill>
                  <a:srgbClr val="8FB3C2"/>
                </a:solidFill>
                <a:latin typeface="Calibri" pitchFamily="34" charset="0"/>
                <a:ea typeface="Calibri" pitchFamily="34" charset="-122"/>
                <a:cs typeface="Calibri" pitchFamily="34" charset="-120"/>
              </a:rPr>
              <a:t>A rule that sorts the backlog · this cycle's slate · a re-score cadence</a:t>
            </a:r>
            <a:endParaRPr lang="en-US" sz="1500" dirty="0"/>
          </a:p>
        </p:txBody>
      </p:sp>
      <p:sp>
        <p:nvSpPr>
          <p:cNvPr id="6" name="Text 4"/>
          <p:cNvSpPr/>
          <p:nvPr/>
        </p:nvSpPr>
        <p:spPr>
          <a:xfrm>
            <a:off x="566928" y="4389120"/>
            <a:ext cx="8412480" cy="365760"/>
          </a:xfrm>
          <a:prstGeom prst="rect">
            <a:avLst/>
          </a:prstGeom>
          <a:noFill/>
          <a:ln/>
        </p:spPr>
        <p:txBody>
          <a:bodyPr wrap="square" lIns="0" tIns="0" rIns="0" bIns="0" rtlCol="0" anchor="ctr"/>
          <a:lstStyle/>
          <a:p>
            <a:pPr indent="0" marL="0">
              <a:buNone/>
            </a:pPr>
            <a:r>
              <a:rPr lang="en-US" sz="1300" dirty="0">
                <a:solidFill>
                  <a:srgbClr val="9FBECD"/>
                </a:solidFill>
                <a:latin typeface="Calibri" pitchFamily="34" charset="0"/>
                <a:ea typeface="Calibri" pitchFamily="34" charset="-122"/>
                <a:cs typeface="Calibri" pitchFamily="34" charset="-120"/>
              </a:rPr>
              <a:t>Worked example: exporting SMEs · all names and numbers are dummy values</a:t>
            </a:r>
            <a:endParaRPr lang="en-US" sz="1300" dirty="0"/>
          </a:p>
        </p:txBody>
      </p:sp>
      <p:sp>
        <p:nvSpPr>
          <p:cNvPr id="7" name="Shape 5"/>
          <p:cNvSpPr/>
          <p:nvPr/>
        </p:nvSpPr>
        <p:spPr>
          <a:xfrm>
            <a:off x="9441180" y="1965960"/>
            <a:ext cx="960120" cy="566928"/>
          </a:xfrm>
          <a:prstGeom prst="roundRect">
            <a:avLst>
              <a:gd name="adj" fmla="val 11290"/>
            </a:avLst>
          </a:prstGeom>
          <a:solidFill>
            <a:srgbClr val="C9A227"/>
          </a:solidFill>
          <a:ln w="12700">
            <a:solidFill>
              <a:srgbClr val="333333"/>
            </a:solidFill>
            <a:prstDash val="solid"/>
          </a:ln>
        </p:spPr>
      </p:sp>
      <p:sp>
        <p:nvSpPr>
          <p:cNvPr id="8" name="Shape 6"/>
          <p:cNvSpPr/>
          <p:nvPr/>
        </p:nvSpPr>
        <p:spPr>
          <a:xfrm>
            <a:off x="8938260" y="2679192"/>
            <a:ext cx="1965960" cy="566928"/>
          </a:xfrm>
          <a:prstGeom prst="roundRect">
            <a:avLst>
              <a:gd name="adj" fmla="val 11290"/>
            </a:avLst>
          </a:prstGeom>
          <a:solidFill>
            <a:srgbClr val="4E7C90"/>
          </a:solidFill>
          <a:ln w="12700">
            <a:solidFill>
              <a:srgbClr val="333333"/>
            </a:solidFill>
            <a:prstDash val="solid"/>
          </a:ln>
        </p:spPr>
      </p:sp>
      <p:sp>
        <p:nvSpPr>
          <p:cNvPr id="9" name="Shape 7"/>
          <p:cNvSpPr/>
          <p:nvPr/>
        </p:nvSpPr>
        <p:spPr>
          <a:xfrm>
            <a:off x="8435340" y="3392424"/>
            <a:ext cx="2971800" cy="566928"/>
          </a:xfrm>
          <a:prstGeom prst="roundRect">
            <a:avLst>
              <a:gd name="adj" fmla="val 11290"/>
            </a:avLst>
          </a:prstGeom>
          <a:solidFill>
            <a:srgbClr val="3B6274"/>
          </a:solidFill>
          <a:ln w="12700">
            <a:solidFill>
              <a:srgbClr val="333333"/>
            </a:solidFill>
            <a:prstDash val="solid"/>
          </a:ln>
        </p:spPr>
      </p:sp>
      <p:sp>
        <p:nvSpPr>
          <p:cNvPr id="10" name="Text 8"/>
          <p:cNvSpPr/>
          <p:nvPr/>
        </p:nvSpPr>
        <p:spPr>
          <a:xfrm>
            <a:off x="7543800" y="4215384"/>
            <a:ext cx="4754880" cy="329184"/>
          </a:xfrm>
          <a:prstGeom prst="rect">
            <a:avLst/>
          </a:prstGeom>
          <a:noFill/>
          <a:ln/>
        </p:spPr>
        <p:txBody>
          <a:bodyPr wrap="square" lIns="0" tIns="0" rIns="0" bIns="0" rtlCol="0" anchor="ctr"/>
          <a:lstStyle/>
          <a:p>
            <a:pPr algn="ctr" indent="0" marL="0">
              <a:buNone/>
            </a:pPr>
            <a:r>
              <a:rPr lang="en-US" sz="1100" dirty="0">
                <a:solidFill>
                  <a:srgbClr val="9FBECD"/>
                </a:solidFill>
                <a:latin typeface="Calibri" pitchFamily="34" charset="0"/>
                <a:ea typeface="Calibri" pitchFamily="34" charset="-122"/>
                <a:cs typeface="Calibri" pitchFamily="34" charset="-120"/>
              </a:rPr>
              <a:t>Answer  →  key line  →  support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TEMPLATE GUIDE — DELETE BEFORE SENDING</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How to use this deck</a:t>
            </a:r>
            <a:endParaRPr lang="en-US" sz="2700" dirty="0"/>
          </a:p>
        </p:txBody>
      </p:sp>
      <p:sp>
        <p:nvSpPr>
          <p:cNvPr id="4" name="Shape 2"/>
          <p:cNvSpPr/>
          <p:nvPr/>
        </p:nvSpPr>
        <p:spPr>
          <a:xfrm>
            <a:off x="566928" y="1481328"/>
            <a:ext cx="11027664" cy="1060704"/>
          </a:xfrm>
          <a:prstGeom prst="roundRect">
            <a:avLst>
              <a:gd name="adj" fmla="val 862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Shape 3"/>
          <p:cNvSpPr/>
          <p:nvPr/>
        </p:nvSpPr>
        <p:spPr>
          <a:xfrm>
            <a:off x="877824" y="1801368"/>
            <a:ext cx="420624" cy="420624"/>
          </a:xfrm>
          <a:prstGeom prst="ellipse">
            <a:avLst/>
          </a:prstGeom>
          <a:solidFill>
            <a:srgbClr val="C9A227"/>
          </a:solidFill>
          <a:ln w="12700">
            <a:solidFill>
              <a:srgbClr val="C9A227"/>
            </a:solidFill>
            <a:prstDash val="solid"/>
          </a:ln>
        </p:spPr>
      </p:sp>
      <p:sp>
        <p:nvSpPr>
          <p:cNvPr id="6" name="Text 4"/>
          <p:cNvSpPr/>
          <p:nvPr/>
        </p:nvSpPr>
        <p:spPr>
          <a:xfrm>
            <a:off x="877824" y="1801368"/>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27048" y="1627632"/>
            <a:ext cx="9656064" cy="347472"/>
          </a:xfrm>
          <a:prstGeom prst="rect">
            <a:avLst/>
          </a:prstGeom>
          <a:noFill/>
          <a:ln/>
        </p:spPr>
        <p:txBody>
          <a:bodyPr wrap="square" lIns="0" tIns="0" rIns="0" bIns="0" rtlCol="0" anchor="ctr"/>
          <a:lstStyle/>
          <a:p>
            <a:pPr indent="0" marL="0">
              <a:buNone/>
            </a:pPr>
            <a:r>
              <a:rPr lang="en-US" sz="1500" b="1" dirty="0">
                <a:solidFill>
                  <a:srgbClr val="1F2A31"/>
                </a:solidFill>
                <a:latin typeface="Calibri" pitchFamily="34" charset="0"/>
                <a:ea typeface="Calibri" pitchFamily="34" charset="-122"/>
                <a:cs typeface="Calibri" pitchFamily="34" charset="-120"/>
              </a:rPr>
              <a:t>Every name and number is a dummy value</a:t>
            </a:r>
            <a:endParaRPr lang="en-US" sz="1500" dirty="0"/>
          </a:p>
        </p:txBody>
      </p:sp>
      <p:sp>
        <p:nvSpPr>
          <p:cNvPr id="8" name="Text 6"/>
          <p:cNvSpPr/>
          <p:nvPr/>
        </p:nvSpPr>
        <p:spPr>
          <a:xfrm>
            <a:off x="1527048" y="1975104"/>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Exporting SMEs, 'Trade Ready', FX, the scores and the returns are a worked example. Replace all of them with your client's own.</a:t>
            </a:r>
            <a:endParaRPr lang="en-US" sz="1200" dirty="0"/>
          </a:p>
        </p:txBody>
      </p:sp>
      <p:sp>
        <p:nvSpPr>
          <p:cNvPr id="9" name="Shape 7"/>
          <p:cNvSpPr/>
          <p:nvPr/>
        </p:nvSpPr>
        <p:spPr>
          <a:xfrm>
            <a:off x="566928" y="2688336"/>
            <a:ext cx="11027664" cy="1060704"/>
          </a:xfrm>
          <a:prstGeom prst="roundRect">
            <a:avLst>
              <a:gd name="adj" fmla="val 862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0" name="Shape 8"/>
          <p:cNvSpPr/>
          <p:nvPr/>
        </p:nvSpPr>
        <p:spPr>
          <a:xfrm>
            <a:off x="877824" y="3008376"/>
            <a:ext cx="420624" cy="420624"/>
          </a:xfrm>
          <a:prstGeom prst="ellipse">
            <a:avLst/>
          </a:prstGeom>
          <a:solidFill>
            <a:srgbClr val="C9A227"/>
          </a:solidFill>
          <a:ln w="12700">
            <a:solidFill>
              <a:srgbClr val="C9A227"/>
            </a:solidFill>
            <a:prstDash val="solid"/>
          </a:ln>
        </p:spPr>
      </p:sp>
      <p:sp>
        <p:nvSpPr>
          <p:cNvPr id="11" name="Text 9"/>
          <p:cNvSpPr/>
          <p:nvPr/>
        </p:nvSpPr>
        <p:spPr>
          <a:xfrm>
            <a:off x="877824" y="3008376"/>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834640"/>
            <a:ext cx="9656064" cy="347472"/>
          </a:xfrm>
          <a:prstGeom prst="rect">
            <a:avLst/>
          </a:prstGeom>
          <a:noFill/>
          <a:ln/>
        </p:spPr>
        <p:txBody>
          <a:bodyPr wrap="square" lIns="0" tIns="0" rIns="0" bIns="0" rtlCol="0" anchor="ctr"/>
          <a:lstStyle/>
          <a:p>
            <a:pPr indent="0" marL="0">
              <a:buNone/>
            </a:pPr>
            <a:r>
              <a:rPr lang="en-US" sz="1500" b="1" dirty="0">
                <a:solidFill>
                  <a:srgbClr val="1F2A31"/>
                </a:solidFill>
                <a:latin typeface="Calibri" pitchFamily="34" charset="0"/>
                <a:ea typeface="Calibri" pitchFamily="34" charset="-122"/>
                <a:cs typeface="Calibri" pitchFamily="34" charset="-120"/>
              </a:rPr>
              <a:t>The answer is a rule plus this cycle's slate</a:t>
            </a:r>
            <a:endParaRPr lang="en-US" sz="1500" dirty="0"/>
          </a:p>
        </p:txBody>
      </p:sp>
      <p:sp>
        <p:nvSpPr>
          <p:cNvPr id="13" name="Text 11"/>
          <p:cNvSpPr/>
          <p:nvPr/>
        </p:nvSpPr>
        <p:spPr>
          <a:xfrm>
            <a:off x="1527048" y="3182112"/>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The client approves the sorting rule AND the first output. That is what makes the backlog durable: next cycle re-runs the rule, not the argument.</a:t>
            </a:r>
            <a:endParaRPr lang="en-US" sz="1200" dirty="0"/>
          </a:p>
        </p:txBody>
      </p:sp>
      <p:sp>
        <p:nvSpPr>
          <p:cNvPr id="14" name="Shape 12"/>
          <p:cNvSpPr/>
          <p:nvPr/>
        </p:nvSpPr>
        <p:spPr>
          <a:xfrm>
            <a:off x="566928" y="3895344"/>
            <a:ext cx="11027664" cy="1060704"/>
          </a:xfrm>
          <a:prstGeom prst="roundRect">
            <a:avLst>
              <a:gd name="adj" fmla="val 862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5" name="Shape 13"/>
          <p:cNvSpPr/>
          <p:nvPr/>
        </p:nvSpPr>
        <p:spPr>
          <a:xfrm>
            <a:off x="877824" y="4215384"/>
            <a:ext cx="420624" cy="420624"/>
          </a:xfrm>
          <a:prstGeom prst="ellipse">
            <a:avLst/>
          </a:prstGeom>
          <a:solidFill>
            <a:srgbClr val="C9A227"/>
          </a:solidFill>
          <a:ln w="12700">
            <a:solidFill>
              <a:srgbClr val="C9A227"/>
            </a:solidFill>
            <a:prstDash val="solid"/>
          </a:ln>
        </p:spPr>
      </p:sp>
      <p:sp>
        <p:nvSpPr>
          <p:cNvPr id="16" name="Text 14"/>
          <p:cNvSpPr/>
          <p:nvPr/>
        </p:nvSpPr>
        <p:spPr>
          <a:xfrm>
            <a:off x="877824" y="4215384"/>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27048" y="4041648"/>
            <a:ext cx="9656064" cy="347472"/>
          </a:xfrm>
          <a:prstGeom prst="rect">
            <a:avLst/>
          </a:prstGeom>
          <a:noFill/>
          <a:ln/>
        </p:spPr>
        <p:txBody>
          <a:bodyPr wrap="square" lIns="0" tIns="0" rIns="0" bIns="0" rtlCol="0" anchor="ctr"/>
          <a:lstStyle/>
          <a:p>
            <a:pPr indent="0" marL="0">
              <a:buNone/>
            </a:pPr>
            <a:r>
              <a:rPr lang="en-US" sz="1500" b="1" dirty="0">
                <a:solidFill>
                  <a:srgbClr val="1F2A31"/>
                </a:solidFill>
                <a:latin typeface="Calibri" pitchFamily="34" charset="0"/>
                <a:ea typeface="Calibri" pitchFamily="34" charset="-122"/>
                <a:cs typeface="Calibri" pitchFamily="34" charset="-120"/>
              </a:rPr>
              <a:t>The sort key is return per build slot, not raw NPV</a:t>
            </a:r>
            <a:endParaRPr lang="en-US" sz="1500" dirty="0"/>
          </a:p>
        </p:txBody>
      </p:sp>
      <p:sp>
        <p:nvSpPr>
          <p:cNvPr id="18" name="Text 16"/>
          <p:cNvSpPr/>
          <p:nvPr/>
        </p:nvSpPr>
        <p:spPr>
          <a:xfrm>
            <a:off x="1527048" y="4389120"/>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Capacity is the scarce thing. A big feature that eats two slots can lose to two small ones. The worked example shows exactly this: insurance beats invoice finance on raw NPV and still sorts below it.</a:t>
            </a:r>
            <a:endParaRPr lang="en-US" sz="1200" dirty="0"/>
          </a:p>
        </p:txBody>
      </p:sp>
      <p:sp>
        <p:nvSpPr>
          <p:cNvPr id="19" name="Shape 17"/>
          <p:cNvSpPr/>
          <p:nvPr/>
        </p:nvSpPr>
        <p:spPr>
          <a:xfrm>
            <a:off x="566928" y="5102352"/>
            <a:ext cx="11027664" cy="1060704"/>
          </a:xfrm>
          <a:prstGeom prst="roundRect">
            <a:avLst>
              <a:gd name="adj" fmla="val 862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Shape 18"/>
          <p:cNvSpPr/>
          <p:nvPr/>
        </p:nvSpPr>
        <p:spPr>
          <a:xfrm>
            <a:off x="877824" y="5422392"/>
            <a:ext cx="420624" cy="420624"/>
          </a:xfrm>
          <a:prstGeom prst="ellipse">
            <a:avLst/>
          </a:prstGeom>
          <a:solidFill>
            <a:srgbClr val="C9A227"/>
          </a:solidFill>
          <a:ln w="12700">
            <a:solidFill>
              <a:srgbClr val="C9A227"/>
            </a:solidFill>
            <a:prstDash val="solid"/>
          </a:ln>
        </p:spPr>
      </p:sp>
      <p:sp>
        <p:nvSpPr>
          <p:cNvPr id="21" name="Text 19"/>
          <p:cNvSpPr/>
          <p:nvPr/>
        </p:nvSpPr>
        <p:spPr>
          <a:xfrm>
            <a:off x="877824" y="5422392"/>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27048" y="5248656"/>
            <a:ext cx="9656064" cy="347472"/>
          </a:xfrm>
          <a:prstGeom prst="rect">
            <a:avLst/>
          </a:prstGeom>
          <a:noFill/>
          <a:ln/>
        </p:spPr>
        <p:txBody>
          <a:bodyPr wrap="square" lIns="0" tIns="0" rIns="0" bIns="0" rtlCol="0" anchor="ctr"/>
          <a:lstStyle/>
          <a:p>
            <a:pPr indent="0" marL="0">
              <a:buNone/>
            </a:pPr>
            <a:r>
              <a:rPr lang="en-US" sz="1500" b="1" dirty="0">
                <a:solidFill>
                  <a:srgbClr val="1F2A31"/>
                </a:solidFill>
                <a:latin typeface="Calibri" pitchFamily="34" charset="0"/>
                <a:ea typeface="Calibri" pitchFamily="34" charset="-122"/>
                <a:cs typeface="Calibri" pitchFamily="34" charset="-120"/>
              </a:rPr>
              <a:t>Demand gates admission; nothing buys a queue place</a:t>
            </a:r>
            <a:endParaRPr lang="en-US" sz="1500" dirty="0"/>
          </a:p>
        </p:txBody>
      </p:sp>
      <p:sp>
        <p:nvSpPr>
          <p:cNvPr id="23" name="Text 21"/>
          <p:cNvSpPr/>
          <p:nvPr/>
        </p:nvSpPr>
        <p:spPr>
          <a:xfrm>
            <a:off x="1527048" y="5596128"/>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A feature below the demand gate never gets priced. This protects the backlog from model optimism dressed as ambition.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FOR COPILOT — DELETE BEFORE SENDING</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400" b="1" dirty="0">
                <a:solidFill>
                  <a:srgbClr val="1F2A31"/>
                </a:solidFill>
                <a:latin typeface="Cambria" pitchFamily="34" charset="0"/>
                <a:ea typeface="Cambria" pitchFamily="34" charset="-122"/>
                <a:cs typeface="Cambria" pitchFamily="34" charset="-120"/>
              </a:rPr>
              <a:t>Copilot: how to insert client data and apply the brand</a:t>
            </a:r>
            <a:endParaRPr lang="en-US" sz="2400" dirty="0"/>
          </a:p>
        </p:txBody>
      </p:sp>
      <p:sp>
        <p:nvSpPr>
          <p:cNvPr id="4" name="Shape 2"/>
          <p:cNvSpPr/>
          <p:nvPr/>
        </p:nvSpPr>
        <p:spPr>
          <a:xfrm>
            <a:off x="566928" y="1481328"/>
            <a:ext cx="5440680" cy="4160520"/>
          </a:xfrm>
          <a:prstGeom prst="roundRect">
            <a:avLst>
              <a:gd name="adj" fmla="val 219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645920"/>
            <a:ext cx="4846320" cy="310896"/>
          </a:xfrm>
          <a:prstGeom prst="rect">
            <a:avLst/>
          </a:prstGeom>
          <a:noFill/>
          <a:ln/>
        </p:spPr>
        <p:txBody>
          <a:bodyPr wrap="square" lIns="0" tIns="0" rIns="0" bIns="0" rtlCol="0" anchor="ctr"/>
          <a:lstStyle/>
          <a:p>
            <a:pPr indent="0" marL="0">
              <a:buNone/>
            </a:pPr>
            <a:r>
              <a:rPr lang="en-US" sz="1250" b="1" dirty="0">
                <a:solidFill>
                  <a:srgbClr val="2F4858"/>
                </a:solidFill>
                <a:latin typeface="Calibri" pitchFamily="34" charset="0"/>
                <a:ea typeface="Calibri" pitchFamily="34" charset="-122"/>
                <a:cs typeface="Calibri" pitchFamily="34" charset="-120"/>
              </a:rPr>
              <a:t>A — Replace the example data</a:t>
            </a:r>
            <a:endParaRPr lang="en-US" sz="1250" dirty="0"/>
          </a:p>
        </p:txBody>
      </p:sp>
      <p:sp>
        <p:nvSpPr>
          <p:cNvPr id="6" name="Text 4"/>
          <p:cNvSpPr/>
          <p:nvPr/>
        </p:nvSpPr>
        <p:spPr>
          <a:xfrm>
            <a:off x="859536" y="1993392"/>
            <a:ext cx="4892040" cy="3520440"/>
          </a:xfrm>
          <a:prstGeom prst="rect">
            <a:avLst/>
          </a:prstGeom>
          <a:noFill/>
          <a:ln/>
        </p:spPr>
        <p:txBody>
          <a:bodyPr wrap="square" lIns="0" tIns="0" rIns="0" bIns="0" rtlCol="0" anchor="t"/>
          <a:lstStyle/>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1.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Replace every example value: segment, the five features, demand scores, returns, slots, partner, the wrapper name, dates and owners. The method pages (23–26) state which analysis produces each number and which slides it feeds.</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2.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Numbers must reconcile across slides. Check: bridge total (13) = the earnings in the governing thought (4) · per-slot returns (12) = risk-adjusted NPV (15) ÷ slots · demand scores identical on 6 and 8 · statuses on 6 match sections 01–03. If one changes, change all.</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3.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Rewrite every headline as a claim about the client's answer. If a headline still fits after the answer changed, it was a label — rewrite it.</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4.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Do not add, remove or reorder slides. Do not move content between sections. Do not invent data — ask for any missing input.</a:t>
            </a:r>
            <a:endParaRPr lang="en-US" sz="1050" dirty="0"/>
          </a:p>
        </p:txBody>
      </p:sp>
      <p:sp>
        <p:nvSpPr>
          <p:cNvPr id="7" name="Shape 5"/>
          <p:cNvSpPr/>
          <p:nvPr/>
        </p:nvSpPr>
        <p:spPr>
          <a:xfrm>
            <a:off x="6281928" y="1481328"/>
            <a:ext cx="5312664" cy="4160520"/>
          </a:xfrm>
          <a:prstGeom prst="roundRect">
            <a:avLst>
              <a:gd name="adj" fmla="val 219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6574536" y="1645920"/>
            <a:ext cx="4846320" cy="310896"/>
          </a:xfrm>
          <a:prstGeom prst="rect">
            <a:avLst/>
          </a:prstGeom>
          <a:noFill/>
          <a:ln/>
        </p:spPr>
        <p:txBody>
          <a:bodyPr wrap="square" lIns="0" tIns="0" rIns="0" bIns="0" rtlCol="0" anchor="ctr"/>
          <a:lstStyle/>
          <a:p>
            <a:pPr indent="0" marL="0">
              <a:buNone/>
            </a:pPr>
            <a:r>
              <a:rPr lang="en-US" sz="1250" b="1" dirty="0">
                <a:solidFill>
                  <a:srgbClr val="2F4858"/>
                </a:solidFill>
                <a:latin typeface="Calibri" pitchFamily="34" charset="0"/>
                <a:ea typeface="Calibri" pitchFamily="34" charset="-122"/>
                <a:cs typeface="Calibri" pitchFamily="34" charset="-120"/>
              </a:rPr>
              <a:t>B — Apply the client brand</a:t>
            </a:r>
            <a:endParaRPr lang="en-US" sz="1250" dirty="0"/>
          </a:p>
        </p:txBody>
      </p:sp>
      <p:sp>
        <p:nvSpPr>
          <p:cNvPr id="9" name="Text 7"/>
          <p:cNvSpPr/>
          <p:nvPr/>
        </p:nvSpPr>
        <p:spPr>
          <a:xfrm>
            <a:off x="6574536" y="1993392"/>
            <a:ext cx="4764024" cy="3520440"/>
          </a:xfrm>
          <a:prstGeom prst="rect">
            <a:avLst/>
          </a:prstGeom>
          <a:noFill/>
          <a:ln/>
        </p:spPr>
        <p:txBody>
          <a:bodyPr wrap="square" lIns="0" tIns="0" rIns="0" bIns="0" rtlCol="0" anchor="t"/>
          <a:lstStyle/>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5.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Apply the client's template through the slide master (Design → theme). Do not restyle shapes one by one, and do not redesign layouts.</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6.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Colour roles — map, do not improvise: slate 2F4858 (covers, dividers, answer) → client primary dark · gold C9A227 (numbers, eyebrows, accents) → client accent · blue 4E7C90 (secondary, charts) → client secondary · keep the light card tint logic.</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7.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Fonts: Cambria headings → client heading font; Calibri body → client body font. Keep the sizes.</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8.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Never restyle: PASS green / FAIL red, and the one-highlight rule (one accent element per exhibit).</a:t>
            </a:r>
            <a:endParaRPr lang="en-US" sz="1050" dirty="0"/>
          </a:p>
          <a:p>
            <a:pPr indent="0" marL="0">
              <a:lnSpc>
                <a:spcPts val="1400"/>
              </a:lnSpc>
              <a:spcAft>
                <a:spcPts val="800"/>
              </a:spcAft>
              <a:buNone/>
            </a:pPr>
            <a:r>
              <a:rPr lang="en-US" sz="1050" b="1" dirty="0">
                <a:solidFill>
                  <a:srgbClr val="8A6D0F"/>
                </a:solidFill>
                <a:latin typeface="Calibri" pitchFamily="34" charset="0"/>
                <a:ea typeface="Calibri" pitchFamily="34" charset="-122"/>
                <a:cs typeface="Calibri" pitchFamily="34" charset="-120"/>
              </a:rPr>
              <a:t>9. </a:t>
            </a:r>
            <a:pPr indent="0" marL="0">
              <a:lnSpc>
                <a:spcPts val="1400"/>
              </a:lnSpc>
              <a:spcAft>
                <a:spcPts val="800"/>
              </a:spcAft>
              <a:buNone/>
            </a:pPr>
            <a:r>
              <a:rPr lang="en-US" sz="1050" dirty="0">
                <a:solidFill>
                  <a:srgbClr val="3F5563"/>
                </a:solidFill>
                <a:latin typeface="Calibri" pitchFamily="34" charset="0"/>
                <a:ea typeface="Calibri" pitchFamily="34" charset="-122"/>
                <a:cs typeface="Calibri" pitchFamily="34" charset="-120"/>
              </a:rPr>
              <a:t>After the rebrand, check every title still fits two lines and every table sits inside the margins. List anything that broke.</a:t>
            </a:r>
            <a:endParaRPr lang="en-US" sz="1050" dirty="0"/>
          </a:p>
        </p:txBody>
      </p:sp>
      <p:sp>
        <p:nvSpPr>
          <p:cNvPr id="10" name="Shape 8"/>
          <p:cNvSpPr/>
          <p:nvPr/>
        </p:nvSpPr>
        <p:spPr>
          <a:xfrm>
            <a:off x="566928" y="5806440"/>
            <a:ext cx="11027664" cy="685800"/>
          </a:xfrm>
          <a:prstGeom prst="roundRect">
            <a:avLst>
              <a:gd name="adj" fmla="val 13333"/>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5897880"/>
            <a:ext cx="10113264" cy="502920"/>
          </a:xfrm>
          <a:prstGeom prst="rect">
            <a:avLst/>
          </a:prstGeom>
          <a:noFill/>
          <a:ln/>
        </p:spPr>
        <p:txBody>
          <a:bodyPr wrap="square" lIns="0" tIns="0" rIns="0" bIns="0" rtlCol="0" anchor="ctr"/>
          <a:lstStyle/>
          <a:p>
            <a:pPr indent="0" marL="0">
              <a:buNone/>
            </a:pPr>
            <a:r>
              <a:rPr lang="en-US" sz="1150" b="1" dirty="0">
                <a:solidFill>
                  <a:srgbClr val="5C4E28"/>
                </a:solidFill>
                <a:latin typeface="Calibri" pitchFamily="34" charset="0"/>
                <a:ea typeface="Calibri" pitchFamily="34" charset="-122"/>
                <a:cs typeface="Calibri" pitchFamily="34" charset="-120"/>
              </a:rPr>
              <a:t>Final self-check: report every example value still present, and PASS or FAIL for each reconcile check in step 2. Do not declare the deck finished with an open FAIL.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WHY WE ARE HERE</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The question we set out to answer</a:t>
            </a:r>
            <a:endParaRPr lang="en-US" sz="2700" dirty="0"/>
          </a:p>
        </p:txBody>
      </p:sp>
      <p:sp>
        <p:nvSpPr>
          <p:cNvPr id="4" name="Shape 2"/>
          <p:cNvSpPr/>
          <p:nvPr/>
        </p:nvSpPr>
        <p:spPr>
          <a:xfrm>
            <a:off x="566928" y="1517904"/>
            <a:ext cx="11027664" cy="1078992"/>
          </a:xfrm>
          <a:prstGeom prst="roundRect">
            <a:avLst>
              <a:gd name="adj" fmla="val 8475"/>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00784"/>
            <a:ext cx="2743200" cy="292608"/>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SITUATION</a:t>
            </a:r>
            <a:endParaRPr lang="en-US" sz="1150" dirty="0"/>
          </a:p>
        </p:txBody>
      </p:sp>
      <p:sp>
        <p:nvSpPr>
          <p:cNvPr id="6" name="Text 4"/>
          <p:cNvSpPr/>
          <p:nvPr/>
        </p:nvSpPr>
        <p:spPr>
          <a:xfrm>
            <a:off x="950976" y="2011680"/>
            <a:ext cx="10113264" cy="420624"/>
          </a:xfrm>
          <a:prstGeom prst="rect">
            <a:avLst/>
          </a:prstGeom>
          <a:noFill/>
          <a:ln/>
        </p:spPr>
        <p:txBody>
          <a:bodyPr wrap="square" lIns="0" tIns="0" rIns="0" bIns="0" rtlCol="0" anchor="t"/>
          <a:lstStyle/>
          <a:p>
            <a:pPr indent="0" marL="0">
              <a:lnSpc>
                <a:spcPts val="1900"/>
              </a:lnSpc>
              <a:buNone/>
            </a:pPr>
            <a:r>
              <a:rPr lang="en-US" sz="1400" dirty="0">
                <a:solidFill>
                  <a:srgbClr val="3F5563"/>
                </a:solidFill>
                <a:latin typeface="Calibri" pitchFamily="34" charset="0"/>
                <a:ea typeface="Calibri" pitchFamily="34" charset="-122"/>
                <a:cs typeface="Calibri" pitchFamily="34" charset="-120"/>
              </a:rPr>
              <a:t>The bank serves exporting SMEs. Five candidate features sit on the roadmap; build capacity is two slots per cycle, with an earnings mandate.</a:t>
            </a:r>
            <a:endParaRPr lang="en-US" sz="1400" dirty="0"/>
          </a:p>
        </p:txBody>
      </p:sp>
      <p:sp>
        <p:nvSpPr>
          <p:cNvPr id="7" name="Shape 5"/>
          <p:cNvSpPr/>
          <p:nvPr/>
        </p:nvSpPr>
        <p:spPr>
          <a:xfrm>
            <a:off x="566928" y="2779776"/>
            <a:ext cx="11027664" cy="1353312"/>
          </a:xfrm>
          <a:prstGeom prst="roundRect">
            <a:avLst>
              <a:gd name="adj" fmla="val 6757"/>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962656"/>
            <a:ext cx="2743200" cy="292608"/>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COMPLICATION</a:t>
            </a:r>
            <a:endParaRPr lang="en-US" sz="1150" dirty="0"/>
          </a:p>
        </p:txBody>
      </p:sp>
      <p:sp>
        <p:nvSpPr>
          <p:cNvPr id="9" name="Text 7"/>
          <p:cNvSpPr/>
          <p:nvPr/>
        </p:nvSpPr>
        <p:spPr>
          <a:xfrm>
            <a:off x="950976" y="3273552"/>
            <a:ext cx="10113264" cy="694944"/>
          </a:xfrm>
          <a:prstGeom prst="rect">
            <a:avLst/>
          </a:prstGeom>
          <a:noFill/>
          <a:ln/>
        </p:spPr>
        <p:txBody>
          <a:bodyPr wrap="square" lIns="0" tIns="0" rIns="0" bIns="0" rtlCol="0" anchor="t"/>
          <a:lstStyle/>
          <a:p>
            <a:pPr indent="0" marL="0">
              <a:lnSpc>
                <a:spcPts val="1900"/>
              </a:lnSpc>
              <a:buNone/>
            </a:pPr>
            <a:r>
              <a:rPr lang="en-US" sz="1400" dirty="0">
                <a:solidFill>
                  <a:srgbClr val="3F5563"/>
                </a:solidFill>
                <a:latin typeface="Calibri" pitchFamily="34" charset="0"/>
                <a:ea typeface="Calibri" pitchFamily="34" charset="-122"/>
                <a:cs typeface="Calibri" pitchFamily="34" charset="-120"/>
              </a:rPr>
              <a:t>A one-off pick answers this cycle and nothing after it. The features differ in demand, return and build cost — and the evidence moves as we learn. Gut feel cannot hold an order across cycles.</a:t>
            </a:r>
            <a:endParaRPr lang="en-US" sz="1400" dirty="0"/>
          </a:p>
        </p:txBody>
      </p:sp>
      <p:sp>
        <p:nvSpPr>
          <p:cNvPr id="10" name="Shape 8"/>
          <p:cNvSpPr/>
          <p:nvPr/>
        </p:nvSpPr>
        <p:spPr>
          <a:xfrm>
            <a:off x="566928" y="4315968"/>
            <a:ext cx="11027664" cy="960120"/>
          </a:xfrm>
          <a:prstGeom prst="roundRect">
            <a:avLst>
              <a:gd name="adj" fmla="val 9524"/>
            </a:avLst>
          </a:prstGeom>
          <a:solidFill>
            <a:srgbClr val="E4EDF2"/>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4498848"/>
            <a:ext cx="2743200" cy="292608"/>
          </a:xfrm>
          <a:prstGeom prst="rect">
            <a:avLst/>
          </a:prstGeom>
          <a:noFill/>
          <a:ln/>
        </p:spPr>
        <p:txBody>
          <a:bodyPr wrap="square" lIns="0" tIns="0" rIns="0" bIns="0" rtlCol="0" anchor="ctr"/>
          <a:lstStyle/>
          <a:p>
            <a:pPr indent="0" marL="0">
              <a:buNone/>
            </a:pPr>
            <a:r>
              <a:rPr lang="en-US" sz="1150" b="1" spc="200" kern="0" dirty="0">
                <a:solidFill>
                  <a:srgbClr val="2F4858"/>
                </a:solidFill>
                <a:latin typeface="Calibri" pitchFamily="34" charset="0"/>
                <a:ea typeface="Calibri" pitchFamily="34" charset="-122"/>
                <a:cs typeface="Calibri" pitchFamily="34" charset="-120"/>
              </a:rPr>
              <a:t>QUESTION</a:t>
            </a:r>
            <a:endParaRPr lang="en-US" sz="1150" dirty="0"/>
          </a:p>
        </p:txBody>
      </p:sp>
      <p:sp>
        <p:nvSpPr>
          <p:cNvPr id="12" name="Text 10"/>
          <p:cNvSpPr/>
          <p:nvPr/>
        </p:nvSpPr>
        <p:spPr>
          <a:xfrm>
            <a:off x="950976" y="4809744"/>
            <a:ext cx="10113264" cy="301752"/>
          </a:xfrm>
          <a:prstGeom prst="rect">
            <a:avLst/>
          </a:prstGeom>
          <a:noFill/>
          <a:ln/>
        </p:spPr>
        <p:txBody>
          <a:bodyPr wrap="square" lIns="0" tIns="0" rIns="0" bIns="0" rtlCol="0" anchor="t"/>
          <a:lstStyle/>
          <a:p>
            <a:pPr indent="0" marL="0">
              <a:lnSpc>
                <a:spcPts val="2300"/>
              </a:lnSpc>
              <a:buNone/>
            </a:pPr>
            <a:r>
              <a:rPr lang="en-US" sz="1800" b="1" dirty="0">
                <a:solidFill>
                  <a:srgbClr val="2F4858"/>
                </a:solidFill>
                <a:latin typeface="Calibri" pitchFamily="34" charset="0"/>
                <a:ea typeface="Calibri" pitchFamily="34" charset="-122"/>
                <a:cs typeface="Calibri" pitchFamily="34" charset="-120"/>
              </a:rPr>
              <a:t>What do we build into the exporting-SME proposition — and in what order?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731520"/>
            <a:ext cx="11027664" cy="310896"/>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RECOMMENDATION</a:t>
            </a:r>
            <a:endParaRPr lang="en-US" sz="1200" dirty="0"/>
          </a:p>
        </p:txBody>
      </p:sp>
      <p:sp>
        <p:nvSpPr>
          <p:cNvPr id="4" name="Text 2"/>
          <p:cNvSpPr/>
          <p:nvPr/>
        </p:nvSpPr>
        <p:spPr>
          <a:xfrm>
            <a:off x="566928" y="1188720"/>
            <a:ext cx="11027664" cy="1371600"/>
          </a:xfrm>
          <a:prstGeom prst="rect">
            <a:avLst/>
          </a:prstGeom>
          <a:noFill/>
          <a:ln/>
        </p:spPr>
        <p:txBody>
          <a:bodyPr wrap="square" lIns="0" tIns="0" rIns="0" bIns="0" rtlCol="0" anchor="t"/>
          <a:lstStyle/>
          <a:p>
            <a:pPr indent="0" marL="0">
              <a:lnSpc>
                <a:spcPts val="3600"/>
              </a:lnSpc>
              <a:buNone/>
            </a:pPr>
            <a:r>
              <a:rPr lang="en-US" sz="2800" b="1" dirty="0">
                <a:solidFill>
                  <a:srgbClr val="FFFFFF"/>
                </a:solidFill>
                <a:latin typeface="Cambria" pitchFamily="34" charset="0"/>
                <a:ea typeface="Cambria" pitchFamily="34" charset="-122"/>
                <a:cs typeface="Cambria" pitchFamily="34" charset="-120"/>
              </a:rPr>
              <a:t>Fill 'Trade Ready' in return order: FX and invoice finance take this cycle's two slots — £6m a year by year 3.</a:t>
            </a:r>
            <a:endParaRPr lang="en-US" sz="2800" dirty="0"/>
          </a:p>
        </p:txBody>
      </p:sp>
      <p:sp>
        <p:nvSpPr>
          <p:cNvPr id="5" name="Text 3"/>
          <p:cNvSpPr/>
          <p:nvPr/>
        </p:nvSpPr>
        <p:spPr>
          <a:xfrm>
            <a:off x="566928" y="2788920"/>
            <a:ext cx="2103120" cy="512064"/>
          </a:xfrm>
          <a:prstGeom prst="rect">
            <a:avLst/>
          </a:prstGeom>
          <a:noFill/>
          <a:ln/>
        </p:spPr>
        <p:txBody>
          <a:bodyPr wrap="square" lIns="0" tIns="0" rIns="0" bIns="0" rtlCol="0" anchor="ctr"/>
          <a:lstStyle/>
          <a:p>
            <a:pPr indent="0" marL="0">
              <a:buNone/>
            </a:pPr>
            <a:r>
              <a:rPr lang="en-US" sz="2000" b="1" dirty="0">
                <a:solidFill>
                  <a:srgbClr val="C9A227"/>
                </a:solidFill>
                <a:latin typeface="Cambria" pitchFamily="34" charset="0"/>
                <a:ea typeface="Cambria" pitchFamily="34" charset="-122"/>
                <a:cs typeface="Cambria" pitchFamily="34" charset="-120"/>
              </a:rPr>
              <a:t>This cycle</a:t>
            </a:r>
            <a:endParaRPr lang="en-US" sz="2000" dirty="0"/>
          </a:p>
        </p:txBody>
      </p:sp>
      <p:sp>
        <p:nvSpPr>
          <p:cNvPr id="6" name="Text 4"/>
          <p:cNvSpPr/>
          <p:nvPr/>
        </p:nvSpPr>
        <p:spPr>
          <a:xfrm>
            <a:off x="2761488" y="2788920"/>
            <a:ext cx="6035040" cy="5120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FX payments (build) · invoice finance (partner)</a:t>
            </a:r>
            <a:endParaRPr lang="en-US" sz="1900" dirty="0"/>
          </a:p>
        </p:txBody>
      </p:sp>
      <p:sp>
        <p:nvSpPr>
          <p:cNvPr id="7" name="Text 5"/>
          <p:cNvSpPr/>
          <p:nvPr/>
        </p:nvSpPr>
        <p:spPr>
          <a:xfrm>
            <a:off x="8887968" y="2825496"/>
            <a:ext cx="3017520" cy="457200"/>
          </a:xfrm>
          <a:prstGeom prst="rect">
            <a:avLst/>
          </a:prstGeom>
          <a:noFill/>
          <a:ln/>
        </p:spPr>
        <p:txBody>
          <a:bodyPr wrap="square" lIns="0" tIns="0" rIns="0" bIns="0" rtlCol="0" anchor="ctr"/>
          <a:lstStyle/>
          <a:p>
            <a:pPr indent="0" marL="0">
              <a:buNone/>
            </a:pPr>
            <a:r>
              <a:rPr lang="en-US" sz="1300" dirty="0">
                <a:solidFill>
                  <a:srgbClr val="8FB3C2"/>
                </a:solidFill>
                <a:latin typeface="Calibri" pitchFamily="34" charset="0"/>
                <a:ea typeface="Calibri" pitchFamily="34" charset="-122"/>
                <a:cs typeface="Calibri" pitchFamily="34" charset="-120"/>
              </a:rPr>
              <a:t>the two slots</a:t>
            </a:r>
            <a:endParaRPr lang="en-US" sz="1300" dirty="0"/>
          </a:p>
        </p:txBody>
      </p:sp>
      <p:sp>
        <p:nvSpPr>
          <p:cNvPr id="8" name="Text 6"/>
          <p:cNvSpPr/>
          <p:nvPr/>
        </p:nvSpPr>
        <p:spPr>
          <a:xfrm>
            <a:off x="566928" y="3502152"/>
            <a:ext cx="2103120" cy="512064"/>
          </a:xfrm>
          <a:prstGeom prst="rect">
            <a:avLst/>
          </a:prstGeom>
          <a:noFill/>
          <a:ln/>
        </p:spPr>
        <p:txBody>
          <a:bodyPr wrap="square" lIns="0" tIns="0" rIns="0" bIns="0" rtlCol="0" anchor="ctr"/>
          <a:lstStyle/>
          <a:p>
            <a:pPr indent="0" marL="0">
              <a:buNone/>
            </a:pPr>
            <a:r>
              <a:rPr lang="en-US" sz="2000" b="1" dirty="0">
                <a:solidFill>
                  <a:srgbClr val="C9A227"/>
                </a:solidFill>
                <a:latin typeface="Cambria" pitchFamily="34" charset="0"/>
                <a:ea typeface="Cambria" pitchFamily="34" charset="-122"/>
                <a:cs typeface="Cambria" pitchFamily="34" charset="-120"/>
              </a:rPr>
              <a:t>Next cycle</a:t>
            </a:r>
            <a:endParaRPr lang="en-US" sz="2000" dirty="0"/>
          </a:p>
        </p:txBody>
      </p:sp>
      <p:sp>
        <p:nvSpPr>
          <p:cNvPr id="9" name="Text 7"/>
          <p:cNvSpPr/>
          <p:nvPr/>
        </p:nvSpPr>
        <p:spPr>
          <a:xfrm>
            <a:off x="2761488" y="3502152"/>
            <a:ext cx="6035040" cy="5120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Trade insurance</a:t>
            </a:r>
            <a:endParaRPr lang="en-US" sz="1900" dirty="0"/>
          </a:p>
        </p:txBody>
      </p:sp>
      <p:sp>
        <p:nvSpPr>
          <p:cNvPr id="10" name="Text 8"/>
          <p:cNvSpPr/>
          <p:nvPr/>
        </p:nvSpPr>
        <p:spPr>
          <a:xfrm>
            <a:off x="8887968" y="3538728"/>
            <a:ext cx="3017520" cy="457200"/>
          </a:xfrm>
          <a:prstGeom prst="rect">
            <a:avLst/>
          </a:prstGeom>
          <a:noFill/>
          <a:ln/>
        </p:spPr>
        <p:txBody>
          <a:bodyPr wrap="square" lIns="0" tIns="0" rIns="0" bIns="0" rtlCol="0" anchor="ctr"/>
          <a:lstStyle/>
          <a:p>
            <a:pPr indent="0" marL="0">
              <a:buNone/>
            </a:pPr>
            <a:r>
              <a:rPr lang="en-US" sz="1300" dirty="0">
                <a:solidFill>
                  <a:srgbClr val="8FB3C2"/>
                </a:solidFill>
                <a:latin typeface="Calibri" pitchFamily="34" charset="0"/>
                <a:ea typeface="Calibri" pitchFamily="34" charset="-122"/>
                <a:cs typeface="Calibri" pitchFamily="34" charset="-120"/>
              </a:rPr>
              <a:t>third by return per slot</a:t>
            </a:r>
            <a:endParaRPr lang="en-US" sz="1300" dirty="0"/>
          </a:p>
        </p:txBody>
      </p:sp>
      <p:sp>
        <p:nvSpPr>
          <p:cNvPr id="11" name="Text 9"/>
          <p:cNvSpPr/>
          <p:nvPr/>
        </p:nvSpPr>
        <p:spPr>
          <a:xfrm>
            <a:off x="566928" y="4215384"/>
            <a:ext cx="2103120" cy="512064"/>
          </a:xfrm>
          <a:prstGeom prst="rect">
            <a:avLst/>
          </a:prstGeom>
          <a:noFill/>
          <a:ln/>
        </p:spPr>
        <p:txBody>
          <a:bodyPr wrap="square" lIns="0" tIns="0" rIns="0" bIns="0" rtlCol="0" anchor="ctr"/>
          <a:lstStyle/>
          <a:p>
            <a:pPr indent="0" marL="0">
              <a:buNone/>
            </a:pPr>
            <a:r>
              <a:rPr lang="en-US" sz="2000" b="1" dirty="0">
                <a:solidFill>
                  <a:srgbClr val="C9A227"/>
                </a:solidFill>
                <a:latin typeface="Cambria" pitchFamily="34" charset="0"/>
                <a:ea typeface="Cambria" pitchFamily="34" charset="-122"/>
                <a:cs typeface="Cambria" pitchFamily="34" charset="-120"/>
              </a:rPr>
              <a:t>Off the list</a:t>
            </a:r>
            <a:endParaRPr lang="en-US" sz="2000" dirty="0"/>
          </a:p>
        </p:txBody>
      </p:sp>
      <p:sp>
        <p:nvSpPr>
          <p:cNvPr id="12" name="Text 10"/>
          <p:cNvSpPr/>
          <p:nvPr/>
        </p:nvSpPr>
        <p:spPr>
          <a:xfrm>
            <a:off x="2761488" y="4215384"/>
            <a:ext cx="6035040" cy="5120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Crypto payments · rewards scheme</a:t>
            </a:r>
            <a:endParaRPr lang="en-US" sz="1900" dirty="0"/>
          </a:p>
        </p:txBody>
      </p:sp>
      <p:sp>
        <p:nvSpPr>
          <p:cNvPr id="13" name="Text 11"/>
          <p:cNvSpPr/>
          <p:nvPr/>
        </p:nvSpPr>
        <p:spPr>
          <a:xfrm>
            <a:off x="8887968" y="4251960"/>
            <a:ext cx="3017520" cy="457200"/>
          </a:xfrm>
          <a:prstGeom prst="rect">
            <a:avLst/>
          </a:prstGeom>
          <a:noFill/>
          <a:ln/>
        </p:spPr>
        <p:txBody>
          <a:bodyPr wrap="square" lIns="0" tIns="0" rIns="0" bIns="0" rtlCol="0" anchor="ctr"/>
          <a:lstStyle/>
          <a:p>
            <a:pPr indent="0" marL="0">
              <a:buNone/>
            </a:pPr>
            <a:r>
              <a:rPr lang="en-US" sz="1300" dirty="0">
                <a:solidFill>
                  <a:srgbClr val="8FB3C2"/>
                </a:solidFill>
                <a:latin typeface="Calibri" pitchFamily="34" charset="0"/>
                <a:ea typeface="Calibri" pitchFamily="34" charset="-122"/>
                <a:cs typeface="Calibri" pitchFamily="34" charset="-120"/>
              </a:rPr>
              <a:t>below the demand gate</a:t>
            </a:r>
            <a:endParaRPr lang="en-US" sz="1300" dirty="0"/>
          </a:p>
        </p:txBody>
      </p:sp>
      <p:sp>
        <p:nvSpPr>
          <p:cNvPr id="14" name="Text 12"/>
          <p:cNvSpPr/>
          <p:nvPr/>
        </p:nvSpPr>
        <p:spPr>
          <a:xfrm>
            <a:off x="566928" y="4928616"/>
            <a:ext cx="2103120" cy="512064"/>
          </a:xfrm>
          <a:prstGeom prst="rect">
            <a:avLst/>
          </a:prstGeom>
          <a:noFill/>
          <a:ln/>
        </p:spPr>
        <p:txBody>
          <a:bodyPr wrap="square" lIns="0" tIns="0" rIns="0" bIns="0" rtlCol="0" anchor="ctr"/>
          <a:lstStyle/>
          <a:p>
            <a:pPr indent="0" marL="0">
              <a:buNone/>
            </a:pPr>
            <a:r>
              <a:rPr lang="en-US" sz="2000" b="1" dirty="0">
                <a:solidFill>
                  <a:srgbClr val="C9A227"/>
                </a:solidFill>
                <a:latin typeface="Cambria" pitchFamily="34" charset="0"/>
                <a:ea typeface="Cambria" pitchFamily="34" charset="-122"/>
                <a:cs typeface="Cambria" pitchFamily="34" charset="-120"/>
              </a:rPr>
              <a:t>Standing</a:t>
            </a:r>
            <a:endParaRPr lang="en-US" sz="2000" dirty="0"/>
          </a:p>
        </p:txBody>
      </p:sp>
      <p:sp>
        <p:nvSpPr>
          <p:cNvPr id="15" name="Text 13"/>
          <p:cNvSpPr/>
          <p:nvPr/>
        </p:nvSpPr>
        <p:spPr>
          <a:xfrm>
            <a:off x="2761488" y="4928616"/>
            <a:ext cx="6035040" cy="5120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Re-score the backlog every quarter</a:t>
            </a:r>
            <a:endParaRPr lang="en-US" sz="1900" dirty="0"/>
          </a:p>
        </p:txBody>
      </p:sp>
      <p:sp>
        <p:nvSpPr>
          <p:cNvPr id="16" name="Text 14"/>
          <p:cNvSpPr/>
          <p:nvPr/>
        </p:nvSpPr>
        <p:spPr>
          <a:xfrm>
            <a:off x="8887968" y="4965192"/>
            <a:ext cx="3017520" cy="457200"/>
          </a:xfrm>
          <a:prstGeom prst="rect">
            <a:avLst/>
          </a:prstGeom>
          <a:noFill/>
          <a:ln/>
        </p:spPr>
        <p:txBody>
          <a:bodyPr wrap="square" lIns="0" tIns="0" rIns="0" bIns="0" rtlCol="0" anchor="ctr"/>
          <a:lstStyle/>
          <a:p>
            <a:pPr indent="0" marL="0">
              <a:buNone/>
            </a:pPr>
            <a:r>
              <a:rPr lang="en-US" sz="1300" dirty="0">
                <a:solidFill>
                  <a:srgbClr val="8FB3C2"/>
                </a:solidFill>
                <a:latin typeface="Calibri" pitchFamily="34" charset="0"/>
                <a:ea typeface="Calibri" pitchFamily="34" charset="-122"/>
                <a:cs typeface="Calibri" pitchFamily="34" charset="-120"/>
              </a:rPr>
              <a:t>the order moves with the evidence</a:t>
            </a:r>
            <a:endParaRPr lang="en-US" sz="1300" dirty="0"/>
          </a:p>
        </p:txBody>
      </p:sp>
      <p:sp>
        <p:nvSpPr>
          <p:cNvPr id="17" name="Shape 15"/>
          <p:cNvSpPr/>
          <p:nvPr/>
        </p:nvSpPr>
        <p:spPr>
          <a:xfrm>
            <a:off x="566928" y="5760720"/>
            <a:ext cx="11027664" cy="0"/>
          </a:xfrm>
          <a:prstGeom prst="line">
            <a:avLst/>
          </a:prstGeom>
          <a:noFill/>
          <a:ln w="12700">
            <a:solidFill>
              <a:srgbClr val="3E6072"/>
            </a:solidFill>
            <a:prstDash val="solid"/>
          </a:ln>
        </p:spPr>
      </p:sp>
      <p:sp>
        <p:nvSpPr>
          <p:cNvPr id="18" name="Text 16"/>
          <p:cNvSpPr/>
          <p:nvPr/>
        </p:nvSpPr>
        <p:spPr>
          <a:xfrm>
            <a:off x="566928" y="5925312"/>
            <a:ext cx="10296144" cy="548640"/>
          </a:xfrm>
          <a:prstGeom prst="rect">
            <a:avLst/>
          </a:prstGeom>
          <a:noFill/>
          <a:ln/>
        </p:spPr>
        <p:txBody>
          <a:bodyPr wrap="square" lIns="0" tIns="0" rIns="0" bIns="0" rtlCol="0" anchor="t"/>
          <a:lstStyle/>
          <a:p>
            <a:pPr indent="0" marL="0">
              <a:lnSpc>
                <a:spcPts val="2000"/>
              </a:lnSpc>
              <a:buNone/>
            </a:pPr>
            <a:r>
              <a:rPr lang="en-US" sz="1400" dirty="0">
                <a:solidFill>
                  <a:srgbClr val="8FB3C2"/>
                </a:solidFill>
                <a:latin typeface="Calibri" pitchFamily="34" charset="0"/>
                <a:ea typeface="Calibri" pitchFamily="34" charset="-122"/>
                <a:cs typeface="Calibri" pitchFamily="34" charset="-120"/>
              </a:rPr>
              <a:t>The client approves two things: this cycle's slate, and the rule that produced it. Next cycle re-runs the rule.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THE ARGUMENT IN ONE PAGE</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Three things make this order right</a:t>
            </a:r>
            <a:endParaRPr lang="en-US" sz="2700" dirty="0"/>
          </a:p>
        </p:txBody>
      </p:sp>
      <p:sp>
        <p:nvSpPr>
          <p:cNvPr id="4" name="Shape 2"/>
          <p:cNvSpPr/>
          <p:nvPr/>
        </p:nvSpPr>
        <p:spPr>
          <a:xfrm>
            <a:off x="566928" y="1627632"/>
            <a:ext cx="3493008" cy="3794760"/>
          </a:xfrm>
          <a:prstGeom prst="roundRect">
            <a:avLst>
              <a:gd name="adj" fmla="val 261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Shape 3"/>
          <p:cNvSpPr/>
          <p:nvPr/>
        </p:nvSpPr>
        <p:spPr>
          <a:xfrm>
            <a:off x="914400" y="1938528"/>
            <a:ext cx="475488" cy="475488"/>
          </a:xfrm>
          <a:prstGeom prst="ellipse">
            <a:avLst/>
          </a:prstGeom>
          <a:solidFill>
            <a:srgbClr val="C9A227"/>
          </a:solidFill>
          <a:ln w="12700">
            <a:solidFill>
              <a:srgbClr val="C9A227"/>
            </a:solidFill>
            <a:prstDash val="solid"/>
          </a:ln>
        </p:spPr>
      </p:sp>
      <p:sp>
        <p:nvSpPr>
          <p:cNvPr id="6" name="Text 4"/>
          <p:cNvSpPr/>
          <p:nvPr/>
        </p:nvSpPr>
        <p:spPr>
          <a:xfrm>
            <a:off x="914400" y="1938528"/>
            <a:ext cx="475488" cy="475488"/>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27048" y="1938528"/>
            <a:ext cx="2212848" cy="475488"/>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DEMAND ADMITS</a:t>
            </a:r>
            <a:endParaRPr lang="en-US" sz="1100" dirty="0"/>
          </a:p>
        </p:txBody>
      </p:sp>
      <p:sp>
        <p:nvSpPr>
          <p:cNvPr id="8" name="Text 6"/>
          <p:cNvSpPr/>
          <p:nvPr/>
        </p:nvSpPr>
        <p:spPr>
          <a:xfrm>
            <a:off x="914400"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1F2A31"/>
                </a:solidFill>
                <a:latin typeface="Cambria" pitchFamily="34" charset="0"/>
                <a:ea typeface="Cambria" pitchFamily="34" charset="-122"/>
                <a:cs typeface="Cambria" pitchFamily="34" charset="-120"/>
              </a:rPr>
              <a:t>Exporters want three of the five — and will think of us</a:t>
            </a:r>
            <a:endParaRPr lang="en-US" sz="1650" dirty="0"/>
          </a:p>
        </p:txBody>
      </p:sp>
      <p:sp>
        <p:nvSpPr>
          <p:cNvPr id="9" name="Text 7"/>
          <p:cNvSpPr/>
          <p:nvPr/>
        </p:nvSpPr>
        <p:spPr>
          <a:xfrm>
            <a:off x="914400"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FX (78), invoice finance (72) and insurance (64) clear the demand gate of 60. Crypto (41) and rewards (33) never get priced. The 'Trade Ready' name makes the shelf visible at the moment the need hits.</a:t>
            </a:r>
            <a:endParaRPr lang="en-US" sz="1150" dirty="0"/>
          </a:p>
        </p:txBody>
      </p:sp>
      <p:sp>
        <p:nvSpPr>
          <p:cNvPr id="10" name="Shape 8"/>
          <p:cNvSpPr/>
          <p:nvPr/>
        </p:nvSpPr>
        <p:spPr>
          <a:xfrm>
            <a:off x="4334256" y="1627632"/>
            <a:ext cx="3493008" cy="3794760"/>
          </a:xfrm>
          <a:prstGeom prst="roundRect">
            <a:avLst>
              <a:gd name="adj" fmla="val 261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Shape 9"/>
          <p:cNvSpPr/>
          <p:nvPr/>
        </p:nvSpPr>
        <p:spPr>
          <a:xfrm>
            <a:off x="4681728" y="1938528"/>
            <a:ext cx="475488" cy="475488"/>
          </a:xfrm>
          <a:prstGeom prst="ellipse">
            <a:avLst/>
          </a:prstGeom>
          <a:solidFill>
            <a:srgbClr val="C9A227"/>
          </a:solidFill>
          <a:ln w="12700">
            <a:solidFill>
              <a:srgbClr val="C9A227"/>
            </a:solidFill>
            <a:prstDash val="solid"/>
          </a:ln>
        </p:spPr>
      </p:sp>
      <p:sp>
        <p:nvSpPr>
          <p:cNvPr id="12" name="Text 10"/>
          <p:cNvSpPr/>
          <p:nvPr/>
        </p:nvSpPr>
        <p:spPr>
          <a:xfrm>
            <a:off x="4681728" y="1938528"/>
            <a:ext cx="475488" cy="475488"/>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5294376" y="1938528"/>
            <a:ext cx="2212848" cy="475488"/>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RETURN SORTS</a:t>
            </a:r>
            <a:endParaRPr lang="en-US" sz="1100" dirty="0"/>
          </a:p>
        </p:txBody>
      </p:sp>
      <p:sp>
        <p:nvSpPr>
          <p:cNvPr id="14" name="Text 12"/>
          <p:cNvSpPr/>
          <p:nvPr/>
        </p:nvSpPr>
        <p:spPr>
          <a:xfrm>
            <a:off x="4681728"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1F2A31"/>
                </a:solidFill>
                <a:latin typeface="Cambria" pitchFamily="34" charset="0"/>
                <a:ea typeface="Cambria" pitchFamily="34" charset="-122"/>
                <a:cs typeface="Cambria" pitchFamily="34" charset="-120"/>
              </a:rPr>
              <a:t>Return per build slot sets the order — FX first</a:t>
            </a:r>
            <a:endParaRPr lang="en-US" sz="1650" dirty="0"/>
          </a:p>
        </p:txBody>
      </p:sp>
      <p:sp>
        <p:nvSpPr>
          <p:cNvPr id="15" name="Text 13"/>
          <p:cNvSpPr/>
          <p:nvPr/>
        </p:nvSpPr>
        <p:spPr>
          <a:xfrm>
            <a:off x="4681728"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FX earns £2.1m a slot, invoice finance £1.6m, insurance £0.9m. Insurance beats invoice finance on raw NPV and still sorts below it — it needs two slots. The order is re-scored quarterly.</a:t>
            </a:r>
            <a:endParaRPr lang="en-US" sz="1150" dirty="0"/>
          </a:p>
        </p:txBody>
      </p:sp>
      <p:sp>
        <p:nvSpPr>
          <p:cNvPr id="16" name="Shape 14"/>
          <p:cNvSpPr/>
          <p:nvPr/>
        </p:nvSpPr>
        <p:spPr>
          <a:xfrm>
            <a:off x="8101584" y="1627632"/>
            <a:ext cx="3493008" cy="3794760"/>
          </a:xfrm>
          <a:prstGeom prst="roundRect">
            <a:avLst>
              <a:gd name="adj" fmla="val 261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Shape 15"/>
          <p:cNvSpPr/>
          <p:nvPr/>
        </p:nvSpPr>
        <p:spPr>
          <a:xfrm>
            <a:off x="8449056" y="1938528"/>
            <a:ext cx="475488" cy="475488"/>
          </a:xfrm>
          <a:prstGeom prst="ellipse">
            <a:avLst/>
          </a:prstGeom>
          <a:solidFill>
            <a:srgbClr val="C9A227"/>
          </a:solidFill>
          <a:ln w="12700">
            <a:solidFill>
              <a:srgbClr val="C9A227"/>
            </a:solidFill>
            <a:prstDash val="solid"/>
          </a:ln>
        </p:spPr>
      </p:sp>
      <p:sp>
        <p:nvSpPr>
          <p:cNvPr id="18" name="Text 16"/>
          <p:cNvSpPr/>
          <p:nvPr/>
        </p:nvSpPr>
        <p:spPr>
          <a:xfrm>
            <a:off x="8449056" y="1938528"/>
            <a:ext cx="475488" cy="475488"/>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9061704" y="1938528"/>
            <a:ext cx="2212848" cy="475488"/>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CAPACITY CUTS</a:t>
            </a:r>
            <a:endParaRPr lang="en-US" sz="1100" dirty="0"/>
          </a:p>
        </p:txBody>
      </p:sp>
      <p:sp>
        <p:nvSpPr>
          <p:cNvPr id="20" name="Text 18"/>
          <p:cNvSpPr/>
          <p:nvPr/>
        </p:nvSpPr>
        <p:spPr>
          <a:xfrm>
            <a:off x="8449056"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1F2A31"/>
                </a:solidFill>
                <a:latin typeface="Cambria" pitchFamily="34" charset="0"/>
                <a:ea typeface="Cambria" pitchFamily="34" charset="-122"/>
                <a:cs typeface="Cambria" pitchFamily="34" charset="-120"/>
              </a:rPr>
              <a:t>Two slots this cycle — and the routes keep the edge</a:t>
            </a:r>
            <a:endParaRPr lang="en-US" sz="1650" dirty="0"/>
          </a:p>
        </p:txBody>
      </p:sp>
      <p:sp>
        <p:nvSpPr>
          <p:cNvPr id="21" name="Text 19"/>
          <p:cNvSpPr/>
          <p:nvPr/>
        </p:nvSpPr>
        <p:spPr>
          <a:xfrm>
            <a:off x="8449056"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FX builds in-house on our core platform. Invoice finance partners: live in 5 months instead of 18. Insurance waits on the claims capability. Partner terms keep the customer and the data ours.</a:t>
            </a:r>
            <a:endParaRPr lang="en-US" sz="1150" dirty="0"/>
          </a:p>
        </p:txBody>
      </p:sp>
      <p:sp>
        <p:nvSpPr>
          <p:cNvPr id="22" name="Text 20"/>
          <p:cNvSpPr/>
          <p:nvPr/>
        </p:nvSpPr>
        <p:spPr>
          <a:xfrm>
            <a:off x="566928" y="5596128"/>
            <a:ext cx="11027664" cy="457200"/>
          </a:xfrm>
          <a:prstGeom prst="rect">
            <a:avLst/>
          </a:prstGeom>
          <a:noFill/>
          <a:ln/>
        </p:spPr>
        <p:txBody>
          <a:bodyPr wrap="square" lIns="0" tIns="0" rIns="0" bIns="0" rtlCol="0" anchor="ctr"/>
          <a:lstStyle/>
          <a:p>
            <a:pPr indent="0" marL="0">
              <a:buNone/>
            </a:pPr>
            <a:r>
              <a:rPr lang="en-US" sz="1300" i="1" dirty="0">
                <a:solidFill>
                  <a:srgbClr val="64818F"/>
                </a:solidFill>
                <a:latin typeface="Calibri" pitchFamily="34" charset="0"/>
                <a:ea typeface="Calibri" pitchFamily="34" charset="-122"/>
                <a:cs typeface="Calibri" pitchFamily="34" charset="-120"/>
              </a:rPr>
              <a:t>Each reason stands alone: attack demand, the sort, or the cut separately — the other two hold.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THE BACKLOG, DECIDED</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One page: the order, and why each feature sits where it sits</a:t>
            </a:r>
            <a:endParaRPr lang="en-US" sz="2700" dirty="0"/>
          </a:p>
        </p:txBody>
      </p:sp>
      <p:sp>
        <p:nvSpPr>
          <p:cNvPr id="4" name="Text 2"/>
          <p:cNvSpPr/>
          <p:nvPr/>
        </p:nvSpPr>
        <p:spPr>
          <a:xfrm>
            <a:off x="566928" y="1627632"/>
            <a:ext cx="109728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Position</a:t>
            </a:r>
            <a:endParaRPr lang="en-US" sz="1100" dirty="0"/>
          </a:p>
        </p:txBody>
      </p:sp>
      <p:sp>
        <p:nvSpPr>
          <p:cNvPr id="5" name="Text 3"/>
          <p:cNvSpPr/>
          <p:nvPr/>
        </p:nvSpPr>
        <p:spPr>
          <a:xfrm>
            <a:off x="1801368" y="1627632"/>
            <a:ext cx="242316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Feature</a:t>
            </a:r>
            <a:endParaRPr lang="en-US" sz="1100" dirty="0"/>
          </a:p>
        </p:txBody>
      </p:sp>
      <p:sp>
        <p:nvSpPr>
          <p:cNvPr id="6" name="Text 4"/>
          <p:cNvSpPr/>
          <p:nvPr/>
        </p:nvSpPr>
        <p:spPr>
          <a:xfrm>
            <a:off x="4361688" y="1627632"/>
            <a:ext cx="141732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Demand</a:t>
            </a:r>
            <a:endParaRPr lang="en-US" sz="1100" dirty="0"/>
          </a:p>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vs gate 60</a:t>
            </a:r>
            <a:endParaRPr lang="en-US" sz="1100" dirty="0"/>
          </a:p>
        </p:txBody>
      </p:sp>
      <p:sp>
        <p:nvSpPr>
          <p:cNvPr id="7" name="Text 5"/>
          <p:cNvSpPr/>
          <p:nvPr/>
        </p:nvSpPr>
        <p:spPr>
          <a:xfrm>
            <a:off x="5916168" y="1627632"/>
            <a:ext cx="141732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Return</a:t>
            </a:r>
            <a:endParaRPr lang="en-US" sz="1100" dirty="0"/>
          </a:p>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per slot</a:t>
            </a:r>
            <a:endParaRPr lang="en-US" sz="1100" dirty="0"/>
          </a:p>
        </p:txBody>
      </p:sp>
      <p:sp>
        <p:nvSpPr>
          <p:cNvPr id="8" name="Text 6"/>
          <p:cNvSpPr/>
          <p:nvPr/>
        </p:nvSpPr>
        <p:spPr>
          <a:xfrm>
            <a:off x="7470648" y="1627632"/>
            <a:ext cx="260604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Route</a:t>
            </a:r>
            <a:endParaRPr lang="en-US" sz="1100" dirty="0"/>
          </a:p>
        </p:txBody>
      </p:sp>
      <p:sp>
        <p:nvSpPr>
          <p:cNvPr id="9" name="Text 7"/>
          <p:cNvSpPr/>
          <p:nvPr/>
        </p:nvSpPr>
        <p:spPr>
          <a:xfrm>
            <a:off x="10213848" y="1627632"/>
            <a:ext cx="1325880" cy="658368"/>
          </a:xfrm>
          <a:prstGeom prst="rect">
            <a:avLst/>
          </a:prstGeom>
          <a:noFill/>
          <a:ln/>
        </p:spPr>
        <p:txBody>
          <a:bodyPr wrap="square" lIns="0" tIns="0" rIns="0" bIns="0" rtlCol="0" anchor="b"/>
          <a:lstStyle/>
          <a:p>
            <a:pPr indent="0" marL="0">
              <a:lnSpc>
                <a:spcPts val="1400"/>
              </a:lnSpc>
              <a:buNone/>
            </a:pPr>
            <a:r>
              <a:rPr lang="en-US" sz="1100" b="1" dirty="0">
                <a:solidFill>
                  <a:srgbClr val="2F4858"/>
                </a:solidFill>
                <a:latin typeface="Calibri" pitchFamily="34" charset="0"/>
                <a:ea typeface="Calibri" pitchFamily="34" charset="-122"/>
                <a:cs typeface="Calibri" pitchFamily="34" charset="-120"/>
              </a:rPr>
              <a:t>Status</a:t>
            </a:r>
            <a:endParaRPr lang="en-US" sz="1100" dirty="0"/>
          </a:p>
        </p:txBody>
      </p:sp>
      <p:sp>
        <p:nvSpPr>
          <p:cNvPr id="10" name="Shape 8"/>
          <p:cNvSpPr/>
          <p:nvPr/>
        </p:nvSpPr>
        <p:spPr>
          <a:xfrm>
            <a:off x="566928" y="2359152"/>
            <a:ext cx="11027664" cy="0"/>
          </a:xfrm>
          <a:prstGeom prst="line">
            <a:avLst/>
          </a:prstGeom>
          <a:noFill/>
          <a:ln w="19050">
            <a:solidFill>
              <a:srgbClr val="2F4858"/>
            </a:solidFill>
            <a:prstDash val="solid"/>
          </a:ln>
        </p:spPr>
      </p:sp>
      <p:sp>
        <p:nvSpPr>
          <p:cNvPr id="11" name="Shape 9"/>
          <p:cNvSpPr/>
          <p:nvPr/>
        </p:nvSpPr>
        <p:spPr>
          <a:xfrm>
            <a:off x="566928" y="2432304"/>
            <a:ext cx="11027664" cy="658368"/>
          </a:xfrm>
          <a:prstGeom prst="rect">
            <a:avLst/>
          </a:prstGeom>
          <a:solidFill>
            <a:srgbClr val="F5F8FA"/>
          </a:solidFill>
          <a:ln w="12700">
            <a:solidFill>
              <a:srgbClr val="F5F8FA"/>
            </a:solidFill>
            <a:prstDash val="solid"/>
          </a:ln>
        </p:spPr>
      </p:sp>
      <p:sp>
        <p:nvSpPr>
          <p:cNvPr id="12" name="Text 10"/>
          <p:cNvSpPr/>
          <p:nvPr/>
        </p:nvSpPr>
        <p:spPr>
          <a:xfrm>
            <a:off x="566928" y="2487168"/>
            <a:ext cx="1097280" cy="548640"/>
          </a:xfrm>
          <a:prstGeom prst="rect">
            <a:avLst/>
          </a:prstGeom>
          <a:noFill/>
          <a:ln/>
        </p:spPr>
        <p:txBody>
          <a:bodyPr wrap="square" lIns="0" tIns="0" rIns="0" bIns="0" rtlCol="0" anchor="ctr"/>
          <a:lstStyle/>
          <a:p>
            <a:pPr indent="0" marL="0">
              <a:buNone/>
            </a:pPr>
            <a:r>
              <a:rPr lang="en-US" sz="1800" b="1" dirty="0">
                <a:solidFill>
                  <a:srgbClr val="8A6D0F"/>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1801368" y="2487168"/>
            <a:ext cx="2423160" cy="548640"/>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FX payments</a:t>
            </a:r>
            <a:endParaRPr lang="en-US" sz="1400" dirty="0"/>
          </a:p>
        </p:txBody>
      </p:sp>
      <p:sp>
        <p:nvSpPr>
          <p:cNvPr id="14" name="Text 12"/>
          <p:cNvSpPr/>
          <p:nvPr/>
        </p:nvSpPr>
        <p:spPr>
          <a:xfrm>
            <a:off x="4361688" y="248716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78</a:t>
            </a:r>
            <a:endParaRPr lang="en-US" sz="1300" dirty="0"/>
          </a:p>
        </p:txBody>
      </p:sp>
      <p:sp>
        <p:nvSpPr>
          <p:cNvPr id="15" name="Text 13"/>
          <p:cNvSpPr/>
          <p:nvPr/>
        </p:nvSpPr>
        <p:spPr>
          <a:xfrm>
            <a:off x="5916168" y="2487168"/>
            <a:ext cx="1417320" cy="548640"/>
          </a:xfrm>
          <a:prstGeom prst="rect">
            <a:avLst/>
          </a:prstGeom>
          <a:noFill/>
          <a:ln/>
        </p:spPr>
        <p:txBody>
          <a:bodyPr wrap="square" lIns="0" tIns="0" rIns="0" bIns="0" rtlCol="0" anchor="ctr"/>
          <a:lstStyle/>
          <a:p>
            <a:pPr indent="0" marL="0">
              <a:buNone/>
            </a:pPr>
            <a:r>
              <a:rPr lang="en-US" sz="1300" b="1" dirty="0">
                <a:solidFill>
                  <a:srgbClr val="2F4858"/>
                </a:solidFill>
                <a:latin typeface="Calibri" pitchFamily="34" charset="0"/>
                <a:ea typeface="Calibri" pitchFamily="34" charset="-122"/>
                <a:cs typeface="Calibri" pitchFamily="34" charset="-120"/>
              </a:rPr>
              <a:t>£2.1m</a:t>
            </a:r>
            <a:endParaRPr lang="en-US" sz="1300" dirty="0"/>
          </a:p>
        </p:txBody>
      </p:sp>
      <p:sp>
        <p:nvSpPr>
          <p:cNvPr id="16" name="Text 14"/>
          <p:cNvSpPr/>
          <p:nvPr/>
        </p:nvSpPr>
        <p:spPr>
          <a:xfrm>
            <a:off x="7470648" y="248716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Calibri" pitchFamily="34" charset="0"/>
                <a:ea typeface="Calibri" pitchFamily="34" charset="-122"/>
                <a:cs typeface="Calibri" pitchFamily="34" charset="-120"/>
              </a:rPr>
              <a:t>Build in-house</a:t>
            </a:r>
            <a:endParaRPr lang="en-US" sz="1200" dirty="0"/>
          </a:p>
        </p:txBody>
      </p:sp>
      <p:sp>
        <p:nvSpPr>
          <p:cNvPr id="17" name="Text 15"/>
          <p:cNvSpPr/>
          <p:nvPr/>
        </p:nvSpPr>
        <p:spPr>
          <a:xfrm>
            <a:off x="10213848" y="2487168"/>
            <a:ext cx="1463040" cy="548640"/>
          </a:xfrm>
          <a:prstGeom prst="rect">
            <a:avLst/>
          </a:prstGeom>
          <a:noFill/>
          <a:ln/>
        </p:spPr>
        <p:txBody>
          <a:bodyPr wrap="square" lIns="0" tIns="0" rIns="0" bIns="0" rtlCol="0" anchor="ctr"/>
          <a:lstStyle/>
          <a:p>
            <a:pPr indent="0" marL="0">
              <a:buNone/>
            </a:pPr>
            <a:r>
              <a:rPr lang="en-US" sz="1100" b="1" spc="80" kern="0" dirty="0">
                <a:solidFill>
                  <a:srgbClr val="8A6D0F"/>
                </a:solidFill>
                <a:latin typeface="Calibri" pitchFamily="34" charset="0"/>
                <a:ea typeface="Calibri" pitchFamily="34" charset="-122"/>
                <a:cs typeface="Calibri" pitchFamily="34" charset="-120"/>
              </a:rPr>
              <a:t>THIS CYCLE</a:t>
            </a:r>
            <a:endParaRPr lang="en-US" sz="1100" dirty="0"/>
          </a:p>
        </p:txBody>
      </p:sp>
      <p:sp>
        <p:nvSpPr>
          <p:cNvPr id="18" name="Text 16"/>
          <p:cNvSpPr/>
          <p:nvPr/>
        </p:nvSpPr>
        <p:spPr>
          <a:xfrm>
            <a:off x="566928" y="3127248"/>
            <a:ext cx="1097280" cy="548640"/>
          </a:xfrm>
          <a:prstGeom prst="rect">
            <a:avLst/>
          </a:prstGeom>
          <a:noFill/>
          <a:ln/>
        </p:spPr>
        <p:txBody>
          <a:bodyPr wrap="square" lIns="0" tIns="0" rIns="0" bIns="0" rtlCol="0" anchor="ctr"/>
          <a:lstStyle/>
          <a:p>
            <a:pPr indent="0" marL="0">
              <a:buNone/>
            </a:pPr>
            <a:r>
              <a:rPr lang="en-US" sz="1800" b="1" dirty="0">
                <a:solidFill>
                  <a:srgbClr val="8A6D0F"/>
                </a:solidFill>
                <a:latin typeface="Cambria" pitchFamily="34" charset="0"/>
                <a:ea typeface="Cambria" pitchFamily="34" charset="-122"/>
                <a:cs typeface="Cambria" pitchFamily="34" charset="-120"/>
              </a:rPr>
              <a:t>2</a:t>
            </a:r>
            <a:endParaRPr lang="en-US" sz="1800" dirty="0"/>
          </a:p>
        </p:txBody>
      </p:sp>
      <p:sp>
        <p:nvSpPr>
          <p:cNvPr id="19" name="Text 17"/>
          <p:cNvSpPr/>
          <p:nvPr/>
        </p:nvSpPr>
        <p:spPr>
          <a:xfrm>
            <a:off x="1801368" y="3127248"/>
            <a:ext cx="2423160" cy="548640"/>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Invoice finance</a:t>
            </a:r>
            <a:endParaRPr lang="en-US" sz="1400" dirty="0"/>
          </a:p>
        </p:txBody>
      </p:sp>
      <p:sp>
        <p:nvSpPr>
          <p:cNvPr id="20" name="Text 18"/>
          <p:cNvSpPr/>
          <p:nvPr/>
        </p:nvSpPr>
        <p:spPr>
          <a:xfrm>
            <a:off x="4361688" y="312724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72</a:t>
            </a:r>
            <a:endParaRPr lang="en-US" sz="1300" dirty="0"/>
          </a:p>
        </p:txBody>
      </p:sp>
      <p:sp>
        <p:nvSpPr>
          <p:cNvPr id="21" name="Text 19"/>
          <p:cNvSpPr/>
          <p:nvPr/>
        </p:nvSpPr>
        <p:spPr>
          <a:xfrm>
            <a:off x="5916168" y="3127248"/>
            <a:ext cx="1417320" cy="548640"/>
          </a:xfrm>
          <a:prstGeom prst="rect">
            <a:avLst/>
          </a:prstGeom>
          <a:noFill/>
          <a:ln/>
        </p:spPr>
        <p:txBody>
          <a:bodyPr wrap="square" lIns="0" tIns="0" rIns="0" bIns="0" rtlCol="0" anchor="ctr"/>
          <a:lstStyle/>
          <a:p>
            <a:pPr indent="0" marL="0">
              <a:buNone/>
            </a:pPr>
            <a:r>
              <a:rPr lang="en-US" sz="1300" b="1" dirty="0">
                <a:solidFill>
                  <a:srgbClr val="2F4858"/>
                </a:solidFill>
                <a:latin typeface="Calibri" pitchFamily="34" charset="0"/>
                <a:ea typeface="Calibri" pitchFamily="34" charset="-122"/>
                <a:cs typeface="Calibri" pitchFamily="34" charset="-120"/>
              </a:rPr>
              <a:t>£1.6m</a:t>
            </a:r>
            <a:endParaRPr lang="en-US" sz="1300" dirty="0"/>
          </a:p>
        </p:txBody>
      </p:sp>
      <p:sp>
        <p:nvSpPr>
          <p:cNvPr id="22" name="Text 20"/>
          <p:cNvSpPr/>
          <p:nvPr/>
        </p:nvSpPr>
        <p:spPr>
          <a:xfrm>
            <a:off x="7470648" y="312724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Calibri" pitchFamily="34" charset="0"/>
                <a:ea typeface="Calibri" pitchFamily="34" charset="-122"/>
                <a:cs typeface="Calibri" pitchFamily="34" charset="-120"/>
              </a:rPr>
              <a:t>Partner</a:t>
            </a:r>
            <a:endParaRPr lang="en-US" sz="1200" dirty="0"/>
          </a:p>
        </p:txBody>
      </p:sp>
      <p:sp>
        <p:nvSpPr>
          <p:cNvPr id="23" name="Text 21"/>
          <p:cNvSpPr/>
          <p:nvPr/>
        </p:nvSpPr>
        <p:spPr>
          <a:xfrm>
            <a:off x="10213848" y="3127248"/>
            <a:ext cx="1463040" cy="548640"/>
          </a:xfrm>
          <a:prstGeom prst="rect">
            <a:avLst/>
          </a:prstGeom>
          <a:noFill/>
          <a:ln/>
        </p:spPr>
        <p:txBody>
          <a:bodyPr wrap="square" lIns="0" tIns="0" rIns="0" bIns="0" rtlCol="0" anchor="ctr"/>
          <a:lstStyle/>
          <a:p>
            <a:pPr indent="0" marL="0">
              <a:buNone/>
            </a:pPr>
            <a:r>
              <a:rPr lang="en-US" sz="1100" b="1" spc="80" kern="0" dirty="0">
                <a:solidFill>
                  <a:srgbClr val="8A6D0F"/>
                </a:solidFill>
                <a:latin typeface="Calibri" pitchFamily="34" charset="0"/>
                <a:ea typeface="Calibri" pitchFamily="34" charset="-122"/>
                <a:cs typeface="Calibri" pitchFamily="34" charset="-120"/>
              </a:rPr>
              <a:t>THIS CYCLE</a:t>
            </a:r>
            <a:endParaRPr lang="en-US" sz="1100" dirty="0"/>
          </a:p>
        </p:txBody>
      </p:sp>
      <p:sp>
        <p:nvSpPr>
          <p:cNvPr id="24" name="Shape 22"/>
          <p:cNvSpPr/>
          <p:nvPr/>
        </p:nvSpPr>
        <p:spPr>
          <a:xfrm>
            <a:off x="566928" y="3712464"/>
            <a:ext cx="11027664" cy="658368"/>
          </a:xfrm>
          <a:prstGeom prst="rect">
            <a:avLst/>
          </a:prstGeom>
          <a:solidFill>
            <a:srgbClr val="F5F8FA"/>
          </a:solidFill>
          <a:ln w="12700">
            <a:solidFill>
              <a:srgbClr val="F5F8FA"/>
            </a:solidFill>
            <a:prstDash val="solid"/>
          </a:ln>
        </p:spPr>
      </p:sp>
      <p:sp>
        <p:nvSpPr>
          <p:cNvPr id="25" name="Text 23"/>
          <p:cNvSpPr/>
          <p:nvPr/>
        </p:nvSpPr>
        <p:spPr>
          <a:xfrm>
            <a:off x="566928" y="3767328"/>
            <a:ext cx="1097280" cy="548640"/>
          </a:xfrm>
          <a:prstGeom prst="rect">
            <a:avLst/>
          </a:prstGeom>
          <a:noFill/>
          <a:ln/>
        </p:spPr>
        <p:txBody>
          <a:bodyPr wrap="square" lIns="0" tIns="0" rIns="0" bIns="0" rtlCol="0" anchor="ctr"/>
          <a:lstStyle/>
          <a:p>
            <a:pPr indent="0" marL="0">
              <a:buNone/>
            </a:pPr>
            <a:r>
              <a:rPr lang="en-US" sz="1800" b="1" dirty="0">
                <a:solidFill>
                  <a:srgbClr val="4E7C90"/>
                </a:solidFill>
                <a:latin typeface="Cambria" pitchFamily="34" charset="0"/>
                <a:ea typeface="Cambria" pitchFamily="34" charset="-122"/>
                <a:cs typeface="Cambria" pitchFamily="34" charset="-120"/>
              </a:rPr>
              <a:t>3</a:t>
            </a:r>
            <a:endParaRPr lang="en-US" sz="1800" dirty="0"/>
          </a:p>
        </p:txBody>
      </p:sp>
      <p:sp>
        <p:nvSpPr>
          <p:cNvPr id="26" name="Text 24"/>
          <p:cNvSpPr/>
          <p:nvPr/>
        </p:nvSpPr>
        <p:spPr>
          <a:xfrm>
            <a:off x="1801368" y="3767328"/>
            <a:ext cx="2423160" cy="548640"/>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Trade insurance</a:t>
            </a:r>
            <a:endParaRPr lang="en-US" sz="1400" dirty="0"/>
          </a:p>
        </p:txBody>
      </p:sp>
      <p:sp>
        <p:nvSpPr>
          <p:cNvPr id="27" name="Text 25"/>
          <p:cNvSpPr/>
          <p:nvPr/>
        </p:nvSpPr>
        <p:spPr>
          <a:xfrm>
            <a:off x="4361688" y="376732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64</a:t>
            </a:r>
            <a:endParaRPr lang="en-US" sz="1300" dirty="0"/>
          </a:p>
        </p:txBody>
      </p:sp>
      <p:sp>
        <p:nvSpPr>
          <p:cNvPr id="28" name="Text 26"/>
          <p:cNvSpPr/>
          <p:nvPr/>
        </p:nvSpPr>
        <p:spPr>
          <a:xfrm>
            <a:off x="5916168" y="3767328"/>
            <a:ext cx="1417320" cy="548640"/>
          </a:xfrm>
          <a:prstGeom prst="rect">
            <a:avLst/>
          </a:prstGeom>
          <a:noFill/>
          <a:ln/>
        </p:spPr>
        <p:txBody>
          <a:bodyPr wrap="square" lIns="0" tIns="0" rIns="0" bIns="0" rtlCol="0" anchor="ctr"/>
          <a:lstStyle/>
          <a:p>
            <a:pPr indent="0" marL="0">
              <a:buNone/>
            </a:pPr>
            <a:r>
              <a:rPr lang="en-US" sz="1300" dirty="0">
                <a:solidFill>
                  <a:srgbClr val="2F4858"/>
                </a:solidFill>
                <a:latin typeface="Calibri" pitchFamily="34" charset="0"/>
                <a:ea typeface="Calibri" pitchFamily="34" charset="-122"/>
                <a:cs typeface="Calibri" pitchFamily="34" charset="-120"/>
              </a:rPr>
              <a:t>£0.9m</a:t>
            </a:r>
            <a:endParaRPr lang="en-US" sz="1300" dirty="0"/>
          </a:p>
        </p:txBody>
      </p:sp>
      <p:sp>
        <p:nvSpPr>
          <p:cNvPr id="29" name="Text 27"/>
          <p:cNvSpPr/>
          <p:nvPr/>
        </p:nvSpPr>
        <p:spPr>
          <a:xfrm>
            <a:off x="7470648" y="376732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Calibri" pitchFamily="34" charset="0"/>
                <a:ea typeface="Calibri" pitchFamily="34" charset="-122"/>
                <a:cs typeface="Calibri" pitchFamily="34" charset="-120"/>
              </a:rPr>
              <a:t>Build — needs claims capability</a:t>
            </a:r>
            <a:endParaRPr lang="en-US" sz="1200" dirty="0"/>
          </a:p>
        </p:txBody>
      </p:sp>
      <p:sp>
        <p:nvSpPr>
          <p:cNvPr id="30" name="Text 28"/>
          <p:cNvSpPr/>
          <p:nvPr/>
        </p:nvSpPr>
        <p:spPr>
          <a:xfrm>
            <a:off x="10213848" y="3767328"/>
            <a:ext cx="1463040" cy="548640"/>
          </a:xfrm>
          <a:prstGeom prst="rect">
            <a:avLst/>
          </a:prstGeom>
          <a:noFill/>
          <a:ln/>
        </p:spPr>
        <p:txBody>
          <a:bodyPr wrap="square" lIns="0" tIns="0" rIns="0" bIns="0" rtlCol="0" anchor="ctr"/>
          <a:lstStyle/>
          <a:p>
            <a:pPr indent="0" marL="0">
              <a:buNone/>
            </a:pPr>
            <a:r>
              <a:rPr lang="en-US" sz="1100" b="1" spc="80" kern="0" dirty="0">
                <a:solidFill>
                  <a:srgbClr val="4E7C90"/>
                </a:solidFill>
                <a:latin typeface="Calibri" pitchFamily="34" charset="0"/>
                <a:ea typeface="Calibri" pitchFamily="34" charset="-122"/>
                <a:cs typeface="Calibri" pitchFamily="34" charset="-120"/>
              </a:rPr>
              <a:t>NEXT CYCLE</a:t>
            </a:r>
            <a:endParaRPr lang="en-US" sz="1100" dirty="0"/>
          </a:p>
        </p:txBody>
      </p:sp>
      <p:sp>
        <p:nvSpPr>
          <p:cNvPr id="31" name="Text 29"/>
          <p:cNvSpPr/>
          <p:nvPr/>
        </p:nvSpPr>
        <p:spPr>
          <a:xfrm>
            <a:off x="566928" y="4407408"/>
            <a:ext cx="1097280" cy="548640"/>
          </a:xfrm>
          <a:prstGeom prst="rect">
            <a:avLst/>
          </a:prstGeom>
          <a:noFill/>
          <a:ln/>
        </p:spPr>
        <p:txBody>
          <a:bodyPr wrap="square" lIns="0" tIns="0" rIns="0" bIns="0" rtlCol="0" anchor="ctr"/>
          <a:lstStyle/>
          <a:p>
            <a:pPr indent="0" marL="0">
              <a:buNone/>
            </a:pPr>
            <a:r>
              <a:rPr lang="en-US" sz="1800" b="1" dirty="0">
                <a:solidFill>
                  <a:srgbClr val="64818F"/>
                </a:solidFill>
                <a:latin typeface="Cambria" pitchFamily="34" charset="0"/>
                <a:ea typeface="Cambria" pitchFamily="34" charset="-122"/>
                <a:cs typeface="Cambria" pitchFamily="34" charset="-120"/>
              </a:rPr>
              <a:t>—</a:t>
            </a:r>
            <a:endParaRPr lang="en-US" sz="1800" dirty="0"/>
          </a:p>
        </p:txBody>
      </p:sp>
      <p:sp>
        <p:nvSpPr>
          <p:cNvPr id="32" name="Text 30"/>
          <p:cNvSpPr/>
          <p:nvPr/>
        </p:nvSpPr>
        <p:spPr>
          <a:xfrm>
            <a:off x="1801368" y="4407408"/>
            <a:ext cx="2423160" cy="548640"/>
          </a:xfrm>
          <a:prstGeom prst="rect">
            <a:avLst/>
          </a:prstGeom>
          <a:noFill/>
          <a:ln/>
        </p:spPr>
        <p:txBody>
          <a:bodyPr wrap="square" lIns="0" tIns="0" rIns="0" bIns="0" rtlCol="0" anchor="ctr"/>
          <a:lstStyle/>
          <a:p>
            <a:pPr indent="0" marL="0">
              <a:buNone/>
            </a:pPr>
            <a:r>
              <a:rPr lang="en-US" sz="1400" b="1" dirty="0">
                <a:solidFill>
                  <a:srgbClr val="3F5563"/>
                </a:solidFill>
                <a:latin typeface="Calibri" pitchFamily="34" charset="0"/>
                <a:ea typeface="Calibri" pitchFamily="34" charset="-122"/>
                <a:cs typeface="Calibri" pitchFamily="34" charset="-120"/>
              </a:rPr>
              <a:t>Crypto payments</a:t>
            </a:r>
            <a:endParaRPr lang="en-US" sz="1400" dirty="0"/>
          </a:p>
        </p:txBody>
      </p:sp>
      <p:sp>
        <p:nvSpPr>
          <p:cNvPr id="33" name="Text 31"/>
          <p:cNvSpPr/>
          <p:nvPr/>
        </p:nvSpPr>
        <p:spPr>
          <a:xfrm>
            <a:off x="4361688" y="4407408"/>
            <a:ext cx="1417320" cy="548640"/>
          </a:xfrm>
          <a:prstGeom prst="rect">
            <a:avLst/>
          </a:prstGeom>
          <a:noFill/>
          <a:ln/>
        </p:spPr>
        <p:txBody>
          <a:bodyPr wrap="square" lIns="0" tIns="0" rIns="0" bIns="0" rtlCol="0" anchor="ctr"/>
          <a:lstStyle/>
          <a:p>
            <a:pPr indent="0" marL="0">
              <a:buNone/>
            </a:pPr>
            <a:r>
              <a:rPr lang="en-US" sz="1300" dirty="0">
                <a:solidFill>
                  <a:srgbClr val="A8443C"/>
                </a:solidFill>
                <a:latin typeface="Calibri" pitchFamily="34" charset="0"/>
                <a:ea typeface="Calibri" pitchFamily="34" charset="-122"/>
                <a:cs typeface="Calibri" pitchFamily="34" charset="-120"/>
              </a:rPr>
              <a:t>41</a:t>
            </a:r>
            <a:endParaRPr lang="en-US" sz="1300" dirty="0"/>
          </a:p>
        </p:txBody>
      </p:sp>
      <p:sp>
        <p:nvSpPr>
          <p:cNvPr id="34" name="Text 32"/>
          <p:cNvSpPr/>
          <p:nvPr/>
        </p:nvSpPr>
        <p:spPr>
          <a:xfrm>
            <a:off x="5916168" y="4407408"/>
            <a:ext cx="1417320" cy="548640"/>
          </a:xfrm>
          <a:prstGeom prst="rect">
            <a:avLst/>
          </a:prstGeom>
          <a:noFill/>
          <a:ln/>
        </p:spPr>
        <p:txBody>
          <a:bodyPr wrap="square" lIns="0" tIns="0" rIns="0" bIns="0" rtlCol="0" anchor="ctr"/>
          <a:lstStyle/>
          <a:p>
            <a:pPr indent="0" marL="0">
              <a:buNone/>
            </a:pPr>
            <a:r>
              <a:rPr lang="en-US" sz="1300" dirty="0">
                <a:solidFill>
                  <a:srgbClr val="64818F"/>
                </a:solidFill>
                <a:latin typeface="Calibri" pitchFamily="34" charset="0"/>
                <a:ea typeface="Calibri" pitchFamily="34" charset="-122"/>
                <a:cs typeface="Calibri" pitchFamily="34" charset="-120"/>
              </a:rPr>
              <a:t>not priced</a:t>
            </a:r>
            <a:endParaRPr lang="en-US" sz="1300" dirty="0"/>
          </a:p>
        </p:txBody>
      </p:sp>
      <p:sp>
        <p:nvSpPr>
          <p:cNvPr id="35" name="Text 33"/>
          <p:cNvSpPr/>
          <p:nvPr/>
        </p:nvSpPr>
        <p:spPr>
          <a:xfrm>
            <a:off x="7470648" y="4407408"/>
            <a:ext cx="2606040" cy="548640"/>
          </a:xfrm>
          <a:prstGeom prst="rect">
            <a:avLst/>
          </a:prstGeom>
          <a:noFill/>
          <a:ln/>
        </p:spPr>
        <p:txBody>
          <a:bodyPr wrap="square" lIns="0" tIns="0" rIns="0" bIns="0" rtlCol="0" anchor="ctr"/>
          <a:lstStyle/>
          <a:p>
            <a:pPr indent="0" marL="0">
              <a:buNone/>
            </a:pPr>
            <a:r>
              <a:rPr lang="en-US" sz="1200" dirty="0">
                <a:solidFill>
                  <a:srgbClr val="64818F"/>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10213848" y="4407408"/>
            <a:ext cx="1463040" cy="548640"/>
          </a:xfrm>
          <a:prstGeom prst="rect">
            <a:avLst/>
          </a:prstGeom>
          <a:noFill/>
          <a:ln/>
        </p:spPr>
        <p:txBody>
          <a:bodyPr wrap="square" lIns="0" tIns="0" rIns="0" bIns="0" rtlCol="0" anchor="ctr"/>
          <a:lstStyle/>
          <a:p>
            <a:pPr indent="0" marL="0">
              <a:buNone/>
            </a:pPr>
            <a:r>
              <a:rPr lang="en-US" sz="1100" b="1" spc="80" kern="0" dirty="0">
                <a:solidFill>
                  <a:srgbClr val="64818F"/>
                </a:solidFill>
                <a:latin typeface="Calibri" pitchFamily="34" charset="0"/>
                <a:ea typeface="Calibri" pitchFamily="34" charset="-122"/>
                <a:cs typeface="Calibri" pitchFamily="34" charset="-120"/>
              </a:rPr>
              <a:t>OFF THE LIST</a:t>
            </a:r>
            <a:endParaRPr lang="en-US" sz="1100" dirty="0"/>
          </a:p>
        </p:txBody>
      </p:sp>
      <p:sp>
        <p:nvSpPr>
          <p:cNvPr id="37" name="Shape 35"/>
          <p:cNvSpPr/>
          <p:nvPr/>
        </p:nvSpPr>
        <p:spPr>
          <a:xfrm>
            <a:off x="566928" y="4992624"/>
            <a:ext cx="11027664" cy="658368"/>
          </a:xfrm>
          <a:prstGeom prst="rect">
            <a:avLst/>
          </a:prstGeom>
          <a:solidFill>
            <a:srgbClr val="F5F8FA"/>
          </a:solidFill>
          <a:ln w="12700">
            <a:solidFill>
              <a:srgbClr val="F5F8FA"/>
            </a:solidFill>
            <a:prstDash val="solid"/>
          </a:ln>
        </p:spPr>
      </p:sp>
      <p:sp>
        <p:nvSpPr>
          <p:cNvPr id="38" name="Text 36"/>
          <p:cNvSpPr/>
          <p:nvPr/>
        </p:nvSpPr>
        <p:spPr>
          <a:xfrm>
            <a:off x="566928" y="5047488"/>
            <a:ext cx="1097280" cy="548640"/>
          </a:xfrm>
          <a:prstGeom prst="rect">
            <a:avLst/>
          </a:prstGeom>
          <a:noFill/>
          <a:ln/>
        </p:spPr>
        <p:txBody>
          <a:bodyPr wrap="square" lIns="0" tIns="0" rIns="0" bIns="0" rtlCol="0" anchor="ctr"/>
          <a:lstStyle/>
          <a:p>
            <a:pPr indent="0" marL="0">
              <a:buNone/>
            </a:pPr>
            <a:r>
              <a:rPr lang="en-US" sz="1800" b="1" dirty="0">
                <a:solidFill>
                  <a:srgbClr val="64818F"/>
                </a:solidFill>
                <a:latin typeface="Cambria" pitchFamily="34" charset="0"/>
                <a:ea typeface="Cambria" pitchFamily="34" charset="-122"/>
                <a:cs typeface="Cambria" pitchFamily="34" charset="-120"/>
              </a:rPr>
              <a:t>—</a:t>
            </a:r>
            <a:endParaRPr lang="en-US" sz="1800" dirty="0"/>
          </a:p>
        </p:txBody>
      </p:sp>
      <p:sp>
        <p:nvSpPr>
          <p:cNvPr id="39" name="Text 37"/>
          <p:cNvSpPr/>
          <p:nvPr/>
        </p:nvSpPr>
        <p:spPr>
          <a:xfrm>
            <a:off x="1801368" y="5047488"/>
            <a:ext cx="2423160" cy="548640"/>
          </a:xfrm>
          <a:prstGeom prst="rect">
            <a:avLst/>
          </a:prstGeom>
          <a:noFill/>
          <a:ln/>
        </p:spPr>
        <p:txBody>
          <a:bodyPr wrap="square" lIns="0" tIns="0" rIns="0" bIns="0" rtlCol="0" anchor="ctr"/>
          <a:lstStyle/>
          <a:p>
            <a:pPr indent="0" marL="0">
              <a:buNone/>
            </a:pPr>
            <a:r>
              <a:rPr lang="en-US" sz="1400" b="1" dirty="0">
                <a:solidFill>
                  <a:srgbClr val="3F5563"/>
                </a:solidFill>
                <a:latin typeface="Calibri" pitchFamily="34" charset="0"/>
                <a:ea typeface="Calibri" pitchFamily="34" charset="-122"/>
                <a:cs typeface="Calibri" pitchFamily="34" charset="-120"/>
              </a:rPr>
              <a:t>Rewards scheme</a:t>
            </a:r>
            <a:endParaRPr lang="en-US" sz="1400" dirty="0"/>
          </a:p>
        </p:txBody>
      </p:sp>
      <p:sp>
        <p:nvSpPr>
          <p:cNvPr id="40" name="Text 38"/>
          <p:cNvSpPr/>
          <p:nvPr/>
        </p:nvSpPr>
        <p:spPr>
          <a:xfrm>
            <a:off x="4361688" y="5047488"/>
            <a:ext cx="1417320" cy="548640"/>
          </a:xfrm>
          <a:prstGeom prst="rect">
            <a:avLst/>
          </a:prstGeom>
          <a:noFill/>
          <a:ln/>
        </p:spPr>
        <p:txBody>
          <a:bodyPr wrap="square" lIns="0" tIns="0" rIns="0" bIns="0" rtlCol="0" anchor="ctr"/>
          <a:lstStyle/>
          <a:p>
            <a:pPr indent="0" marL="0">
              <a:buNone/>
            </a:pPr>
            <a:r>
              <a:rPr lang="en-US" sz="1300" dirty="0">
                <a:solidFill>
                  <a:srgbClr val="A8443C"/>
                </a:solidFill>
                <a:latin typeface="Calibri" pitchFamily="34" charset="0"/>
                <a:ea typeface="Calibri" pitchFamily="34" charset="-122"/>
                <a:cs typeface="Calibri" pitchFamily="34" charset="-120"/>
              </a:rPr>
              <a:t>33</a:t>
            </a:r>
            <a:endParaRPr lang="en-US" sz="1300" dirty="0"/>
          </a:p>
        </p:txBody>
      </p:sp>
      <p:sp>
        <p:nvSpPr>
          <p:cNvPr id="41" name="Text 39"/>
          <p:cNvSpPr/>
          <p:nvPr/>
        </p:nvSpPr>
        <p:spPr>
          <a:xfrm>
            <a:off x="5916168" y="5047488"/>
            <a:ext cx="1417320" cy="548640"/>
          </a:xfrm>
          <a:prstGeom prst="rect">
            <a:avLst/>
          </a:prstGeom>
          <a:noFill/>
          <a:ln/>
        </p:spPr>
        <p:txBody>
          <a:bodyPr wrap="square" lIns="0" tIns="0" rIns="0" bIns="0" rtlCol="0" anchor="ctr"/>
          <a:lstStyle/>
          <a:p>
            <a:pPr indent="0" marL="0">
              <a:buNone/>
            </a:pPr>
            <a:r>
              <a:rPr lang="en-US" sz="1300" dirty="0">
                <a:solidFill>
                  <a:srgbClr val="64818F"/>
                </a:solidFill>
                <a:latin typeface="Calibri" pitchFamily="34" charset="0"/>
                <a:ea typeface="Calibri" pitchFamily="34" charset="-122"/>
                <a:cs typeface="Calibri" pitchFamily="34" charset="-120"/>
              </a:rPr>
              <a:t>not priced</a:t>
            </a:r>
            <a:endParaRPr lang="en-US" sz="1300" dirty="0"/>
          </a:p>
        </p:txBody>
      </p:sp>
      <p:sp>
        <p:nvSpPr>
          <p:cNvPr id="42" name="Text 40"/>
          <p:cNvSpPr/>
          <p:nvPr/>
        </p:nvSpPr>
        <p:spPr>
          <a:xfrm>
            <a:off x="7470648" y="5047488"/>
            <a:ext cx="2606040" cy="548640"/>
          </a:xfrm>
          <a:prstGeom prst="rect">
            <a:avLst/>
          </a:prstGeom>
          <a:noFill/>
          <a:ln/>
        </p:spPr>
        <p:txBody>
          <a:bodyPr wrap="square" lIns="0" tIns="0" rIns="0" bIns="0" rtlCol="0" anchor="ctr"/>
          <a:lstStyle/>
          <a:p>
            <a:pPr indent="0" marL="0">
              <a:buNone/>
            </a:pPr>
            <a:r>
              <a:rPr lang="en-US" sz="1200" dirty="0">
                <a:solidFill>
                  <a:srgbClr val="64818F"/>
                </a:solidFill>
                <a:latin typeface="Calibri" pitchFamily="34" charset="0"/>
                <a:ea typeface="Calibri" pitchFamily="34" charset="-122"/>
                <a:cs typeface="Calibri" pitchFamily="34" charset="-120"/>
              </a:rPr>
              <a:t>—</a:t>
            </a:r>
            <a:endParaRPr lang="en-US" sz="1200" dirty="0"/>
          </a:p>
        </p:txBody>
      </p:sp>
      <p:sp>
        <p:nvSpPr>
          <p:cNvPr id="43" name="Text 41"/>
          <p:cNvSpPr/>
          <p:nvPr/>
        </p:nvSpPr>
        <p:spPr>
          <a:xfrm>
            <a:off x="10213848" y="5047488"/>
            <a:ext cx="1463040" cy="548640"/>
          </a:xfrm>
          <a:prstGeom prst="rect">
            <a:avLst/>
          </a:prstGeom>
          <a:noFill/>
          <a:ln/>
        </p:spPr>
        <p:txBody>
          <a:bodyPr wrap="square" lIns="0" tIns="0" rIns="0" bIns="0" rtlCol="0" anchor="ctr"/>
          <a:lstStyle/>
          <a:p>
            <a:pPr indent="0" marL="0">
              <a:buNone/>
            </a:pPr>
            <a:r>
              <a:rPr lang="en-US" sz="1100" b="1" spc="80" kern="0" dirty="0">
                <a:solidFill>
                  <a:srgbClr val="64818F"/>
                </a:solidFill>
                <a:latin typeface="Calibri" pitchFamily="34" charset="0"/>
                <a:ea typeface="Calibri" pitchFamily="34" charset="-122"/>
                <a:cs typeface="Calibri" pitchFamily="34" charset="-120"/>
              </a:rPr>
              <a:t>OFF THE LIST</a:t>
            </a:r>
            <a:endParaRPr lang="en-US" sz="1100" dirty="0"/>
          </a:p>
        </p:txBody>
      </p:sp>
      <p:sp>
        <p:nvSpPr>
          <p:cNvPr id="44" name="Text 42"/>
          <p:cNvSpPr/>
          <p:nvPr/>
        </p:nvSpPr>
        <p:spPr>
          <a:xfrm>
            <a:off x="566928" y="5833872"/>
            <a:ext cx="11027664" cy="384048"/>
          </a:xfrm>
          <a:prstGeom prst="rect">
            <a:avLst/>
          </a:prstGeom>
          <a:noFill/>
          <a:ln/>
        </p:spPr>
        <p:txBody>
          <a:bodyPr wrap="square" lIns="0" tIns="0" rIns="0" bIns="0" rtlCol="0" anchor="t"/>
          <a:lstStyle/>
          <a:p>
            <a:pPr indent="0" marL="0">
              <a:buNone/>
            </a:pPr>
            <a:r>
              <a:rPr lang="en-US" sz="1250" i="1" dirty="0">
                <a:solidFill>
                  <a:srgbClr val="64818F"/>
                </a:solidFill>
                <a:latin typeface="Calibri" pitchFamily="34" charset="0"/>
                <a:ea typeface="Calibri" pitchFamily="34" charset="-122"/>
                <a:cs typeface="Calibri" pitchFamily="34" charset="-120"/>
              </a:rPr>
              <a:t>Demand admits, return sorts, capacity cuts. A feature below the gate is never priced — no queue place can be bought.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1874520"/>
            <a:ext cx="2194560" cy="1463040"/>
          </a:xfrm>
          <a:prstGeom prst="rect">
            <a:avLst/>
          </a:prstGeom>
          <a:noFill/>
          <a:ln/>
        </p:spPr>
        <p:txBody>
          <a:bodyPr wrap="square" lIns="0" tIns="0" rIns="0" bIns="0" rtlCol="0" anchor="ctr"/>
          <a:lstStyle/>
          <a:p>
            <a:pPr indent="0" marL="0">
              <a:buNone/>
            </a:pPr>
            <a:r>
              <a:rPr lang="en-US" sz="8800" b="1" dirty="0">
                <a:solidFill>
                  <a:srgbClr val="39586A"/>
                </a:solidFill>
                <a:latin typeface="Cambria" pitchFamily="34" charset="0"/>
                <a:ea typeface="Cambria" pitchFamily="34" charset="-122"/>
                <a:cs typeface="Cambria" pitchFamily="34" charset="-120"/>
              </a:rPr>
              <a:t>01</a:t>
            </a:r>
            <a:endParaRPr lang="en-US" sz="8800" dirty="0"/>
          </a:p>
        </p:txBody>
      </p:sp>
      <p:sp>
        <p:nvSpPr>
          <p:cNvPr id="4" name="Text 2"/>
          <p:cNvSpPr/>
          <p:nvPr/>
        </p:nvSpPr>
        <p:spPr>
          <a:xfrm>
            <a:off x="2532888" y="2029968"/>
            <a:ext cx="8595360" cy="365760"/>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DEMAND ADMITS</a:t>
            </a:r>
            <a:endParaRPr lang="en-US" sz="1200" dirty="0"/>
          </a:p>
        </p:txBody>
      </p:sp>
      <p:sp>
        <p:nvSpPr>
          <p:cNvPr id="5" name="Text 3"/>
          <p:cNvSpPr/>
          <p:nvPr/>
        </p:nvSpPr>
        <p:spPr>
          <a:xfrm>
            <a:off x="2532888" y="2395728"/>
            <a:ext cx="87782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Who gets into the backlog?</a:t>
            </a:r>
            <a:endParaRPr lang="en-US" sz="3600" dirty="0"/>
          </a:p>
        </p:txBody>
      </p:sp>
      <p:sp>
        <p:nvSpPr>
          <p:cNvPr id="6" name="Text 4"/>
          <p:cNvSpPr/>
          <p:nvPr/>
        </p:nvSpPr>
        <p:spPr>
          <a:xfrm>
            <a:off x="2532888" y="3383280"/>
            <a:ext cx="8412480" cy="640080"/>
          </a:xfrm>
          <a:prstGeom prst="rect">
            <a:avLst/>
          </a:prstGeom>
          <a:noFill/>
          <a:ln/>
        </p:spPr>
        <p:txBody>
          <a:bodyPr wrap="square" lIns="0" tIns="0" rIns="0" bIns="0" rtlCol="0" anchor="t"/>
          <a:lstStyle/>
          <a:p>
            <a:pPr indent="0" marL="0">
              <a:lnSpc>
                <a:spcPts val="2200"/>
              </a:lnSpc>
              <a:buNone/>
            </a:pPr>
            <a:r>
              <a:rPr lang="en-US" sz="1500" dirty="0">
                <a:solidFill>
                  <a:srgbClr val="8FB3C2"/>
                </a:solidFill>
                <a:latin typeface="Calibri" pitchFamily="34" charset="0"/>
                <a:ea typeface="Calibri" pitchFamily="34" charset="-122"/>
                <a:cs typeface="Calibri" pitchFamily="34" charset="-120"/>
              </a:rPr>
              <a:t>Measured with the OCV demand score against a gate of 60. Below the gate, a feature is never priced.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DEMAND ADMITS  ·  01</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Three of five clear the demand gate; two are not close</a:t>
            </a:r>
            <a:endParaRPr lang="en-US" sz="2700" dirty="0"/>
          </a:p>
        </p:txBody>
      </p:sp>
      <p:graphicFrame>
        <p:nvGraphicFramePr>
          <p:cNvPr id="4" name="Chart 0" descr=""/>
          <p:cNvGraphicFramePr/>
          <p:nvPr/>
        </p:nvGraphicFramePr>
        <p:xfrm>
          <a:off x="566928" y="1737360"/>
          <a:ext cx="745236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385048" y="1737360"/>
            <a:ext cx="3209544" cy="3474720"/>
          </a:xfrm>
          <a:prstGeom prst="roundRect">
            <a:avLst>
              <a:gd name="adj" fmla="val 2849"/>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6" name="Text 3"/>
          <p:cNvSpPr/>
          <p:nvPr/>
        </p:nvSpPr>
        <p:spPr>
          <a:xfrm>
            <a:off x="8705088" y="1920240"/>
            <a:ext cx="2651760" cy="310896"/>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The gate</a:t>
            </a:r>
            <a:endParaRPr lang="en-US" sz="1150" dirty="0"/>
          </a:p>
        </p:txBody>
      </p:sp>
      <p:sp>
        <p:nvSpPr>
          <p:cNvPr id="7" name="Text 4"/>
          <p:cNvSpPr/>
          <p:nvPr/>
        </p:nvSpPr>
        <p:spPr>
          <a:xfrm>
            <a:off x="8705088" y="2249424"/>
            <a:ext cx="2651760" cy="914400"/>
          </a:xfrm>
          <a:prstGeom prst="rect">
            <a:avLst/>
          </a:prstGeom>
          <a:noFill/>
          <a:ln/>
        </p:spPr>
        <p:txBody>
          <a:bodyPr wrap="square" lIns="0" tIns="0" rIns="0" bIns="0" rtlCol="0" anchor="ctr"/>
          <a:lstStyle/>
          <a:p>
            <a:pPr indent="0" marL="0">
              <a:buNone/>
            </a:pPr>
            <a:r>
              <a:rPr lang="en-US" sz="6000" b="1" dirty="0">
                <a:solidFill>
                  <a:srgbClr val="2F4858"/>
                </a:solidFill>
                <a:latin typeface="Cambria" pitchFamily="34" charset="0"/>
                <a:ea typeface="Cambria" pitchFamily="34" charset="-122"/>
                <a:cs typeface="Cambria" pitchFamily="34" charset="-120"/>
              </a:rPr>
              <a:t>60</a:t>
            </a:r>
            <a:endParaRPr lang="en-US" sz="6000" dirty="0"/>
          </a:p>
        </p:txBody>
      </p:sp>
      <p:sp>
        <p:nvSpPr>
          <p:cNvPr id="8" name="Text 5"/>
          <p:cNvSpPr/>
          <p:nvPr/>
        </p:nvSpPr>
        <p:spPr>
          <a:xfrm>
            <a:off x="8705088" y="3273552"/>
            <a:ext cx="2651760" cy="274320"/>
          </a:xfrm>
          <a:prstGeom prst="rect">
            <a:avLst/>
          </a:prstGeom>
          <a:noFill/>
          <a:ln/>
        </p:spPr>
        <p:txBody>
          <a:bodyPr wrap="square" lIns="0" tIns="0" rIns="0" bIns="0" rtlCol="0" anchor="ctr"/>
          <a:lstStyle/>
          <a:p>
            <a:pPr indent="0" marL="0">
              <a:buNone/>
            </a:pPr>
            <a:r>
              <a:rPr lang="en-US" sz="1150" b="1" dirty="0">
                <a:solidFill>
                  <a:srgbClr val="64818F"/>
                </a:solidFill>
                <a:latin typeface="Calibri" pitchFamily="34" charset="0"/>
                <a:ea typeface="Calibri" pitchFamily="34" charset="-122"/>
                <a:cs typeface="Calibri" pitchFamily="34" charset="-120"/>
              </a:rPr>
              <a:t>Admitted</a:t>
            </a:r>
            <a:endParaRPr lang="en-US" sz="1150" dirty="0"/>
          </a:p>
        </p:txBody>
      </p:sp>
      <p:sp>
        <p:nvSpPr>
          <p:cNvPr id="9" name="Text 6"/>
          <p:cNvSpPr/>
          <p:nvPr/>
        </p:nvSpPr>
        <p:spPr>
          <a:xfrm>
            <a:off x="8705088" y="3547872"/>
            <a:ext cx="2697480" cy="685800"/>
          </a:xfrm>
          <a:prstGeom prst="rect">
            <a:avLst/>
          </a:prstGeom>
          <a:noFill/>
          <a:ln/>
        </p:spPr>
        <p:txBody>
          <a:bodyPr wrap="square" lIns="0" tIns="0" rIns="0" bIns="0" rtlCol="0" anchor="t"/>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FX, invoice finance, insurance — priced in section 02</a:t>
            </a:r>
            <a:endParaRPr lang="en-US" sz="1250" dirty="0"/>
          </a:p>
        </p:txBody>
      </p:sp>
      <p:sp>
        <p:nvSpPr>
          <p:cNvPr id="10" name="Text 7"/>
          <p:cNvSpPr/>
          <p:nvPr/>
        </p:nvSpPr>
        <p:spPr>
          <a:xfrm>
            <a:off x="8705088" y="4279392"/>
            <a:ext cx="2651760" cy="274320"/>
          </a:xfrm>
          <a:prstGeom prst="rect">
            <a:avLst/>
          </a:prstGeom>
          <a:noFill/>
          <a:ln/>
        </p:spPr>
        <p:txBody>
          <a:bodyPr wrap="square" lIns="0" tIns="0" rIns="0" bIns="0" rtlCol="0" anchor="ctr"/>
          <a:lstStyle/>
          <a:p>
            <a:pPr indent="0" marL="0">
              <a:buNone/>
            </a:pPr>
            <a:r>
              <a:rPr lang="en-US" sz="1150" b="1" dirty="0">
                <a:solidFill>
                  <a:srgbClr val="64818F"/>
                </a:solidFill>
                <a:latin typeface="Calibri" pitchFamily="34" charset="0"/>
                <a:ea typeface="Calibri" pitchFamily="34" charset="-122"/>
                <a:cs typeface="Calibri" pitchFamily="34" charset="-120"/>
              </a:rPr>
              <a:t>Refused</a:t>
            </a:r>
            <a:endParaRPr lang="en-US" sz="1150" dirty="0"/>
          </a:p>
        </p:txBody>
      </p:sp>
      <p:sp>
        <p:nvSpPr>
          <p:cNvPr id="11" name="Text 8"/>
          <p:cNvSpPr/>
          <p:nvPr/>
        </p:nvSpPr>
        <p:spPr>
          <a:xfrm>
            <a:off x="8705088" y="4553712"/>
            <a:ext cx="2697480" cy="502920"/>
          </a:xfrm>
          <a:prstGeom prst="rect">
            <a:avLst/>
          </a:prstGeom>
          <a:noFill/>
          <a:ln/>
        </p:spPr>
        <p:txBody>
          <a:bodyPr wrap="square" lIns="0" tIns="0" rIns="0" bIns="0" rtlCol="0" anchor="t"/>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Crypto, rewards — never priced</a:t>
            </a:r>
            <a:endParaRPr lang="en-US" sz="1250" dirty="0"/>
          </a:p>
        </p:txBody>
      </p:sp>
      <p:sp>
        <p:nvSpPr>
          <p:cNvPr id="12" name="Text 9"/>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4818F"/>
                </a:solidFill>
                <a:latin typeface="Calibri" pitchFamily="34" charset="0"/>
                <a:ea typeface="Calibri" pitchFamily="34" charset="-122"/>
                <a:cs typeface="Calibri" pitchFamily="34" charset="-120"/>
              </a:rPr>
              <a:t>Source: exporter research programme, 320 interviews, May–Jul [year]. OCV method: appendix.</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DEMAND ADMITS  ·  01</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What the scores rest on — and their stated limits</a:t>
            </a:r>
            <a:endParaRPr lang="en-US" sz="2700" dirty="0"/>
          </a:p>
        </p:txBody>
      </p:sp>
      <p:sp>
        <p:nvSpPr>
          <p:cNvPr id="4" name="Shape 2"/>
          <p:cNvSpPr/>
          <p:nvPr/>
        </p:nvSpPr>
        <p:spPr>
          <a:xfrm>
            <a:off x="566928" y="1627632"/>
            <a:ext cx="2585466" cy="1691640"/>
          </a:xfrm>
          <a:prstGeom prst="roundRect">
            <a:avLst>
              <a:gd name="adj" fmla="val 5405"/>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22960" y="1828800"/>
            <a:ext cx="2073402" cy="777240"/>
          </a:xfrm>
          <a:prstGeom prst="rect">
            <a:avLst/>
          </a:prstGeom>
          <a:noFill/>
          <a:ln/>
        </p:spPr>
        <p:txBody>
          <a:bodyPr wrap="square" lIns="0" tIns="0" rIns="0" bIns="0" rtlCol="0" anchor="ctr"/>
          <a:lstStyle/>
          <a:p>
            <a:pPr indent="0" marL="0">
              <a:buNone/>
            </a:pPr>
            <a:r>
              <a:rPr lang="en-US" sz="3600" b="1" dirty="0">
                <a:solidFill>
                  <a:srgbClr val="2F4858"/>
                </a:solidFill>
                <a:latin typeface="Cambria" pitchFamily="34" charset="0"/>
                <a:ea typeface="Cambria" pitchFamily="34" charset="-122"/>
                <a:cs typeface="Cambria" pitchFamily="34" charset="-120"/>
              </a:rPr>
              <a:t>320</a:t>
            </a:r>
            <a:endParaRPr lang="en-US" sz="3600" dirty="0"/>
          </a:p>
        </p:txBody>
      </p:sp>
      <p:sp>
        <p:nvSpPr>
          <p:cNvPr id="6" name="Text 4"/>
          <p:cNvSpPr/>
          <p:nvPr/>
        </p:nvSpPr>
        <p:spPr>
          <a:xfrm>
            <a:off x="822960"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Exporting SMEs interviewed</a:t>
            </a:r>
            <a:endParaRPr lang="en-US" sz="1150" dirty="0"/>
          </a:p>
        </p:txBody>
      </p:sp>
      <p:sp>
        <p:nvSpPr>
          <p:cNvPr id="7" name="Shape 5"/>
          <p:cNvSpPr/>
          <p:nvPr/>
        </p:nvSpPr>
        <p:spPr>
          <a:xfrm>
            <a:off x="3380994" y="1627632"/>
            <a:ext cx="2585466" cy="1691640"/>
          </a:xfrm>
          <a:prstGeom prst="roundRect">
            <a:avLst>
              <a:gd name="adj" fmla="val 5405"/>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3637026" y="1828800"/>
            <a:ext cx="2073402" cy="777240"/>
          </a:xfrm>
          <a:prstGeom prst="rect">
            <a:avLst/>
          </a:prstGeom>
          <a:noFill/>
          <a:ln/>
        </p:spPr>
        <p:txBody>
          <a:bodyPr wrap="square" lIns="0" tIns="0" rIns="0" bIns="0" rtlCol="0" anchor="ctr"/>
          <a:lstStyle/>
          <a:p>
            <a:pPr indent="0" marL="0">
              <a:buNone/>
            </a:pPr>
            <a:r>
              <a:rPr lang="en-US" sz="3600" b="1" dirty="0">
                <a:solidFill>
                  <a:srgbClr val="2F4858"/>
                </a:solidFill>
                <a:latin typeface="Cambria" pitchFamily="34" charset="0"/>
                <a:ea typeface="Cambria" pitchFamily="34" charset="-122"/>
                <a:cs typeface="Cambria" pitchFamily="34" charset="-120"/>
              </a:rPr>
              <a:t>9 wks</a:t>
            </a:r>
            <a:endParaRPr lang="en-US" sz="3600" dirty="0"/>
          </a:p>
        </p:txBody>
      </p:sp>
      <p:sp>
        <p:nvSpPr>
          <p:cNvPr id="9" name="Text 7"/>
          <p:cNvSpPr/>
          <p:nvPr/>
        </p:nvSpPr>
        <p:spPr>
          <a:xfrm>
            <a:off x="3637026"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Fieldwork window, ending [date]</a:t>
            </a:r>
            <a:endParaRPr lang="en-US" sz="1150" dirty="0"/>
          </a:p>
        </p:txBody>
      </p:sp>
      <p:sp>
        <p:nvSpPr>
          <p:cNvPr id="10" name="Shape 8"/>
          <p:cNvSpPr/>
          <p:nvPr/>
        </p:nvSpPr>
        <p:spPr>
          <a:xfrm>
            <a:off x="6195060" y="1627632"/>
            <a:ext cx="2585466" cy="1691640"/>
          </a:xfrm>
          <a:prstGeom prst="roundRect">
            <a:avLst>
              <a:gd name="adj" fmla="val 5405"/>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6451092" y="1828800"/>
            <a:ext cx="2073402" cy="777240"/>
          </a:xfrm>
          <a:prstGeom prst="rect">
            <a:avLst/>
          </a:prstGeom>
          <a:noFill/>
          <a:ln/>
        </p:spPr>
        <p:txBody>
          <a:bodyPr wrap="square" lIns="0" tIns="0" rIns="0" bIns="0" rtlCol="0" anchor="ctr"/>
          <a:lstStyle/>
          <a:p>
            <a:pPr indent="0" marL="0">
              <a:buNone/>
            </a:pPr>
            <a:r>
              <a:rPr lang="en-US" sz="3600" b="1" dirty="0">
                <a:solidFill>
                  <a:srgbClr val="2F4858"/>
                </a:solidFill>
                <a:latin typeface="Cambria" pitchFamily="34" charset="0"/>
                <a:ea typeface="Cambria" pitchFamily="34" charset="-122"/>
                <a:cs typeface="Cambria" pitchFamily="34" charset="-120"/>
              </a:rPr>
              <a:t>3 of 5</a:t>
            </a:r>
            <a:endParaRPr lang="en-US" sz="3600" dirty="0"/>
          </a:p>
        </p:txBody>
      </p:sp>
      <p:sp>
        <p:nvSpPr>
          <p:cNvPr id="12" name="Text 10"/>
          <p:cNvSpPr/>
          <p:nvPr/>
        </p:nvSpPr>
        <p:spPr>
          <a:xfrm>
            <a:off x="6451092"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Features tested with a live prototype</a:t>
            </a:r>
            <a:endParaRPr lang="en-US" sz="1150" dirty="0"/>
          </a:p>
        </p:txBody>
      </p:sp>
      <p:sp>
        <p:nvSpPr>
          <p:cNvPr id="13" name="Shape 11"/>
          <p:cNvSpPr/>
          <p:nvPr/>
        </p:nvSpPr>
        <p:spPr>
          <a:xfrm>
            <a:off x="9009126" y="1627632"/>
            <a:ext cx="2585466" cy="1691640"/>
          </a:xfrm>
          <a:prstGeom prst="roundRect">
            <a:avLst>
              <a:gd name="adj" fmla="val 5405"/>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265158" y="1828800"/>
            <a:ext cx="2073402" cy="777240"/>
          </a:xfrm>
          <a:prstGeom prst="rect">
            <a:avLst/>
          </a:prstGeom>
          <a:noFill/>
          <a:ln/>
        </p:spPr>
        <p:txBody>
          <a:bodyPr wrap="square" lIns="0" tIns="0" rIns="0" bIns="0" rtlCol="0" anchor="ctr"/>
          <a:lstStyle/>
          <a:p>
            <a:pPr indent="0" marL="0">
              <a:buNone/>
            </a:pPr>
            <a:r>
              <a:rPr lang="en-US" sz="3600" b="1" dirty="0">
                <a:solidFill>
                  <a:srgbClr val="2F4858"/>
                </a:solidFill>
                <a:latin typeface="Cambria" pitchFamily="34" charset="0"/>
                <a:ea typeface="Cambria" pitchFamily="34" charset="-122"/>
                <a:cs typeface="Cambria" pitchFamily="34" charset="-120"/>
              </a:rPr>
              <a:t>61%</a:t>
            </a:r>
            <a:endParaRPr lang="en-US" sz="3600" dirty="0"/>
          </a:p>
        </p:txBody>
      </p:sp>
      <p:sp>
        <p:nvSpPr>
          <p:cNvPr id="15" name="Text 13"/>
          <p:cNvSpPr/>
          <p:nvPr/>
        </p:nvSpPr>
        <p:spPr>
          <a:xfrm>
            <a:off x="9265158"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Calibri" pitchFamily="34" charset="0"/>
                <a:ea typeface="Calibri" pitchFamily="34" charset="-122"/>
                <a:cs typeface="Calibri" pitchFamily="34" charset="-120"/>
              </a:rPr>
              <a:t>Of segment revenue represented</a:t>
            </a:r>
            <a:endParaRPr lang="en-US" sz="1150" dirty="0"/>
          </a:p>
        </p:txBody>
      </p:sp>
      <p:sp>
        <p:nvSpPr>
          <p:cNvPr id="16" name="Text 14"/>
          <p:cNvSpPr/>
          <p:nvPr/>
        </p:nvSpPr>
        <p:spPr>
          <a:xfrm>
            <a:off x="566928" y="3611880"/>
            <a:ext cx="11027664" cy="365760"/>
          </a:xfrm>
          <a:prstGeom prst="rect">
            <a:avLst/>
          </a:prstGeom>
          <a:noFill/>
          <a:ln/>
        </p:spPr>
        <p:txBody>
          <a:bodyPr wrap="square" lIns="0" tIns="0" rIns="0" bIns="0" rtlCol="0" anchor="ctr"/>
          <a:lstStyle/>
          <a:p>
            <a:pPr indent="0" marL="0">
              <a:buNone/>
            </a:pPr>
            <a:r>
              <a:rPr lang="en-US" sz="1500" b="1" dirty="0">
                <a:solidFill>
                  <a:srgbClr val="2F4858"/>
                </a:solidFill>
                <a:latin typeface="Calibri" pitchFamily="34" charset="0"/>
                <a:ea typeface="Calibri" pitchFamily="34" charset="-122"/>
                <a:cs typeface="Calibri" pitchFamily="34" charset="-120"/>
              </a:rPr>
              <a:t>Known limits of the evidence</a:t>
            </a:r>
            <a:endParaRPr lang="en-US" sz="1500" dirty="0"/>
          </a:p>
        </p:txBody>
      </p:sp>
      <p:sp>
        <p:nvSpPr>
          <p:cNvPr id="17" name="Text 15"/>
          <p:cNvSpPr/>
          <p:nvPr/>
        </p:nvSpPr>
        <p:spPr>
          <a:xfrm>
            <a:off x="566928" y="4023360"/>
            <a:ext cx="11027664" cy="173736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00" dirty="0">
                <a:solidFill>
                  <a:srgbClr val="3F5563"/>
                </a:solidFill>
                <a:latin typeface="Calibri" pitchFamily="34" charset="0"/>
                <a:ea typeface="Calibri" pitchFamily="34" charset="-122"/>
                <a:cs typeface="Calibri" pitchFamily="34" charset="-120"/>
              </a:rPr>
              <a:t>Smallest exporters (under £1m turnover) are under-represented — could overstate invoice finance demand</a:t>
            </a:r>
            <a:endParaRPr lang="en-US" sz="1300" dirty="0"/>
          </a:p>
          <a:p>
            <a:pPr marL="342900" indent="-342900">
              <a:lnSpc>
                <a:spcPts val="1900"/>
              </a:lnSpc>
              <a:spcAft>
                <a:spcPts val="700"/>
              </a:spcAft>
              <a:buSzPct val="100000"/>
              <a:buChar char="•"/>
            </a:pPr>
            <a:r>
              <a:rPr lang="en-US" sz="1300" dirty="0">
                <a:solidFill>
                  <a:srgbClr val="3F5563"/>
                </a:solidFill>
                <a:latin typeface="Calibri" pitchFamily="34" charset="0"/>
                <a:ea typeface="Calibri" pitchFamily="34" charset="-122"/>
                <a:cs typeface="Calibri" pitchFamily="34" charset="-120"/>
              </a:rPr>
              <a:t>Exporters over-claim switching intent; scores are calibrated against observed uptake, not stated intent</a:t>
            </a:r>
            <a:endParaRPr lang="en-US" sz="1300" dirty="0"/>
          </a:p>
          <a:p>
            <a:pPr marL="342900" indent="-342900">
              <a:lnSpc>
                <a:spcPts val="1900"/>
              </a:lnSpc>
              <a:spcAft>
                <a:spcPts val="700"/>
              </a:spcAft>
              <a:buSzPct val="100000"/>
              <a:buChar char="•"/>
            </a:pPr>
            <a:r>
              <a:rPr lang="en-US" sz="1300" dirty="0">
                <a:solidFill>
                  <a:srgbClr val="3F5563"/>
                </a:solidFill>
                <a:latin typeface="Calibri" pitchFamily="34" charset="0"/>
                <a:ea typeface="Calibri" pitchFamily="34" charset="-122"/>
                <a:cs typeface="Calibri" pitchFamily="34" charset="-120"/>
              </a:rPr>
              <a:t>Crypto and rewards were tested by description only — a prototype could move them, and a re-score would catch it</a:t>
            </a:r>
            <a:endParaRPr lang="en-US" sz="1300" dirty="0"/>
          </a:p>
          <a:p>
            <a:pPr marL="342900" indent="-342900">
              <a:lnSpc>
                <a:spcPts val="1900"/>
              </a:lnSpc>
              <a:spcAft>
                <a:spcPts val="700"/>
              </a:spcAft>
              <a:buSzPct val="100000"/>
              <a:buChar char="•"/>
            </a:pPr>
            <a:r>
              <a:rPr lang="en-US" sz="1300" dirty="0">
                <a:solidFill>
                  <a:srgbClr val="3F5563"/>
                </a:solidFill>
                <a:latin typeface="Calibri" pitchFamily="34" charset="0"/>
                <a:ea typeface="Calibri" pitchFamily="34" charset="-122"/>
                <a:cs typeface="Calibri" pitchFamily="34" charset="-120"/>
              </a:rPr>
              <a:t>Insurance sits four points above the gate: treated as admitted, re-tested every quarter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DEMAND ADMITS  ·  01  ·  PROPOSITION LEVEL</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'Trade Ready' makes the shelf visible when the need hits</a:t>
            </a:r>
            <a:endParaRPr lang="en-US" sz="2700" dirty="0"/>
          </a:p>
        </p:txBody>
      </p:sp>
      <p:sp>
        <p:nvSpPr>
          <p:cNvPr id="4" name="Shape 2"/>
          <p:cNvSpPr/>
          <p:nvPr/>
        </p:nvSpPr>
        <p:spPr>
          <a:xfrm>
            <a:off x="566928" y="1627632"/>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28216"/>
            <a:ext cx="310896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The gap</a:t>
            </a:r>
            <a:endParaRPr lang="en-US" sz="1400" dirty="0"/>
          </a:p>
        </p:txBody>
      </p:sp>
      <p:sp>
        <p:nvSpPr>
          <p:cNvPr id="6" name="Text 4"/>
          <p:cNvSpPr/>
          <p:nvPr/>
        </p:nvSpPr>
        <p:spPr>
          <a:xfrm>
            <a:off x="4315968" y="1728216"/>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Calibri" pitchFamily="34" charset="0"/>
                <a:ea typeface="Calibri" pitchFamily="34" charset="-122"/>
                <a:cs typeface="Calibri" pitchFamily="34" charset="-120"/>
              </a:rPr>
              <a:t>At the moments that matter — the first export order, the first unpaid foreign invoice — exporters name their bank 22% of the time, and the market leader 41%.</a:t>
            </a:r>
            <a:endParaRPr lang="en-US" sz="1250" dirty="0"/>
          </a:p>
        </p:txBody>
      </p:sp>
      <p:sp>
        <p:nvSpPr>
          <p:cNvPr id="7" name="Shape 5"/>
          <p:cNvSpPr/>
          <p:nvPr/>
        </p:nvSpPr>
        <p:spPr>
          <a:xfrm>
            <a:off x="566928" y="2651760"/>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752344"/>
            <a:ext cx="310896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The wrapper</a:t>
            </a:r>
            <a:endParaRPr lang="en-US" sz="1400" dirty="0"/>
          </a:p>
        </p:txBody>
      </p:sp>
      <p:sp>
        <p:nvSpPr>
          <p:cNvPr id="9" name="Text 7"/>
          <p:cNvSpPr/>
          <p:nvPr/>
        </p:nvSpPr>
        <p:spPr>
          <a:xfrm>
            <a:off x="4315968" y="2752344"/>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Calibri" pitchFamily="34" charset="0"/>
                <a:ea typeface="Calibri" pitchFamily="34" charset="-122"/>
                <a:cs typeface="Calibri" pitchFamily="34" charset="-120"/>
              </a:rPr>
              <a:t>One name over the launched features, with a fixed set of brand assets, tied to those two moments. Product communications ladder up to it, not alongside it.</a:t>
            </a:r>
            <a:endParaRPr lang="en-US" sz="1250" dirty="0"/>
          </a:p>
        </p:txBody>
      </p:sp>
      <p:sp>
        <p:nvSpPr>
          <p:cNvPr id="10" name="Shape 8"/>
          <p:cNvSpPr/>
          <p:nvPr/>
        </p:nvSpPr>
        <p:spPr>
          <a:xfrm>
            <a:off x="566928" y="3675888"/>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3776472"/>
            <a:ext cx="310896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The economics</a:t>
            </a:r>
            <a:endParaRPr lang="en-US" sz="1400" dirty="0"/>
          </a:p>
        </p:txBody>
      </p:sp>
      <p:sp>
        <p:nvSpPr>
          <p:cNvPr id="12" name="Text 10"/>
          <p:cNvSpPr/>
          <p:nvPr/>
        </p:nvSpPr>
        <p:spPr>
          <a:xfrm>
            <a:off x="4315968" y="3776472"/>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Calibri" pitchFamily="34" charset="0"/>
                <a:ea typeface="Calibri" pitchFamily="34" charset="-122"/>
                <a:cs typeface="Calibri" pitchFamily="34" charset="-120"/>
              </a:rPr>
              <a:t>£0.8m a year, fixed — spread across every feature in the shell, unlike incentives that pay per redemption. Break-even at a 6-point lift in recall.</a:t>
            </a:r>
            <a:endParaRPr lang="en-US" sz="1250" dirty="0"/>
          </a:p>
        </p:txBody>
      </p:sp>
      <p:sp>
        <p:nvSpPr>
          <p:cNvPr id="13" name="Shape 11"/>
          <p:cNvSpPr/>
          <p:nvPr/>
        </p:nvSpPr>
        <p:spPr>
          <a:xfrm>
            <a:off x="566928" y="4700016"/>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50976" y="4800600"/>
            <a:ext cx="310896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The multiplier rule</a:t>
            </a:r>
            <a:endParaRPr lang="en-US" sz="1400" dirty="0"/>
          </a:p>
        </p:txBody>
      </p:sp>
      <p:sp>
        <p:nvSpPr>
          <p:cNvPr id="15" name="Text 13"/>
          <p:cNvSpPr/>
          <p:nvPr/>
        </p:nvSpPr>
        <p:spPr>
          <a:xfrm>
            <a:off x="4315968" y="4800600"/>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Calibri" pitchFamily="34" charset="0"/>
                <a:ea typeface="Calibri" pitchFamily="34" charset="-122"/>
                <a:cs typeface="Calibri" pitchFamily="34" charset="-120"/>
              </a:rPr>
              <a:t>A wrapper multiplies what is there. It cannot rescue a feature below the demand gate — weak features wrapped are weak features remembered.</a:t>
            </a:r>
            <a:endParaRPr lang="en-US" sz="1250" dirty="0"/>
          </a:p>
        </p:txBody>
      </p:sp>
      <p:sp>
        <p:nvSpPr>
          <p:cNvPr id="16" name="Text 14"/>
          <p:cNvSpPr/>
          <p:nvPr/>
        </p:nvSpPr>
        <p:spPr>
          <a:xfrm>
            <a:off x="566928" y="5815584"/>
            <a:ext cx="11027664" cy="548640"/>
          </a:xfrm>
          <a:prstGeom prst="rect">
            <a:avLst/>
          </a:prstGeom>
          <a:noFill/>
          <a:ln/>
        </p:spPr>
        <p:txBody>
          <a:bodyPr wrap="square" lIns="0" tIns="0" rIns="0" bIns="0" rtlCol="0" anchor="t"/>
          <a:lstStyle/>
          <a:p>
            <a:pPr indent="0" marL="0">
              <a:lnSpc>
                <a:spcPts val="1800"/>
              </a:lnSpc>
              <a:buNone/>
            </a:pPr>
            <a:r>
              <a:rPr lang="en-US" sz="1300" i="1" dirty="0">
                <a:solidFill>
                  <a:srgbClr val="64818F"/>
                </a:solidFill>
                <a:latin typeface="Calibri" pitchFamily="34" charset="0"/>
                <a:ea typeface="Calibri" pitchFamily="34" charset="-122"/>
                <a:cs typeface="Calibri" pitchFamily="34" charset="-120"/>
              </a:rPr>
              <a:t>The wrapper is a demand claim — will they think of us — so it lives in this section. Its cost appears in the earnings bridge; its stop rule sits on the sensitivity page.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1874520"/>
            <a:ext cx="2194560" cy="1463040"/>
          </a:xfrm>
          <a:prstGeom prst="rect">
            <a:avLst/>
          </a:prstGeom>
          <a:noFill/>
          <a:ln/>
        </p:spPr>
        <p:txBody>
          <a:bodyPr wrap="square" lIns="0" tIns="0" rIns="0" bIns="0" rtlCol="0" anchor="ctr"/>
          <a:lstStyle/>
          <a:p>
            <a:pPr indent="0" marL="0">
              <a:buNone/>
            </a:pPr>
            <a:r>
              <a:rPr lang="en-US" sz="8800" b="1" dirty="0">
                <a:solidFill>
                  <a:srgbClr val="39586A"/>
                </a:solidFill>
                <a:latin typeface="Cambria" pitchFamily="34" charset="0"/>
                <a:ea typeface="Cambria" pitchFamily="34" charset="-122"/>
                <a:cs typeface="Cambria" pitchFamily="34" charset="-120"/>
              </a:rPr>
              <a:t>02</a:t>
            </a:r>
            <a:endParaRPr lang="en-US" sz="8800" dirty="0"/>
          </a:p>
        </p:txBody>
      </p:sp>
      <p:sp>
        <p:nvSpPr>
          <p:cNvPr id="4" name="Text 2"/>
          <p:cNvSpPr/>
          <p:nvPr/>
        </p:nvSpPr>
        <p:spPr>
          <a:xfrm>
            <a:off x="2532888" y="2029968"/>
            <a:ext cx="8595360" cy="365760"/>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RETURN SORTS</a:t>
            </a:r>
            <a:endParaRPr lang="en-US" sz="1200" dirty="0"/>
          </a:p>
        </p:txBody>
      </p:sp>
      <p:sp>
        <p:nvSpPr>
          <p:cNvPr id="5" name="Text 3"/>
          <p:cNvSpPr/>
          <p:nvPr/>
        </p:nvSpPr>
        <p:spPr>
          <a:xfrm>
            <a:off x="2532888" y="2395728"/>
            <a:ext cx="87782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order do the admitted features take?</a:t>
            </a:r>
            <a:endParaRPr lang="en-US" sz="3600" dirty="0"/>
          </a:p>
        </p:txBody>
      </p:sp>
      <p:sp>
        <p:nvSpPr>
          <p:cNvPr id="6" name="Text 4"/>
          <p:cNvSpPr/>
          <p:nvPr/>
        </p:nvSpPr>
        <p:spPr>
          <a:xfrm>
            <a:off x="2532888" y="3383280"/>
            <a:ext cx="8412480" cy="640080"/>
          </a:xfrm>
          <a:prstGeom prst="rect">
            <a:avLst/>
          </a:prstGeom>
          <a:noFill/>
          <a:ln/>
        </p:spPr>
        <p:txBody>
          <a:bodyPr wrap="square" lIns="0" tIns="0" rIns="0" bIns="0" rtlCol="0" anchor="t"/>
          <a:lstStyle/>
          <a:p>
            <a:pPr indent="0" marL="0">
              <a:lnSpc>
                <a:spcPts val="2200"/>
              </a:lnSpc>
              <a:buNone/>
            </a:pPr>
            <a:r>
              <a:rPr lang="en-US" sz="1500" dirty="0">
                <a:solidFill>
                  <a:srgbClr val="8FB3C2"/>
                </a:solidFill>
                <a:latin typeface="Calibri" pitchFamily="34" charset="0"/>
                <a:ea typeface="Calibri" pitchFamily="34" charset="-122"/>
                <a:cs typeface="Calibri" pitchFamily="34" charset="-120"/>
              </a:rPr>
              <a:t>Sorted by risk-adjusted return per build slot — capacity is the scarce thing, so returns are measured against 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RETURN SORTS  ·  02</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Per-slot return sets the order — and it re-orders raw NPV</a:t>
            </a:r>
            <a:endParaRPr lang="en-US" sz="2700" dirty="0"/>
          </a:p>
        </p:txBody>
      </p:sp>
      <p:sp>
        <p:nvSpPr>
          <p:cNvPr id="4" name="Text 2"/>
          <p:cNvSpPr/>
          <p:nvPr/>
        </p:nvSpPr>
        <p:spPr>
          <a:xfrm>
            <a:off x="566928" y="1783080"/>
            <a:ext cx="3429000" cy="365760"/>
          </a:xfrm>
          <a:prstGeom prst="rect">
            <a:avLst/>
          </a:prstGeom>
          <a:noFill/>
          <a:ln/>
        </p:spPr>
        <p:txBody>
          <a:bodyPr wrap="square" lIns="0" tIns="0" rIns="0" bIns="0" rtlCol="0" anchor="b"/>
          <a:lstStyle/>
          <a:p>
            <a:pPr indent="0" marL="0">
              <a:buNone/>
            </a:pPr>
            <a:r>
              <a:rPr lang="en-US" sz="1150" b="1" dirty="0">
                <a:solidFill>
                  <a:srgbClr val="2F4858"/>
                </a:solidFill>
                <a:latin typeface="Calibri" pitchFamily="34" charset="0"/>
                <a:ea typeface="Calibri" pitchFamily="34" charset="-122"/>
                <a:cs typeface="Calibri" pitchFamily="34" charset="-120"/>
              </a:rPr>
              <a:t>Feature</a:t>
            </a:r>
            <a:endParaRPr lang="en-US" sz="1150" dirty="0"/>
          </a:p>
        </p:txBody>
      </p:sp>
      <p:sp>
        <p:nvSpPr>
          <p:cNvPr id="5" name="Text 3"/>
          <p:cNvSpPr/>
          <p:nvPr/>
        </p:nvSpPr>
        <p:spPr>
          <a:xfrm>
            <a:off x="4133088" y="1783080"/>
            <a:ext cx="2148840" cy="365760"/>
          </a:xfrm>
          <a:prstGeom prst="rect">
            <a:avLst/>
          </a:prstGeom>
          <a:noFill/>
          <a:ln/>
        </p:spPr>
        <p:txBody>
          <a:bodyPr wrap="square" lIns="0" tIns="0" rIns="0" bIns="0" rtlCol="0" anchor="b"/>
          <a:lstStyle/>
          <a:p>
            <a:pPr indent="0" marL="0">
              <a:buNone/>
            </a:pPr>
            <a:r>
              <a:rPr lang="en-US" sz="1150" b="1" dirty="0">
                <a:solidFill>
                  <a:srgbClr val="2F4858"/>
                </a:solidFill>
                <a:latin typeface="Calibri" pitchFamily="34" charset="0"/>
                <a:ea typeface="Calibri" pitchFamily="34" charset="-122"/>
                <a:cs typeface="Calibri" pitchFamily="34" charset="-120"/>
              </a:rPr>
              <a:t>Risk-adjusted NPV</a:t>
            </a:r>
            <a:endParaRPr lang="en-US" sz="1150" dirty="0"/>
          </a:p>
        </p:txBody>
      </p:sp>
      <p:sp>
        <p:nvSpPr>
          <p:cNvPr id="6" name="Text 4"/>
          <p:cNvSpPr/>
          <p:nvPr/>
        </p:nvSpPr>
        <p:spPr>
          <a:xfrm>
            <a:off x="6419088" y="1783080"/>
            <a:ext cx="1600200" cy="365760"/>
          </a:xfrm>
          <a:prstGeom prst="rect">
            <a:avLst/>
          </a:prstGeom>
          <a:noFill/>
          <a:ln/>
        </p:spPr>
        <p:txBody>
          <a:bodyPr wrap="square" lIns="0" tIns="0" rIns="0" bIns="0" rtlCol="0" anchor="b"/>
          <a:lstStyle/>
          <a:p>
            <a:pPr indent="0" marL="0">
              <a:buNone/>
            </a:pPr>
            <a:r>
              <a:rPr lang="en-US" sz="1150" b="1" dirty="0">
                <a:solidFill>
                  <a:srgbClr val="2F4858"/>
                </a:solidFill>
                <a:latin typeface="Calibri" pitchFamily="34" charset="0"/>
                <a:ea typeface="Calibri" pitchFamily="34" charset="-122"/>
                <a:cs typeface="Calibri" pitchFamily="34" charset="-120"/>
              </a:rPr>
              <a:t>Build slots</a:t>
            </a:r>
            <a:endParaRPr lang="en-US" sz="1150" dirty="0"/>
          </a:p>
        </p:txBody>
      </p:sp>
      <p:sp>
        <p:nvSpPr>
          <p:cNvPr id="7" name="Text 5"/>
          <p:cNvSpPr/>
          <p:nvPr/>
        </p:nvSpPr>
        <p:spPr>
          <a:xfrm>
            <a:off x="8156448" y="1783080"/>
            <a:ext cx="2240280" cy="365760"/>
          </a:xfrm>
          <a:prstGeom prst="rect">
            <a:avLst/>
          </a:prstGeom>
          <a:noFill/>
          <a:ln/>
        </p:spPr>
        <p:txBody>
          <a:bodyPr wrap="square" lIns="0" tIns="0" rIns="0" bIns="0" rtlCol="0" anchor="b"/>
          <a:lstStyle/>
          <a:p>
            <a:pPr indent="0" marL="0">
              <a:buNone/>
            </a:pPr>
            <a:r>
              <a:rPr lang="en-US" sz="1150" b="1" dirty="0">
                <a:solidFill>
                  <a:srgbClr val="2F4858"/>
                </a:solidFill>
                <a:latin typeface="Calibri" pitchFamily="34" charset="0"/>
                <a:ea typeface="Calibri" pitchFamily="34" charset="-122"/>
                <a:cs typeface="Calibri" pitchFamily="34" charset="-120"/>
              </a:rPr>
              <a:t>Return per slot</a:t>
            </a:r>
            <a:endParaRPr lang="en-US" sz="1150" dirty="0"/>
          </a:p>
        </p:txBody>
      </p:sp>
      <p:sp>
        <p:nvSpPr>
          <p:cNvPr id="8" name="Text 6"/>
          <p:cNvSpPr/>
          <p:nvPr/>
        </p:nvSpPr>
        <p:spPr>
          <a:xfrm>
            <a:off x="10533888" y="1783080"/>
            <a:ext cx="960120" cy="365760"/>
          </a:xfrm>
          <a:prstGeom prst="rect">
            <a:avLst/>
          </a:prstGeom>
          <a:noFill/>
          <a:ln/>
        </p:spPr>
        <p:txBody>
          <a:bodyPr wrap="square" lIns="0" tIns="0" rIns="0" bIns="0" rtlCol="0" anchor="b"/>
          <a:lstStyle/>
          <a:p>
            <a:pPr indent="0" marL="0">
              <a:buNone/>
            </a:pPr>
            <a:r>
              <a:rPr lang="en-US" sz="1150" b="1" dirty="0">
                <a:solidFill>
                  <a:srgbClr val="2F4858"/>
                </a:solidFill>
                <a:latin typeface="Calibri" pitchFamily="34" charset="0"/>
                <a:ea typeface="Calibri" pitchFamily="34" charset="-122"/>
                <a:cs typeface="Calibri" pitchFamily="34" charset="-120"/>
              </a:rPr>
              <a:t>Order</a:t>
            </a:r>
            <a:endParaRPr lang="en-US" sz="1150" dirty="0"/>
          </a:p>
        </p:txBody>
      </p:sp>
      <p:sp>
        <p:nvSpPr>
          <p:cNvPr id="9" name="Shape 7"/>
          <p:cNvSpPr/>
          <p:nvPr/>
        </p:nvSpPr>
        <p:spPr>
          <a:xfrm>
            <a:off x="566928" y="2221992"/>
            <a:ext cx="11027664" cy="0"/>
          </a:xfrm>
          <a:prstGeom prst="line">
            <a:avLst/>
          </a:prstGeom>
          <a:noFill/>
          <a:ln w="19050">
            <a:solidFill>
              <a:srgbClr val="2F4858"/>
            </a:solidFill>
            <a:prstDash val="solid"/>
          </a:ln>
        </p:spPr>
      </p:sp>
      <p:sp>
        <p:nvSpPr>
          <p:cNvPr id="10" name="Shape 8"/>
          <p:cNvSpPr/>
          <p:nvPr/>
        </p:nvSpPr>
        <p:spPr>
          <a:xfrm>
            <a:off x="566928" y="2322576"/>
            <a:ext cx="11027664" cy="658368"/>
          </a:xfrm>
          <a:prstGeom prst="rect">
            <a:avLst/>
          </a:prstGeom>
          <a:solidFill>
            <a:srgbClr val="F5F8FA"/>
          </a:solidFill>
          <a:ln w="12700">
            <a:solidFill>
              <a:srgbClr val="F5F8FA"/>
            </a:solidFill>
            <a:prstDash val="solid"/>
          </a:ln>
        </p:spPr>
      </p:sp>
      <p:sp>
        <p:nvSpPr>
          <p:cNvPr id="11" name="Text 9"/>
          <p:cNvSpPr/>
          <p:nvPr/>
        </p:nvSpPr>
        <p:spPr>
          <a:xfrm>
            <a:off x="566928" y="2368296"/>
            <a:ext cx="3429000" cy="566928"/>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FX payments</a:t>
            </a:r>
            <a:endParaRPr lang="en-US" sz="1400" dirty="0"/>
          </a:p>
        </p:txBody>
      </p:sp>
      <p:sp>
        <p:nvSpPr>
          <p:cNvPr id="12" name="Text 10"/>
          <p:cNvSpPr/>
          <p:nvPr/>
        </p:nvSpPr>
        <p:spPr>
          <a:xfrm>
            <a:off x="4133088" y="2368296"/>
            <a:ext cx="2148840" cy="566928"/>
          </a:xfrm>
          <a:prstGeom prst="rect">
            <a:avLst/>
          </a:prstGeom>
          <a:noFill/>
          <a:ln/>
        </p:spPr>
        <p:txBody>
          <a:bodyPr wrap="square" lIns="0" tIns="0" rIns="0" bIns="0" rtlCol="0" anchor="ctr"/>
          <a:lstStyle/>
          <a:p>
            <a:pPr indent="0" marL="0">
              <a:buNone/>
            </a:pPr>
            <a:r>
              <a:rPr lang="en-US" sz="1400" dirty="0">
                <a:solidFill>
                  <a:srgbClr val="3F5563"/>
                </a:solidFill>
                <a:latin typeface="Calibri" pitchFamily="34" charset="0"/>
                <a:ea typeface="Calibri" pitchFamily="34" charset="-122"/>
                <a:cs typeface="Calibri" pitchFamily="34" charset="-120"/>
              </a:rPr>
              <a:t>£2.1m</a:t>
            </a:r>
            <a:endParaRPr lang="en-US" sz="1400" dirty="0"/>
          </a:p>
        </p:txBody>
      </p:sp>
      <p:sp>
        <p:nvSpPr>
          <p:cNvPr id="13" name="Text 11"/>
          <p:cNvSpPr/>
          <p:nvPr/>
        </p:nvSpPr>
        <p:spPr>
          <a:xfrm>
            <a:off x="6419088" y="2368296"/>
            <a:ext cx="1600200" cy="566928"/>
          </a:xfrm>
          <a:prstGeom prst="rect">
            <a:avLst/>
          </a:prstGeom>
          <a:noFill/>
          <a:ln/>
        </p:spPr>
        <p:txBody>
          <a:bodyPr wrap="square" lIns="0" tIns="0" rIns="0" bIns="0" rtlCol="0" anchor="ctr"/>
          <a:lstStyle/>
          <a:p>
            <a:pPr indent="0" marL="0">
              <a:buNone/>
            </a:pPr>
            <a:r>
              <a:rPr lang="en-US" sz="1400" dirty="0">
                <a:solidFill>
                  <a:srgbClr val="3F5563"/>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8156448" y="2368296"/>
            <a:ext cx="2240280" cy="566928"/>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£2.1m</a:t>
            </a:r>
            <a:endParaRPr lang="en-US" sz="1400" dirty="0"/>
          </a:p>
        </p:txBody>
      </p:sp>
      <p:sp>
        <p:nvSpPr>
          <p:cNvPr id="15" name="Text 13"/>
          <p:cNvSpPr/>
          <p:nvPr/>
        </p:nvSpPr>
        <p:spPr>
          <a:xfrm>
            <a:off x="10533888" y="2368296"/>
            <a:ext cx="1097280" cy="566928"/>
          </a:xfrm>
          <a:prstGeom prst="rect">
            <a:avLst/>
          </a:prstGeom>
          <a:noFill/>
          <a:ln/>
        </p:spPr>
        <p:txBody>
          <a:bodyPr wrap="square" lIns="0" tIns="0" rIns="0" bIns="0" rtlCol="0" anchor="ctr"/>
          <a:lstStyle/>
          <a:p>
            <a:pPr indent="0" marL="0">
              <a:buNone/>
            </a:pPr>
            <a:r>
              <a:rPr lang="en-US" sz="1700" b="1" dirty="0">
                <a:solidFill>
                  <a:srgbClr val="8A6D0F"/>
                </a:solidFill>
                <a:latin typeface="Cambria" pitchFamily="34" charset="0"/>
                <a:ea typeface="Cambria" pitchFamily="34" charset="-122"/>
                <a:cs typeface="Cambria" pitchFamily="34" charset="-120"/>
              </a:rPr>
              <a:t>1st</a:t>
            </a:r>
            <a:endParaRPr lang="en-US" sz="1700" dirty="0"/>
          </a:p>
        </p:txBody>
      </p:sp>
      <p:sp>
        <p:nvSpPr>
          <p:cNvPr id="16" name="Text 14"/>
          <p:cNvSpPr/>
          <p:nvPr/>
        </p:nvSpPr>
        <p:spPr>
          <a:xfrm>
            <a:off x="566928" y="3063240"/>
            <a:ext cx="3429000" cy="566928"/>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Invoice finance (partnered)</a:t>
            </a:r>
            <a:endParaRPr lang="en-US" sz="1400" dirty="0"/>
          </a:p>
        </p:txBody>
      </p:sp>
      <p:sp>
        <p:nvSpPr>
          <p:cNvPr id="17" name="Text 15"/>
          <p:cNvSpPr/>
          <p:nvPr/>
        </p:nvSpPr>
        <p:spPr>
          <a:xfrm>
            <a:off x="4133088" y="3063240"/>
            <a:ext cx="2148840" cy="566928"/>
          </a:xfrm>
          <a:prstGeom prst="rect">
            <a:avLst/>
          </a:prstGeom>
          <a:noFill/>
          <a:ln/>
        </p:spPr>
        <p:txBody>
          <a:bodyPr wrap="square" lIns="0" tIns="0" rIns="0" bIns="0" rtlCol="0" anchor="ctr"/>
          <a:lstStyle/>
          <a:p>
            <a:pPr indent="0" marL="0">
              <a:buNone/>
            </a:pPr>
            <a:r>
              <a:rPr lang="en-US" sz="1400" dirty="0">
                <a:solidFill>
                  <a:srgbClr val="3F5563"/>
                </a:solidFill>
                <a:latin typeface="Calibri" pitchFamily="34" charset="0"/>
                <a:ea typeface="Calibri" pitchFamily="34" charset="-122"/>
                <a:cs typeface="Calibri" pitchFamily="34" charset="-120"/>
              </a:rPr>
              <a:t>£1.6m</a:t>
            </a:r>
            <a:endParaRPr lang="en-US" sz="1400" dirty="0"/>
          </a:p>
        </p:txBody>
      </p:sp>
      <p:sp>
        <p:nvSpPr>
          <p:cNvPr id="18" name="Text 16"/>
          <p:cNvSpPr/>
          <p:nvPr/>
        </p:nvSpPr>
        <p:spPr>
          <a:xfrm>
            <a:off x="6419088" y="3063240"/>
            <a:ext cx="1600200" cy="566928"/>
          </a:xfrm>
          <a:prstGeom prst="rect">
            <a:avLst/>
          </a:prstGeom>
          <a:noFill/>
          <a:ln/>
        </p:spPr>
        <p:txBody>
          <a:bodyPr wrap="square" lIns="0" tIns="0" rIns="0" bIns="0" rtlCol="0" anchor="ctr"/>
          <a:lstStyle/>
          <a:p>
            <a:pPr indent="0" marL="0">
              <a:buNone/>
            </a:pPr>
            <a:r>
              <a:rPr lang="en-US" sz="1400" dirty="0">
                <a:solidFill>
                  <a:srgbClr val="3F5563"/>
                </a:solidFill>
                <a:latin typeface="Calibri" pitchFamily="34" charset="0"/>
                <a:ea typeface="Calibri" pitchFamily="34" charset="-122"/>
                <a:cs typeface="Calibri" pitchFamily="34" charset="-120"/>
              </a:rPr>
              <a:t>1</a:t>
            </a:r>
            <a:endParaRPr lang="en-US" sz="1400" dirty="0"/>
          </a:p>
        </p:txBody>
      </p:sp>
      <p:sp>
        <p:nvSpPr>
          <p:cNvPr id="19" name="Text 17"/>
          <p:cNvSpPr/>
          <p:nvPr/>
        </p:nvSpPr>
        <p:spPr>
          <a:xfrm>
            <a:off x="8156448" y="3063240"/>
            <a:ext cx="2240280" cy="566928"/>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£1.6m</a:t>
            </a:r>
            <a:endParaRPr lang="en-US" sz="1400" dirty="0"/>
          </a:p>
        </p:txBody>
      </p:sp>
      <p:sp>
        <p:nvSpPr>
          <p:cNvPr id="20" name="Text 18"/>
          <p:cNvSpPr/>
          <p:nvPr/>
        </p:nvSpPr>
        <p:spPr>
          <a:xfrm>
            <a:off x="10533888" y="3063240"/>
            <a:ext cx="1097280" cy="566928"/>
          </a:xfrm>
          <a:prstGeom prst="rect">
            <a:avLst/>
          </a:prstGeom>
          <a:noFill/>
          <a:ln/>
        </p:spPr>
        <p:txBody>
          <a:bodyPr wrap="square" lIns="0" tIns="0" rIns="0" bIns="0" rtlCol="0" anchor="ctr"/>
          <a:lstStyle/>
          <a:p>
            <a:pPr indent="0" marL="0">
              <a:buNone/>
            </a:pPr>
            <a:r>
              <a:rPr lang="en-US" sz="1700" b="1" dirty="0">
                <a:solidFill>
                  <a:srgbClr val="8A6D0F"/>
                </a:solidFill>
                <a:latin typeface="Cambria" pitchFamily="34" charset="0"/>
                <a:ea typeface="Cambria" pitchFamily="34" charset="-122"/>
                <a:cs typeface="Cambria" pitchFamily="34" charset="-120"/>
              </a:rPr>
              <a:t>2nd</a:t>
            </a:r>
            <a:endParaRPr lang="en-US" sz="1700" dirty="0"/>
          </a:p>
        </p:txBody>
      </p:sp>
      <p:sp>
        <p:nvSpPr>
          <p:cNvPr id="21" name="Shape 19"/>
          <p:cNvSpPr/>
          <p:nvPr/>
        </p:nvSpPr>
        <p:spPr>
          <a:xfrm>
            <a:off x="566928" y="3712464"/>
            <a:ext cx="11027664" cy="658368"/>
          </a:xfrm>
          <a:prstGeom prst="rect">
            <a:avLst/>
          </a:prstGeom>
          <a:solidFill>
            <a:srgbClr val="F5F8FA"/>
          </a:solidFill>
          <a:ln w="12700">
            <a:solidFill>
              <a:srgbClr val="F5F8FA"/>
            </a:solidFill>
            <a:prstDash val="solid"/>
          </a:ln>
        </p:spPr>
      </p:sp>
      <p:sp>
        <p:nvSpPr>
          <p:cNvPr id="22" name="Text 20"/>
          <p:cNvSpPr/>
          <p:nvPr/>
        </p:nvSpPr>
        <p:spPr>
          <a:xfrm>
            <a:off x="566928" y="3758184"/>
            <a:ext cx="3429000" cy="566928"/>
          </a:xfrm>
          <a:prstGeom prst="rect">
            <a:avLst/>
          </a:prstGeom>
          <a:noFill/>
          <a:ln/>
        </p:spPr>
        <p:txBody>
          <a:bodyPr wrap="square" lIns="0" tIns="0" rIns="0" bIns="0" rtlCol="0" anchor="ctr"/>
          <a:lstStyle/>
          <a:p>
            <a:pPr indent="0" marL="0">
              <a:buNone/>
            </a:pPr>
            <a:r>
              <a:rPr lang="en-US" sz="1400" b="1" dirty="0">
                <a:solidFill>
                  <a:srgbClr val="1F2A31"/>
                </a:solidFill>
                <a:latin typeface="Calibri" pitchFamily="34" charset="0"/>
                <a:ea typeface="Calibri" pitchFamily="34" charset="-122"/>
                <a:cs typeface="Calibri" pitchFamily="34" charset="-120"/>
              </a:rPr>
              <a:t>Trade insurance</a:t>
            </a:r>
            <a:endParaRPr lang="en-US" sz="1400" dirty="0"/>
          </a:p>
        </p:txBody>
      </p:sp>
      <p:sp>
        <p:nvSpPr>
          <p:cNvPr id="23" name="Text 21"/>
          <p:cNvSpPr/>
          <p:nvPr/>
        </p:nvSpPr>
        <p:spPr>
          <a:xfrm>
            <a:off x="4133088" y="3758184"/>
            <a:ext cx="2148840" cy="566928"/>
          </a:xfrm>
          <a:prstGeom prst="rect">
            <a:avLst/>
          </a:prstGeom>
          <a:noFill/>
          <a:ln/>
        </p:spPr>
        <p:txBody>
          <a:bodyPr wrap="square" lIns="0" tIns="0" rIns="0" bIns="0" rtlCol="0" anchor="ctr"/>
          <a:lstStyle/>
          <a:p>
            <a:pPr indent="0" marL="0">
              <a:buNone/>
            </a:pPr>
            <a:r>
              <a:rPr lang="en-US" sz="1400" b="1" dirty="0">
                <a:solidFill>
                  <a:srgbClr val="A8443C"/>
                </a:solidFill>
                <a:latin typeface="Calibri" pitchFamily="34" charset="0"/>
                <a:ea typeface="Calibri" pitchFamily="34" charset="-122"/>
                <a:cs typeface="Calibri" pitchFamily="34" charset="-120"/>
              </a:rPr>
              <a:t>£1.8m</a:t>
            </a:r>
            <a:endParaRPr lang="en-US" sz="1400" dirty="0"/>
          </a:p>
        </p:txBody>
      </p:sp>
      <p:sp>
        <p:nvSpPr>
          <p:cNvPr id="24" name="Text 22"/>
          <p:cNvSpPr/>
          <p:nvPr/>
        </p:nvSpPr>
        <p:spPr>
          <a:xfrm>
            <a:off x="6419088" y="3758184"/>
            <a:ext cx="1600200" cy="566928"/>
          </a:xfrm>
          <a:prstGeom prst="rect">
            <a:avLst/>
          </a:prstGeom>
          <a:noFill/>
          <a:ln/>
        </p:spPr>
        <p:txBody>
          <a:bodyPr wrap="square" lIns="0" tIns="0" rIns="0" bIns="0" rtlCol="0" anchor="ctr"/>
          <a:lstStyle/>
          <a:p>
            <a:pPr indent="0" marL="0">
              <a:buNone/>
            </a:pPr>
            <a:r>
              <a:rPr lang="en-US" sz="1400" b="1" dirty="0">
                <a:solidFill>
                  <a:srgbClr val="A8443C"/>
                </a:solidFill>
                <a:latin typeface="Calibri" pitchFamily="34" charset="0"/>
                <a:ea typeface="Calibri" pitchFamily="34" charset="-122"/>
                <a:cs typeface="Calibri" pitchFamily="34" charset="-120"/>
              </a:rPr>
              <a:t>2</a:t>
            </a:r>
            <a:endParaRPr lang="en-US" sz="1400" dirty="0"/>
          </a:p>
        </p:txBody>
      </p:sp>
      <p:sp>
        <p:nvSpPr>
          <p:cNvPr id="25" name="Text 23"/>
          <p:cNvSpPr/>
          <p:nvPr/>
        </p:nvSpPr>
        <p:spPr>
          <a:xfrm>
            <a:off x="8156448" y="3758184"/>
            <a:ext cx="2240280" cy="566928"/>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£0.9m</a:t>
            </a:r>
            <a:endParaRPr lang="en-US" sz="1400" dirty="0"/>
          </a:p>
        </p:txBody>
      </p:sp>
      <p:sp>
        <p:nvSpPr>
          <p:cNvPr id="26" name="Text 24"/>
          <p:cNvSpPr/>
          <p:nvPr/>
        </p:nvSpPr>
        <p:spPr>
          <a:xfrm>
            <a:off x="10533888" y="3758184"/>
            <a:ext cx="1097280" cy="566928"/>
          </a:xfrm>
          <a:prstGeom prst="rect">
            <a:avLst/>
          </a:prstGeom>
          <a:noFill/>
          <a:ln/>
        </p:spPr>
        <p:txBody>
          <a:bodyPr wrap="square" lIns="0" tIns="0" rIns="0" bIns="0" rtlCol="0" anchor="ctr"/>
          <a:lstStyle/>
          <a:p>
            <a:pPr indent="0" marL="0">
              <a:buNone/>
            </a:pPr>
            <a:r>
              <a:rPr lang="en-US" sz="1700" b="1" dirty="0">
                <a:solidFill>
                  <a:srgbClr val="8A6D0F"/>
                </a:solidFill>
                <a:latin typeface="Cambria" pitchFamily="34" charset="0"/>
                <a:ea typeface="Cambria" pitchFamily="34" charset="-122"/>
                <a:cs typeface="Cambria" pitchFamily="34" charset="-120"/>
              </a:rPr>
              <a:t>3rd</a:t>
            </a:r>
            <a:endParaRPr lang="en-US" sz="1700" dirty="0"/>
          </a:p>
        </p:txBody>
      </p:sp>
      <p:sp>
        <p:nvSpPr>
          <p:cNvPr id="27" name="Shape 25"/>
          <p:cNvSpPr/>
          <p:nvPr/>
        </p:nvSpPr>
        <p:spPr>
          <a:xfrm>
            <a:off x="566928" y="4617720"/>
            <a:ext cx="11027664" cy="1234440"/>
          </a:xfrm>
          <a:prstGeom prst="roundRect">
            <a:avLst>
              <a:gd name="adj" fmla="val 7407"/>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8" name="Text 26"/>
          <p:cNvSpPr/>
          <p:nvPr/>
        </p:nvSpPr>
        <p:spPr>
          <a:xfrm>
            <a:off x="950976" y="4764024"/>
            <a:ext cx="3657600" cy="292608"/>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Why per slot, not raw NPV</a:t>
            </a:r>
            <a:endParaRPr lang="en-US" sz="1150" dirty="0"/>
          </a:p>
        </p:txBody>
      </p:sp>
      <p:sp>
        <p:nvSpPr>
          <p:cNvPr id="29" name="Text 27"/>
          <p:cNvSpPr/>
          <p:nvPr/>
        </p:nvSpPr>
        <p:spPr>
          <a:xfrm>
            <a:off x="950976" y="5056632"/>
            <a:ext cx="10113264" cy="685800"/>
          </a:xfrm>
          <a:prstGeom prst="rect">
            <a:avLst/>
          </a:prstGeom>
          <a:noFill/>
          <a:ln/>
        </p:spPr>
        <p:txBody>
          <a:bodyPr wrap="square" lIns="0" tIns="0" rIns="0" bIns="0" rtlCol="0" anchor="t"/>
          <a:lstStyle/>
          <a:p>
            <a:pPr indent="0" marL="0">
              <a:lnSpc>
                <a:spcPts val="1800"/>
              </a:lnSpc>
              <a:buNone/>
            </a:pPr>
            <a:r>
              <a:rPr lang="en-US" sz="1300" dirty="0">
                <a:solidFill>
                  <a:srgbClr val="5C4E28"/>
                </a:solidFill>
                <a:latin typeface="Calibri" pitchFamily="34" charset="0"/>
                <a:ea typeface="Calibri" pitchFamily="34" charset="-122"/>
                <a:cs typeface="Calibri" pitchFamily="34" charset="-120"/>
              </a:rPr>
              <a:t>Insurance beats invoice finance on raw NPV (£1.8m vs £1.6m) — and still sorts below it, because it eats both of the cycle's slots. Capacity is the scarce thing; returns are measured against what they consume.</a:t>
            </a:r>
            <a:endParaRPr lang="en-US" sz="1300" dirty="0"/>
          </a:p>
        </p:txBody>
      </p:sp>
      <p:sp>
        <p:nvSpPr>
          <p:cNvPr id="30" name="Text 28"/>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4818F"/>
                </a:solidFill>
                <a:latin typeface="Calibri" pitchFamily="34" charset="0"/>
                <a:ea typeface="Calibri" pitchFamily="34" charset="-122"/>
                <a:cs typeface="Calibri" pitchFamily="34" charset="-120"/>
              </a:rPr>
              <a:t>Risk-adjusted NPV: base earnings per feature, levers applied, discounted for route timing (slide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RETURN SORTS  ·  02</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Configuration lifts the cycle's earnings from £4m to £6.3m</a:t>
            </a:r>
            <a:endParaRPr lang="en-US" sz="2700" dirty="0"/>
          </a:p>
        </p:txBody>
      </p:sp>
      <p:sp>
        <p:nvSpPr>
          <p:cNvPr id="4" name="Text 2"/>
          <p:cNvSpPr/>
          <p:nvPr/>
        </p:nvSpPr>
        <p:spPr>
          <a:xfrm>
            <a:off x="566928" y="1463040"/>
            <a:ext cx="8229600" cy="292608"/>
          </a:xfrm>
          <a:prstGeom prst="rect">
            <a:avLst/>
          </a:prstGeom>
          <a:noFill/>
          <a:ln/>
        </p:spPr>
        <p:txBody>
          <a:bodyPr wrap="square" lIns="0" tIns="0" rIns="0" bIns="0" rtlCol="0" anchor="ctr"/>
          <a:lstStyle/>
          <a:p>
            <a:pPr indent="0" marL="0">
              <a:buNone/>
            </a:pPr>
            <a:r>
              <a:rPr lang="en-US" sz="1200" dirty="0">
                <a:solidFill>
                  <a:srgbClr val="64818F"/>
                </a:solidFill>
                <a:latin typeface="Calibri" pitchFamily="34" charset="0"/>
                <a:ea typeface="Calibri" pitchFamily="34" charset="-122"/>
                <a:cs typeface="Calibri" pitchFamily="34" charset="-120"/>
              </a:rPr>
              <a:t>£m annual earnings, year 3 run-rate, this cycle's two features</a:t>
            </a:r>
            <a:endParaRPr lang="en-US" sz="1200" dirty="0"/>
          </a:p>
        </p:txBody>
      </p:sp>
      <p:sp>
        <p:nvSpPr>
          <p:cNvPr id="5" name="Shape 3"/>
          <p:cNvSpPr/>
          <p:nvPr/>
        </p:nvSpPr>
        <p:spPr>
          <a:xfrm>
            <a:off x="795528" y="3200400"/>
            <a:ext cx="1481328" cy="2011680"/>
          </a:xfrm>
          <a:prstGeom prst="rect">
            <a:avLst/>
          </a:prstGeom>
          <a:solidFill>
            <a:srgbClr val="2F4858"/>
          </a:solidFill>
          <a:ln w="12700">
            <a:solidFill>
              <a:srgbClr val="2F4858"/>
            </a:solidFill>
            <a:prstDash val="solid"/>
          </a:ln>
        </p:spPr>
      </p:sp>
      <p:sp>
        <p:nvSpPr>
          <p:cNvPr id="6" name="Text 4"/>
          <p:cNvSpPr/>
          <p:nvPr/>
        </p:nvSpPr>
        <p:spPr>
          <a:xfrm>
            <a:off x="795528" y="2889504"/>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4.0</a:t>
            </a:r>
            <a:endParaRPr lang="en-US" sz="1200" dirty="0"/>
          </a:p>
        </p:txBody>
      </p:sp>
      <p:sp>
        <p:nvSpPr>
          <p:cNvPr id="7" name="Text 5"/>
          <p:cNvSpPr/>
          <p:nvPr/>
        </p:nvSpPr>
        <p:spPr>
          <a:xfrm>
            <a:off x="722376"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Base case</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(list price,</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no levers)</a:t>
            </a:r>
            <a:endParaRPr lang="en-US" sz="1000" dirty="0"/>
          </a:p>
        </p:txBody>
      </p:sp>
      <p:sp>
        <p:nvSpPr>
          <p:cNvPr id="8" name="Shape 6"/>
          <p:cNvSpPr/>
          <p:nvPr/>
        </p:nvSpPr>
        <p:spPr>
          <a:xfrm>
            <a:off x="2660904" y="2747772"/>
            <a:ext cx="1481328" cy="452628"/>
          </a:xfrm>
          <a:prstGeom prst="rect">
            <a:avLst/>
          </a:prstGeom>
          <a:solidFill>
            <a:srgbClr val="C9A227"/>
          </a:solidFill>
          <a:ln w="12700">
            <a:solidFill>
              <a:srgbClr val="C9A227"/>
            </a:solidFill>
            <a:prstDash val="solid"/>
          </a:ln>
        </p:spPr>
      </p:sp>
      <p:sp>
        <p:nvSpPr>
          <p:cNvPr id="9" name="Text 7"/>
          <p:cNvSpPr/>
          <p:nvPr/>
        </p:nvSpPr>
        <p:spPr>
          <a:xfrm>
            <a:off x="2660904" y="2436876"/>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+0.9</a:t>
            </a:r>
            <a:endParaRPr lang="en-US" sz="1200" dirty="0"/>
          </a:p>
        </p:txBody>
      </p:sp>
      <p:sp>
        <p:nvSpPr>
          <p:cNvPr id="10" name="Text 8"/>
          <p:cNvSpPr/>
          <p:nvPr/>
        </p:nvSpPr>
        <p:spPr>
          <a:xfrm>
            <a:off x="2587752"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Price</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move</a:t>
            </a:r>
            <a:endParaRPr lang="en-US" sz="1000" dirty="0"/>
          </a:p>
        </p:txBody>
      </p:sp>
      <p:sp>
        <p:nvSpPr>
          <p:cNvPr id="11" name="Shape 9"/>
          <p:cNvSpPr/>
          <p:nvPr/>
        </p:nvSpPr>
        <p:spPr>
          <a:xfrm>
            <a:off x="4526280" y="2093976"/>
            <a:ext cx="1481328" cy="653796"/>
          </a:xfrm>
          <a:prstGeom prst="rect">
            <a:avLst/>
          </a:prstGeom>
          <a:solidFill>
            <a:srgbClr val="C9A227"/>
          </a:solidFill>
          <a:ln w="12700">
            <a:solidFill>
              <a:srgbClr val="C9A227"/>
            </a:solidFill>
            <a:prstDash val="solid"/>
          </a:ln>
        </p:spPr>
      </p:sp>
      <p:sp>
        <p:nvSpPr>
          <p:cNvPr id="12" name="Text 10"/>
          <p:cNvSpPr/>
          <p:nvPr/>
        </p:nvSpPr>
        <p:spPr>
          <a:xfrm>
            <a:off x="4526280" y="1783080"/>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+1.3</a:t>
            </a:r>
            <a:endParaRPr lang="en-US" sz="1200" dirty="0"/>
          </a:p>
        </p:txBody>
      </p:sp>
      <p:sp>
        <p:nvSpPr>
          <p:cNvPr id="13" name="Text 11"/>
          <p:cNvSpPr/>
          <p:nvPr/>
        </p:nvSpPr>
        <p:spPr>
          <a:xfrm>
            <a:off x="4453128"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Switch</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incentive</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uptake</a:t>
            </a:r>
            <a:endParaRPr lang="en-US" sz="1000" dirty="0"/>
          </a:p>
        </p:txBody>
      </p:sp>
      <p:sp>
        <p:nvSpPr>
          <p:cNvPr id="14" name="Shape 12"/>
          <p:cNvSpPr/>
          <p:nvPr/>
        </p:nvSpPr>
        <p:spPr>
          <a:xfrm>
            <a:off x="6391656" y="2093976"/>
            <a:ext cx="1481328" cy="352044"/>
          </a:xfrm>
          <a:prstGeom prst="rect">
            <a:avLst/>
          </a:prstGeom>
          <a:solidFill>
            <a:srgbClr val="A8443C"/>
          </a:solidFill>
          <a:ln w="12700">
            <a:solidFill>
              <a:srgbClr val="A8443C"/>
            </a:solidFill>
            <a:prstDash val="solid"/>
          </a:ln>
        </p:spPr>
      </p:sp>
      <p:sp>
        <p:nvSpPr>
          <p:cNvPr id="15" name="Text 13"/>
          <p:cNvSpPr/>
          <p:nvPr/>
        </p:nvSpPr>
        <p:spPr>
          <a:xfrm>
            <a:off x="6391656" y="1783080"/>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-0.7</a:t>
            </a:r>
            <a:endParaRPr lang="en-US" sz="1200" dirty="0"/>
          </a:p>
        </p:txBody>
      </p:sp>
      <p:sp>
        <p:nvSpPr>
          <p:cNvPr id="16" name="Text 14"/>
          <p:cNvSpPr/>
          <p:nvPr/>
        </p:nvSpPr>
        <p:spPr>
          <a:xfrm>
            <a:off x="6318504"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Incentive</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cost</a:t>
            </a:r>
            <a:endParaRPr lang="en-US" sz="1000" dirty="0"/>
          </a:p>
        </p:txBody>
      </p:sp>
      <p:sp>
        <p:nvSpPr>
          <p:cNvPr id="17" name="Shape 15"/>
          <p:cNvSpPr/>
          <p:nvPr/>
        </p:nvSpPr>
        <p:spPr>
          <a:xfrm>
            <a:off x="8257032" y="2043684"/>
            <a:ext cx="1481328" cy="402336"/>
          </a:xfrm>
          <a:prstGeom prst="rect">
            <a:avLst/>
          </a:prstGeom>
          <a:solidFill>
            <a:srgbClr val="C9A227"/>
          </a:solidFill>
          <a:ln w="12700">
            <a:solidFill>
              <a:srgbClr val="C9A227"/>
            </a:solidFill>
            <a:prstDash val="solid"/>
          </a:ln>
        </p:spPr>
      </p:sp>
      <p:sp>
        <p:nvSpPr>
          <p:cNvPr id="18" name="Text 16"/>
          <p:cNvSpPr/>
          <p:nvPr/>
        </p:nvSpPr>
        <p:spPr>
          <a:xfrm>
            <a:off x="8257032" y="1732788"/>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+0.8</a:t>
            </a:r>
            <a:endParaRPr lang="en-US" sz="1200" dirty="0"/>
          </a:p>
        </p:txBody>
      </p:sp>
      <p:sp>
        <p:nvSpPr>
          <p:cNvPr id="19" name="Text 17"/>
          <p:cNvSpPr/>
          <p:nvPr/>
        </p:nvSpPr>
        <p:spPr>
          <a:xfrm>
            <a:off x="8183880"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'Trade Ready'</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recall</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uplift</a:t>
            </a:r>
            <a:endParaRPr lang="en-US" sz="1000" dirty="0"/>
          </a:p>
        </p:txBody>
      </p:sp>
      <p:sp>
        <p:nvSpPr>
          <p:cNvPr id="20" name="Shape 18"/>
          <p:cNvSpPr/>
          <p:nvPr/>
        </p:nvSpPr>
        <p:spPr>
          <a:xfrm>
            <a:off x="10122408" y="2043684"/>
            <a:ext cx="1481328" cy="3168396"/>
          </a:xfrm>
          <a:prstGeom prst="rect">
            <a:avLst/>
          </a:prstGeom>
          <a:solidFill>
            <a:srgbClr val="2F4858"/>
          </a:solidFill>
          <a:ln w="12700">
            <a:solidFill>
              <a:srgbClr val="2F4858"/>
            </a:solidFill>
            <a:prstDash val="solid"/>
          </a:ln>
        </p:spPr>
      </p:sp>
      <p:sp>
        <p:nvSpPr>
          <p:cNvPr id="21" name="Text 19"/>
          <p:cNvSpPr/>
          <p:nvPr/>
        </p:nvSpPr>
        <p:spPr>
          <a:xfrm>
            <a:off x="10122408" y="1732788"/>
            <a:ext cx="1481328" cy="274320"/>
          </a:xfrm>
          <a:prstGeom prst="rect">
            <a:avLst/>
          </a:prstGeom>
          <a:noFill/>
          <a:ln/>
        </p:spPr>
        <p:txBody>
          <a:bodyPr wrap="square" lIns="0" tIns="0" rIns="0" bIns="0" rtlCol="0" anchor="ctr"/>
          <a:lstStyle/>
          <a:p>
            <a:pPr algn="ctr" indent="0" marL="0">
              <a:buNone/>
            </a:pPr>
            <a:r>
              <a:rPr lang="en-US" sz="1200" b="1" dirty="0">
                <a:solidFill>
                  <a:srgbClr val="1F2A31"/>
                </a:solidFill>
                <a:latin typeface="Calibri" pitchFamily="34" charset="0"/>
                <a:ea typeface="Calibri" pitchFamily="34" charset="-122"/>
                <a:cs typeface="Calibri" pitchFamily="34" charset="-120"/>
              </a:rPr>
              <a:t>6.3</a:t>
            </a:r>
            <a:endParaRPr lang="en-US" sz="1200" dirty="0"/>
          </a:p>
        </p:txBody>
      </p:sp>
      <p:sp>
        <p:nvSpPr>
          <p:cNvPr id="22" name="Text 20"/>
          <p:cNvSpPr/>
          <p:nvPr/>
        </p:nvSpPr>
        <p:spPr>
          <a:xfrm>
            <a:off x="10049256"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Configured</a:t>
            </a:r>
            <a:endParaRPr lang="en-US" sz="1000" dirty="0"/>
          </a:p>
          <a:p>
            <a:pPr algn="ctr" indent="0" marL="0">
              <a:lnSpc>
                <a:spcPts val="1200"/>
              </a:lnSpc>
              <a:buNone/>
            </a:pPr>
            <a:r>
              <a:rPr lang="en-US" sz="1000" dirty="0">
                <a:solidFill>
                  <a:srgbClr val="3F5563"/>
                </a:solidFill>
                <a:latin typeface="Calibri" pitchFamily="34" charset="0"/>
                <a:ea typeface="Calibri" pitchFamily="34" charset="-122"/>
                <a:cs typeface="Calibri" pitchFamily="34" charset="-120"/>
              </a:rPr>
              <a:t>case</a:t>
            </a:r>
            <a:endParaRPr lang="en-US" sz="1000" dirty="0"/>
          </a:p>
        </p:txBody>
      </p:sp>
      <p:sp>
        <p:nvSpPr>
          <p:cNvPr id="23" name="Text 21"/>
          <p:cNvSpPr/>
          <p:nvPr/>
        </p:nvSpPr>
        <p:spPr>
          <a:xfrm>
            <a:off x="566928" y="5779008"/>
            <a:ext cx="11027664" cy="384048"/>
          </a:xfrm>
          <a:prstGeom prst="rect">
            <a:avLst/>
          </a:prstGeom>
          <a:noFill/>
          <a:ln/>
        </p:spPr>
        <p:txBody>
          <a:bodyPr wrap="square" lIns="0" tIns="0" rIns="0" bIns="0" rtlCol="0" anchor="ctr"/>
          <a:lstStyle/>
          <a:p>
            <a:pPr indent="0" marL="0">
              <a:buNone/>
            </a:pPr>
            <a:r>
              <a:rPr lang="en-US" sz="1300" i="1" dirty="0">
                <a:solidFill>
                  <a:srgbClr val="64818F"/>
                </a:solidFill>
                <a:latin typeface="Calibri" pitchFamily="34" charset="0"/>
                <a:ea typeface="Calibri" pitchFamily="34" charset="-122"/>
                <a:cs typeface="Calibri" pitchFamily="34" charset="-120"/>
              </a:rPr>
              <a:t>The switch incentive does most of the lever work (+1.3) and costs half of it back (−0.7). The wrapper's recall uplift is the smallest add — and the only one that also serves every future feature.</a:t>
            </a:r>
            <a:endParaRPr lang="en-US" sz="1300" dirty="0"/>
          </a:p>
        </p:txBody>
      </p:sp>
      <p:sp>
        <p:nvSpPr>
          <p:cNvPr id="24" name="Text 22"/>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4818F"/>
                </a:solidFill>
                <a:latin typeface="Calibri" pitchFamily="34" charset="0"/>
                <a:ea typeface="Calibri" pitchFamily="34" charset="-122"/>
                <a:cs typeface="Calibri" pitchFamily="34" charset="-120"/>
              </a:rPr>
              <a:t>Source: pricing model v3. Incentive cost is gross, before clawback terms.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RETURN SORTS  ·  02</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Incentives are spent only where a free default cannot work</a:t>
            </a:r>
            <a:endParaRPr lang="en-US" sz="2700" dirty="0"/>
          </a:p>
        </p:txBody>
      </p:sp>
      <p:sp>
        <p:nvSpPr>
          <p:cNvPr id="4" name="Shape 2"/>
          <p:cNvSpPr/>
          <p:nvPr/>
        </p:nvSpPr>
        <p:spPr>
          <a:xfrm>
            <a:off x="566928" y="1645920"/>
            <a:ext cx="11027664" cy="1170432"/>
          </a:xfrm>
          <a:prstGeom prst="roundRect">
            <a:avLst>
              <a:gd name="adj" fmla="val 7813"/>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828800"/>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2F4858"/>
                </a:solidFill>
                <a:latin typeface="Calibri" pitchFamily="34" charset="0"/>
                <a:ea typeface="Calibri" pitchFamily="34" charset="-122"/>
                <a:cs typeface="Calibri" pitchFamily="34" charset="-120"/>
              </a:rPr>
              <a:t>Defaults beat persuasion</a:t>
            </a:r>
            <a:endParaRPr lang="en-US" sz="1500" dirty="0"/>
          </a:p>
        </p:txBody>
      </p:sp>
      <p:sp>
        <p:nvSpPr>
          <p:cNvPr id="6" name="Text 4"/>
          <p:cNvSpPr/>
          <p:nvPr/>
        </p:nvSpPr>
        <p:spPr>
          <a:xfrm>
            <a:off x="5138928" y="1828800"/>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Calibri" pitchFamily="34" charset="0"/>
                <a:ea typeface="Calibri" pitchFamily="34" charset="-122"/>
                <a:cs typeface="Calibri" pitchFamily="34" charset="-120"/>
              </a:rPr>
              <a:t>FX is switched on for every exporting customer at onboarding — no incentive. Regulator trials and our own tests show pre-set options beat paid persuasion.</a:t>
            </a:r>
            <a:endParaRPr lang="en-US" sz="1300" dirty="0"/>
          </a:p>
        </p:txBody>
      </p:sp>
      <p:sp>
        <p:nvSpPr>
          <p:cNvPr id="7" name="Shape 5"/>
          <p:cNvSpPr/>
          <p:nvPr/>
        </p:nvSpPr>
        <p:spPr>
          <a:xfrm>
            <a:off x="566928" y="2980944"/>
            <a:ext cx="11027664" cy="1170432"/>
          </a:xfrm>
          <a:prstGeom prst="roundRect">
            <a:avLst>
              <a:gd name="adj" fmla="val 7813"/>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3163824"/>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2F4858"/>
                </a:solidFill>
                <a:latin typeface="Calibri" pitchFamily="34" charset="0"/>
                <a:ea typeface="Calibri" pitchFamily="34" charset="-122"/>
                <a:cs typeface="Calibri" pitchFamily="34" charset="-120"/>
              </a:rPr>
              <a:t>Incentives buy selection, not behaviour</a:t>
            </a:r>
            <a:endParaRPr lang="en-US" sz="1500" dirty="0"/>
          </a:p>
        </p:txBody>
      </p:sp>
      <p:sp>
        <p:nvSpPr>
          <p:cNvPr id="9" name="Text 7"/>
          <p:cNvSpPr/>
          <p:nvPr/>
        </p:nvSpPr>
        <p:spPr>
          <a:xfrm>
            <a:off x="5138928" y="3163824"/>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Calibri" pitchFamily="34" charset="0"/>
                <a:ea typeface="Calibri" pitchFamily="34" charset="-122"/>
                <a:cs typeface="Calibri" pitchFamily="34" charset="-120"/>
              </a:rPr>
              <a:t>Around a third of incentive redeemers would have acted anyway — the dead-weight share, estimated from our last two campaigns. It is priced into the −0.7.</a:t>
            </a:r>
            <a:endParaRPr lang="en-US" sz="1300" dirty="0"/>
          </a:p>
        </p:txBody>
      </p:sp>
      <p:sp>
        <p:nvSpPr>
          <p:cNvPr id="10" name="Shape 8"/>
          <p:cNvSpPr/>
          <p:nvPr/>
        </p:nvSpPr>
        <p:spPr>
          <a:xfrm>
            <a:off x="566928" y="4315968"/>
            <a:ext cx="11027664" cy="1170432"/>
          </a:xfrm>
          <a:prstGeom prst="roundRect">
            <a:avLst>
              <a:gd name="adj" fmla="val 7813"/>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4498848"/>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2F4858"/>
                </a:solidFill>
                <a:latin typeface="Calibri" pitchFamily="34" charset="0"/>
                <a:ea typeface="Calibri" pitchFamily="34" charset="-122"/>
                <a:cs typeface="Calibri" pitchFamily="34" charset="-120"/>
              </a:rPr>
              <a:t>Where incentives DO pay</a:t>
            </a:r>
            <a:endParaRPr lang="en-US" sz="1500" dirty="0"/>
          </a:p>
        </p:txBody>
      </p:sp>
      <p:sp>
        <p:nvSpPr>
          <p:cNvPr id="12" name="Text 10"/>
          <p:cNvSpPr/>
          <p:nvPr/>
        </p:nvSpPr>
        <p:spPr>
          <a:xfrm>
            <a:off x="5138928" y="4498848"/>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Calibri" pitchFamily="34" charset="0"/>
                <a:ea typeface="Calibri" pitchFamily="34" charset="-122"/>
                <a:cs typeface="Calibri" pitchFamily="34" charset="-120"/>
              </a:rPr>
              <a:t>The switching moment. Invoice finance targets exporters leaving a factoring provider — a real cost to move, a one-off payment to cover it, capped and clawed back.</a:t>
            </a:r>
            <a:endParaRPr lang="en-US" sz="1300" dirty="0"/>
          </a:p>
        </p:txBody>
      </p:sp>
      <p:sp>
        <p:nvSpPr>
          <p:cNvPr id="13" name="Text 11"/>
          <p:cNvSpPr/>
          <p:nvPr/>
        </p:nvSpPr>
        <p:spPr>
          <a:xfrm>
            <a:off x="566928" y="5779008"/>
            <a:ext cx="11027664" cy="502920"/>
          </a:xfrm>
          <a:prstGeom prst="rect">
            <a:avLst/>
          </a:prstGeom>
          <a:noFill/>
          <a:ln/>
        </p:spPr>
        <p:txBody>
          <a:bodyPr wrap="square" lIns="0" tIns="0" rIns="0" bIns="0" rtlCol="0" anchor="ctr"/>
          <a:lstStyle/>
          <a:p>
            <a:pPr indent="0" marL="0">
              <a:buNone/>
            </a:pPr>
            <a:r>
              <a:rPr lang="en-US" sz="1350" i="1" dirty="0">
                <a:solidFill>
                  <a:srgbClr val="64818F"/>
                </a:solidFill>
                <a:latin typeface="Calibri" pitchFamily="34" charset="0"/>
                <a:ea typeface="Calibri" pitchFamily="34" charset="-122"/>
                <a:cs typeface="Calibri" pitchFamily="34" charset="-120"/>
              </a:rPr>
              <a:t>The test for every pound of incentive: would the behaviour happen anyway, and could a default do it free? Spend survives only if the answer is no, twice.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RETURN SORTS  ·  02</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Returns are discounted for each route's timing — the partner route is what puts invoice finance second</a:t>
            </a:r>
            <a:endParaRPr lang="en-US" sz="2700" dirty="0"/>
          </a:p>
        </p:txBody>
      </p:sp>
      <p:sp>
        <p:nvSpPr>
          <p:cNvPr id="4" name="Text 2"/>
          <p:cNvSpPr/>
          <p:nvPr/>
        </p:nvSpPr>
        <p:spPr>
          <a:xfrm>
            <a:off x="56692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Feature · route</a:t>
            </a:r>
            <a:endParaRPr lang="en-US" sz="1100" dirty="0"/>
          </a:p>
        </p:txBody>
      </p:sp>
      <p:sp>
        <p:nvSpPr>
          <p:cNvPr id="5" name="Text 3"/>
          <p:cNvSpPr/>
          <p:nvPr/>
        </p:nvSpPr>
        <p:spPr>
          <a:xfrm>
            <a:off x="385876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Configured NPV</a:t>
            </a:r>
            <a:endParaRPr lang="en-US" sz="1100" dirty="0"/>
          </a:p>
        </p:txBody>
      </p:sp>
      <p:sp>
        <p:nvSpPr>
          <p:cNvPr id="6" name="Text 4"/>
          <p:cNvSpPr/>
          <p:nvPr/>
        </p:nvSpPr>
        <p:spPr>
          <a:xfrm>
            <a:off x="596188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Time to launch</a:t>
            </a:r>
            <a:endParaRPr lang="en-US" sz="1100" dirty="0"/>
          </a:p>
        </p:txBody>
      </p:sp>
      <p:sp>
        <p:nvSpPr>
          <p:cNvPr id="7" name="Text 5"/>
          <p:cNvSpPr/>
          <p:nvPr/>
        </p:nvSpPr>
        <p:spPr>
          <a:xfrm>
            <a:off x="760780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Confidence</a:t>
            </a:r>
            <a:endParaRPr lang="en-US" sz="1100" dirty="0"/>
          </a:p>
        </p:txBody>
      </p:sp>
      <p:sp>
        <p:nvSpPr>
          <p:cNvPr id="8" name="Text 6"/>
          <p:cNvSpPr/>
          <p:nvPr/>
        </p:nvSpPr>
        <p:spPr>
          <a:xfrm>
            <a:off x="907084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Risk-adjusted NPV</a:t>
            </a:r>
            <a:endParaRPr lang="en-US" sz="1100" dirty="0"/>
          </a:p>
        </p:txBody>
      </p:sp>
      <p:sp>
        <p:nvSpPr>
          <p:cNvPr id="9" name="Text 7"/>
          <p:cNvSpPr/>
          <p:nvPr/>
        </p:nvSpPr>
        <p:spPr>
          <a:xfrm>
            <a:off x="11173968" y="1965960"/>
            <a:ext cx="2011680" cy="365760"/>
          </a:xfrm>
          <a:prstGeom prst="rect">
            <a:avLst/>
          </a:prstGeom>
          <a:noFill/>
          <a:ln/>
        </p:spPr>
        <p:txBody>
          <a:bodyPr wrap="square" lIns="0" tIns="0" rIns="0" bIns="0" rtlCol="0" anchor="b"/>
          <a:lstStyle/>
          <a:p>
            <a:pPr indent="0" marL="0">
              <a:buNone/>
            </a:pPr>
            <a:r>
              <a:rPr lang="en-US" sz="1100" b="1" dirty="0">
                <a:solidFill>
                  <a:srgbClr val="2F4858"/>
                </a:solidFill>
                <a:latin typeface="Calibri" pitchFamily="34" charset="0"/>
                <a:ea typeface="Calibri" pitchFamily="34" charset="-122"/>
                <a:cs typeface="Calibri" pitchFamily="34" charset="-120"/>
              </a:rPr>
              <a:t>Vs hurdle</a:t>
            </a:r>
            <a:endParaRPr lang="en-US" sz="1100" dirty="0"/>
          </a:p>
        </p:txBody>
      </p:sp>
      <p:sp>
        <p:nvSpPr>
          <p:cNvPr id="10" name="Shape 8"/>
          <p:cNvSpPr/>
          <p:nvPr/>
        </p:nvSpPr>
        <p:spPr>
          <a:xfrm>
            <a:off x="566928" y="2404872"/>
            <a:ext cx="11027664" cy="0"/>
          </a:xfrm>
          <a:prstGeom prst="line">
            <a:avLst/>
          </a:prstGeom>
          <a:noFill/>
          <a:ln w="19050">
            <a:solidFill>
              <a:srgbClr val="2F4858"/>
            </a:solidFill>
            <a:prstDash val="solid"/>
          </a:ln>
        </p:spPr>
      </p:sp>
      <p:sp>
        <p:nvSpPr>
          <p:cNvPr id="11" name="Shape 9"/>
          <p:cNvSpPr/>
          <p:nvPr/>
        </p:nvSpPr>
        <p:spPr>
          <a:xfrm>
            <a:off x="566928" y="2505456"/>
            <a:ext cx="11027664" cy="658368"/>
          </a:xfrm>
          <a:prstGeom prst="rect">
            <a:avLst/>
          </a:prstGeom>
          <a:solidFill>
            <a:srgbClr val="F5F8FA"/>
          </a:solidFill>
          <a:ln w="12700">
            <a:solidFill>
              <a:srgbClr val="F5F8FA"/>
            </a:solidFill>
            <a:prstDash val="solid"/>
          </a:ln>
        </p:spPr>
      </p:sp>
      <p:sp>
        <p:nvSpPr>
          <p:cNvPr id="12" name="Text 10"/>
          <p:cNvSpPr/>
          <p:nvPr/>
        </p:nvSpPr>
        <p:spPr>
          <a:xfrm>
            <a:off x="566928" y="2551176"/>
            <a:ext cx="3108960" cy="566928"/>
          </a:xfrm>
          <a:prstGeom prst="rect">
            <a:avLst/>
          </a:prstGeom>
          <a:noFill/>
          <a:ln/>
        </p:spPr>
        <p:txBody>
          <a:bodyPr wrap="square" lIns="0" tIns="0" rIns="0" bIns="0" rtlCol="0" anchor="ctr"/>
          <a:lstStyle/>
          <a:p>
            <a:pPr indent="0" marL="0">
              <a:buNone/>
            </a:pPr>
            <a:r>
              <a:rPr lang="en-US" sz="1300" b="1" dirty="0">
                <a:solidFill>
                  <a:srgbClr val="1F2A31"/>
                </a:solidFill>
                <a:latin typeface="Calibri" pitchFamily="34" charset="0"/>
                <a:ea typeface="Calibri" pitchFamily="34" charset="-122"/>
                <a:cs typeface="Calibri" pitchFamily="34" charset="-120"/>
              </a:rPr>
              <a:t>FX — build</a:t>
            </a:r>
            <a:endParaRPr lang="en-US" sz="1300" dirty="0"/>
          </a:p>
        </p:txBody>
      </p:sp>
      <p:sp>
        <p:nvSpPr>
          <p:cNvPr id="13" name="Text 11"/>
          <p:cNvSpPr/>
          <p:nvPr/>
        </p:nvSpPr>
        <p:spPr>
          <a:xfrm>
            <a:off x="3858768" y="2551176"/>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£2.4m</a:t>
            </a:r>
            <a:endParaRPr lang="en-US" sz="1300" dirty="0"/>
          </a:p>
        </p:txBody>
      </p:sp>
      <p:sp>
        <p:nvSpPr>
          <p:cNvPr id="14" name="Text 12"/>
          <p:cNvSpPr/>
          <p:nvPr/>
        </p:nvSpPr>
        <p:spPr>
          <a:xfrm>
            <a:off x="5961888" y="2551176"/>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9 mths ±1</a:t>
            </a:r>
            <a:endParaRPr lang="en-US" sz="1300" dirty="0"/>
          </a:p>
        </p:txBody>
      </p:sp>
      <p:sp>
        <p:nvSpPr>
          <p:cNvPr id="15" name="Shape 13"/>
          <p:cNvSpPr/>
          <p:nvPr/>
        </p:nvSpPr>
        <p:spPr>
          <a:xfrm>
            <a:off x="7607808" y="2697480"/>
            <a:ext cx="841248" cy="274320"/>
          </a:xfrm>
          <a:prstGeom prst="roundRect">
            <a:avLst>
              <a:gd name="adj" fmla="val 50000"/>
            </a:avLst>
          </a:prstGeom>
          <a:solidFill>
            <a:srgbClr val="2F6B4F"/>
          </a:solidFill>
          <a:ln w="12700">
            <a:solidFill>
              <a:srgbClr val="2F6B4F"/>
            </a:solidFill>
            <a:prstDash val="solid"/>
          </a:ln>
        </p:spPr>
      </p:sp>
      <p:sp>
        <p:nvSpPr>
          <p:cNvPr id="16" name="Text 14"/>
          <p:cNvSpPr/>
          <p:nvPr/>
        </p:nvSpPr>
        <p:spPr>
          <a:xfrm>
            <a:off x="7607808" y="2697480"/>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HIGH</a:t>
            </a:r>
            <a:endParaRPr lang="en-US" sz="1000" dirty="0"/>
          </a:p>
        </p:txBody>
      </p:sp>
      <p:sp>
        <p:nvSpPr>
          <p:cNvPr id="17" name="Text 15"/>
          <p:cNvSpPr/>
          <p:nvPr/>
        </p:nvSpPr>
        <p:spPr>
          <a:xfrm>
            <a:off x="9070848" y="2551176"/>
            <a:ext cx="1920240" cy="566928"/>
          </a:xfrm>
          <a:prstGeom prst="rect">
            <a:avLst/>
          </a:prstGeom>
          <a:noFill/>
          <a:ln/>
        </p:spPr>
        <p:txBody>
          <a:bodyPr wrap="square" lIns="0" tIns="0" rIns="0" bIns="0" rtlCol="0" anchor="ctr"/>
          <a:lstStyle/>
          <a:p>
            <a:pPr indent="0" marL="0">
              <a:buNone/>
            </a:pPr>
            <a:r>
              <a:rPr lang="en-US" sz="1300" b="1" dirty="0">
                <a:solidFill>
                  <a:srgbClr val="2F4858"/>
                </a:solidFill>
                <a:latin typeface="Calibri" pitchFamily="34" charset="0"/>
                <a:ea typeface="Calibri" pitchFamily="34" charset="-122"/>
                <a:cs typeface="Calibri" pitchFamily="34" charset="-120"/>
              </a:rPr>
              <a:t>£2.1m</a:t>
            </a:r>
            <a:endParaRPr lang="en-US" sz="1300" dirty="0"/>
          </a:p>
        </p:txBody>
      </p:sp>
      <p:sp>
        <p:nvSpPr>
          <p:cNvPr id="18" name="Shape 16"/>
          <p:cNvSpPr/>
          <p:nvPr/>
        </p:nvSpPr>
        <p:spPr>
          <a:xfrm>
            <a:off x="11173968" y="2697480"/>
            <a:ext cx="841248" cy="274320"/>
          </a:xfrm>
          <a:prstGeom prst="roundRect">
            <a:avLst>
              <a:gd name="adj" fmla="val 50000"/>
            </a:avLst>
          </a:prstGeom>
          <a:solidFill>
            <a:srgbClr val="2F6B4F"/>
          </a:solidFill>
          <a:ln w="12700">
            <a:solidFill>
              <a:srgbClr val="2F6B4F"/>
            </a:solidFill>
            <a:prstDash val="solid"/>
          </a:ln>
        </p:spPr>
      </p:sp>
      <p:sp>
        <p:nvSpPr>
          <p:cNvPr id="19" name="Text 17"/>
          <p:cNvSpPr/>
          <p:nvPr/>
        </p:nvSpPr>
        <p:spPr>
          <a:xfrm>
            <a:off x="11173968" y="2697480"/>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PASS</a:t>
            </a:r>
            <a:endParaRPr lang="en-US" sz="1000" dirty="0"/>
          </a:p>
        </p:txBody>
      </p:sp>
      <p:sp>
        <p:nvSpPr>
          <p:cNvPr id="20" name="Text 18"/>
          <p:cNvSpPr/>
          <p:nvPr/>
        </p:nvSpPr>
        <p:spPr>
          <a:xfrm>
            <a:off x="566928" y="3246120"/>
            <a:ext cx="3108960" cy="566928"/>
          </a:xfrm>
          <a:prstGeom prst="rect">
            <a:avLst/>
          </a:prstGeom>
          <a:noFill/>
          <a:ln/>
        </p:spPr>
        <p:txBody>
          <a:bodyPr wrap="square" lIns="0" tIns="0" rIns="0" bIns="0" rtlCol="0" anchor="ctr"/>
          <a:lstStyle/>
          <a:p>
            <a:pPr indent="0" marL="0">
              <a:buNone/>
            </a:pPr>
            <a:r>
              <a:rPr lang="en-US" sz="1300" b="1" dirty="0">
                <a:solidFill>
                  <a:srgbClr val="1F2A31"/>
                </a:solidFill>
                <a:latin typeface="Calibri" pitchFamily="34" charset="0"/>
                <a:ea typeface="Calibri" pitchFamily="34" charset="-122"/>
                <a:cs typeface="Calibri" pitchFamily="34" charset="-120"/>
              </a:rPr>
              <a:t>Invoice finance — partner</a:t>
            </a:r>
            <a:endParaRPr lang="en-US" sz="1300" dirty="0"/>
          </a:p>
        </p:txBody>
      </p:sp>
      <p:sp>
        <p:nvSpPr>
          <p:cNvPr id="21" name="Text 19"/>
          <p:cNvSpPr/>
          <p:nvPr/>
        </p:nvSpPr>
        <p:spPr>
          <a:xfrm>
            <a:off x="3858768" y="3246120"/>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£1.9m</a:t>
            </a:r>
            <a:endParaRPr lang="en-US" sz="1300" dirty="0"/>
          </a:p>
        </p:txBody>
      </p:sp>
      <p:sp>
        <p:nvSpPr>
          <p:cNvPr id="22" name="Text 20"/>
          <p:cNvSpPr/>
          <p:nvPr/>
        </p:nvSpPr>
        <p:spPr>
          <a:xfrm>
            <a:off x="5961888" y="3246120"/>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5 mths ±1</a:t>
            </a:r>
            <a:endParaRPr lang="en-US" sz="1300" dirty="0"/>
          </a:p>
        </p:txBody>
      </p:sp>
      <p:sp>
        <p:nvSpPr>
          <p:cNvPr id="23" name="Shape 21"/>
          <p:cNvSpPr/>
          <p:nvPr/>
        </p:nvSpPr>
        <p:spPr>
          <a:xfrm>
            <a:off x="7607808" y="3392424"/>
            <a:ext cx="841248" cy="274320"/>
          </a:xfrm>
          <a:prstGeom prst="roundRect">
            <a:avLst>
              <a:gd name="adj" fmla="val 50000"/>
            </a:avLst>
          </a:prstGeom>
          <a:solidFill>
            <a:srgbClr val="2F6B4F"/>
          </a:solidFill>
          <a:ln w="12700">
            <a:solidFill>
              <a:srgbClr val="2F6B4F"/>
            </a:solidFill>
            <a:prstDash val="solid"/>
          </a:ln>
        </p:spPr>
      </p:sp>
      <p:sp>
        <p:nvSpPr>
          <p:cNvPr id="24" name="Text 22"/>
          <p:cNvSpPr/>
          <p:nvPr/>
        </p:nvSpPr>
        <p:spPr>
          <a:xfrm>
            <a:off x="7607808" y="3392424"/>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HIGH</a:t>
            </a:r>
            <a:endParaRPr lang="en-US" sz="1000" dirty="0"/>
          </a:p>
        </p:txBody>
      </p:sp>
      <p:sp>
        <p:nvSpPr>
          <p:cNvPr id="25" name="Text 23"/>
          <p:cNvSpPr/>
          <p:nvPr/>
        </p:nvSpPr>
        <p:spPr>
          <a:xfrm>
            <a:off x="9070848" y="3246120"/>
            <a:ext cx="1920240" cy="566928"/>
          </a:xfrm>
          <a:prstGeom prst="rect">
            <a:avLst/>
          </a:prstGeom>
          <a:noFill/>
          <a:ln/>
        </p:spPr>
        <p:txBody>
          <a:bodyPr wrap="square" lIns="0" tIns="0" rIns="0" bIns="0" rtlCol="0" anchor="ctr"/>
          <a:lstStyle/>
          <a:p>
            <a:pPr indent="0" marL="0">
              <a:buNone/>
            </a:pPr>
            <a:r>
              <a:rPr lang="en-US" sz="1300" b="1" dirty="0">
                <a:solidFill>
                  <a:srgbClr val="2F4858"/>
                </a:solidFill>
                <a:latin typeface="Calibri" pitchFamily="34" charset="0"/>
                <a:ea typeface="Calibri" pitchFamily="34" charset="-122"/>
                <a:cs typeface="Calibri" pitchFamily="34" charset="-120"/>
              </a:rPr>
              <a:t>£1.6m</a:t>
            </a:r>
            <a:endParaRPr lang="en-US" sz="1300" dirty="0"/>
          </a:p>
        </p:txBody>
      </p:sp>
      <p:sp>
        <p:nvSpPr>
          <p:cNvPr id="26" name="Shape 24"/>
          <p:cNvSpPr/>
          <p:nvPr/>
        </p:nvSpPr>
        <p:spPr>
          <a:xfrm>
            <a:off x="11173968" y="3392424"/>
            <a:ext cx="841248" cy="274320"/>
          </a:xfrm>
          <a:prstGeom prst="roundRect">
            <a:avLst>
              <a:gd name="adj" fmla="val 50000"/>
            </a:avLst>
          </a:prstGeom>
          <a:solidFill>
            <a:srgbClr val="2F6B4F"/>
          </a:solidFill>
          <a:ln w="12700">
            <a:solidFill>
              <a:srgbClr val="2F6B4F"/>
            </a:solidFill>
            <a:prstDash val="solid"/>
          </a:ln>
        </p:spPr>
      </p:sp>
      <p:sp>
        <p:nvSpPr>
          <p:cNvPr id="27" name="Text 25"/>
          <p:cNvSpPr/>
          <p:nvPr/>
        </p:nvSpPr>
        <p:spPr>
          <a:xfrm>
            <a:off x="11173968" y="3392424"/>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PASS</a:t>
            </a:r>
            <a:endParaRPr lang="en-US" sz="1000" dirty="0"/>
          </a:p>
        </p:txBody>
      </p:sp>
      <p:sp>
        <p:nvSpPr>
          <p:cNvPr id="28" name="Shape 26"/>
          <p:cNvSpPr/>
          <p:nvPr/>
        </p:nvSpPr>
        <p:spPr>
          <a:xfrm>
            <a:off x="566928" y="3895344"/>
            <a:ext cx="11027664" cy="658368"/>
          </a:xfrm>
          <a:prstGeom prst="rect">
            <a:avLst/>
          </a:prstGeom>
          <a:solidFill>
            <a:srgbClr val="F5F8FA"/>
          </a:solidFill>
          <a:ln w="12700">
            <a:solidFill>
              <a:srgbClr val="F5F8FA"/>
            </a:solidFill>
            <a:prstDash val="solid"/>
          </a:ln>
        </p:spPr>
      </p:sp>
      <p:sp>
        <p:nvSpPr>
          <p:cNvPr id="29" name="Text 27"/>
          <p:cNvSpPr/>
          <p:nvPr/>
        </p:nvSpPr>
        <p:spPr>
          <a:xfrm>
            <a:off x="566928" y="3941064"/>
            <a:ext cx="3108960" cy="566928"/>
          </a:xfrm>
          <a:prstGeom prst="rect">
            <a:avLst/>
          </a:prstGeom>
          <a:noFill/>
          <a:ln/>
        </p:spPr>
        <p:txBody>
          <a:bodyPr wrap="square" lIns="0" tIns="0" rIns="0" bIns="0" rtlCol="0" anchor="ctr"/>
          <a:lstStyle/>
          <a:p>
            <a:pPr indent="0" marL="0">
              <a:buNone/>
            </a:pPr>
            <a:r>
              <a:rPr lang="en-US" sz="1300" dirty="0">
                <a:solidFill>
                  <a:srgbClr val="64818F"/>
                </a:solidFill>
                <a:latin typeface="Calibri" pitchFamily="34" charset="0"/>
                <a:ea typeface="Calibri" pitchFamily="34" charset="-122"/>
                <a:cs typeface="Calibri" pitchFamily="34" charset="-120"/>
              </a:rPr>
              <a:t>Invoice finance — if built</a:t>
            </a:r>
            <a:endParaRPr lang="en-US" sz="1300" dirty="0"/>
          </a:p>
        </p:txBody>
      </p:sp>
      <p:sp>
        <p:nvSpPr>
          <p:cNvPr id="30" name="Text 28"/>
          <p:cNvSpPr/>
          <p:nvPr/>
        </p:nvSpPr>
        <p:spPr>
          <a:xfrm>
            <a:off x="3858768" y="3941064"/>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£1.9m</a:t>
            </a:r>
            <a:endParaRPr lang="en-US" sz="1300" dirty="0"/>
          </a:p>
        </p:txBody>
      </p:sp>
      <p:sp>
        <p:nvSpPr>
          <p:cNvPr id="31" name="Text 29"/>
          <p:cNvSpPr/>
          <p:nvPr/>
        </p:nvSpPr>
        <p:spPr>
          <a:xfrm>
            <a:off x="5961888" y="3941064"/>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Calibri" pitchFamily="34" charset="0"/>
                <a:ea typeface="Calibri" pitchFamily="34" charset="-122"/>
                <a:cs typeface="Calibri" pitchFamily="34" charset="-120"/>
              </a:rPr>
              <a:t>18 mths ±4</a:t>
            </a:r>
            <a:endParaRPr lang="en-US" sz="1300" dirty="0"/>
          </a:p>
        </p:txBody>
      </p:sp>
      <p:sp>
        <p:nvSpPr>
          <p:cNvPr id="32" name="Shape 30"/>
          <p:cNvSpPr/>
          <p:nvPr/>
        </p:nvSpPr>
        <p:spPr>
          <a:xfrm>
            <a:off x="7607808" y="4087368"/>
            <a:ext cx="841248" cy="274320"/>
          </a:xfrm>
          <a:prstGeom prst="roundRect">
            <a:avLst>
              <a:gd name="adj" fmla="val 50000"/>
            </a:avLst>
          </a:prstGeom>
          <a:solidFill>
            <a:srgbClr val="A8443C"/>
          </a:solidFill>
          <a:ln w="12700">
            <a:solidFill>
              <a:srgbClr val="A8443C"/>
            </a:solidFill>
            <a:prstDash val="solid"/>
          </a:ln>
        </p:spPr>
      </p:sp>
      <p:sp>
        <p:nvSpPr>
          <p:cNvPr id="33" name="Text 31"/>
          <p:cNvSpPr/>
          <p:nvPr/>
        </p:nvSpPr>
        <p:spPr>
          <a:xfrm>
            <a:off x="7607808" y="4087368"/>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LOW</a:t>
            </a:r>
            <a:endParaRPr lang="en-US" sz="1000" dirty="0"/>
          </a:p>
        </p:txBody>
      </p:sp>
      <p:sp>
        <p:nvSpPr>
          <p:cNvPr id="34" name="Text 32"/>
          <p:cNvSpPr/>
          <p:nvPr/>
        </p:nvSpPr>
        <p:spPr>
          <a:xfrm>
            <a:off x="9070848" y="3941064"/>
            <a:ext cx="1920240" cy="566928"/>
          </a:xfrm>
          <a:prstGeom prst="rect">
            <a:avLst/>
          </a:prstGeom>
          <a:noFill/>
          <a:ln/>
        </p:spPr>
        <p:txBody>
          <a:bodyPr wrap="square" lIns="0" tIns="0" rIns="0" bIns="0" rtlCol="0" anchor="ctr"/>
          <a:lstStyle/>
          <a:p>
            <a:pPr indent="0" marL="0">
              <a:buNone/>
            </a:pPr>
            <a:r>
              <a:rPr lang="en-US" sz="1300" b="1" dirty="0">
                <a:solidFill>
                  <a:srgbClr val="2F4858"/>
                </a:solidFill>
                <a:latin typeface="Calibri" pitchFamily="34" charset="0"/>
                <a:ea typeface="Calibri" pitchFamily="34" charset="-122"/>
                <a:cs typeface="Calibri" pitchFamily="34" charset="-120"/>
              </a:rPr>
              <a:t>£0.6m</a:t>
            </a:r>
            <a:endParaRPr lang="en-US" sz="1300" dirty="0"/>
          </a:p>
        </p:txBody>
      </p:sp>
      <p:sp>
        <p:nvSpPr>
          <p:cNvPr id="35" name="Shape 33"/>
          <p:cNvSpPr/>
          <p:nvPr/>
        </p:nvSpPr>
        <p:spPr>
          <a:xfrm>
            <a:off x="11173968" y="4087368"/>
            <a:ext cx="841248" cy="274320"/>
          </a:xfrm>
          <a:prstGeom prst="roundRect">
            <a:avLst>
              <a:gd name="adj" fmla="val 50000"/>
            </a:avLst>
          </a:prstGeom>
          <a:solidFill>
            <a:srgbClr val="A8443C"/>
          </a:solidFill>
          <a:ln w="12700">
            <a:solidFill>
              <a:srgbClr val="A8443C"/>
            </a:solidFill>
            <a:prstDash val="solid"/>
          </a:ln>
        </p:spPr>
      </p:sp>
      <p:sp>
        <p:nvSpPr>
          <p:cNvPr id="36" name="Text 34"/>
          <p:cNvSpPr/>
          <p:nvPr/>
        </p:nvSpPr>
        <p:spPr>
          <a:xfrm>
            <a:off x="11173968" y="4087368"/>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FAIL</a:t>
            </a:r>
            <a:endParaRPr lang="en-US" sz="1000" dirty="0"/>
          </a:p>
        </p:txBody>
      </p:sp>
      <p:sp>
        <p:nvSpPr>
          <p:cNvPr id="37" name="Shape 35"/>
          <p:cNvSpPr/>
          <p:nvPr/>
        </p:nvSpPr>
        <p:spPr>
          <a:xfrm>
            <a:off x="566928" y="4800600"/>
            <a:ext cx="11027664" cy="1051560"/>
          </a:xfrm>
          <a:prstGeom prst="roundRect">
            <a:avLst>
              <a:gd name="adj" fmla="val 8696"/>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38" name="Text 36"/>
          <p:cNvSpPr/>
          <p:nvPr/>
        </p:nvSpPr>
        <p:spPr>
          <a:xfrm>
            <a:off x="950976" y="4946904"/>
            <a:ext cx="3840480" cy="292608"/>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Why the third row is on the slide</a:t>
            </a:r>
            <a:endParaRPr lang="en-US" sz="1150" dirty="0"/>
          </a:p>
        </p:txBody>
      </p:sp>
      <p:sp>
        <p:nvSpPr>
          <p:cNvPr id="39" name="Text 37"/>
          <p:cNvSpPr/>
          <p:nvPr/>
        </p:nvSpPr>
        <p:spPr>
          <a:xfrm>
            <a:off x="950976" y="5239512"/>
            <a:ext cx="10113264" cy="548640"/>
          </a:xfrm>
          <a:prstGeom prst="rect">
            <a:avLst/>
          </a:prstGeom>
          <a:noFill/>
          <a:ln/>
        </p:spPr>
        <p:txBody>
          <a:bodyPr wrap="square" lIns="0" tIns="0" rIns="0" bIns="0" rtlCol="0" anchor="t"/>
          <a:lstStyle/>
          <a:p>
            <a:pPr indent="0" marL="0">
              <a:lnSpc>
                <a:spcPts val="1800"/>
              </a:lnSpc>
              <a:buNone/>
            </a:pPr>
            <a:r>
              <a:rPr lang="en-US" sz="1300" dirty="0">
                <a:solidFill>
                  <a:srgbClr val="5C4E28"/>
                </a:solidFill>
                <a:latin typeface="Calibri" pitchFamily="34" charset="0"/>
                <a:ea typeface="Calibri" pitchFamily="34" charset="-122"/>
                <a:cs typeface="Calibri" pitchFamily="34" charset="-120"/>
              </a:rPr>
              <a:t>Built in-house, invoice finance falls to £0.6m a slot — below insurance, and below the hurdle. The partner route is not a preference: it is what earns the feature its place in this cycle.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RETURN SORTS  ·  02</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The order is re-scored every quarter — here is what can move it</a:t>
            </a:r>
            <a:endParaRPr lang="en-US" sz="2700" dirty="0"/>
          </a:p>
        </p:txBody>
      </p:sp>
      <p:sp>
        <p:nvSpPr>
          <p:cNvPr id="4" name="Shape 2"/>
          <p:cNvSpPr/>
          <p:nvPr/>
        </p:nvSpPr>
        <p:spPr>
          <a:xfrm>
            <a:off x="566928" y="1645920"/>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46504"/>
            <a:ext cx="2926080" cy="694944"/>
          </a:xfrm>
          <a:prstGeom prst="rect">
            <a:avLst/>
          </a:prstGeom>
          <a:noFill/>
          <a:ln/>
        </p:spPr>
        <p:txBody>
          <a:bodyPr wrap="square" lIns="0" tIns="0" rIns="0" bIns="0" rtlCol="0" anchor="ctr"/>
          <a:lstStyle/>
          <a:p>
            <a:pPr indent="0" marL="0">
              <a:buNone/>
            </a:pPr>
            <a:r>
              <a:rPr lang="en-US" sz="1350" b="1" dirty="0">
                <a:solidFill>
                  <a:srgbClr val="2F4858"/>
                </a:solidFill>
                <a:latin typeface="Calibri" pitchFamily="34" charset="0"/>
                <a:ea typeface="Calibri" pitchFamily="34" charset="-122"/>
                <a:cs typeface="Calibri" pitchFamily="34" charset="-120"/>
              </a:rPr>
              <a:t>New demand evidence</a:t>
            </a:r>
            <a:endParaRPr lang="en-US" sz="1350" dirty="0"/>
          </a:p>
        </p:txBody>
      </p:sp>
      <p:sp>
        <p:nvSpPr>
          <p:cNvPr id="6" name="Text 4"/>
          <p:cNvSpPr/>
          <p:nvPr/>
        </p:nvSpPr>
        <p:spPr>
          <a:xfrm>
            <a:off x="4133088" y="1746504"/>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A prototype test of crypto, or a shift in exporter behaviour</a:t>
            </a:r>
            <a:endParaRPr lang="en-US" sz="1200" dirty="0"/>
          </a:p>
        </p:txBody>
      </p:sp>
      <p:sp>
        <p:nvSpPr>
          <p:cNvPr id="7" name="Text 5"/>
          <p:cNvSpPr/>
          <p:nvPr/>
        </p:nvSpPr>
        <p:spPr>
          <a:xfrm>
            <a:off x="8339328" y="1746504"/>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Scores re-run; a feature can enter or leave the backlog</a:t>
            </a:r>
            <a:endParaRPr lang="en-US" sz="1200" dirty="0"/>
          </a:p>
        </p:txBody>
      </p:sp>
      <p:sp>
        <p:nvSpPr>
          <p:cNvPr id="8" name="Shape 6"/>
          <p:cNvSpPr/>
          <p:nvPr/>
        </p:nvSpPr>
        <p:spPr>
          <a:xfrm>
            <a:off x="566928" y="2670048"/>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9" name="Text 7"/>
          <p:cNvSpPr/>
          <p:nvPr/>
        </p:nvSpPr>
        <p:spPr>
          <a:xfrm>
            <a:off x="950976" y="2770632"/>
            <a:ext cx="2926080" cy="694944"/>
          </a:xfrm>
          <a:prstGeom prst="rect">
            <a:avLst/>
          </a:prstGeom>
          <a:noFill/>
          <a:ln/>
        </p:spPr>
        <p:txBody>
          <a:bodyPr wrap="square" lIns="0" tIns="0" rIns="0" bIns="0" rtlCol="0" anchor="ctr"/>
          <a:lstStyle/>
          <a:p>
            <a:pPr indent="0" marL="0">
              <a:buNone/>
            </a:pPr>
            <a:r>
              <a:rPr lang="en-US" sz="1350" b="1" dirty="0">
                <a:solidFill>
                  <a:srgbClr val="2F4858"/>
                </a:solidFill>
                <a:latin typeface="Calibri" pitchFamily="34" charset="0"/>
                <a:ea typeface="Calibri" pitchFamily="34" charset="-122"/>
                <a:cs typeface="Calibri" pitchFamily="34" charset="-120"/>
              </a:rPr>
              <a:t>Return assumptions move</a:t>
            </a:r>
            <a:endParaRPr lang="en-US" sz="1350" dirty="0"/>
          </a:p>
        </p:txBody>
      </p:sp>
      <p:sp>
        <p:nvSpPr>
          <p:cNvPr id="10" name="Text 8"/>
          <p:cNvSpPr/>
          <p:nvPr/>
        </p:nvSpPr>
        <p:spPr>
          <a:xfrm>
            <a:off x="4133088" y="2770632"/>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Uptake, margin, dead-weight or partner terms change</a:t>
            </a:r>
            <a:endParaRPr lang="en-US" sz="1200" dirty="0"/>
          </a:p>
        </p:txBody>
      </p:sp>
      <p:sp>
        <p:nvSpPr>
          <p:cNvPr id="11" name="Text 9"/>
          <p:cNvSpPr/>
          <p:nvPr/>
        </p:nvSpPr>
        <p:spPr>
          <a:xfrm>
            <a:off x="8339328" y="2770632"/>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Per-slot returns re-computed; positions 2 and 3 can swap</a:t>
            </a:r>
            <a:endParaRPr lang="en-US" sz="1200" dirty="0"/>
          </a:p>
        </p:txBody>
      </p:sp>
      <p:sp>
        <p:nvSpPr>
          <p:cNvPr id="12" name="Shape 10"/>
          <p:cNvSpPr/>
          <p:nvPr/>
        </p:nvSpPr>
        <p:spPr>
          <a:xfrm>
            <a:off x="566928" y="3694176"/>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3" name="Text 11"/>
          <p:cNvSpPr/>
          <p:nvPr/>
        </p:nvSpPr>
        <p:spPr>
          <a:xfrm>
            <a:off x="950976" y="3794760"/>
            <a:ext cx="2926080" cy="694944"/>
          </a:xfrm>
          <a:prstGeom prst="rect">
            <a:avLst/>
          </a:prstGeom>
          <a:noFill/>
          <a:ln/>
        </p:spPr>
        <p:txBody>
          <a:bodyPr wrap="square" lIns="0" tIns="0" rIns="0" bIns="0" rtlCol="0" anchor="ctr"/>
          <a:lstStyle/>
          <a:p>
            <a:pPr indent="0" marL="0">
              <a:buNone/>
            </a:pPr>
            <a:r>
              <a:rPr lang="en-US" sz="1350" b="1" dirty="0">
                <a:solidFill>
                  <a:srgbClr val="2F4858"/>
                </a:solidFill>
                <a:latin typeface="Calibri" pitchFamily="34" charset="0"/>
                <a:ea typeface="Calibri" pitchFamily="34" charset="-122"/>
                <a:cs typeface="Calibri" pitchFamily="34" charset="-120"/>
              </a:rPr>
              <a:t>Capability lands</a:t>
            </a:r>
            <a:endParaRPr lang="en-US" sz="1350" dirty="0"/>
          </a:p>
        </p:txBody>
      </p:sp>
      <p:sp>
        <p:nvSpPr>
          <p:cNvPr id="14" name="Text 12"/>
          <p:cNvSpPr/>
          <p:nvPr/>
        </p:nvSpPr>
        <p:spPr>
          <a:xfrm>
            <a:off x="4133088" y="3794760"/>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The claims capability ships</a:t>
            </a:r>
            <a:endParaRPr lang="en-US" sz="1200" dirty="0"/>
          </a:p>
        </p:txBody>
      </p:sp>
      <p:sp>
        <p:nvSpPr>
          <p:cNvPr id="15" name="Text 13"/>
          <p:cNvSpPr/>
          <p:nvPr/>
        </p:nvSpPr>
        <p:spPr>
          <a:xfrm>
            <a:off x="8339328" y="3794760"/>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Insurance's slots fall from 2 to 1 — its per-slot return doubles</a:t>
            </a:r>
            <a:endParaRPr lang="en-US" sz="1200" dirty="0"/>
          </a:p>
        </p:txBody>
      </p:sp>
      <p:sp>
        <p:nvSpPr>
          <p:cNvPr id="16" name="Shape 14"/>
          <p:cNvSpPr/>
          <p:nvPr/>
        </p:nvSpPr>
        <p:spPr>
          <a:xfrm>
            <a:off x="566928" y="4718304"/>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Text 15"/>
          <p:cNvSpPr/>
          <p:nvPr/>
        </p:nvSpPr>
        <p:spPr>
          <a:xfrm>
            <a:off x="950976" y="4818888"/>
            <a:ext cx="2926080" cy="694944"/>
          </a:xfrm>
          <a:prstGeom prst="rect">
            <a:avLst/>
          </a:prstGeom>
          <a:noFill/>
          <a:ln/>
        </p:spPr>
        <p:txBody>
          <a:bodyPr wrap="square" lIns="0" tIns="0" rIns="0" bIns="0" rtlCol="0" anchor="ctr"/>
          <a:lstStyle/>
          <a:p>
            <a:pPr indent="0" marL="0">
              <a:buNone/>
            </a:pPr>
            <a:r>
              <a:rPr lang="en-US" sz="1350" b="1" dirty="0">
                <a:solidFill>
                  <a:srgbClr val="2F4858"/>
                </a:solidFill>
                <a:latin typeface="Calibri" pitchFamily="34" charset="0"/>
                <a:ea typeface="Calibri" pitchFamily="34" charset="-122"/>
                <a:cs typeface="Calibri" pitchFamily="34" charset="-120"/>
              </a:rPr>
              <a:t>A slot frees up</a:t>
            </a:r>
            <a:endParaRPr lang="en-US" sz="1350" dirty="0"/>
          </a:p>
        </p:txBody>
      </p:sp>
      <p:sp>
        <p:nvSpPr>
          <p:cNvPr id="18" name="Text 16"/>
          <p:cNvSpPr/>
          <p:nvPr/>
        </p:nvSpPr>
        <p:spPr>
          <a:xfrm>
            <a:off x="4133088" y="4818888"/>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A build finishes early or a partner accelerates</a:t>
            </a:r>
            <a:endParaRPr lang="en-US" sz="1200" dirty="0"/>
          </a:p>
        </p:txBody>
      </p:sp>
      <p:sp>
        <p:nvSpPr>
          <p:cNvPr id="19" name="Text 17"/>
          <p:cNvSpPr/>
          <p:nvPr/>
        </p:nvSpPr>
        <p:spPr>
          <a:xfrm>
            <a:off x="8339328" y="4818888"/>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The cut-line moves down the sorted list — no new argument needed</a:t>
            </a:r>
            <a:endParaRPr lang="en-US" sz="1200" dirty="0"/>
          </a:p>
        </p:txBody>
      </p:sp>
      <p:sp>
        <p:nvSpPr>
          <p:cNvPr id="20" name="Text 18"/>
          <p:cNvSpPr/>
          <p:nvPr/>
        </p:nvSpPr>
        <p:spPr>
          <a:xfrm>
            <a:off x="566928" y="5852160"/>
            <a:ext cx="11027664" cy="457200"/>
          </a:xfrm>
          <a:prstGeom prst="rect">
            <a:avLst/>
          </a:prstGeom>
          <a:noFill/>
          <a:ln/>
        </p:spPr>
        <p:txBody>
          <a:bodyPr wrap="square" lIns="0" tIns="0" rIns="0" bIns="0" rtlCol="0" anchor="ctr"/>
          <a:lstStyle/>
          <a:p>
            <a:pPr indent="0" marL="0">
              <a:buNone/>
            </a:pPr>
            <a:r>
              <a:rPr lang="en-US" sz="1350" i="1" dirty="0">
                <a:solidFill>
                  <a:srgbClr val="64818F"/>
                </a:solidFill>
                <a:latin typeface="Calibri" pitchFamily="34" charset="0"/>
                <a:ea typeface="Calibri" pitchFamily="34" charset="-122"/>
                <a:cs typeface="Calibri" pitchFamily="34" charset="-120"/>
              </a:rPr>
              <a:t>This is what the client is really approving: not this quarter's list, but the machine that keeps the list honest.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1874520"/>
            <a:ext cx="2194560" cy="1463040"/>
          </a:xfrm>
          <a:prstGeom prst="rect">
            <a:avLst/>
          </a:prstGeom>
          <a:noFill/>
          <a:ln/>
        </p:spPr>
        <p:txBody>
          <a:bodyPr wrap="square" lIns="0" tIns="0" rIns="0" bIns="0" rtlCol="0" anchor="ctr"/>
          <a:lstStyle/>
          <a:p>
            <a:pPr indent="0" marL="0">
              <a:buNone/>
            </a:pPr>
            <a:r>
              <a:rPr lang="en-US" sz="8800" b="1" dirty="0">
                <a:solidFill>
                  <a:srgbClr val="39586A"/>
                </a:solidFill>
                <a:latin typeface="Cambria" pitchFamily="34" charset="0"/>
                <a:ea typeface="Cambria" pitchFamily="34" charset="-122"/>
                <a:cs typeface="Cambria" pitchFamily="34" charset="-120"/>
              </a:rPr>
              <a:t>03</a:t>
            </a:r>
            <a:endParaRPr lang="en-US" sz="8800" dirty="0"/>
          </a:p>
        </p:txBody>
      </p:sp>
      <p:sp>
        <p:nvSpPr>
          <p:cNvPr id="4" name="Text 2"/>
          <p:cNvSpPr/>
          <p:nvPr/>
        </p:nvSpPr>
        <p:spPr>
          <a:xfrm>
            <a:off x="2532888" y="2029968"/>
            <a:ext cx="8595360" cy="365760"/>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CAPACITY CUTS</a:t>
            </a:r>
            <a:endParaRPr lang="en-US" sz="1200" dirty="0"/>
          </a:p>
        </p:txBody>
      </p:sp>
      <p:sp>
        <p:nvSpPr>
          <p:cNvPr id="5" name="Text 3"/>
          <p:cNvSpPr/>
          <p:nvPr/>
        </p:nvSpPr>
        <p:spPr>
          <a:xfrm>
            <a:off x="2532888" y="2395728"/>
            <a:ext cx="87782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ships this cycle — and how?</a:t>
            </a:r>
            <a:endParaRPr lang="en-US" sz="3600" dirty="0"/>
          </a:p>
        </p:txBody>
      </p:sp>
      <p:sp>
        <p:nvSpPr>
          <p:cNvPr id="6" name="Text 4"/>
          <p:cNvSpPr/>
          <p:nvPr/>
        </p:nvSpPr>
        <p:spPr>
          <a:xfrm>
            <a:off x="2532888" y="3383280"/>
            <a:ext cx="8412480" cy="640080"/>
          </a:xfrm>
          <a:prstGeom prst="rect">
            <a:avLst/>
          </a:prstGeom>
          <a:noFill/>
          <a:ln/>
        </p:spPr>
        <p:txBody>
          <a:bodyPr wrap="square" lIns="0" tIns="0" rIns="0" bIns="0" rtlCol="0" anchor="t"/>
          <a:lstStyle/>
          <a:p>
            <a:pPr indent="0" marL="0">
              <a:lnSpc>
                <a:spcPts val="2200"/>
              </a:lnSpc>
              <a:buNone/>
            </a:pPr>
            <a:r>
              <a:rPr lang="en-US" sz="1500" dirty="0">
                <a:solidFill>
                  <a:srgbClr val="8FB3C2"/>
                </a:solidFill>
                <a:latin typeface="Calibri" pitchFamily="34" charset="0"/>
                <a:ea typeface="Calibri" pitchFamily="34" charset="-122"/>
                <a:cs typeface="Calibri" pitchFamily="34" charset="-120"/>
              </a:rPr>
              <a:t>Two build slots. Routes chosen per feature, priced for time and margin, bounded for defensibility.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CAPACITY CUTS  ·  03</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Two slots: build FX on our core; partner invoice finance for speed</a:t>
            </a:r>
            <a:endParaRPr lang="en-US" sz="2700" dirty="0"/>
          </a:p>
        </p:txBody>
      </p:sp>
      <p:sp>
        <p:nvSpPr>
          <p:cNvPr id="4" name="Shape 2"/>
          <p:cNvSpPr/>
          <p:nvPr/>
        </p:nvSpPr>
        <p:spPr>
          <a:xfrm>
            <a:off x="566928" y="1645920"/>
            <a:ext cx="5353812" cy="3291840"/>
          </a:xfrm>
          <a:prstGeom prst="roundRect">
            <a:avLst>
              <a:gd name="adj" fmla="val 277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32688" y="1847088"/>
            <a:ext cx="3890772" cy="457200"/>
          </a:xfrm>
          <a:prstGeom prst="rect">
            <a:avLst/>
          </a:prstGeom>
          <a:noFill/>
          <a:ln/>
        </p:spPr>
        <p:txBody>
          <a:bodyPr wrap="square" lIns="0" tIns="0" rIns="0" bIns="0" rtlCol="0" anchor="ctr"/>
          <a:lstStyle/>
          <a:p>
            <a:pPr indent="0" marL="0">
              <a:buNone/>
            </a:pPr>
            <a:r>
              <a:rPr lang="en-US" sz="1900" b="1" dirty="0">
                <a:solidFill>
                  <a:srgbClr val="1F2A31"/>
                </a:solidFill>
                <a:latin typeface="Cambria" pitchFamily="34" charset="0"/>
                <a:ea typeface="Cambria" pitchFamily="34" charset="-122"/>
                <a:cs typeface="Cambria" pitchFamily="34" charset="-120"/>
              </a:rPr>
              <a:t>FX payments — BUILD</a:t>
            </a:r>
            <a:endParaRPr lang="en-US" sz="1900" dirty="0"/>
          </a:p>
        </p:txBody>
      </p:sp>
      <p:sp>
        <p:nvSpPr>
          <p:cNvPr id="6" name="Text 4"/>
          <p:cNvSpPr/>
          <p:nvPr/>
        </p:nvSpPr>
        <p:spPr>
          <a:xfrm>
            <a:off x="4823460" y="1847088"/>
            <a:ext cx="777240" cy="457200"/>
          </a:xfrm>
          <a:prstGeom prst="rect">
            <a:avLst/>
          </a:prstGeom>
          <a:noFill/>
          <a:ln/>
        </p:spPr>
        <p:txBody>
          <a:bodyPr wrap="square" lIns="0" tIns="0" rIns="0" bIns="0" rtlCol="0" anchor="ctr"/>
          <a:lstStyle/>
          <a:p>
            <a:pPr algn="r" indent="0" marL="0">
              <a:buNone/>
            </a:pPr>
            <a:r>
              <a:rPr lang="en-US" sz="1200" b="1" dirty="0">
                <a:solidFill>
                  <a:srgbClr val="8A6D0F"/>
                </a:solidFill>
                <a:latin typeface="Calibri" pitchFamily="34" charset="0"/>
                <a:ea typeface="Calibri" pitchFamily="34" charset="-122"/>
                <a:cs typeface="Calibri" pitchFamily="34" charset="-120"/>
              </a:rPr>
              <a:t>Slot 1</a:t>
            </a:r>
            <a:endParaRPr lang="en-US" sz="1200" dirty="0"/>
          </a:p>
        </p:txBody>
      </p:sp>
      <p:sp>
        <p:nvSpPr>
          <p:cNvPr id="7" name="Shape 5"/>
          <p:cNvSpPr/>
          <p:nvPr/>
        </p:nvSpPr>
        <p:spPr>
          <a:xfrm>
            <a:off x="932688" y="2395728"/>
            <a:ext cx="4622292" cy="0"/>
          </a:xfrm>
          <a:prstGeom prst="line">
            <a:avLst/>
          </a:prstGeom>
          <a:noFill/>
          <a:ln w="12700">
            <a:solidFill>
              <a:srgbClr val="D5DFE4"/>
            </a:solidFill>
            <a:prstDash val="solid"/>
          </a:ln>
        </p:spPr>
      </p:sp>
      <p:sp>
        <p:nvSpPr>
          <p:cNvPr id="8" name="Text 6"/>
          <p:cNvSpPr/>
          <p:nvPr/>
        </p:nvSpPr>
        <p:spPr>
          <a:xfrm>
            <a:off x="932688" y="2578608"/>
            <a:ext cx="4622292" cy="21945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Deepens the payments platform we already run — the capability compounds</a:t>
            </a:r>
            <a:endParaRPr lang="en-US" sz="1250" dirty="0"/>
          </a:p>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9 months ±1, high confidence: the delivery team owns every dependency</a:t>
            </a:r>
            <a:endParaRPr lang="en-US" sz="1250" dirty="0"/>
          </a:p>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Full margin kept; no third party in the flow</a:t>
            </a:r>
            <a:endParaRPr lang="en-US" sz="1250" dirty="0"/>
          </a:p>
        </p:txBody>
      </p:sp>
      <p:sp>
        <p:nvSpPr>
          <p:cNvPr id="9" name="Shape 7"/>
          <p:cNvSpPr/>
          <p:nvPr/>
        </p:nvSpPr>
        <p:spPr>
          <a:xfrm>
            <a:off x="6240780" y="1645920"/>
            <a:ext cx="5353812" cy="3291840"/>
          </a:xfrm>
          <a:prstGeom prst="roundRect">
            <a:avLst>
              <a:gd name="adj" fmla="val 2778"/>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0" name="Text 8"/>
          <p:cNvSpPr/>
          <p:nvPr/>
        </p:nvSpPr>
        <p:spPr>
          <a:xfrm>
            <a:off x="6606540" y="1847088"/>
            <a:ext cx="3890772" cy="457200"/>
          </a:xfrm>
          <a:prstGeom prst="rect">
            <a:avLst/>
          </a:prstGeom>
          <a:noFill/>
          <a:ln/>
        </p:spPr>
        <p:txBody>
          <a:bodyPr wrap="square" lIns="0" tIns="0" rIns="0" bIns="0" rtlCol="0" anchor="ctr"/>
          <a:lstStyle/>
          <a:p>
            <a:pPr indent="0" marL="0">
              <a:buNone/>
            </a:pPr>
            <a:r>
              <a:rPr lang="en-US" sz="1900" b="1" dirty="0">
                <a:solidFill>
                  <a:srgbClr val="1F2A31"/>
                </a:solidFill>
                <a:latin typeface="Cambria" pitchFamily="34" charset="0"/>
                <a:ea typeface="Cambria" pitchFamily="34" charset="-122"/>
                <a:cs typeface="Cambria" pitchFamily="34" charset="-120"/>
              </a:rPr>
              <a:t>Invoice finance — PARTNER</a:t>
            </a:r>
            <a:endParaRPr lang="en-US" sz="1900" dirty="0"/>
          </a:p>
        </p:txBody>
      </p:sp>
      <p:sp>
        <p:nvSpPr>
          <p:cNvPr id="11" name="Text 9"/>
          <p:cNvSpPr/>
          <p:nvPr/>
        </p:nvSpPr>
        <p:spPr>
          <a:xfrm>
            <a:off x="10497312" y="1847088"/>
            <a:ext cx="777240" cy="457200"/>
          </a:xfrm>
          <a:prstGeom prst="rect">
            <a:avLst/>
          </a:prstGeom>
          <a:noFill/>
          <a:ln/>
        </p:spPr>
        <p:txBody>
          <a:bodyPr wrap="square" lIns="0" tIns="0" rIns="0" bIns="0" rtlCol="0" anchor="ctr"/>
          <a:lstStyle/>
          <a:p>
            <a:pPr algn="r" indent="0" marL="0">
              <a:buNone/>
            </a:pPr>
            <a:r>
              <a:rPr lang="en-US" sz="1200" b="1" dirty="0">
                <a:solidFill>
                  <a:srgbClr val="8A6D0F"/>
                </a:solidFill>
                <a:latin typeface="Calibri" pitchFamily="34" charset="0"/>
                <a:ea typeface="Calibri" pitchFamily="34" charset="-122"/>
                <a:cs typeface="Calibri" pitchFamily="34" charset="-120"/>
              </a:rPr>
              <a:t>Slot 2</a:t>
            </a:r>
            <a:endParaRPr lang="en-US" sz="1200" dirty="0"/>
          </a:p>
        </p:txBody>
      </p:sp>
      <p:sp>
        <p:nvSpPr>
          <p:cNvPr id="12" name="Shape 10"/>
          <p:cNvSpPr/>
          <p:nvPr/>
        </p:nvSpPr>
        <p:spPr>
          <a:xfrm>
            <a:off x="6606540" y="2395728"/>
            <a:ext cx="4622292" cy="0"/>
          </a:xfrm>
          <a:prstGeom prst="line">
            <a:avLst/>
          </a:prstGeom>
          <a:noFill/>
          <a:ln w="12700">
            <a:solidFill>
              <a:srgbClr val="D5DFE4"/>
            </a:solidFill>
            <a:prstDash val="solid"/>
          </a:ln>
        </p:spPr>
      </p:sp>
      <p:sp>
        <p:nvSpPr>
          <p:cNvPr id="13" name="Text 11"/>
          <p:cNvSpPr/>
          <p:nvPr/>
        </p:nvSpPr>
        <p:spPr>
          <a:xfrm>
            <a:off x="6606540" y="2578608"/>
            <a:ext cx="4622292" cy="21945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Live in 5 months instead of 18 — the difference between second place and missing the cycle</a:t>
            </a:r>
            <a:endParaRPr lang="en-US" sz="1250" dirty="0"/>
          </a:p>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Partner: [specialist lender], revenue share 25%</a:t>
            </a:r>
            <a:endParaRPr lang="en-US" sz="1250" dirty="0"/>
          </a:p>
          <a:p>
            <a:pPr marL="342900" indent="-342900">
              <a:lnSpc>
                <a:spcPts val="1800"/>
              </a:lnSpc>
              <a:spcAft>
                <a:spcPts val="700"/>
              </a:spcAft>
              <a:buSzPct val="100000"/>
              <a:buChar char="•"/>
            </a:pPr>
            <a:r>
              <a:rPr lang="en-US" sz="1250" dirty="0">
                <a:solidFill>
                  <a:srgbClr val="3F5563"/>
                </a:solidFill>
                <a:latin typeface="Calibri" pitchFamily="34" charset="0"/>
                <a:ea typeface="Calibri" pitchFamily="34" charset="-122"/>
                <a:cs typeface="Calibri" pitchFamily="34" charset="-120"/>
              </a:rPr>
              <a:t>We keep the customer, the data and the pricing; they run the credit engine</a:t>
            </a:r>
            <a:endParaRPr lang="en-US" sz="1250" dirty="0"/>
          </a:p>
        </p:txBody>
      </p:sp>
      <p:sp>
        <p:nvSpPr>
          <p:cNvPr id="14" name="Text 12"/>
          <p:cNvSpPr/>
          <p:nvPr/>
        </p:nvSpPr>
        <p:spPr>
          <a:xfrm>
            <a:off x="566928" y="5138928"/>
            <a:ext cx="11027664" cy="457200"/>
          </a:xfrm>
          <a:prstGeom prst="rect">
            <a:avLst/>
          </a:prstGeom>
          <a:noFill/>
          <a:ln/>
        </p:spPr>
        <p:txBody>
          <a:bodyPr wrap="square" lIns="0" tIns="0" rIns="0" bIns="0" rtlCol="0" anchor="ctr"/>
          <a:lstStyle/>
          <a:p>
            <a:pPr indent="0" marL="0">
              <a:buNone/>
            </a:pPr>
            <a:r>
              <a:rPr lang="en-US" sz="1300" i="1" dirty="0">
                <a:solidFill>
                  <a:srgbClr val="64818F"/>
                </a:solidFill>
                <a:latin typeface="Calibri" pitchFamily="34" charset="0"/>
                <a:ea typeface="Calibri" pitchFamily="34" charset="-122"/>
                <a:cs typeface="Calibri" pitchFamily="34" charset="-120"/>
              </a:rPr>
              <a:t>Insurance waits: it needs the claims capability, which is itself a build. When that lands, its slot cost halves and the re-score promotes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CAPACITY CUTS  ·  03</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The partner deal is bounded — the advantage stays ours</a:t>
            </a:r>
            <a:endParaRPr lang="en-US" sz="2700" dirty="0"/>
          </a:p>
        </p:txBody>
      </p:sp>
      <p:sp>
        <p:nvSpPr>
          <p:cNvPr id="4" name="Shape 2"/>
          <p:cNvSpPr/>
          <p:nvPr/>
        </p:nvSpPr>
        <p:spPr>
          <a:xfrm>
            <a:off x="566928" y="1645920"/>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46504"/>
            <a:ext cx="329184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What the partner holds</a:t>
            </a:r>
            <a:endParaRPr lang="en-US" sz="1400" dirty="0"/>
          </a:p>
        </p:txBody>
      </p:sp>
      <p:sp>
        <p:nvSpPr>
          <p:cNvPr id="6" name="Text 4"/>
          <p:cNvSpPr/>
          <p:nvPr/>
        </p:nvSpPr>
        <p:spPr>
          <a:xfrm>
            <a:off x="4498848" y="1746504"/>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The credit decisioning engine and the capital. Their capability, their balance sheet risk.</a:t>
            </a:r>
            <a:endParaRPr lang="en-US" sz="1250" dirty="0"/>
          </a:p>
        </p:txBody>
      </p:sp>
      <p:sp>
        <p:nvSpPr>
          <p:cNvPr id="7" name="Shape 5"/>
          <p:cNvSpPr/>
          <p:nvPr/>
        </p:nvSpPr>
        <p:spPr>
          <a:xfrm>
            <a:off x="566928" y="2670048"/>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770632"/>
            <a:ext cx="329184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What we keep</a:t>
            </a:r>
            <a:endParaRPr lang="en-US" sz="1400" dirty="0"/>
          </a:p>
        </p:txBody>
      </p:sp>
      <p:sp>
        <p:nvSpPr>
          <p:cNvPr id="9" name="Text 7"/>
          <p:cNvSpPr/>
          <p:nvPr/>
        </p:nvSpPr>
        <p:spPr>
          <a:xfrm>
            <a:off x="4498848" y="2770632"/>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The customer relationship, the transaction data, the pricing decision, and the 'Trade Ready' brand over the top.</a:t>
            </a:r>
            <a:endParaRPr lang="en-US" sz="1250" dirty="0"/>
          </a:p>
        </p:txBody>
      </p:sp>
      <p:sp>
        <p:nvSpPr>
          <p:cNvPr id="10" name="Shape 8"/>
          <p:cNvSpPr/>
          <p:nvPr/>
        </p:nvSpPr>
        <p:spPr>
          <a:xfrm>
            <a:off x="566928" y="3694176"/>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3794760"/>
            <a:ext cx="329184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Contract bounds</a:t>
            </a:r>
            <a:endParaRPr lang="en-US" sz="1400" dirty="0"/>
          </a:p>
        </p:txBody>
      </p:sp>
      <p:sp>
        <p:nvSpPr>
          <p:cNvPr id="12" name="Text 10"/>
          <p:cNvSpPr/>
          <p:nvPr/>
        </p:nvSpPr>
        <p:spPr>
          <a:xfrm>
            <a:off x="4498848" y="3794760"/>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Exclusivity in the exporting-SME segment · our data stays ours on exit · 90-day portability · price re-opener at 12 months.</a:t>
            </a:r>
            <a:endParaRPr lang="en-US" sz="1250" dirty="0"/>
          </a:p>
        </p:txBody>
      </p:sp>
      <p:sp>
        <p:nvSpPr>
          <p:cNvPr id="13" name="Shape 11"/>
          <p:cNvSpPr/>
          <p:nvPr/>
        </p:nvSpPr>
        <p:spPr>
          <a:xfrm>
            <a:off x="566928" y="4718304"/>
            <a:ext cx="11027664" cy="896112"/>
          </a:xfrm>
          <a:prstGeom prst="roundRect">
            <a:avLst>
              <a:gd name="adj" fmla="val 10204"/>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50976" y="4818888"/>
            <a:ext cx="3291840" cy="694944"/>
          </a:xfrm>
          <a:prstGeom prst="rect">
            <a:avLst/>
          </a:prstGeom>
          <a:noFill/>
          <a:ln/>
        </p:spPr>
        <p:txBody>
          <a:bodyPr wrap="square" lIns="0" tIns="0" rIns="0" bIns="0" rtlCol="0" anchor="ctr"/>
          <a:lstStyle/>
          <a:p>
            <a:pPr indent="0" marL="0">
              <a:buNone/>
            </a:pPr>
            <a:r>
              <a:rPr lang="en-US" sz="1400" b="1" dirty="0">
                <a:solidFill>
                  <a:srgbClr val="2F4858"/>
                </a:solidFill>
                <a:latin typeface="Calibri" pitchFamily="34" charset="0"/>
                <a:ea typeface="Calibri" pitchFamily="34" charset="-122"/>
                <a:cs typeface="Calibri" pitchFamily="34" charset="-120"/>
              </a:rPr>
              <a:t>Re-internalise trigger</a:t>
            </a:r>
            <a:endParaRPr lang="en-US" sz="1400" dirty="0"/>
          </a:p>
        </p:txBody>
      </p:sp>
      <p:sp>
        <p:nvSpPr>
          <p:cNvPr id="15" name="Text 13"/>
          <p:cNvSpPr/>
          <p:nvPr/>
        </p:nvSpPr>
        <p:spPr>
          <a:xfrm>
            <a:off x="4498848" y="4818888"/>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Calibri" pitchFamily="34" charset="0"/>
                <a:ea typeface="Calibri" pitchFamily="34" charset="-122"/>
                <a:cs typeface="Calibri" pitchFamily="34" charset="-120"/>
              </a:rPr>
              <a:t>At 5,000 active users, building in-house pays back in under 3 years — reviewed at each quarterly re-score.</a:t>
            </a:r>
            <a:endParaRPr lang="en-US" sz="1250" dirty="0"/>
          </a:p>
        </p:txBody>
      </p:sp>
      <p:sp>
        <p:nvSpPr>
          <p:cNvPr id="16" name="Text 14"/>
          <p:cNvSpPr/>
          <p:nvPr/>
        </p:nvSpPr>
        <p:spPr>
          <a:xfrm>
            <a:off x="566928" y="5852160"/>
            <a:ext cx="11027664" cy="502920"/>
          </a:xfrm>
          <a:prstGeom prst="rect">
            <a:avLst/>
          </a:prstGeom>
          <a:noFill/>
          <a:ln/>
        </p:spPr>
        <p:txBody>
          <a:bodyPr wrap="square" lIns="0" tIns="0" rIns="0" bIns="0" rtlCol="0" anchor="ctr"/>
          <a:lstStyle/>
          <a:p>
            <a:pPr indent="0" marL="0">
              <a:buNone/>
            </a:pPr>
            <a:r>
              <a:rPr lang="en-US" sz="1350" i="1" dirty="0">
                <a:solidFill>
                  <a:srgbClr val="64818F"/>
                </a:solidFill>
                <a:latin typeface="Calibri" pitchFamily="34" charset="0"/>
                <a:ea typeface="Calibri" pitchFamily="34" charset="-122"/>
                <a:cs typeface="Calibri" pitchFamily="34" charset="-120"/>
              </a:rPr>
              <a:t>Shipping fast is the partner's job. Staying hard to beat is the contract's job. The two are different questions, and both must pass.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ACROSS THE SYSTEM</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What would have to be true for this to be the wrong call</a:t>
            </a:r>
            <a:endParaRPr lang="en-US" sz="2700" dirty="0"/>
          </a:p>
        </p:txBody>
      </p:sp>
      <p:sp>
        <p:nvSpPr>
          <p:cNvPr id="4" name="Text 2"/>
          <p:cNvSpPr/>
          <p:nvPr/>
        </p:nvSpPr>
        <p:spPr>
          <a:xfrm>
            <a:off x="877824" y="1664208"/>
            <a:ext cx="4023360" cy="365760"/>
          </a:xfrm>
          <a:prstGeom prst="rect">
            <a:avLst/>
          </a:prstGeom>
          <a:noFill/>
          <a:ln/>
        </p:spPr>
        <p:txBody>
          <a:bodyPr wrap="square" lIns="0" tIns="0" rIns="0" bIns="0" rtlCol="0" anchor="b"/>
          <a:lstStyle/>
          <a:p>
            <a:pPr indent="0" marL="0">
              <a:buNone/>
            </a:pPr>
            <a:r>
              <a:rPr lang="en-US" sz="1150" b="1" dirty="0">
                <a:solidFill>
                  <a:srgbClr val="8A6D0F"/>
                </a:solidFill>
                <a:latin typeface="Calibri" pitchFamily="34" charset="0"/>
                <a:ea typeface="Calibri" pitchFamily="34" charset="-122"/>
                <a:cs typeface="Calibri" pitchFamily="34" charset="-120"/>
              </a:rPr>
              <a:t>If this turns out to be true…</a:t>
            </a:r>
            <a:endParaRPr lang="en-US" sz="1150" dirty="0"/>
          </a:p>
        </p:txBody>
      </p:sp>
      <p:sp>
        <p:nvSpPr>
          <p:cNvPr id="5" name="Text 3"/>
          <p:cNvSpPr/>
          <p:nvPr/>
        </p:nvSpPr>
        <p:spPr>
          <a:xfrm>
            <a:off x="4773168" y="1664208"/>
            <a:ext cx="3383280" cy="365760"/>
          </a:xfrm>
          <a:prstGeom prst="rect">
            <a:avLst/>
          </a:prstGeom>
          <a:noFill/>
          <a:ln/>
        </p:spPr>
        <p:txBody>
          <a:bodyPr wrap="square" lIns="0" tIns="0" rIns="0" bIns="0" rtlCol="0" anchor="b"/>
          <a:lstStyle/>
          <a:p>
            <a:pPr indent="0" marL="0">
              <a:buNone/>
            </a:pPr>
            <a:r>
              <a:rPr lang="en-US" sz="1150" b="1" dirty="0">
                <a:solidFill>
                  <a:srgbClr val="8A6D0F"/>
                </a:solidFill>
                <a:latin typeface="Calibri" pitchFamily="34" charset="0"/>
                <a:ea typeface="Calibri" pitchFamily="34" charset="-122"/>
                <a:cs typeface="Calibri" pitchFamily="34" charset="-120"/>
              </a:rPr>
              <a:t>…then this changes</a:t>
            </a:r>
            <a:endParaRPr lang="en-US" sz="1150" dirty="0"/>
          </a:p>
        </p:txBody>
      </p:sp>
      <p:sp>
        <p:nvSpPr>
          <p:cNvPr id="6" name="Text 4"/>
          <p:cNvSpPr/>
          <p:nvPr/>
        </p:nvSpPr>
        <p:spPr>
          <a:xfrm>
            <a:off x="8339328" y="1664208"/>
            <a:ext cx="3108960" cy="365760"/>
          </a:xfrm>
          <a:prstGeom prst="rect">
            <a:avLst/>
          </a:prstGeom>
          <a:noFill/>
          <a:ln/>
        </p:spPr>
        <p:txBody>
          <a:bodyPr wrap="square" lIns="0" tIns="0" rIns="0" bIns="0" rtlCol="0" anchor="b"/>
          <a:lstStyle/>
          <a:p>
            <a:pPr indent="0" marL="0">
              <a:buNone/>
            </a:pPr>
            <a:r>
              <a:rPr lang="en-US" sz="1150" b="1" dirty="0">
                <a:solidFill>
                  <a:srgbClr val="8A6D0F"/>
                </a:solidFill>
                <a:latin typeface="Calibri" pitchFamily="34" charset="0"/>
                <a:ea typeface="Calibri" pitchFamily="34" charset="-122"/>
                <a:cs typeface="Calibri" pitchFamily="34" charset="-120"/>
              </a:rPr>
              <a:t>…and how we would know early</a:t>
            </a:r>
            <a:endParaRPr lang="en-US" sz="1150" dirty="0"/>
          </a:p>
        </p:txBody>
      </p:sp>
      <p:sp>
        <p:nvSpPr>
          <p:cNvPr id="7" name="Shape 5"/>
          <p:cNvSpPr/>
          <p:nvPr/>
        </p:nvSpPr>
        <p:spPr>
          <a:xfrm>
            <a:off x="566928" y="2121408"/>
            <a:ext cx="11027664" cy="868680"/>
          </a:xfrm>
          <a:prstGeom prst="roundRect">
            <a:avLst>
              <a:gd name="adj" fmla="val 10526"/>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877824" y="2221992"/>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1F2A31"/>
                </a:solidFill>
                <a:latin typeface="Calibri" pitchFamily="34" charset="0"/>
                <a:ea typeface="Calibri" pitchFamily="34" charset="-122"/>
                <a:cs typeface="Calibri" pitchFamily="34" charset="-120"/>
              </a:rPr>
              <a:t>Demand scores overstate uptake by a third</a:t>
            </a:r>
            <a:endParaRPr lang="en-US" sz="1250" dirty="0"/>
          </a:p>
        </p:txBody>
      </p:sp>
      <p:sp>
        <p:nvSpPr>
          <p:cNvPr id="9" name="Text 7"/>
          <p:cNvSpPr/>
          <p:nvPr/>
        </p:nvSpPr>
        <p:spPr>
          <a:xfrm>
            <a:off x="4773168" y="2221992"/>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FX still clears; invoice finance drops to the hurdle</a:t>
            </a:r>
            <a:endParaRPr lang="en-US" sz="1200" dirty="0"/>
          </a:p>
        </p:txBody>
      </p:sp>
      <p:sp>
        <p:nvSpPr>
          <p:cNvPr id="10" name="Text 8"/>
          <p:cNvSpPr/>
          <p:nvPr/>
        </p:nvSpPr>
        <p:spPr>
          <a:xfrm>
            <a:off x="8339328" y="2221992"/>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Activation rate at month 3 vs the model</a:t>
            </a:r>
            <a:endParaRPr lang="en-US" sz="1200" dirty="0"/>
          </a:p>
        </p:txBody>
      </p:sp>
      <p:sp>
        <p:nvSpPr>
          <p:cNvPr id="11" name="Shape 9"/>
          <p:cNvSpPr/>
          <p:nvPr/>
        </p:nvSpPr>
        <p:spPr>
          <a:xfrm>
            <a:off x="566928" y="3108960"/>
            <a:ext cx="11027664" cy="868680"/>
          </a:xfrm>
          <a:prstGeom prst="roundRect">
            <a:avLst>
              <a:gd name="adj" fmla="val 10526"/>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2" name="Text 10"/>
          <p:cNvSpPr/>
          <p:nvPr/>
        </p:nvSpPr>
        <p:spPr>
          <a:xfrm>
            <a:off x="877824" y="3209544"/>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1F2A31"/>
                </a:solidFill>
                <a:latin typeface="Calibri" pitchFamily="34" charset="0"/>
                <a:ea typeface="Calibri" pitchFamily="34" charset="-122"/>
                <a:cs typeface="Calibri" pitchFamily="34" charset="-120"/>
              </a:rPr>
              <a:t>Incentive dead-weight passes 50%</a:t>
            </a:r>
            <a:endParaRPr lang="en-US" sz="1250" dirty="0"/>
          </a:p>
        </p:txBody>
      </p:sp>
      <p:sp>
        <p:nvSpPr>
          <p:cNvPr id="13" name="Text 11"/>
          <p:cNvSpPr/>
          <p:nvPr/>
        </p:nvSpPr>
        <p:spPr>
          <a:xfrm>
            <a:off x="4773168" y="3209544"/>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The −0.7 doubles; the incentive is switched off</a:t>
            </a:r>
            <a:endParaRPr lang="en-US" sz="1200" dirty="0"/>
          </a:p>
        </p:txBody>
      </p:sp>
      <p:sp>
        <p:nvSpPr>
          <p:cNvPr id="14" name="Text 12"/>
          <p:cNvSpPr/>
          <p:nvPr/>
        </p:nvSpPr>
        <p:spPr>
          <a:xfrm>
            <a:off x="8339328" y="3209544"/>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Redemption vs new-to-feature mix, monthly</a:t>
            </a:r>
            <a:endParaRPr lang="en-US" sz="1200" dirty="0"/>
          </a:p>
        </p:txBody>
      </p:sp>
      <p:sp>
        <p:nvSpPr>
          <p:cNvPr id="15" name="Shape 13"/>
          <p:cNvSpPr/>
          <p:nvPr/>
        </p:nvSpPr>
        <p:spPr>
          <a:xfrm>
            <a:off x="566928" y="4096512"/>
            <a:ext cx="11027664" cy="868680"/>
          </a:xfrm>
          <a:prstGeom prst="roundRect">
            <a:avLst>
              <a:gd name="adj" fmla="val 10526"/>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6" name="Text 14"/>
          <p:cNvSpPr/>
          <p:nvPr/>
        </p:nvSpPr>
        <p:spPr>
          <a:xfrm>
            <a:off x="877824" y="4197096"/>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1F2A31"/>
                </a:solidFill>
                <a:latin typeface="Calibri" pitchFamily="34" charset="0"/>
                <a:ea typeface="Calibri" pitchFamily="34" charset="-122"/>
                <a:cs typeface="Calibri" pitchFamily="34" charset="-120"/>
              </a:rPr>
              <a:t>'Trade Ready' recall does not lift by month 6</a:t>
            </a:r>
            <a:endParaRPr lang="en-US" sz="1250" dirty="0"/>
          </a:p>
        </p:txBody>
      </p:sp>
      <p:sp>
        <p:nvSpPr>
          <p:cNvPr id="17" name="Text 15"/>
          <p:cNvSpPr/>
          <p:nvPr/>
        </p:nvSpPr>
        <p:spPr>
          <a:xfrm>
            <a:off x="4773168" y="4197096"/>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The £0.8m stops; comms revert to product level</a:t>
            </a:r>
            <a:endParaRPr lang="en-US" sz="1200" dirty="0"/>
          </a:p>
        </p:txBody>
      </p:sp>
      <p:sp>
        <p:nvSpPr>
          <p:cNvPr id="18" name="Text 16"/>
          <p:cNvSpPr/>
          <p:nvPr/>
        </p:nvSpPr>
        <p:spPr>
          <a:xfrm>
            <a:off x="8339328" y="4197096"/>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Entry-point recall tracking, quarterly</a:t>
            </a:r>
            <a:endParaRPr lang="en-US" sz="1200" dirty="0"/>
          </a:p>
        </p:txBody>
      </p:sp>
      <p:sp>
        <p:nvSpPr>
          <p:cNvPr id="19" name="Shape 17"/>
          <p:cNvSpPr/>
          <p:nvPr/>
        </p:nvSpPr>
        <p:spPr>
          <a:xfrm>
            <a:off x="566928" y="5084064"/>
            <a:ext cx="11027664" cy="868680"/>
          </a:xfrm>
          <a:prstGeom prst="roundRect">
            <a:avLst>
              <a:gd name="adj" fmla="val 10526"/>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Text 18"/>
          <p:cNvSpPr/>
          <p:nvPr/>
        </p:nvSpPr>
        <p:spPr>
          <a:xfrm>
            <a:off x="877824" y="5184648"/>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1F2A31"/>
                </a:solidFill>
                <a:latin typeface="Calibri" pitchFamily="34" charset="0"/>
                <a:ea typeface="Calibri" pitchFamily="34" charset="-122"/>
                <a:cs typeface="Calibri" pitchFamily="34" charset="-120"/>
              </a:rPr>
              <a:t>The partner slips or captures the relationship</a:t>
            </a:r>
            <a:endParaRPr lang="en-US" sz="1250" dirty="0"/>
          </a:p>
        </p:txBody>
      </p:sp>
      <p:sp>
        <p:nvSpPr>
          <p:cNvPr id="21" name="Text 19"/>
          <p:cNvSpPr/>
          <p:nvPr/>
        </p:nvSpPr>
        <p:spPr>
          <a:xfrm>
            <a:off x="4773168" y="5184648"/>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Invoice finance misses the cycle; moat erodes</a:t>
            </a:r>
            <a:endParaRPr lang="en-US" sz="1200" dirty="0"/>
          </a:p>
        </p:txBody>
      </p:sp>
      <p:sp>
        <p:nvSpPr>
          <p:cNvPr id="22" name="Text 20"/>
          <p:cNvSpPr/>
          <p:nvPr/>
        </p:nvSpPr>
        <p:spPr>
          <a:xfrm>
            <a:off x="8339328" y="5184648"/>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Contract milestones + data-flow audit, month 2</a:t>
            </a:r>
            <a:endParaRPr lang="en-US" sz="1200" dirty="0"/>
          </a:p>
        </p:txBody>
      </p:sp>
      <p:sp>
        <p:nvSpPr>
          <p:cNvPr id="23" name="Text 21"/>
          <p:cNvSpPr/>
          <p:nvPr/>
        </p:nvSpPr>
        <p:spPr>
          <a:xfrm>
            <a:off x="566928" y="6163056"/>
            <a:ext cx="11027664" cy="457200"/>
          </a:xfrm>
          <a:prstGeom prst="rect">
            <a:avLst/>
          </a:prstGeom>
          <a:noFill/>
          <a:ln/>
        </p:spPr>
        <p:txBody>
          <a:bodyPr wrap="square" lIns="0" tIns="0" rIns="0" bIns="0" rtlCol="0" anchor="ctr"/>
          <a:lstStyle/>
          <a:p>
            <a:pPr indent="0" marL="0">
              <a:buNone/>
            </a:pPr>
            <a:r>
              <a:rPr lang="en-US" sz="1300" i="1" dirty="0">
                <a:solidFill>
                  <a:srgbClr val="64818F"/>
                </a:solidFill>
                <a:latin typeface="Calibri" pitchFamily="34" charset="0"/>
                <a:ea typeface="Calibri" pitchFamily="34" charset="-122"/>
                <a:cs typeface="Calibri" pitchFamily="34" charset="-120"/>
              </a:rPr>
              <a:t>Every row ends in the re-score, not in a crisis meeting: the trigger fires, the score changes, the order moves.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F4858"/>
        </a:solidFill>
      </p:bgPr>
    </p:bg>
    <p:spTree>
      <p:nvGrpSpPr>
        <p:cNvPr id="1" name=""/>
        <p:cNvGrpSpPr/>
        <p:nvPr/>
      </p:nvGrpSpPr>
      <p:grpSpPr>
        <a:xfrm>
          <a:off x="0" y="0"/>
          <a:ext cx="0" cy="0"/>
          <a:chOff x="0" y="0"/>
          <a:chExt cx="0" cy="0"/>
        </a:xfrm>
      </p:grpSpPr>
      <p:sp>
        <p:nvSpPr>
          <p:cNvPr id="2" name="Shape 0"/>
          <p:cNvSpPr/>
          <p:nvPr/>
        </p:nvSpPr>
        <p:spPr>
          <a:xfrm>
            <a:off x="-54864" y="-54864"/>
            <a:ext cx="12271248" cy="6967728"/>
          </a:xfrm>
          <a:prstGeom prst="rect">
            <a:avLst/>
          </a:prstGeom>
          <a:solidFill>
            <a:srgbClr val="2F4858"/>
          </a:solidFill>
          <a:ln w="12700">
            <a:solidFill>
              <a:srgbClr val="2F4858"/>
            </a:solidFill>
            <a:prstDash val="solid"/>
          </a:ln>
        </p:spPr>
      </p:sp>
      <p:sp>
        <p:nvSpPr>
          <p:cNvPr id="3" name="Text 1"/>
          <p:cNvSpPr/>
          <p:nvPr/>
        </p:nvSpPr>
        <p:spPr>
          <a:xfrm>
            <a:off x="566928" y="658368"/>
            <a:ext cx="11027664" cy="310896"/>
          </a:xfrm>
          <a:prstGeom prst="rect">
            <a:avLst/>
          </a:prstGeom>
          <a:noFill/>
          <a:ln/>
        </p:spPr>
        <p:txBody>
          <a:bodyPr wrap="square" lIns="0" tIns="0" rIns="0" bIns="0" rtlCol="0" anchor="ctr"/>
          <a:lstStyle/>
          <a:p>
            <a:pPr indent="0" marL="0">
              <a:buNone/>
            </a:pPr>
            <a:r>
              <a:rPr lang="en-US" sz="1200" b="1" spc="260" kern="0" dirty="0">
                <a:solidFill>
                  <a:srgbClr val="C9A227"/>
                </a:solidFill>
                <a:latin typeface="Calibri" pitchFamily="34" charset="0"/>
                <a:ea typeface="Calibri" pitchFamily="34" charset="-122"/>
                <a:cs typeface="Calibri" pitchFamily="34" charset="-120"/>
              </a:rPr>
              <a:t>SO WHAT</a:t>
            </a:r>
            <a:endParaRPr lang="en-US" sz="1200" dirty="0"/>
          </a:p>
        </p:txBody>
      </p:sp>
      <p:sp>
        <p:nvSpPr>
          <p:cNvPr id="4" name="Text 2"/>
          <p:cNvSpPr/>
          <p:nvPr/>
        </p:nvSpPr>
        <p:spPr>
          <a:xfrm>
            <a:off x="566928" y="987552"/>
            <a:ext cx="11027664"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need from you this week</a:t>
            </a:r>
            <a:endParaRPr lang="en-US" sz="3400" dirty="0"/>
          </a:p>
        </p:txBody>
      </p:sp>
      <p:sp>
        <p:nvSpPr>
          <p:cNvPr id="5" name="Shape 3"/>
          <p:cNvSpPr/>
          <p:nvPr/>
        </p:nvSpPr>
        <p:spPr>
          <a:xfrm>
            <a:off x="566928" y="1920240"/>
            <a:ext cx="11027664" cy="804672"/>
          </a:xfrm>
          <a:prstGeom prst="roundRect">
            <a:avLst>
              <a:gd name="adj" fmla="val 11364"/>
            </a:avLst>
          </a:prstGeom>
          <a:solidFill>
            <a:srgbClr val="36586A"/>
          </a:solidFill>
          <a:ln w="12700">
            <a:solidFill>
              <a:srgbClr val="333333"/>
            </a:solidFill>
            <a:prstDash val="solid"/>
          </a:ln>
        </p:spPr>
      </p:sp>
      <p:sp>
        <p:nvSpPr>
          <p:cNvPr id="6" name="Shape 4"/>
          <p:cNvSpPr/>
          <p:nvPr/>
        </p:nvSpPr>
        <p:spPr>
          <a:xfrm>
            <a:off x="877824" y="2112264"/>
            <a:ext cx="420624" cy="420624"/>
          </a:xfrm>
          <a:prstGeom prst="ellipse">
            <a:avLst/>
          </a:prstGeom>
          <a:solidFill>
            <a:srgbClr val="C9A227"/>
          </a:solidFill>
          <a:ln w="12700">
            <a:solidFill>
              <a:srgbClr val="C9A227"/>
            </a:solidFill>
            <a:prstDash val="solid"/>
          </a:ln>
        </p:spPr>
      </p:sp>
      <p:sp>
        <p:nvSpPr>
          <p:cNvPr id="7" name="Text 5"/>
          <p:cNvSpPr/>
          <p:nvPr/>
        </p:nvSpPr>
        <p:spPr>
          <a:xfrm>
            <a:off x="877824" y="2112264"/>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20240"/>
            <a:ext cx="1463040" cy="804672"/>
          </a:xfrm>
          <a:prstGeom prst="rect">
            <a:avLst/>
          </a:prstGeom>
          <a:noFill/>
          <a:ln/>
        </p:spPr>
        <p:txBody>
          <a:bodyPr wrap="square" lIns="0" tIns="0" rIns="0" bIns="0" rtlCol="0" anchor="ctr"/>
          <a:lstStyle/>
          <a:p>
            <a:pPr indent="0" marL="0">
              <a:buNone/>
            </a:pPr>
            <a:r>
              <a:rPr lang="en-US" sz="1900" b="1" dirty="0">
                <a:solidFill>
                  <a:srgbClr val="C9A227"/>
                </a:solidFill>
                <a:latin typeface="Cambria" pitchFamily="34" charset="0"/>
                <a:ea typeface="Cambria" pitchFamily="34" charset="-122"/>
                <a:cs typeface="Cambria" pitchFamily="34" charset="-120"/>
              </a:rPr>
              <a:t>Adopt</a:t>
            </a:r>
            <a:endParaRPr lang="en-US" sz="1900" dirty="0"/>
          </a:p>
        </p:txBody>
      </p:sp>
      <p:sp>
        <p:nvSpPr>
          <p:cNvPr id="9" name="Text 7"/>
          <p:cNvSpPr/>
          <p:nvPr/>
        </p:nvSpPr>
        <p:spPr>
          <a:xfrm>
            <a:off x="3035808" y="1920240"/>
            <a:ext cx="5760720" cy="804672"/>
          </a:xfrm>
          <a:prstGeom prst="rect">
            <a:avLst/>
          </a:prstGeom>
          <a:noFill/>
          <a:ln/>
        </p:spPr>
        <p:txBody>
          <a:bodyPr wrap="square" lIns="0" tIns="0" rIns="0" bIns="0" rtlCol="0" anchor="ctr"/>
          <a:lstStyle/>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The sorting rule: demand admits, per-slot return sorts, capacity cuts</a:t>
            </a:r>
            <a:endParaRPr lang="en-US" sz="1400" dirty="0"/>
          </a:p>
        </p:txBody>
      </p:sp>
      <p:sp>
        <p:nvSpPr>
          <p:cNvPr id="10" name="Text 8"/>
          <p:cNvSpPr/>
          <p:nvPr/>
        </p:nvSpPr>
        <p:spPr>
          <a:xfrm>
            <a:off x="8887968" y="1920240"/>
            <a:ext cx="1554480" cy="804672"/>
          </a:xfrm>
          <a:prstGeom prst="rect">
            <a:avLst/>
          </a:prstGeom>
          <a:noFill/>
          <a:ln/>
        </p:spPr>
        <p:txBody>
          <a:bodyPr wrap="square" lIns="0" tIns="0" rIns="0" bIns="0" rtlCol="0" anchor="ctr"/>
          <a:lstStyle/>
          <a:p>
            <a:pPr indent="0" marL="0">
              <a:buNone/>
            </a:pPr>
            <a:r>
              <a:rPr lang="en-US" sz="1250" dirty="0">
                <a:solidFill>
                  <a:srgbClr val="C6DCE7"/>
                </a:solidFill>
                <a:latin typeface="Calibri" pitchFamily="34" charset="0"/>
                <a:ea typeface="Calibri" pitchFamily="34" charset="-122"/>
                <a:cs typeface="Calibri" pitchFamily="34" charset="-120"/>
              </a:rPr>
              <a:t>[Owner]</a:t>
            </a:r>
            <a:endParaRPr lang="en-US" sz="1250" dirty="0"/>
          </a:p>
        </p:txBody>
      </p:sp>
      <p:sp>
        <p:nvSpPr>
          <p:cNvPr id="11" name="Text 9"/>
          <p:cNvSpPr/>
          <p:nvPr/>
        </p:nvSpPr>
        <p:spPr>
          <a:xfrm>
            <a:off x="10533888" y="1920240"/>
            <a:ext cx="914400" cy="804672"/>
          </a:xfrm>
          <a:prstGeom prst="rect">
            <a:avLst/>
          </a:prstGeom>
          <a:noFill/>
          <a:ln/>
        </p:spPr>
        <p:txBody>
          <a:bodyPr wrap="square" lIns="0" tIns="0" rIns="0" bIns="0" rtlCol="0" anchor="ctr"/>
          <a:lstStyle/>
          <a:p>
            <a:pPr algn="r" indent="0" marL="0">
              <a:buNone/>
            </a:pPr>
            <a:r>
              <a:rPr lang="en-US" sz="1250" dirty="0">
                <a:solidFill>
                  <a:srgbClr val="C6DCE7"/>
                </a:solidFill>
                <a:latin typeface="Calibri" pitchFamily="34" charset="0"/>
                <a:ea typeface="Calibri" pitchFamily="34" charset="-122"/>
                <a:cs typeface="Calibri" pitchFamily="34" charset="-120"/>
              </a:rPr>
              <a:t>[Date]</a:t>
            </a:r>
            <a:endParaRPr lang="en-US" sz="1250" dirty="0"/>
          </a:p>
        </p:txBody>
      </p:sp>
      <p:sp>
        <p:nvSpPr>
          <p:cNvPr id="12" name="Shape 10"/>
          <p:cNvSpPr/>
          <p:nvPr/>
        </p:nvSpPr>
        <p:spPr>
          <a:xfrm>
            <a:off x="566928" y="2871216"/>
            <a:ext cx="11027664" cy="804672"/>
          </a:xfrm>
          <a:prstGeom prst="roundRect">
            <a:avLst>
              <a:gd name="adj" fmla="val 11364"/>
            </a:avLst>
          </a:prstGeom>
          <a:solidFill>
            <a:srgbClr val="36586A"/>
          </a:solidFill>
          <a:ln w="12700">
            <a:solidFill>
              <a:srgbClr val="333333"/>
            </a:solidFill>
            <a:prstDash val="solid"/>
          </a:ln>
        </p:spPr>
      </p:sp>
      <p:sp>
        <p:nvSpPr>
          <p:cNvPr id="13" name="Shape 11"/>
          <p:cNvSpPr/>
          <p:nvPr/>
        </p:nvSpPr>
        <p:spPr>
          <a:xfrm>
            <a:off x="877824" y="3063240"/>
            <a:ext cx="420624" cy="420624"/>
          </a:xfrm>
          <a:prstGeom prst="ellipse">
            <a:avLst/>
          </a:prstGeom>
          <a:solidFill>
            <a:srgbClr val="C9A227"/>
          </a:solidFill>
          <a:ln w="12700">
            <a:solidFill>
              <a:srgbClr val="C9A227"/>
            </a:solidFill>
            <a:prstDash val="solid"/>
          </a:ln>
        </p:spPr>
      </p:sp>
      <p:sp>
        <p:nvSpPr>
          <p:cNvPr id="14" name="Text 12"/>
          <p:cNvSpPr/>
          <p:nvPr/>
        </p:nvSpPr>
        <p:spPr>
          <a:xfrm>
            <a:off x="877824" y="3063240"/>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527048" y="2871216"/>
            <a:ext cx="1463040" cy="804672"/>
          </a:xfrm>
          <a:prstGeom prst="rect">
            <a:avLst/>
          </a:prstGeom>
          <a:noFill/>
          <a:ln/>
        </p:spPr>
        <p:txBody>
          <a:bodyPr wrap="square" lIns="0" tIns="0" rIns="0" bIns="0" rtlCol="0" anchor="ctr"/>
          <a:lstStyle/>
          <a:p>
            <a:pPr indent="0" marL="0">
              <a:buNone/>
            </a:pPr>
            <a:r>
              <a:rPr lang="en-US" sz="1900" b="1" dirty="0">
                <a:solidFill>
                  <a:srgbClr val="C9A227"/>
                </a:solidFill>
                <a:latin typeface="Cambria" pitchFamily="34" charset="0"/>
                <a:ea typeface="Cambria" pitchFamily="34" charset="-122"/>
                <a:cs typeface="Cambria" pitchFamily="34" charset="-120"/>
              </a:rPr>
              <a:t>Approve</a:t>
            </a:r>
            <a:endParaRPr lang="en-US" sz="1900" dirty="0"/>
          </a:p>
        </p:txBody>
      </p:sp>
      <p:sp>
        <p:nvSpPr>
          <p:cNvPr id="16" name="Text 14"/>
          <p:cNvSpPr/>
          <p:nvPr/>
        </p:nvSpPr>
        <p:spPr>
          <a:xfrm>
            <a:off x="3035808" y="2871216"/>
            <a:ext cx="5760720" cy="804672"/>
          </a:xfrm>
          <a:prstGeom prst="rect">
            <a:avLst/>
          </a:prstGeom>
          <a:noFill/>
          <a:ln/>
        </p:spPr>
        <p:txBody>
          <a:bodyPr wrap="square" lIns="0" tIns="0" rIns="0" bIns="0" rtlCol="0" anchor="ctr"/>
          <a:lstStyle/>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This cycle's slate: build FX, partner invoice finance</a:t>
            </a:r>
            <a:endParaRPr lang="en-US" sz="1400" dirty="0"/>
          </a:p>
        </p:txBody>
      </p:sp>
      <p:sp>
        <p:nvSpPr>
          <p:cNvPr id="17" name="Text 15"/>
          <p:cNvSpPr/>
          <p:nvPr/>
        </p:nvSpPr>
        <p:spPr>
          <a:xfrm>
            <a:off x="8887968" y="2871216"/>
            <a:ext cx="1554480" cy="804672"/>
          </a:xfrm>
          <a:prstGeom prst="rect">
            <a:avLst/>
          </a:prstGeom>
          <a:noFill/>
          <a:ln/>
        </p:spPr>
        <p:txBody>
          <a:bodyPr wrap="square" lIns="0" tIns="0" rIns="0" bIns="0" rtlCol="0" anchor="ctr"/>
          <a:lstStyle/>
          <a:p>
            <a:pPr indent="0" marL="0">
              <a:buNone/>
            </a:pPr>
            <a:r>
              <a:rPr lang="en-US" sz="1250" dirty="0">
                <a:solidFill>
                  <a:srgbClr val="C6DCE7"/>
                </a:solidFill>
                <a:latin typeface="Calibri" pitchFamily="34" charset="0"/>
                <a:ea typeface="Calibri" pitchFamily="34" charset="-122"/>
                <a:cs typeface="Calibri" pitchFamily="34" charset="-120"/>
              </a:rPr>
              <a:t>[Owner]</a:t>
            </a:r>
            <a:endParaRPr lang="en-US" sz="1250" dirty="0"/>
          </a:p>
        </p:txBody>
      </p:sp>
      <p:sp>
        <p:nvSpPr>
          <p:cNvPr id="18" name="Text 16"/>
          <p:cNvSpPr/>
          <p:nvPr/>
        </p:nvSpPr>
        <p:spPr>
          <a:xfrm>
            <a:off x="10533888" y="2871216"/>
            <a:ext cx="914400" cy="804672"/>
          </a:xfrm>
          <a:prstGeom prst="rect">
            <a:avLst/>
          </a:prstGeom>
          <a:noFill/>
          <a:ln/>
        </p:spPr>
        <p:txBody>
          <a:bodyPr wrap="square" lIns="0" tIns="0" rIns="0" bIns="0" rtlCol="0" anchor="ctr"/>
          <a:lstStyle/>
          <a:p>
            <a:pPr algn="r" indent="0" marL="0">
              <a:buNone/>
            </a:pPr>
            <a:r>
              <a:rPr lang="en-US" sz="1250" dirty="0">
                <a:solidFill>
                  <a:srgbClr val="C6DCE7"/>
                </a:solidFill>
                <a:latin typeface="Calibri" pitchFamily="34" charset="0"/>
                <a:ea typeface="Calibri" pitchFamily="34" charset="-122"/>
                <a:cs typeface="Calibri" pitchFamily="34" charset="-120"/>
              </a:rPr>
              <a:t>[Date]</a:t>
            </a:r>
            <a:endParaRPr lang="en-US" sz="1250" dirty="0"/>
          </a:p>
        </p:txBody>
      </p:sp>
      <p:sp>
        <p:nvSpPr>
          <p:cNvPr id="19" name="Shape 17"/>
          <p:cNvSpPr/>
          <p:nvPr/>
        </p:nvSpPr>
        <p:spPr>
          <a:xfrm>
            <a:off x="566928" y="3822192"/>
            <a:ext cx="11027664" cy="804672"/>
          </a:xfrm>
          <a:prstGeom prst="roundRect">
            <a:avLst>
              <a:gd name="adj" fmla="val 11364"/>
            </a:avLst>
          </a:prstGeom>
          <a:solidFill>
            <a:srgbClr val="36586A"/>
          </a:solidFill>
          <a:ln w="12700">
            <a:solidFill>
              <a:srgbClr val="333333"/>
            </a:solidFill>
            <a:prstDash val="solid"/>
          </a:ln>
        </p:spPr>
      </p:sp>
      <p:sp>
        <p:nvSpPr>
          <p:cNvPr id="20" name="Shape 18"/>
          <p:cNvSpPr/>
          <p:nvPr/>
        </p:nvSpPr>
        <p:spPr>
          <a:xfrm>
            <a:off x="877824" y="4014216"/>
            <a:ext cx="420624" cy="420624"/>
          </a:xfrm>
          <a:prstGeom prst="ellipse">
            <a:avLst/>
          </a:prstGeom>
          <a:solidFill>
            <a:srgbClr val="C9A227"/>
          </a:solidFill>
          <a:ln w="12700">
            <a:solidFill>
              <a:srgbClr val="C9A227"/>
            </a:solidFill>
            <a:prstDash val="solid"/>
          </a:ln>
        </p:spPr>
      </p:sp>
      <p:sp>
        <p:nvSpPr>
          <p:cNvPr id="21" name="Text 19"/>
          <p:cNvSpPr/>
          <p:nvPr/>
        </p:nvSpPr>
        <p:spPr>
          <a:xfrm>
            <a:off x="877824" y="4014216"/>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1527048" y="3822192"/>
            <a:ext cx="1463040" cy="804672"/>
          </a:xfrm>
          <a:prstGeom prst="rect">
            <a:avLst/>
          </a:prstGeom>
          <a:noFill/>
          <a:ln/>
        </p:spPr>
        <p:txBody>
          <a:bodyPr wrap="square" lIns="0" tIns="0" rIns="0" bIns="0" rtlCol="0" anchor="ctr"/>
          <a:lstStyle/>
          <a:p>
            <a:pPr indent="0" marL="0">
              <a:buNone/>
            </a:pPr>
            <a:r>
              <a:rPr lang="en-US" sz="1900" b="1" dirty="0">
                <a:solidFill>
                  <a:srgbClr val="C9A227"/>
                </a:solidFill>
                <a:latin typeface="Cambria" pitchFamily="34" charset="0"/>
                <a:ea typeface="Cambria" pitchFamily="34" charset="-122"/>
                <a:cs typeface="Cambria" pitchFamily="34" charset="-120"/>
              </a:rPr>
              <a:t>Sign</a:t>
            </a:r>
            <a:endParaRPr lang="en-US" sz="1900" dirty="0"/>
          </a:p>
        </p:txBody>
      </p:sp>
      <p:sp>
        <p:nvSpPr>
          <p:cNvPr id="23" name="Text 21"/>
          <p:cNvSpPr/>
          <p:nvPr/>
        </p:nvSpPr>
        <p:spPr>
          <a:xfrm>
            <a:off x="3035808" y="3822192"/>
            <a:ext cx="5760720" cy="804672"/>
          </a:xfrm>
          <a:prstGeom prst="rect">
            <a:avLst/>
          </a:prstGeom>
          <a:noFill/>
          <a:ln/>
        </p:spPr>
        <p:txBody>
          <a:bodyPr wrap="square" lIns="0" tIns="0" rIns="0" bIns="0" rtlCol="0" anchor="ctr"/>
          <a:lstStyle/>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Partner heads of terms — exclusivity, data, exit, re-opener (slide 19)</a:t>
            </a:r>
            <a:endParaRPr lang="en-US" sz="1400" dirty="0"/>
          </a:p>
        </p:txBody>
      </p:sp>
      <p:sp>
        <p:nvSpPr>
          <p:cNvPr id="24" name="Text 22"/>
          <p:cNvSpPr/>
          <p:nvPr/>
        </p:nvSpPr>
        <p:spPr>
          <a:xfrm>
            <a:off x="8887968" y="3822192"/>
            <a:ext cx="1554480" cy="804672"/>
          </a:xfrm>
          <a:prstGeom prst="rect">
            <a:avLst/>
          </a:prstGeom>
          <a:noFill/>
          <a:ln/>
        </p:spPr>
        <p:txBody>
          <a:bodyPr wrap="square" lIns="0" tIns="0" rIns="0" bIns="0" rtlCol="0" anchor="ctr"/>
          <a:lstStyle/>
          <a:p>
            <a:pPr indent="0" marL="0">
              <a:buNone/>
            </a:pPr>
            <a:r>
              <a:rPr lang="en-US" sz="1250" dirty="0">
                <a:solidFill>
                  <a:srgbClr val="C6DCE7"/>
                </a:solidFill>
                <a:latin typeface="Calibri" pitchFamily="34" charset="0"/>
                <a:ea typeface="Calibri" pitchFamily="34" charset="-122"/>
                <a:cs typeface="Calibri" pitchFamily="34" charset="-120"/>
              </a:rPr>
              <a:t>[Owner]</a:t>
            </a:r>
            <a:endParaRPr lang="en-US" sz="1250" dirty="0"/>
          </a:p>
        </p:txBody>
      </p:sp>
      <p:sp>
        <p:nvSpPr>
          <p:cNvPr id="25" name="Text 23"/>
          <p:cNvSpPr/>
          <p:nvPr/>
        </p:nvSpPr>
        <p:spPr>
          <a:xfrm>
            <a:off x="10533888" y="3822192"/>
            <a:ext cx="914400" cy="804672"/>
          </a:xfrm>
          <a:prstGeom prst="rect">
            <a:avLst/>
          </a:prstGeom>
          <a:noFill/>
          <a:ln/>
        </p:spPr>
        <p:txBody>
          <a:bodyPr wrap="square" lIns="0" tIns="0" rIns="0" bIns="0" rtlCol="0" anchor="ctr"/>
          <a:lstStyle/>
          <a:p>
            <a:pPr algn="r" indent="0" marL="0">
              <a:buNone/>
            </a:pPr>
            <a:r>
              <a:rPr lang="en-US" sz="1250" dirty="0">
                <a:solidFill>
                  <a:srgbClr val="C6DCE7"/>
                </a:solidFill>
                <a:latin typeface="Calibri" pitchFamily="34" charset="0"/>
                <a:ea typeface="Calibri" pitchFamily="34" charset="-122"/>
                <a:cs typeface="Calibri" pitchFamily="34" charset="-120"/>
              </a:rPr>
              <a:t>[Date]</a:t>
            </a:r>
            <a:endParaRPr lang="en-US" sz="1250" dirty="0"/>
          </a:p>
        </p:txBody>
      </p:sp>
      <p:sp>
        <p:nvSpPr>
          <p:cNvPr id="26" name="Shape 24"/>
          <p:cNvSpPr/>
          <p:nvPr/>
        </p:nvSpPr>
        <p:spPr>
          <a:xfrm>
            <a:off x="566928" y="4773168"/>
            <a:ext cx="11027664" cy="804672"/>
          </a:xfrm>
          <a:prstGeom prst="roundRect">
            <a:avLst>
              <a:gd name="adj" fmla="val 11364"/>
            </a:avLst>
          </a:prstGeom>
          <a:solidFill>
            <a:srgbClr val="36586A"/>
          </a:solidFill>
          <a:ln w="12700">
            <a:solidFill>
              <a:srgbClr val="333333"/>
            </a:solidFill>
            <a:prstDash val="solid"/>
          </a:ln>
        </p:spPr>
      </p:sp>
      <p:sp>
        <p:nvSpPr>
          <p:cNvPr id="27" name="Shape 25"/>
          <p:cNvSpPr/>
          <p:nvPr/>
        </p:nvSpPr>
        <p:spPr>
          <a:xfrm>
            <a:off x="877824" y="4965192"/>
            <a:ext cx="420624" cy="420624"/>
          </a:xfrm>
          <a:prstGeom prst="ellipse">
            <a:avLst/>
          </a:prstGeom>
          <a:solidFill>
            <a:srgbClr val="C9A227"/>
          </a:solidFill>
          <a:ln w="12700">
            <a:solidFill>
              <a:srgbClr val="C9A227"/>
            </a:solidFill>
            <a:prstDash val="solid"/>
          </a:ln>
        </p:spPr>
      </p:sp>
      <p:sp>
        <p:nvSpPr>
          <p:cNvPr id="28" name="Text 26"/>
          <p:cNvSpPr/>
          <p:nvPr/>
        </p:nvSpPr>
        <p:spPr>
          <a:xfrm>
            <a:off x="877824" y="4965192"/>
            <a:ext cx="420624" cy="420624"/>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1527048" y="4773168"/>
            <a:ext cx="1463040" cy="804672"/>
          </a:xfrm>
          <a:prstGeom prst="rect">
            <a:avLst/>
          </a:prstGeom>
          <a:noFill/>
          <a:ln/>
        </p:spPr>
        <p:txBody>
          <a:bodyPr wrap="square" lIns="0" tIns="0" rIns="0" bIns="0" rtlCol="0" anchor="ctr"/>
          <a:lstStyle/>
          <a:p>
            <a:pPr indent="0" marL="0">
              <a:buNone/>
            </a:pPr>
            <a:r>
              <a:rPr lang="en-US" sz="1900" b="1" dirty="0">
                <a:solidFill>
                  <a:srgbClr val="C9A227"/>
                </a:solidFill>
                <a:latin typeface="Cambria" pitchFamily="34" charset="0"/>
                <a:ea typeface="Cambria" pitchFamily="34" charset="-122"/>
                <a:cs typeface="Cambria" pitchFamily="34" charset="-120"/>
              </a:rPr>
              <a:t>Stop</a:t>
            </a:r>
            <a:endParaRPr lang="en-US" sz="1900" dirty="0"/>
          </a:p>
        </p:txBody>
      </p:sp>
      <p:sp>
        <p:nvSpPr>
          <p:cNvPr id="30" name="Text 28"/>
          <p:cNvSpPr/>
          <p:nvPr/>
        </p:nvSpPr>
        <p:spPr>
          <a:xfrm>
            <a:off x="3035808" y="4773168"/>
            <a:ext cx="5760720" cy="804672"/>
          </a:xfrm>
          <a:prstGeom prst="rect">
            <a:avLst/>
          </a:prstGeom>
          <a:noFill/>
          <a:ln/>
        </p:spPr>
        <p:txBody>
          <a:bodyPr wrap="square" lIns="0" tIns="0" rIns="0" bIns="0" rtlCol="0" anchor="ctr"/>
          <a:lstStyle/>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Crypto and rewards — off the list until new demand evidence</a:t>
            </a:r>
            <a:endParaRPr lang="en-US" sz="1400" dirty="0"/>
          </a:p>
        </p:txBody>
      </p:sp>
      <p:sp>
        <p:nvSpPr>
          <p:cNvPr id="31" name="Text 29"/>
          <p:cNvSpPr/>
          <p:nvPr/>
        </p:nvSpPr>
        <p:spPr>
          <a:xfrm>
            <a:off x="8887968" y="4773168"/>
            <a:ext cx="1554480" cy="804672"/>
          </a:xfrm>
          <a:prstGeom prst="rect">
            <a:avLst/>
          </a:prstGeom>
          <a:noFill/>
          <a:ln/>
        </p:spPr>
        <p:txBody>
          <a:bodyPr wrap="square" lIns="0" tIns="0" rIns="0" bIns="0" rtlCol="0" anchor="ctr"/>
          <a:lstStyle/>
          <a:p>
            <a:pPr indent="0" marL="0">
              <a:buNone/>
            </a:pPr>
            <a:r>
              <a:rPr lang="en-US" sz="1250" dirty="0">
                <a:solidFill>
                  <a:srgbClr val="C6DCE7"/>
                </a:solidFill>
                <a:latin typeface="Calibri" pitchFamily="34" charset="0"/>
                <a:ea typeface="Calibri" pitchFamily="34" charset="-122"/>
                <a:cs typeface="Calibri" pitchFamily="34" charset="-120"/>
              </a:rPr>
              <a:t>[Owner]</a:t>
            </a:r>
            <a:endParaRPr lang="en-US" sz="1250" dirty="0"/>
          </a:p>
        </p:txBody>
      </p:sp>
      <p:sp>
        <p:nvSpPr>
          <p:cNvPr id="32" name="Text 30"/>
          <p:cNvSpPr/>
          <p:nvPr/>
        </p:nvSpPr>
        <p:spPr>
          <a:xfrm>
            <a:off x="10533888" y="4773168"/>
            <a:ext cx="914400" cy="804672"/>
          </a:xfrm>
          <a:prstGeom prst="rect">
            <a:avLst/>
          </a:prstGeom>
          <a:noFill/>
          <a:ln/>
        </p:spPr>
        <p:txBody>
          <a:bodyPr wrap="square" lIns="0" tIns="0" rIns="0" bIns="0" rtlCol="0" anchor="ctr"/>
          <a:lstStyle/>
          <a:p>
            <a:pPr algn="r" indent="0" marL="0">
              <a:buNone/>
            </a:pPr>
            <a:r>
              <a:rPr lang="en-US" sz="1250" dirty="0">
                <a:solidFill>
                  <a:srgbClr val="C6DCE7"/>
                </a:solidFill>
                <a:latin typeface="Calibri" pitchFamily="34" charset="0"/>
                <a:ea typeface="Calibri" pitchFamily="34" charset="-122"/>
                <a:cs typeface="Calibri" pitchFamily="34" charset="-120"/>
              </a:rPr>
              <a:t>[Date]</a:t>
            </a:r>
            <a:endParaRPr lang="en-US" sz="1250" dirty="0"/>
          </a:p>
        </p:txBody>
      </p:sp>
      <p:sp>
        <p:nvSpPr>
          <p:cNvPr id="33" name="Text 31"/>
          <p:cNvSpPr/>
          <p:nvPr/>
        </p:nvSpPr>
        <p:spPr>
          <a:xfrm>
            <a:off x="566928" y="5870448"/>
            <a:ext cx="11027664" cy="457200"/>
          </a:xfrm>
          <a:prstGeom prst="rect">
            <a:avLst/>
          </a:prstGeom>
          <a:noFill/>
          <a:ln/>
        </p:spPr>
        <p:txBody>
          <a:bodyPr wrap="square" lIns="0" tIns="0" rIns="0" bIns="0" rtlCol="0" anchor="ctr"/>
          <a:lstStyle/>
          <a:p>
            <a:pPr indent="0" marL="0">
              <a:buNone/>
            </a:pPr>
            <a:r>
              <a:rPr lang="en-US" sz="1350" i="1" dirty="0">
                <a:solidFill>
                  <a:srgbClr val="8FB3C2"/>
                </a:solidFill>
                <a:latin typeface="Calibri" pitchFamily="34" charset="0"/>
                <a:ea typeface="Calibri" pitchFamily="34" charset="-122"/>
                <a:cs typeface="Calibri" pitchFamily="34" charset="-120"/>
              </a:rPr>
              <a:t>First re-score lands in [month]. From then on the backlog is a standing agenda item, not a new deck.</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700" b="1" dirty="0">
                <a:solidFill>
                  <a:srgbClr val="1F2A31"/>
                </a:solidFill>
                <a:latin typeface="Cambria" pitchFamily="34" charset="0"/>
                <a:ea typeface="Cambria" pitchFamily="34" charset="-122"/>
                <a:cs typeface="Cambria" pitchFamily="34" charset="-120"/>
              </a:rPr>
              <a:t>Supporting detail — and how each analysis was run</a:t>
            </a:r>
            <a:endParaRPr lang="en-US" sz="2700" dirty="0"/>
          </a:p>
        </p:txBody>
      </p:sp>
      <p:sp>
        <p:nvSpPr>
          <p:cNvPr id="4" name="Shape 2"/>
          <p:cNvSpPr/>
          <p:nvPr/>
        </p:nvSpPr>
        <p:spPr>
          <a:xfrm>
            <a:off x="566928" y="1691640"/>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32688" y="1837944"/>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OCV methodology + research findings</a:t>
            </a:r>
            <a:endParaRPr lang="en-US" sz="1450" dirty="0"/>
          </a:p>
        </p:txBody>
      </p:sp>
      <p:sp>
        <p:nvSpPr>
          <p:cNvPr id="6" name="Text 4"/>
          <p:cNvSpPr/>
          <p:nvPr/>
        </p:nvSpPr>
        <p:spPr>
          <a:xfrm>
            <a:off x="932688" y="2203704"/>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Metric construction, calibration, the 320-interview base</a:t>
            </a:r>
            <a:endParaRPr lang="en-US" sz="1200" dirty="0"/>
          </a:p>
        </p:txBody>
      </p:sp>
      <p:sp>
        <p:nvSpPr>
          <p:cNvPr id="7" name="Shape 5"/>
          <p:cNvSpPr/>
          <p:nvPr/>
        </p:nvSpPr>
        <p:spPr>
          <a:xfrm>
            <a:off x="6240780" y="1691640"/>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6606540" y="1837944"/>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Pricing and incentive model</a:t>
            </a:r>
            <a:endParaRPr lang="en-US" sz="1450" dirty="0"/>
          </a:p>
        </p:txBody>
      </p:sp>
      <p:sp>
        <p:nvSpPr>
          <p:cNvPr id="9" name="Text 7"/>
          <p:cNvSpPr/>
          <p:nvPr/>
        </p:nvSpPr>
        <p:spPr>
          <a:xfrm>
            <a:off x="6606540" y="2203704"/>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Lever assumptions, dead-weight estimates, clawback terms</a:t>
            </a:r>
            <a:endParaRPr lang="en-US" sz="1200" dirty="0"/>
          </a:p>
        </p:txBody>
      </p:sp>
      <p:sp>
        <p:nvSpPr>
          <p:cNvPr id="10" name="Shape 8"/>
          <p:cNvSpPr/>
          <p:nvPr/>
        </p:nvSpPr>
        <p:spPr>
          <a:xfrm>
            <a:off x="566928" y="2862072"/>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32688" y="3008376"/>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Wrapper / recall study</a:t>
            </a:r>
            <a:endParaRPr lang="en-US" sz="1450" dirty="0"/>
          </a:p>
        </p:txBody>
      </p:sp>
      <p:sp>
        <p:nvSpPr>
          <p:cNvPr id="12" name="Text 10"/>
          <p:cNvSpPr/>
          <p:nvPr/>
        </p:nvSpPr>
        <p:spPr>
          <a:xfrm>
            <a:off x="932688" y="3374136"/>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Entry-point research, recall tracking, break-even</a:t>
            </a:r>
            <a:endParaRPr lang="en-US" sz="1200" dirty="0"/>
          </a:p>
        </p:txBody>
      </p:sp>
      <p:sp>
        <p:nvSpPr>
          <p:cNvPr id="13" name="Shape 11"/>
          <p:cNvSpPr/>
          <p:nvPr/>
        </p:nvSpPr>
        <p:spPr>
          <a:xfrm>
            <a:off x="6240780" y="2862072"/>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6606540" y="3008376"/>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Partner due diligence + route model</a:t>
            </a:r>
            <a:endParaRPr lang="en-US" sz="1450" dirty="0"/>
          </a:p>
        </p:txBody>
      </p:sp>
      <p:sp>
        <p:nvSpPr>
          <p:cNvPr id="15" name="Text 13"/>
          <p:cNvSpPr/>
          <p:nvPr/>
        </p:nvSpPr>
        <p:spPr>
          <a:xfrm>
            <a:off x="6606540" y="3374136"/>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Counterparty assessment, terms, route economics</a:t>
            </a:r>
            <a:endParaRPr lang="en-US" sz="1200" dirty="0"/>
          </a:p>
        </p:txBody>
      </p:sp>
      <p:sp>
        <p:nvSpPr>
          <p:cNvPr id="16" name="Shape 14"/>
          <p:cNvSpPr/>
          <p:nvPr/>
        </p:nvSpPr>
        <p:spPr>
          <a:xfrm>
            <a:off x="566928" y="4032504"/>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Text 15"/>
          <p:cNvSpPr/>
          <p:nvPr/>
        </p:nvSpPr>
        <p:spPr>
          <a:xfrm>
            <a:off x="932688" y="4178808"/>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Method: the four analyses</a:t>
            </a:r>
            <a:endParaRPr lang="en-US" sz="1450" dirty="0"/>
          </a:p>
        </p:txBody>
      </p:sp>
      <p:sp>
        <p:nvSpPr>
          <p:cNvPr id="18" name="Text 16"/>
          <p:cNvSpPr/>
          <p:nvPr/>
        </p:nvSpPr>
        <p:spPr>
          <a:xfrm>
            <a:off x="932688" y="4544568"/>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Step-by-step, next four pages — reproducible with Copilot</a:t>
            </a:r>
            <a:endParaRPr lang="en-US" sz="1200" dirty="0"/>
          </a:p>
        </p:txBody>
      </p:sp>
      <p:sp>
        <p:nvSpPr>
          <p:cNvPr id="19" name="Shape 17"/>
          <p:cNvSpPr/>
          <p:nvPr/>
        </p:nvSpPr>
        <p:spPr>
          <a:xfrm>
            <a:off x="6240780" y="4032504"/>
            <a:ext cx="5353812" cy="1005840"/>
          </a:xfrm>
          <a:prstGeom prst="roundRect">
            <a:avLst>
              <a:gd name="adj" fmla="val 9091"/>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Text 18"/>
          <p:cNvSpPr/>
          <p:nvPr/>
        </p:nvSpPr>
        <p:spPr>
          <a:xfrm>
            <a:off x="6606540" y="4178808"/>
            <a:ext cx="4622292" cy="365760"/>
          </a:xfrm>
          <a:prstGeom prst="rect">
            <a:avLst/>
          </a:prstGeom>
          <a:noFill/>
          <a:ln/>
        </p:spPr>
        <p:txBody>
          <a:bodyPr wrap="square" lIns="0" tIns="0" rIns="0" bIns="0" rtlCol="0" anchor="ctr"/>
          <a:lstStyle/>
          <a:p>
            <a:pPr indent="0" marL="0">
              <a:buNone/>
            </a:pPr>
            <a:r>
              <a:rPr lang="en-US" sz="1450" b="1" dirty="0">
                <a:solidFill>
                  <a:srgbClr val="1F2A31"/>
                </a:solidFill>
                <a:latin typeface="Calibri" pitchFamily="34" charset="0"/>
                <a:ea typeface="Calibri" pitchFamily="34" charset="-122"/>
                <a:cs typeface="Calibri" pitchFamily="34" charset="-120"/>
              </a:rPr>
              <a:t>Features considered and excluded earlier</a:t>
            </a:r>
            <a:endParaRPr lang="en-US" sz="1450" dirty="0"/>
          </a:p>
        </p:txBody>
      </p:sp>
      <p:sp>
        <p:nvSpPr>
          <p:cNvPr id="21" name="Text 19"/>
          <p:cNvSpPr/>
          <p:nvPr/>
        </p:nvSpPr>
        <p:spPr>
          <a:xfrm>
            <a:off x="6606540" y="4544568"/>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Calibri" pitchFamily="34" charset="0"/>
                <a:ea typeface="Calibri" pitchFamily="34" charset="-122"/>
                <a:cs typeface="Calibri" pitchFamily="34" charset="-120"/>
              </a:rPr>
              <a:t>Anything cut before the shortlist, and why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APPENDIX  ·  METHOD 1 OF 4</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400" b="1" dirty="0">
                <a:solidFill>
                  <a:srgbClr val="1F2A31"/>
                </a:solidFill>
                <a:latin typeface="Cambria" pitchFamily="34" charset="0"/>
                <a:ea typeface="Cambria" pitchFamily="34" charset="-122"/>
                <a:cs typeface="Cambria" pitchFamily="34" charset="-120"/>
              </a:rPr>
              <a:t>How the demand scores were built</a:t>
            </a:r>
            <a:endParaRPr lang="en-US" sz="2400" dirty="0"/>
          </a:p>
        </p:txBody>
      </p:sp>
      <p:sp>
        <p:nvSpPr>
          <p:cNvPr id="4" name="Shape 2"/>
          <p:cNvSpPr/>
          <p:nvPr/>
        </p:nvSpPr>
        <p:spPr>
          <a:xfrm>
            <a:off x="566928" y="1572768"/>
            <a:ext cx="3200400" cy="3520440"/>
          </a:xfrm>
          <a:prstGeom prst="roundRect">
            <a:avLst>
              <a:gd name="adj" fmla="val 2857"/>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Segment interviews (n, dates)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Incumbent solution facts and prices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Feature specs and price points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Past-launch calibration data</a:t>
            </a:r>
            <a:endParaRPr lang="en-US" sz="1150" dirty="0"/>
          </a:p>
        </p:txBody>
      </p:sp>
      <p:sp>
        <p:nvSpPr>
          <p:cNvPr id="7" name="Shape 5"/>
          <p:cNvSpPr/>
          <p:nvPr/>
        </p:nvSpPr>
        <p:spPr>
          <a:xfrm>
            <a:off x="4087368" y="1627632"/>
            <a:ext cx="365760" cy="365760"/>
          </a:xfrm>
          <a:prstGeom prst="ellipse">
            <a:avLst/>
          </a:prstGeom>
          <a:solidFill>
            <a:srgbClr val="C9A227"/>
          </a:solidFill>
          <a:ln w="12700">
            <a:solidFill>
              <a:srgbClr val="C9A227"/>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Derive the segment's outcomes: build the outcome ladder for the job; keep the minimal covering set (OCV standard, step 1a).</a:t>
            </a:r>
            <a:endParaRPr lang="en-US" sz="1200" dirty="0"/>
          </a:p>
        </p:txBody>
      </p:sp>
      <p:sp>
        <p:nvSpPr>
          <p:cNvPr id="10" name="Shape 8"/>
          <p:cNvSpPr/>
          <p:nvPr/>
        </p:nvSpPr>
        <p:spPr>
          <a:xfrm>
            <a:off x="4087368" y="2340864"/>
            <a:ext cx="365760" cy="365760"/>
          </a:xfrm>
          <a:prstGeom prst="ellipse">
            <a:avLst/>
          </a:prstGeom>
          <a:solidFill>
            <a:srgbClr val="C9A227"/>
          </a:solidFill>
          <a:ln w="12700">
            <a:solidFill>
              <a:srgbClr val="C9A227"/>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Score each feature against the incumbent per component: financial, time and stress deltas, time priced at the standard's conventions.</a:t>
            </a:r>
            <a:endParaRPr lang="en-US" sz="1200" dirty="0"/>
          </a:p>
        </p:txBody>
      </p:sp>
      <p:sp>
        <p:nvSpPr>
          <p:cNvPr id="13" name="Shape 11"/>
          <p:cNvSpPr/>
          <p:nvPr/>
        </p:nvSpPr>
        <p:spPr>
          <a:xfrm>
            <a:off x="4087368" y="3054096"/>
            <a:ext cx="365760" cy="365760"/>
          </a:xfrm>
          <a:prstGeom prst="ellipse">
            <a:avLst/>
          </a:prstGeom>
          <a:solidFill>
            <a:srgbClr val="C9A227"/>
          </a:solidFill>
          <a:ln w="12700">
            <a:solidFill>
              <a:srgbClr val="C9A227"/>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Subtract switching costs (the standard's taxonomy). Adjust each component for visibility and credibility — contractual anchors beat claimed ones.</a:t>
            </a:r>
            <a:endParaRPr lang="en-US" sz="1200" dirty="0"/>
          </a:p>
        </p:txBody>
      </p:sp>
      <p:sp>
        <p:nvSpPr>
          <p:cNvPr id="16" name="Shape 14"/>
          <p:cNvSpPr/>
          <p:nvPr/>
        </p:nvSpPr>
        <p:spPr>
          <a:xfrm>
            <a:off x="4087368" y="3767328"/>
            <a:ext cx="365760" cy="365760"/>
          </a:xfrm>
          <a:prstGeom prst="ellipse">
            <a:avLst/>
          </a:prstGeom>
          <a:solidFill>
            <a:srgbClr val="C9A227"/>
          </a:solidFill>
          <a:ln w="12700">
            <a:solidFill>
              <a:srgbClr val="C9A227"/>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Sum to the OCV score. Map to predicted uptake with the calibration table; set the gate from past launches, not from the answer you want.</a:t>
            </a:r>
            <a:endParaRPr lang="en-US" sz="1200" dirty="0"/>
          </a:p>
        </p:txBody>
      </p:sp>
      <p:sp>
        <p:nvSpPr>
          <p:cNvPr id="19" name="Shape 17"/>
          <p:cNvSpPr/>
          <p:nvPr/>
        </p:nvSpPr>
        <p:spPr>
          <a:xfrm>
            <a:off x="4087368" y="4480560"/>
            <a:ext cx="365760" cy="365760"/>
          </a:xfrm>
          <a:prstGeom prst="ellipse">
            <a:avLst/>
          </a:prstGeom>
          <a:solidFill>
            <a:srgbClr val="C9A227"/>
          </a:solidFill>
          <a:ln w="12700">
            <a:solidFill>
              <a:srgbClr val="C9A227"/>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Rank the features. Record every input in the evidence register with source and date — the register is what the quarterly re-score re-runs.</a:t>
            </a:r>
            <a:endParaRPr lang="en-US" sz="1200" dirty="0"/>
          </a:p>
        </p:txBody>
      </p:sp>
      <p:sp>
        <p:nvSpPr>
          <p:cNvPr id="22" name="Shape 20"/>
          <p:cNvSpPr/>
          <p:nvPr/>
        </p:nvSpPr>
        <p:spPr>
          <a:xfrm>
            <a:off x="566928" y="5285232"/>
            <a:ext cx="11027664" cy="914400"/>
          </a:xfrm>
          <a:prstGeom prst="roundRect">
            <a:avLst>
              <a:gd name="adj" fmla="val 10000"/>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5C4E28"/>
                </a:solidFill>
                <a:latin typeface="Calibri" pitchFamily="34" charset="0"/>
                <a:ea typeface="Calibri" pitchFamily="34" charset="-122"/>
                <a:cs typeface="Calibri" pitchFamily="34" charset="-120"/>
              </a:rPr>
              <a:t>Attach objective-customer-value-standard.md (same repository). One chat per feature. Paste the step, the feature spec and the register; require evidence for AND against.   ·   Output feeds: slides 8–9, and the uptake input to the sort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APPENDIX  ·  METHOD 2 OF 4</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400" b="1" dirty="0">
                <a:solidFill>
                  <a:srgbClr val="1F2A31"/>
                </a:solidFill>
                <a:latin typeface="Cambria" pitchFamily="34" charset="0"/>
                <a:ea typeface="Cambria" pitchFamily="34" charset="-122"/>
                <a:cs typeface="Cambria" pitchFamily="34" charset="-120"/>
              </a:rPr>
              <a:t>How the backlog was sorted</a:t>
            </a:r>
            <a:endParaRPr lang="en-US" sz="2400" dirty="0"/>
          </a:p>
        </p:txBody>
      </p:sp>
      <p:sp>
        <p:nvSpPr>
          <p:cNvPr id="4" name="Shape 2"/>
          <p:cNvSpPr/>
          <p:nvPr/>
        </p:nvSpPr>
        <p:spPr>
          <a:xfrm>
            <a:off x="566928" y="1572768"/>
            <a:ext cx="3200400" cy="3520440"/>
          </a:xfrm>
          <a:prstGeom prst="roundRect">
            <a:avLst>
              <a:gd name="adj" fmla="val 2857"/>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Uptake per feature (from method 1)</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Margin model per feature</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Build-slot estimates per feature</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Past campaign results, by lever</a:t>
            </a:r>
            <a:endParaRPr lang="en-US" sz="1150" dirty="0"/>
          </a:p>
        </p:txBody>
      </p:sp>
      <p:sp>
        <p:nvSpPr>
          <p:cNvPr id="7" name="Shape 5"/>
          <p:cNvSpPr/>
          <p:nvPr/>
        </p:nvSpPr>
        <p:spPr>
          <a:xfrm>
            <a:off x="4087368" y="1627632"/>
            <a:ext cx="365760" cy="365760"/>
          </a:xfrm>
          <a:prstGeom prst="ellipse">
            <a:avLst/>
          </a:prstGeom>
          <a:solidFill>
            <a:srgbClr val="C9A227"/>
          </a:solidFill>
          <a:ln w="12700">
            <a:solidFill>
              <a:srgbClr val="C9A227"/>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Build the base case per admitted feature: predicted uptake × price × margin, before any lever.</a:t>
            </a:r>
            <a:endParaRPr lang="en-US" sz="1200" dirty="0"/>
          </a:p>
        </p:txBody>
      </p:sp>
      <p:sp>
        <p:nvSpPr>
          <p:cNvPr id="10" name="Shape 8"/>
          <p:cNvSpPr/>
          <p:nvPr/>
        </p:nvSpPr>
        <p:spPr>
          <a:xfrm>
            <a:off x="4087368" y="2340864"/>
            <a:ext cx="365760" cy="365760"/>
          </a:xfrm>
          <a:prstGeom prst="ellipse">
            <a:avLst/>
          </a:prstGeom>
          <a:solidFill>
            <a:srgbClr val="C9A227"/>
          </a:solidFill>
          <a:ln w="12700">
            <a:solidFill>
              <a:srgbClr val="C9A227"/>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Size the levers with the two-part test: would the behaviour happen anyway, and could a default do it free? Price the dead-weight in.</a:t>
            </a:r>
            <a:endParaRPr lang="en-US" sz="1200" dirty="0"/>
          </a:p>
        </p:txBody>
      </p:sp>
      <p:sp>
        <p:nvSpPr>
          <p:cNvPr id="13" name="Shape 11"/>
          <p:cNvSpPr/>
          <p:nvPr/>
        </p:nvSpPr>
        <p:spPr>
          <a:xfrm>
            <a:off x="4087368" y="3054096"/>
            <a:ext cx="365760" cy="365760"/>
          </a:xfrm>
          <a:prstGeom prst="ellipse">
            <a:avLst/>
          </a:prstGeom>
          <a:solidFill>
            <a:srgbClr val="C9A227"/>
          </a:solidFill>
          <a:ln w="12700">
            <a:solidFill>
              <a:srgbClr val="C9A227"/>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Discount each feature's configured NPV for its route's timing and confidence (method 4 supplies both).</a:t>
            </a:r>
            <a:endParaRPr lang="en-US" sz="1200" dirty="0"/>
          </a:p>
        </p:txBody>
      </p:sp>
      <p:sp>
        <p:nvSpPr>
          <p:cNvPr id="16" name="Shape 14"/>
          <p:cNvSpPr/>
          <p:nvPr/>
        </p:nvSpPr>
        <p:spPr>
          <a:xfrm>
            <a:off x="4087368" y="3767328"/>
            <a:ext cx="365760" cy="365760"/>
          </a:xfrm>
          <a:prstGeom prst="ellipse">
            <a:avLst/>
          </a:prstGeom>
          <a:solidFill>
            <a:srgbClr val="C9A227"/>
          </a:solidFill>
          <a:ln w="12700">
            <a:solidFill>
              <a:srgbClr val="C9A227"/>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Divide by build slots consumed: the sort key is risk-adjusted return PER SLOT. Rank. Note where per-slot order differs from raw NPV order.</a:t>
            </a:r>
            <a:endParaRPr lang="en-US" sz="1200" dirty="0"/>
          </a:p>
        </p:txBody>
      </p:sp>
      <p:sp>
        <p:nvSpPr>
          <p:cNvPr id="19" name="Shape 17"/>
          <p:cNvSpPr/>
          <p:nvPr/>
        </p:nvSpPr>
        <p:spPr>
          <a:xfrm>
            <a:off x="4087368" y="4480560"/>
            <a:ext cx="365760" cy="365760"/>
          </a:xfrm>
          <a:prstGeom prst="ellipse">
            <a:avLst/>
          </a:prstGeom>
          <a:solidFill>
            <a:srgbClr val="C9A227"/>
          </a:solidFill>
          <a:ln w="12700">
            <a:solidFill>
              <a:srgbClr val="C9A227"/>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Set the re-score triggers: which input movements change the order, and who watches each one.</a:t>
            </a:r>
            <a:endParaRPr lang="en-US" sz="1200" dirty="0"/>
          </a:p>
        </p:txBody>
      </p:sp>
      <p:sp>
        <p:nvSpPr>
          <p:cNvPr id="22" name="Shape 20"/>
          <p:cNvSpPr/>
          <p:nvPr/>
        </p:nvSpPr>
        <p:spPr>
          <a:xfrm>
            <a:off x="566928" y="5285232"/>
            <a:ext cx="11027664" cy="914400"/>
          </a:xfrm>
          <a:prstGeom prst="roundRect">
            <a:avLst>
              <a:gd name="adj" fmla="val 10000"/>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5C4E28"/>
                </a:solidFill>
                <a:latin typeface="Calibri" pitchFamily="34" charset="0"/>
                <a:ea typeface="Calibri" pitchFamily="34" charset="-122"/>
                <a:cs typeface="Calibri" pitchFamily="34" charset="-120"/>
              </a:rPr>
              <a:t>One chat per feature. Paste the base case, lever tests and route discount; require the per-slot arithmetic shown and the trigger list stated.   ·   Output feeds: slides 12–16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APPENDIX  ·  METHOD 3 OF 4</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400" b="1" dirty="0">
                <a:solidFill>
                  <a:srgbClr val="1F2A31"/>
                </a:solidFill>
                <a:latin typeface="Cambria" pitchFamily="34" charset="0"/>
                <a:ea typeface="Cambria" pitchFamily="34" charset="-122"/>
                <a:cs typeface="Cambria" pitchFamily="34" charset="-120"/>
              </a:rPr>
              <a:t>How the wrapper case was built</a:t>
            </a:r>
            <a:endParaRPr lang="en-US" sz="2400" dirty="0"/>
          </a:p>
        </p:txBody>
      </p:sp>
      <p:sp>
        <p:nvSpPr>
          <p:cNvPr id="4" name="Shape 2"/>
          <p:cNvSpPr/>
          <p:nvPr/>
        </p:nvSpPr>
        <p:spPr>
          <a:xfrm>
            <a:off x="566928" y="1572768"/>
            <a:ext cx="3200400" cy="3520440"/>
          </a:xfrm>
          <a:prstGeom prst="roundRect">
            <a:avLst>
              <a:gd name="adj" fmla="val 2857"/>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Brand tracking data</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Entry-point research: when the job arises, in customer words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Media / channel cost cards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Competitor recall benchmarks</a:t>
            </a:r>
            <a:endParaRPr lang="en-US" sz="1150" dirty="0"/>
          </a:p>
        </p:txBody>
      </p:sp>
      <p:sp>
        <p:nvSpPr>
          <p:cNvPr id="7" name="Shape 5"/>
          <p:cNvSpPr/>
          <p:nvPr/>
        </p:nvSpPr>
        <p:spPr>
          <a:xfrm>
            <a:off x="4087368" y="1627632"/>
            <a:ext cx="365760" cy="365760"/>
          </a:xfrm>
          <a:prstGeom prst="ellipse">
            <a:avLst/>
          </a:prstGeom>
          <a:solidFill>
            <a:srgbClr val="C9A227"/>
          </a:solidFill>
          <a:ln w="12700">
            <a:solidFill>
              <a:srgbClr val="C9A227"/>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Identify the segment's entry points: the moments the job arises, phrased in the customer's words, from research — not from the marketing plan.</a:t>
            </a:r>
            <a:endParaRPr lang="en-US" sz="1200" dirty="0"/>
          </a:p>
        </p:txBody>
      </p:sp>
      <p:sp>
        <p:nvSpPr>
          <p:cNvPr id="10" name="Shape 8"/>
          <p:cNvSpPr/>
          <p:nvPr/>
        </p:nvSpPr>
        <p:spPr>
          <a:xfrm>
            <a:off x="4087368" y="2340864"/>
            <a:ext cx="365760" cy="365760"/>
          </a:xfrm>
          <a:prstGeom prst="ellipse">
            <a:avLst/>
          </a:prstGeom>
          <a:solidFill>
            <a:srgbClr val="C9A227"/>
          </a:solidFill>
          <a:ln w="12700">
            <a:solidFill>
              <a:srgbClr val="C9A227"/>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Measure current unaided recall at each entry point, for the bank and for competitors. The gap is the wrapper's job description.</a:t>
            </a:r>
            <a:endParaRPr lang="en-US" sz="1200" dirty="0"/>
          </a:p>
        </p:txBody>
      </p:sp>
      <p:sp>
        <p:nvSpPr>
          <p:cNvPr id="13" name="Shape 11"/>
          <p:cNvSpPr/>
          <p:nvPr/>
        </p:nvSpPr>
        <p:spPr>
          <a:xfrm>
            <a:off x="4087368" y="3054096"/>
            <a:ext cx="365760" cy="365760"/>
          </a:xfrm>
          <a:prstGeom prst="ellipse">
            <a:avLst/>
          </a:prstGeom>
          <a:solidFill>
            <a:srgbClr val="C9A227"/>
          </a:solidFill>
          <a:ln w="12700">
            <a:solidFill>
              <a:srgbClr val="C9A227"/>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Design the wrapper: one name, fixed assets, explicit linkage to the entry points. Span only admitted features — never wrap what failed the gate.</a:t>
            </a:r>
            <a:endParaRPr lang="en-US" sz="1200" dirty="0"/>
          </a:p>
        </p:txBody>
      </p:sp>
      <p:sp>
        <p:nvSpPr>
          <p:cNvPr id="16" name="Shape 14"/>
          <p:cNvSpPr/>
          <p:nvPr/>
        </p:nvSpPr>
        <p:spPr>
          <a:xfrm>
            <a:off x="4087368" y="3767328"/>
            <a:ext cx="365760" cy="365760"/>
          </a:xfrm>
          <a:prstGeom prst="ellipse">
            <a:avLst/>
          </a:prstGeom>
          <a:solidFill>
            <a:srgbClr val="C9A227"/>
          </a:solidFill>
          <a:ln w="12700">
            <a:solidFill>
              <a:srgbClr val="C9A227"/>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Price it: fixed annual cost against a recall-uplift band. State the break-even in recall points — the honest version of a brand business case.</a:t>
            </a:r>
            <a:endParaRPr lang="en-US" sz="1200" dirty="0"/>
          </a:p>
        </p:txBody>
      </p:sp>
      <p:sp>
        <p:nvSpPr>
          <p:cNvPr id="19" name="Shape 17"/>
          <p:cNvSpPr/>
          <p:nvPr/>
        </p:nvSpPr>
        <p:spPr>
          <a:xfrm>
            <a:off x="4087368" y="4480560"/>
            <a:ext cx="365760" cy="365760"/>
          </a:xfrm>
          <a:prstGeom prst="ellipse">
            <a:avLst/>
          </a:prstGeom>
          <a:solidFill>
            <a:srgbClr val="C9A227"/>
          </a:solidFill>
          <a:ln w="12700">
            <a:solidFill>
              <a:srgbClr val="C9A227"/>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Set the tracking: entry-point recall, quarterly, with the stop rule — the wrapper's row on the sensitivity page.</a:t>
            </a:r>
            <a:endParaRPr lang="en-US" sz="1200" dirty="0"/>
          </a:p>
        </p:txBody>
      </p:sp>
      <p:sp>
        <p:nvSpPr>
          <p:cNvPr id="22" name="Shape 20"/>
          <p:cNvSpPr/>
          <p:nvPr/>
        </p:nvSpPr>
        <p:spPr>
          <a:xfrm>
            <a:off x="566928" y="5285232"/>
            <a:ext cx="11027664" cy="914400"/>
          </a:xfrm>
          <a:prstGeom prst="roundRect">
            <a:avLst>
              <a:gd name="adj" fmla="val 10000"/>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5C4E28"/>
                </a:solidFill>
                <a:latin typeface="Calibri" pitchFamily="34" charset="0"/>
                <a:ea typeface="Calibri" pitchFamily="34" charset="-122"/>
                <a:cs typeface="Calibri" pitchFamily="34" charset="-120"/>
              </a:rPr>
              <a:t>Paste the entry-point list and tracking data. Require the break-even arithmetic shown and a stated stop rule — refuse a case that only asserts awareness value.   ·   Output feeds: slide 10, the bridge on slide 13, and the sensitivity page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8A6D0F"/>
                </a:solidFill>
                <a:latin typeface="Calibri" pitchFamily="34" charset="0"/>
                <a:ea typeface="Calibri" pitchFamily="34" charset="-122"/>
                <a:cs typeface="Calibri" pitchFamily="34" charset="-120"/>
              </a:rPr>
              <a:t>APPENDIX  ·  METHOD 4 OF 4</a:t>
            </a:r>
            <a:endParaRPr lang="en-US" sz="1100" dirty="0"/>
          </a:p>
        </p:txBody>
      </p:sp>
      <p:sp>
        <p:nvSpPr>
          <p:cNvPr id="3" name="Text 1"/>
          <p:cNvSpPr/>
          <p:nvPr/>
        </p:nvSpPr>
        <p:spPr>
          <a:xfrm>
            <a:off x="566928" y="603504"/>
            <a:ext cx="11027664" cy="969264"/>
          </a:xfrm>
          <a:prstGeom prst="rect">
            <a:avLst/>
          </a:prstGeom>
          <a:noFill/>
          <a:ln/>
        </p:spPr>
        <p:txBody>
          <a:bodyPr wrap="square" lIns="0" tIns="0" rIns="0" bIns="0" rtlCol="0" anchor="t"/>
          <a:lstStyle/>
          <a:p>
            <a:pPr algn="l" indent="0" marL="0">
              <a:lnSpc>
                <a:spcPts val="3200"/>
              </a:lnSpc>
              <a:buNone/>
            </a:pPr>
            <a:r>
              <a:rPr lang="en-US" sz="2400" b="1" dirty="0">
                <a:solidFill>
                  <a:srgbClr val="1F2A31"/>
                </a:solidFill>
                <a:latin typeface="Cambria" pitchFamily="34" charset="0"/>
                <a:ea typeface="Cambria" pitchFamily="34" charset="-122"/>
                <a:cs typeface="Cambria" pitchFamily="34" charset="-120"/>
              </a:rPr>
              <a:t>How the delivery routes were priced</a:t>
            </a:r>
            <a:endParaRPr lang="en-US" sz="2400" dirty="0"/>
          </a:p>
        </p:txBody>
      </p:sp>
      <p:sp>
        <p:nvSpPr>
          <p:cNvPr id="4" name="Shape 2"/>
          <p:cNvSpPr/>
          <p:nvPr/>
        </p:nvSpPr>
        <p:spPr>
          <a:xfrm>
            <a:off x="566928" y="1572768"/>
            <a:ext cx="3200400" cy="3520440"/>
          </a:xfrm>
          <a:prstGeom prst="roundRect">
            <a:avLst>
              <a:gd name="adj" fmla="val 2857"/>
            </a:avLst>
          </a:prstGeom>
          <a:solidFill>
            <a:srgbClr val="EEF3F6"/>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8A6D0F"/>
                </a:solidFill>
                <a:latin typeface="Calibri" pitchFamily="34" charset="0"/>
                <a:ea typeface="Calibri" pitchFamily="34" charset="-122"/>
                <a:cs typeface="Calibri"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Delivery team estimates, with ranges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Partner term sheets / indicative terms</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Capability register</a:t>
            </a:r>
            <a:endParaRPr lang="en-US" sz="1150" dirty="0"/>
          </a:p>
          <a:p>
            <a:pPr marL="342900" indent="-342900">
              <a:lnSpc>
                <a:spcPts val="1600"/>
              </a:lnSpc>
              <a:spcAft>
                <a:spcPts val="700"/>
              </a:spcAft>
              <a:buSzPct val="100000"/>
              <a:buChar char="•"/>
            </a:pPr>
            <a:r>
              <a:rPr lang="en-US" sz="1150" dirty="0">
                <a:solidFill>
                  <a:srgbClr val="3F5563"/>
                </a:solidFill>
                <a:latin typeface="Calibri" pitchFamily="34" charset="0"/>
                <a:ea typeface="Calibri" pitchFamily="34" charset="-122"/>
                <a:cs typeface="Calibri" pitchFamily="34" charset="-120"/>
              </a:rPr>
              <a:t>Hurdle rate and horizon</a:t>
            </a:r>
            <a:endParaRPr lang="en-US" sz="1150" dirty="0"/>
          </a:p>
        </p:txBody>
      </p:sp>
      <p:sp>
        <p:nvSpPr>
          <p:cNvPr id="7" name="Shape 5"/>
          <p:cNvSpPr/>
          <p:nvPr/>
        </p:nvSpPr>
        <p:spPr>
          <a:xfrm>
            <a:off x="4087368" y="1627632"/>
            <a:ext cx="365760" cy="365760"/>
          </a:xfrm>
          <a:prstGeom prst="ellipse">
            <a:avLst/>
          </a:prstGeom>
          <a:solidFill>
            <a:srgbClr val="C9A227"/>
          </a:solidFill>
          <a:ln w="12700">
            <a:solidFill>
              <a:srgbClr val="C9A227"/>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Inventory the capabilities each feature requires — capabilities, not tasks. Keep the same names end to end or the slides will not reconcile.</a:t>
            </a:r>
            <a:endParaRPr lang="en-US" sz="1200" dirty="0"/>
          </a:p>
        </p:txBody>
      </p:sp>
      <p:sp>
        <p:nvSpPr>
          <p:cNvPr id="10" name="Shape 8"/>
          <p:cNvSpPr/>
          <p:nvPr/>
        </p:nvSpPr>
        <p:spPr>
          <a:xfrm>
            <a:off x="4087368" y="2340864"/>
            <a:ext cx="365760" cy="365760"/>
          </a:xfrm>
          <a:prstGeom prst="ellipse">
            <a:avLst/>
          </a:prstGeom>
          <a:solidFill>
            <a:srgbClr val="C9A227"/>
          </a:solidFill>
          <a:ln w="12700">
            <a:solidFill>
              <a:srgbClr val="C9A227"/>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Classify each capability have / buy / build. Name real partner candidates with indicative terms — an unnamed partner is a build with optimism attached.</a:t>
            </a:r>
            <a:endParaRPr lang="en-US" sz="1200" dirty="0"/>
          </a:p>
        </p:txBody>
      </p:sp>
      <p:sp>
        <p:nvSpPr>
          <p:cNvPr id="13" name="Shape 11"/>
          <p:cNvSpPr/>
          <p:nvPr/>
        </p:nvSpPr>
        <p:spPr>
          <a:xfrm>
            <a:off x="4087368" y="3054096"/>
            <a:ext cx="365760" cy="365760"/>
          </a:xfrm>
          <a:prstGeom prst="ellipse">
            <a:avLst/>
          </a:prstGeom>
          <a:solidFill>
            <a:srgbClr val="C9A227"/>
          </a:solidFill>
          <a:ln w="12700">
            <a:solidFill>
              <a:srgbClr val="C9A227"/>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Price each route: time to launch, capex, margin share, and a confidence band from the delivery team and the partner's committed dates.</a:t>
            </a:r>
            <a:endParaRPr lang="en-US" sz="1200" dirty="0"/>
          </a:p>
        </p:txBody>
      </p:sp>
      <p:sp>
        <p:nvSpPr>
          <p:cNvPr id="16" name="Shape 14"/>
          <p:cNvSpPr/>
          <p:nvPr/>
        </p:nvSpPr>
        <p:spPr>
          <a:xfrm>
            <a:off x="4087368" y="3767328"/>
            <a:ext cx="365760" cy="365760"/>
          </a:xfrm>
          <a:prstGeom prst="ellipse">
            <a:avLst/>
          </a:prstGeom>
          <a:solidFill>
            <a:srgbClr val="C9A227"/>
          </a:solidFill>
          <a:ln w="12700">
            <a:solidFill>
              <a:srgbClr val="C9A227"/>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Hand timing and confidence to the sort (method 2). Keep the built-instead counterfactual row — it is what prices the route decision.</a:t>
            </a:r>
            <a:endParaRPr lang="en-US" sz="1200" dirty="0"/>
          </a:p>
        </p:txBody>
      </p:sp>
      <p:sp>
        <p:nvSpPr>
          <p:cNvPr id="19" name="Shape 17"/>
          <p:cNvSpPr/>
          <p:nvPr/>
        </p:nvSpPr>
        <p:spPr>
          <a:xfrm>
            <a:off x="4087368" y="4480560"/>
            <a:ext cx="365760" cy="365760"/>
          </a:xfrm>
          <a:prstGeom prst="ellipse">
            <a:avLst/>
          </a:prstGeom>
          <a:solidFill>
            <a:srgbClr val="C9A227"/>
          </a:solidFill>
          <a:ln w="12700">
            <a:solidFill>
              <a:srgbClr val="C9A227"/>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2B2308"/>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Calibri" pitchFamily="34" charset="0"/>
                <a:ea typeface="Calibri" pitchFamily="34" charset="-122"/>
                <a:cs typeface="Calibri" pitchFamily="34" charset="-120"/>
              </a:rPr>
              <a:t>Bound the partner routes: what they hold, what we keep, contract terms, and the re-internalise trigger with its review date.</a:t>
            </a:r>
            <a:endParaRPr lang="en-US" sz="1200" dirty="0"/>
          </a:p>
        </p:txBody>
      </p:sp>
      <p:sp>
        <p:nvSpPr>
          <p:cNvPr id="22" name="Shape 20"/>
          <p:cNvSpPr/>
          <p:nvPr/>
        </p:nvSpPr>
        <p:spPr>
          <a:xfrm>
            <a:off x="566928" y="5285232"/>
            <a:ext cx="11027664" cy="914400"/>
          </a:xfrm>
          <a:prstGeom prst="roundRect">
            <a:avLst>
              <a:gd name="adj" fmla="val 10000"/>
            </a:avLst>
          </a:prstGeom>
          <a:solidFill>
            <a:srgbClr val="F3EEDD"/>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8A6D0F"/>
                </a:solidFill>
                <a:latin typeface="Calibri" pitchFamily="34" charset="0"/>
                <a:ea typeface="Calibri" pitchFamily="34" charset="-122"/>
                <a:cs typeface="Calibri"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5C4E28"/>
                </a:solidFill>
                <a:latin typeface="Calibri" pitchFamily="34" charset="0"/>
                <a:ea typeface="Calibri" pitchFamily="34" charset="-122"/>
                <a:cs typeface="Calibri" pitchFamily="34" charset="-120"/>
              </a:rPr>
              <a:t>One chat per feature. Paste the capability inventory and terms; require the counterfactual row and the defensibility bounds before accepting a verdict.   ·   Output feeds: slides 15, 18–19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Backlog Recommendation — Minto template</dc:title>
  <dc:subject>PptxGenJS Presentation</dc:subject>
  <dc:creator>Proposition backlog template</dc:creator>
  <cp:lastModifiedBy>Proposition backlog template</cp:lastModifiedBy>
  <cp:revision>1</cp:revision>
  <dcterms:created xsi:type="dcterms:W3CDTF">2026-08-19T09:10:50Z</dcterms:created>
  <dcterms:modified xsi:type="dcterms:W3CDTF">2026-08-19T09:10:50Z</dcterms:modified>
</cp:coreProperties>
</file>