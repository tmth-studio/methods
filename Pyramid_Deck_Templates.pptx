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B0B8C4"/>
            </a:solidFill>
          </c:spPr>
          <c:dPt>
            <c:idx val="0"/>
            <c:spPr>
              <a:solidFill>
                <a:srgbClr val="1F4FA8"/>
              </a:solidFill>
            </c:spPr>
          </c:dPt>
          <c:cat>
            <c:strRef>
              <c:f>Sheet1!$A$2:$A$4</c:f>
              <c:strCache>
                <c:ptCount val="3"/>
                <c:pt idx="0">
                  <c:v>[Category A — message]</c:v>
                </c:pt>
                <c:pt idx="1">
                  <c:v>[Category B]</c:v>
                </c:pt>
                <c:pt idx="2">
                  <c:v>[Category C]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12.1</c:v>
                </c:pt>
                <c:pt idx="1">
                  <c:v>8.7</c:v>
                </c:pt>
                <c:pt idx="2">
                  <c:v>6.2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[TEAM / FUNCTION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F4FA8"/>
                </a:solidFill>
                <a:latin typeface="Segoe UI"/>
              </a:rPr>
              <a:t>[DECK TITLE: the Governing Thought or the deck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18096"/>
                </a:solidFill>
                <a:latin typeface="Segoe UI"/>
              </a:rPr>
              <a:t>[DATE — format: 8 May 2026]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Cover. No images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usually blank on this slide]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480560"/>
          </a:xfrm>
          <a:prstGeom prst="rect">
            <a:avLst/>
          </a:prstGeom>
          <a:noFill/>
          <a:ln w="9525">
            <a:solidFill>
              <a:srgbClr val="1F4FA8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[SITUATION: 2-3 sentences of non-controversial context.]</a:t>
            </a:r>
          </a:p>
          <a:p>
            <a:pPr algn="l"/>
            <a:r>
              <a:rPr sz="600" b="0" i="0">
                <a:solidFill>
                  <a:srgbClr val="0F1923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[COMPLICATION: what changed and what broke, with numbers.]</a:t>
            </a:r>
          </a:p>
          <a:p>
            <a:pPr algn="l"/>
            <a:r>
              <a:rPr sz="600" b="0" i="0">
                <a:solidFill>
                  <a:srgbClr val="0F1923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[QUESTION: the one question this raises.]</a:t>
            </a:r>
          </a:p>
          <a:p>
            <a:pPr algn="l"/>
            <a:r>
              <a:rPr sz="600" b="0" i="0">
                <a:solidFill>
                  <a:srgbClr val="0F1923"/>
                </a:solidFill>
                <a:latin typeface="Segoe UI"/>
              </a:rPr>
              <a:t/>
            </a:r>
          </a:p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[ANSWER / GOVERNING THOUGHT: the recommendation in one sentence, 25 words or fewer.]</a:t>
            </a:r>
          </a:p>
          <a:p>
            <a:pPr algn="l"/>
            <a:r>
              <a:rPr sz="600" b="0" i="0">
                <a:solidFill>
                  <a:srgbClr val="0F1923"/>
                </a:solidFill>
                <a:latin typeface="Segoe UI"/>
              </a:rPr>
              <a:t/>
            </a:r>
          </a:p>
          <a:p>
            <a:pPr algn="l"/>
            <a:r>
              <a:rPr sz="1400" b="0" i="0">
                <a:solidFill>
                  <a:srgbClr val="0F1923"/>
                </a:solidFill>
                <a:latin typeface="Segoe UI"/>
              </a:rPr>
              <a:t>[KEY-LINE PREVIEW: one sentence naming the three arguments.]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SCQA in full prose. The deck must stand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0" y="2011680"/>
            <a:ext cx="5669280" cy="50292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923"/>
                </a:solidFill>
                <a:latin typeface="Segoe UI"/>
              </a:rPr>
              <a:t>[Section 1 — current: keep tint fill]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6974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923"/>
                </a:solidFill>
                <a:latin typeface="Segoe UI"/>
              </a:rPr>
              <a:t>[Section 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33832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923"/>
                </a:solidFill>
                <a:latin typeface="Segoe UI"/>
              </a:rPr>
              <a:t>[Section 3]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0690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923"/>
                </a:solidFill>
                <a:latin typeface="Segoe UI"/>
              </a:rPr>
              <a:t>[Conclusion and ask]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475488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F1923"/>
                </a:solidFill>
                <a:latin typeface="Segoe UI"/>
              </a:rPr>
              <a:t>[Appendix]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Repeat at each section break. Move the tint to the current 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2744"/>
                </a:solidFill>
                <a:latin typeface="Segoe UI"/>
              </a:rPr>
              <a:t>[GOVERNING THOUGHT: large, alone on the slide, nothing else]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Text-only slide. No exhibit, no bullets.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full-sentence claim, 2 lines maximum, no full stop]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923"/>
                </a:solidFill>
                <a:latin typeface="Segoe UI"/>
              </a:rPr>
              <a:t>[CHART HEADER: metric name + period]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[Unit — example: Percent]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19456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194560"/>
            <a:ext cx="3840480" cy="292608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What this means for [reader]</a:t>
            </a:r>
          </a:p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[IMPLICATION: 2-3 short bullets. Bold only the load-bearing words.]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Message bar = accent; comparison bars = grey. No axis, no legend.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full-sentence claim, 2 lines maximum, no full stop]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194560" cy="100584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[LABEL 1: 2-4 words]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645920"/>
            <a:ext cx="8686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1: full message, bold only the load-bearing words]</a:t>
            </a:r>
          </a:p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2194560" cy="100584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[LABEL 2: 2-4 words]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154680"/>
            <a:ext cx="8686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1: full message, bold only the load-bearing words]</a:t>
            </a:r>
          </a:p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2194560" cy="100584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744"/>
                </a:solidFill>
                <a:latin typeface="Segoe UI"/>
              </a:rPr>
              <a:t>[LABEL 3: 2-4 words]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663440"/>
            <a:ext cx="8686800" cy="1325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1: full message, bold only the load-bearing words]</a:t>
            </a:r>
          </a:p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[Bullet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Dotted separators optional. 3-4 rows maximum.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full-sentence claim, 2 lines maximum, no full stop]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94960" cy="1920240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"[Quote text with the key phrase in bold]"</a:t>
            </a:r>
          </a:p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– [Name, Title, Company]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394960" cy="1920240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"[Quote text with the key phrase in bold]"</a:t>
            </a:r>
          </a:p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– [Name, Title, Company]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5394960" cy="1920240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"[Quote text with the key phrase in bold]"</a:t>
            </a:r>
          </a:p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– [Name, Title, Company]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023360"/>
            <a:ext cx="5394960" cy="1920240"/>
          </a:xfrm>
          <a:prstGeom prst="rect">
            <a:avLst/>
          </a:prstGeom>
          <a:solidFill>
            <a:srgbClr val="E6F4EC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923"/>
                </a:solidFill>
                <a:latin typeface="Segoe UI"/>
              </a:rPr>
              <a:t>"[Quote text with the key phrase in bold]"</a:t>
            </a:r>
          </a:p>
          <a:p>
            <a:pPr algn="l"/>
            <a:r>
              <a:rPr sz="1100" b="0" i="0">
                <a:solidFill>
                  <a:srgbClr val="718096"/>
                </a:solidFill>
                <a:latin typeface="Segoe UI"/>
              </a:rPr>
              <a:t>– [Name, Title, Company]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Use 2-4 quote cards. Delete spares.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what the company did and the result it got]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82880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4592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[Opportunity content: bold only the key words]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82880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06040"/>
            <a:ext cx="5120640" cy="2194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[Best practices content: bold only the key words]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828800" cy="457200"/>
          </a:xfrm>
          <a:prstGeom prst="rect">
            <a:avLst/>
          </a:prstGeom>
          <a:solidFill>
            <a:srgbClr val="DBE7F8"/>
          </a:solidFill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744"/>
                </a:solidFill>
                <a:latin typeface="Segoe UI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93776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923"/>
                </a:solidFill>
                <a:latin typeface="Segoe UI"/>
              </a:rPr>
              <a:t>[Result content: bold only the key words]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566160" cy="4114800"/>
          </a:xfrm>
          <a:prstGeom prst="rect">
            <a:avLst/>
          </a:prstGeom>
          <a:noFill/>
          <a:ln w="9525">
            <a:solidFill>
              <a:srgbClr val="B0B8C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Segoe UI"/>
              </a:rPr>
              <a:t>[LOGO + SCREENSHOT AREA — paste the image here]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Fixed template: Opportunity / Best practices /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full-sentence claim, 2 lines maximum, no full stop]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9601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[Dimension]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[Us]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[Them / target]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Bold the winning cell in each row, nothing else.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18096"/>
                </a:solidFill>
                <a:latin typeface="Segoe UI"/>
              </a:rPr>
              <a:t>[KICKER: section name]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[TITLE: the financial claim with the central case number]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315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[Metric]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Pessimistic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Central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Optimistic</a:t>
                      </a:r>
                    </a:p>
                  </a:txBody>
                  <a:tcPr>
                    <a:solidFill>
                      <a:srgbClr val="0F274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DBE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DBE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DBE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DBE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F1923"/>
                          </a:solidFill>
                          <a:latin typeface="Segoe UI"/>
                        </a:rPr>
                        <a:t>[value]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Segoe UI"/>
              </a:rPr>
              <a:t>SOURCE: [system], [date range], n=[..] · units: [..]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Always three scenarios. Central column tinted + bold.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FA8"/>
                </a:solidFill>
                <a:latin typeface="Segoe U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66960" cy="2560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2744"/>
                </a:solidFill>
                <a:latin typeface="Segoe UI"/>
              </a:rPr>
              <a:t>[THE DECISION: approve X]</a:t>
            </a:r>
          </a:p>
          <a:p>
            <a:pPr algn="ctr"/>
            <a:r>
              <a:rPr sz="1800" b="0" i="0">
                <a:solidFill>
                  <a:srgbClr val="0F1923"/>
                </a:solidFill>
                <a:latin typeface="Segoe UI"/>
              </a:rPr>
              <a:t>[THE GATE: if metric Y has not moved by date Z, review before more spend]</a:t>
            </a:r>
          </a:p>
          <a:p>
            <a:pPr algn="ctr"/>
            <a:r>
              <a:rPr sz="1600" b="0" i="0">
                <a:solidFill>
                  <a:srgbClr val="718096"/>
                </a:solidFill>
                <a:latin typeface="Segoe UI"/>
              </a:rPr>
              <a:t>[OWNER + START 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01168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1B1B"/>
                </a:solidFill>
                <a:latin typeface="Segoe UI"/>
              </a:rPr>
              <a:t>TEMPLATE NOTE (delete): Decision + gate + date. Nothing else.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